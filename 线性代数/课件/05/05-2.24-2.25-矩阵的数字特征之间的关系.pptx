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52"/>
  </p:notesMasterIdLst>
  <p:sldIdLst>
    <p:sldId id="298" r:id="rId2"/>
    <p:sldId id="256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319" r:id="rId11"/>
    <p:sldId id="320" r:id="rId12"/>
    <p:sldId id="287" r:id="rId13"/>
    <p:sldId id="288" r:id="rId14"/>
    <p:sldId id="289" r:id="rId15"/>
    <p:sldId id="290" r:id="rId16"/>
    <p:sldId id="321" r:id="rId17"/>
    <p:sldId id="322" r:id="rId18"/>
    <p:sldId id="291" r:id="rId19"/>
    <p:sldId id="292" r:id="rId20"/>
    <p:sldId id="293" r:id="rId21"/>
    <p:sldId id="297" r:id="rId22"/>
    <p:sldId id="300" r:id="rId23"/>
    <p:sldId id="294" r:id="rId24"/>
    <p:sldId id="295" r:id="rId25"/>
    <p:sldId id="299" r:id="rId26"/>
    <p:sldId id="325" r:id="rId27"/>
    <p:sldId id="326" r:id="rId28"/>
    <p:sldId id="327" r:id="rId29"/>
    <p:sldId id="328" r:id="rId30"/>
    <p:sldId id="329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296" r:id="rId46"/>
    <p:sldId id="315" r:id="rId47"/>
    <p:sldId id="316" r:id="rId48"/>
    <p:sldId id="317" r:id="rId49"/>
    <p:sldId id="318" r:id="rId50"/>
    <p:sldId id="272" r:id="rId5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24" autoAdjust="0"/>
    <p:restoredTop sz="97158" autoAdjust="0"/>
  </p:normalViewPr>
  <p:slideViewPr>
    <p:cSldViewPr>
      <p:cViewPr varScale="1">
        <p:scale>
          <a:sx n="86" d="100"/>
          <a:sy n="86" d="100"/>
        </p:scale>
        <p:origin x="156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Relationship Id="rId9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7" Type="http://schemas.openxmlformats.org/officeDocument/2006/relationships/image" Target="../media/image52.emf"/><Relationship Id="rId2" Type="http://schemas.openxmlformats.org/officeDocument/2006/relationships/image" Target="../media/image47.emf"/><Relationship Id="rId1" Type="http://schemas.openxmlformats.org/officeDocument/2006/relationships/image" Target="../media/image46.emf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wmf"/><Relationship Id="rId4" Type="http://schemas.openxmlformats.org/officeDocument/2006/relationships/image" Target="../media/image56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image" Target="../media/image57.wmf"/><Relationship Id="rId6" Type="http://schemas.openxmlformats.org/officeDocument/2006/relationships/image" Target="../media/image62.emf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4" Type="http://schemas.openxmlformats.org/officeDocument/2006/relationships/image" Target="../media/image6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3" Type="http://schemas.openxmlformats.org/officeDocument/2006/relationships/image" Target="../media/image71.wmf"/><Relationship Id="rId7" Type="http://schemas.openxmlformats.org/officeDocument/2006/relationships/image" Target="../media/image75.e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emf"/><Relationship Id="rId10" Type="http://schemas.openxmlformats.org/officeDocument/2006/relationships/image" Target="../media/image78.emf"/><Relationship Id="rId4" Type="http://schemas.openxmlformats.org/officeDocument/2006/relationships/image" Target="../media/image72.emf"/><Relationship Id="rId9" Type="http://schemas.openxmlformats.org/officeDocument/2006/relationships/image" Target="../media/image77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87.emf"/><Relationship Id="rId5" Type="http://schemas.openxmlformats.org/officeDocument/2006/relationships/image" Target="../media/image91.emf"/><Relationship Id="rId4" Type="http://schemas.openxmlformats.org/officeDocument/2006/relationships/image" Target="../media/image90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image" Target="../media/image104.wmf"/><Relationship Id="rId3" Type="http://schemas.openxmlformats.org/officeDocument/2006/relationships/image" Target="../media/image94.wmf"/><Relationship Id="rId7" Type="http://schemas.openxmlformats.org/officeDocument/2006/relationships/image" Target="../media/image98.wmf"/><Relationship Id="rId12" Type="http://schemas.openxmlformats.org/officeDocument/2006/relationships/image" Target="../media/image103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6" Type="http://schemas.openxmlformats.org/officeDocument/2006/relationships/image" Target="../media/image97.wmf"/><Relationship Id="rId11" Type="http://schemas.openxmlformats.org/officeDocument/2006/relationships/image" Target="../media/image102.wmf"/><Relationship Id="rId5" Type="http://schemas.openxmlformats.org/officeDocument/2006/relationships/image" Target="../media/image96.wmf"/><Relationship Id="rId15" Type="http://schemas.openxmlformats.org/officeDocument/2006/relationships/image" Target="../media/image106.wmf"/><Relationship Id="rId10" Type="http://schemas.openxmlformats.org/officeDocument/2006/relationships/image" Target="../media/image101.wmf"/><Relationship Id="rId4" Type="http://schemas.openxmlformats.org/officeDocument/2006/relationships/image" Target="../media/image95.wmf"/><Relationship Id="rId9" Type="http://schemas.openxmlformats.org/officeDocument/2006/relationships/image" Target="../media/image100.wmf"/><Relationship Id="rId14" Type="http://schemas.openxmlformats.org/officeDocument/2006/relationships/image" Target="../media/image10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image" Target="../media/image110.wmf"/><Relationship Id="rId7" Type="http://schemas.openxmlformats.org/officeDocument/2006/relationships/image" Target="../media/image114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9" Type="http://schemas.openxmlformats.org/officeDocument/2006/relationships/image" Target="../media/image116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4" Type="http://schemas.openxmlformats.org/officeDocument/2006/relationships/image" Target="../media/image141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5" Type="http://schemas.openxmlformats.org/officeDocument/2006/relationships/image" Target="../media/image159.wmf"/><Relationship Id="rId4" Type="http://schemas.openxmlformats.org/officeDocument/2006/relationships/image" Target="../media/image158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4" Type="http://schemas.openxmlformats.org/officeDocument/2006/relationships/image" Target="../media/image163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4" Type="http://schemas.openxmlformats.org/officeDocument/2006/relationships/image" Target="../media/image167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Relationship Id="rId4" Type="http://schemas.openxmlformats.org/officeDocument/2006/relationships/image" Target="../media/image186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4" Type="http://schemas.openxmlformats.org/officeDocument/2006/relationships/image" Target="../media/image190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wmf"/><Relationship Id="rId1" Type="http://schemas.openxmlformats.org/officeDocument/2006/relationships/image" Target="../media/image191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image" Target="../media/image195.wmf"/><Relationship Id="rId7" Type="http://schemas.openxmlformats.org/officeDocument/2006/relationships/image" Target="../media/image199.wmf"/><Relationship Id="rId12" Type="http://schemas.openxmlformats.org/officeDocument/2006/relationships/image" Target="../media/image204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Relationship Id="rId6" Type="http://schemas.openxmlformats.org/officeDocument/2006/relationships/image" Target="../media/image198.wmf"/><Relationship Id="rId11" Type="http://schemas.openxmlformats.org/officeDocument/2006/relationships/image" Target="../media/image203.wmf"/><Relationship Id="rId5" Type="http://schemas.openxmlformats.org/officeDocument/2006/relationships/image" Target="../media/image197.wmf"/><Relationship Id="rId10" Type="http://schemas.openxmlformats.org/officeDocument/2006/relationships/image" Target="../media/image202.wmf"/><Relationship Id="rId4" Type="http://schemas.openxmlformats.org/officeDocument/2006/relationships/image" Target="../media/image196.wmf"/><Relationship Id="rId9" Type="http://schemas.openxmlformats.org/officeDocument/2006/relationships/image" Target="../media/image201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Relationship Id="rId4" Type="http://schemas.openxmlformats.org/officeDocument/2006/relationships/image" Target="../media/image208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wmf"/><Relationship Id="rId1" Type="http://schemas.openxmlformats.org/officeDocument/2006/relationships/image" Target="../media/image209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wmf"/><Relationship Id="rId1" Type="http://schemas.openxmlformats.org/officeDocument/2006/relationships/image" Target="../media/image215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wmf"/><Relationship Id="rId2" Type="http://schemas.openxmlformats.org/officeDocument/2006/relationships/image" Target="../media/image219.wmf"/><Relationship Id="rId1" Type="http://schemas.openxmlformats.org/officeDocument/2006/relationships/image" Target="../media/image218.wmf"/><Relationship Id="rId4" Type="http://schemas.openxmlformats.org/officeDocument/2006/relationships/image" Target="../media/image221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wmf"/><Relationship Id="rId2" Type="http://schemas.openxmlformats.org/officeDocument/2006/relationships/image" Target="../media/image219.wmf"/><Relationship Id="rId1" Type="http://schemas.openxmlformats.org/officeDocument/2006/relationships/image" Target="../media/image218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3" Type="http://schemas.openxmlformats.org/officeDocument/2006/relationships/image" Target="../media/image225.wmf"/><Relationship Id="rId7" Type="http://schemas.openxmlformats.org/officeDocument/2006/relationships/image" Target="../media/image229.wmf"/><Relationship Id="rId2" Type="http://schemas.openxmlformats.org/officeDocument/2006/relationships/image" Target="../media/image224.wmf"/><Relationship Id="rId1" Type="http://schemas.openxmlformats.org/officeDocument/2006/relationships/image" Target="../media/image223.wmf"/><Relationship Id="rId6" Type="http://schemas.openxmlformats.org/officeDocument/2006/relationships/image" Target="../media/image228.wmf"/><Relationship Id="rId11" Type="http://schemas.openxmlformats.org/officeDocument/2006/relationships/image" Target="../media/image233.wmf"/><Relationship Id="rId5" Type="http://schemas.openxmlformats.org/officeDocument/2006/relationships/image" Target="../media/image227.wmf"/><Relationship Id="rId10" Type="http://schemas.openxmlformats.org/officeDocument/2006/relationships/image" Target="../media/image232.wmf"/><Relationship Id="rId4" Type="http://schemas.openxmlformats.org/officeDocument/2006/relationships/image" Target="../media/image226.wmf"/><Relationship Id="rId9" Type="http://schemas.openxmlformats.org/officeDocument/2006/relationships/image" Target="../media/image2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08F89-9C62-40E6-A4B7-5241B108DC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07C1D-A20E-4502-A38E-1928A7EE2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097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88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033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4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99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6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773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44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09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651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52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73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14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372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3608528-7CC1-4DE4-9956-D8B6A352E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517045-B888-43FE-92C7-EE00FB464C4A}" type="datetime3">
              <a:rPr lang="zh-CN" altLang="en-US"/>
              <a:pPr>
                <a:defRPr/>
              </a:pPr>
              <a:t>2025年2月28日星期五</a:t>
            </a:fld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1FA5215-6AB8-475C-A776-17D7CB5717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(Spring,2010,24ppt)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1B78368-9C93-433B-9B92-B8D86C87A6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F7A3B8-6427-4AF7-8875-5DF40E2E9AA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060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401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2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.wmf"/><Relationship Id="rId20" Type="http://schemas.openxmlformats.org/officeDocument/2006/relationships/image" Target="../media/image23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8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10" Type="http://schemas.openxmlformats.org/officeDocument/2006/relationships/image" Target="../media/image32.wmf"/><Relationship Id="rId4" Type="http://schemas.openxmlformats.org/officeDocument/2006/relationships/image" Target="../media/image26.wmf"/><Relationship Id="rId9" Type="http://schemas.openxmlformats.org/officeDocument/2006/relationships/image" Target="../media/image3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37.wmf"/><Relationship Id="rId3" Type="http://schemas.openxmlformats.org/officeDocument/2006/relationships/image" Target="../media/image27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7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2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4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1.e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43.emf"/><Relationship Id="rId4" Type="http://schemas.openxmlformats.org/officeDocument/2006/relationships/image" Target="../media/image40.e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4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13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5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2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7.e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49.emf"/><Relationship Id="rId4" Type="http://schemas.openxmlformats.org/officeDocument/2006/relationships/image" Target="../media/image46.e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51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27.wmf"/><Relationship Id="rId7" Type="http://schemas.openxmlformats.org/officeDocument/2006/relationships/image" Target="../media/image54.emf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56.emf"/><Relationship Id="rId5" Type="http://schemas.openxmlformats.org/officeDocument/2006/relationships/image" Target="../media/image53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5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61.emf"/><Relationship Id="rId3" Type="http://schemas.openxmlformats.org/officeDocument/2006/relationships/image" Target="../media/image27.wmf"/><Relationship Id="rId7" Type="http://schemas.openxmlformats.org/officeDocument/2006/relationships/image" Target="../media/image58.emf"/><Relationship Id="rId12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60.emf"/><Relationship Id="rId5" Type="http://schemas.openxmlformats.org/officeDocument/2006/relationships/image" Target="../media/image57.wmf"/><Relationship Id="rId15" Type="http://schemas.openxmlformats.org/officeDocument/2006/relationships/image" Target="../media/image62.e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9.emf"/><Relationship Id="rId14" Type="http://schemas.openxmlformats.org/officeDocument/2006/relationships/oleObject" Target="../embeddings/oleObject5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63.wmf"/><Relationship Id="rId4" Type="http://schemas.openxmlformats.org/officeDocument/2006/relationships/package" Target="../embeddings/Microsoft_Word_Document2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64.wmf"/><Relationship Id="rId4" Type="http://schemas.openxmlformats.org/officeDocument/2006/relationships/oleObject" Target="../embeddings/oleObject51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5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73.emf"/><Relationship Id="rId18" Type="http://schemas.openxmlformats.org/officeDocument/2006/relationships/oleObject" Target="../embeddings/oleObject64.bin"/><Relationship Id="rId3" Type="http://schemas.openxmlformats.org/officeDocument/2006/relationships/image" Target="../media/image27.wmf"/><Relationship Id="rId21" Type="http://schemas.openxmlformats.org/officeDocument/2006/relationships/image" Target="../media/image77.wmf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75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3.bin"/><Relationship Id="rId20" Type="http://schemas.openxmlformats.org/officeDocument/2006/relationships/oleObject" Target="../embeddings/oleObject65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72.emf"/><Relationship Id="rId5" Type="http://schemas.openxmlformats.org/officeDocument/2006/relationships/image" Target="../media/image69.wmf"/><Relationship Id="rId15" Type="http://schemas.openxmlformats.org/officeDocument/2006/relationships/image" Target="../media/image74.wmf"/><Relationship Id="rId23" Type="http://schemas.openxmlformats.org/officeDocument/2006/relationships/image" Target="../media/image78.emf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76.e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62.bin"/><Relationship Id="rId22" Type="http://schemas.openxmlformats.org/officeDocument/2006/relationships/oleObject" Target="../embeddings/oleObject6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83.wmf"/><Relationship Id="rId18" Type="http://schemas.openxmlformats.org/officeDocument/2006/relationships/oleObject" Target="../embeddings/oleObject74.bin"/><Relationship Id="rId3" Type="http://schemas.openxmlformats.org/officeDocument/2006/relationships/image" Target="../media/image27.wmf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8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3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82.wmf"/><Relationship Id="rId5" Type="http://schemas.openxmlformats.org/officeDocument/2006/relationships/image" Target="../media/image79.wmf"/><Relationship Id="rId15" Type="http://schemas.openxmlformats.org/officeDocument/2006/relationships/image" Target="../media/image84.w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86.e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81.wmf"/><Relationship Id="rId14" Type="http://schemas.openxmlformats.org/officeDocument/2006/relationships/oleObject" Target="../embeddings/oleObject7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91.emf"/><Relationship Id="rId3" Type="http://schemas.openxmlformats.org/officeDocument/2006/relationships/image" Target="../media/image27.wmf"/><Relationship Id="rId7" Type="http://schemas.openxmlformats.org/officeDocument/2006/relationships/image" Target="../media/image88.emf"/><Relationship Id="rId12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90.emf"/><Relationship Id="rId5" Type="http://schemas.openxmlformats.org/officeDocument/2006/relationships/image" Target="../media/image87.emf"/><Relationship Id="rId10" Type="http://schemas.openxmlformats.org/officeDocument/2006/relationships/oleObject" Target="../embeddings/oleObject78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89.e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5.bin"/><Relationship Id="rId18" Type="http://schemas.openxmlformats.org/officeDocument/2006/relationships/oleObject" Target="../embeddings/oleObject88.bin"/><Relationship Id="rId26" Type="http://schemas.openxmlformats.org/officeDocument/2006/relationships/oleObject" Target="../embeddings/oleObject92.bin"/><Relationship Id="rId3" Type="http://schemas.openxmlformats.org/officeDocument/2006/relationships/oleObject" Target="../embeddings/oleObject80.bin"/><Relationship Id="rId21" Type="http://schemas.openxmlformats.org/officeDocument/2006/relationships/image" Target="../media/image100.wmf"/><Relationship Id="rId34" Type="http://schemas.openxmlformats.org/officeDocument/2006/relationships/image" Target="../media/image106.wmf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96.wmf"/><Relationship Id="rId17" Type="http://schemas.openxmlformats.org/officeDocument/2006/relationships/image" Target="../media/image98.wmf"/><Relationship Id="rId25" Type="http://schemas.openxmlformats.org/officeDocument/2006/relationships/image" Target="../media/image102.wmf"/><Relationship Id="rId33" Type="http://schemas.openxmlformats.org/officeDocument/2006/relationships/oleObject" Target="../embeddings/oleObject96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29" Type="http://schemas.openxmlformats.org/officeDocument/2006/relationships/image" Target="../media/image104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84.bin"/><Relationship Id="rId24" Type="http://schemas.openxmlformats.org/officeDocument/2006/relationships/oleObject" Target="../embeddings/oleObject91.bin"/><Relationship Id="rId32" Type="http://schemas.openxmlformats.org/officeDocument/2006/relationships/oleObject" Target="../embeddings/oleObject95.bin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23" Type="http://schemas.openxmlformats.org/officeDocument/2006/relationships/image" Target="../media/image101.wmf"/><Relationship Id="rId28" Type="http://schemas.openxmlformats.org/officeDocument/2006/relationships/oleObject" Target="../embeddings/oleObject93.bin"/><Relationship Id="rId10" Type="http://schemas.openxmlformats.org/officeDocument/2006/relationships/image" Target="../media/image95.wmf"/><Relationship Id="rId19" Type="http://schemas.openxmlformats.org/officeDocument/2006/relationships/image" Target="../media/image99.wmf"/><Relationship Id="rId31" Type="http://schemas.openxmlformats.org/officeDocument/2006/relationships/image" Target="../media/image10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97.wmf"/><Relationship Id="rId22" Type="http://schemas.openxmlformats.org/officeDocument/2006/relationships/oleObject" Target="../embeddings/oleObject90.bin"/><Relationship Id="rId27" Type="http://schemas.openxmlformats.org/officeDocument/2006/relationships/image" Target="../media/image103.wmf"/><Relationship Id="rId30" Type="http://schemas.openxmlformats.org/officeDocument/2006/relationships/oleObject" Target="../embeddings/oleObject94.bin"/><Relationship Id="rId8" Type="http://schemas.openxmlformats.org/officeDocument/2006/relationships/image" Target="../media/image9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10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112.wmf"/><Relationship Id="rId18" Type="http://schemas.openxmlformats.org/officeDocument/2006/relationships/oleObject" Target="../embeddings/oleObject105.bin"/><Relationship Id="rId3" Type="http://schemas.openxmlformats.org/officeDocument/2006/relationships/image" Target="../media/image27.wmf"/><Relationship Id="rId21" Type="http://schemas.openxmlformats.org/officeDocument/2006/relationships/image" Target="../media/image116.wmf"/><Relationship Id="rId7" Type="http://schemas.openxmlformats.org/officeDocument/2006/relationships/image" Target="../media/image109.wmf"/><Relationship Id="rId12" Type="http://schemas.openxmlformats.org/officeDocument/2006/relationships/oleObject" Target="../embeddings/oleObject102.bin"/><Relationship Id="rId17" Type="http://schemas.openxmlformats.org/officeDocument/2006/relationships/image" Target="../media/image11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4.bin"/><Relationship Id="rId20" Type="http://schemas.openxmlformats.org/officeDocument/2006/relationships/oleObject" Target="../embeddings/oleObject106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11.wmf"/><Relationship Id="rId5" Type="http://schemas.openxmlformats.org/officeDocument/2006/relationships/image" Target="../media/image108.wmf"/><Relationship Id="rId15" Type="http://schemas.openxmlformats.org/officeDocument/2006/relationships/image" Target="../media/image113.wmf"/><Relationship Id="rId10" Type="http://schemas.openxmlformats.org/officeDocument/2006/relationships/oleObject" Target="../embeddings/oleObject101.bin"/><Relationship Id="rId19" Type="http://schemas.openxmlformats.org/officeDocument/2006/relationships/image" Target="../media/image115.wmf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10.wmf"/><Relationship Id="rId14" Type="http://schemas.openxmlformats.org/officeDocument/2006/relationships/oleObject" Target="../embeddings/oleObject103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1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oleObject" Target="../embeddings/oleObject114.bin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2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0" Type="http://schemas.openxmlformats.org/officeDocument/2006/relationships/image" Target="../media/image122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2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0" Type="http://schemas.openxmlformats.org/officeDocument/2006/relationships/image" Target="../media/image128.w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1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3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31.w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0" Type="http://schemas.openxmlformats.org/officeDocument/2006/relationships/image" Target="../media/image133.wmf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23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35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107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3" Type="http://schemas.openxmlformats.org/officeDocument/2006/relationships/oleObject" Target="../embeddings/oleObject129.bin"/><Relationship Id="rId7" Type="http://schemas.openxmlformats.org/officeDocument/2006/relationships/image" Target="../media/image13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41.wmf"/><Relationship Id="rId5" Type="http://schemas.openxmlformats.org/officeDocument/2006/relationships/oleObject" Target="../embeddings/oleObject130.bin"/><Relationship Id="rId10" Type="http://schemas.openxmlformats.org/officeDocument/2006/relationships/oleObject" Target="../embeddings/oleObject133.bin"/><Relationship Id="rId4" Type="http://schemas.openxmlformats.org/officeDocument/2006/relationships/image" Target="../media/image138.wmf"/><Relationship Id="rId9" Type="http://schemas.openxmlformats.org/officeDocument/2006/relationships/image" Target="../media/image140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4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4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43.bin"/><Relationship Id="rId5" Type="http://schemas.openxmlformats.org/officeDocument/2006/relationships/oleObject" Target="../embeddings/oleObject140.bin"/><Relationship Id="rId10" Type="http://schemas.openxmlformats.org/officeDocument/2006/relationships/image" Target="../media/image150.wmf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4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52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5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48.bin"/><Relationship Id="rId10" Type="http://schemas.openxmlformats.org/officeDocument/2006/relationships/image" Target="../media/image158.wmf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5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61.wmf"/><Relationship Id="rId5" Type="http://schemas.openxmlformats.org/officeDocument/2006/relationships/oleObject" Target="../embeddings/oleObject153.bin"/><Relationship Id="rId10" Type="http://schemas.openxmlformats.org/officeDocument/2006/relationships/image" Target="../media/image163.wmf"/><Relationship Id="rId4" Type="http://schemas.openxmlformats.org/officeDocument/2006/relationships/image" Target="../media/image160.wmf"/><Relationship Id="rId9" Type="http://schemas.openxmlformats.org/officeDocument/2006/relationships/oleObject" Target="../embeddings/oleObject15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57.bin"/><Relationship Id="rId10" Type="http://schemas.openxmlformats.org/officeDocument/2006/relationships/image" Target="../media/image167.wmf"/><Relationship Id="rId4" Type="http://schemas.openxmlformats.org/officeDocument/2006/relationships/image" Target="../media/image164.wmf"/><Relationship Id="rId9" Type="http://schemas.openxmlformats.org/officeDocument/2006/relationships/oleObject" Target="../embeddings/oleObject159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image" Target="../media/image179.wmf"/><Relationship Id="rId3" Type="http://schemas.openxmlformats.org/officeDocument/2006/relationships/image" Target="../media/image169.wmf"/><Relationship Id="rId7" Type="http://schemas.openxmlformats.org/officeDocument/2006/relationships/image" Target="../media/image173.wmf"/><Relationship Id="rId12" Type="http://schemas.openxmlformats.org/officeDocument/2006/relationships/image" Target="../media/image178.wmf"/><Relationship Id="rId2" Type="http://schemas.openxmlformats.org/officeDocument/2006/relationships/image" Target="../media/image168.wmf"/><Relationship Id="rId16" Type="http://schemas.openxmlformats.org/officeDocument/2006/relationships/image" Target="../media/image18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wmf"/><Relationship Id="rId11" Type="http://schemas.openxmlformats.org/officeDocument/2006/relationships/image" Target="../media/image177.wmf"/><Relationship Id="rId5" Type="http://schemas.openxmlformats.org/officeDocument/2006/relationships/image" Target="../media/image171.png"/><Relationship Id="rId15" Type="http://schemas.openxmlformats.org/officeDocument/2006/relationships/image" Target="../media/image181.wmf"/><Relationship Id="rId10" Type="http://schemas.openxmlformats.org/officeDocument/2006/relationships/image" Target="../media/image176.wmf"/><Relationship Id="rId4" Type="http://schemas.openxmlformats.org/officeDocument/2006/relationships/image" Target="../media/image170.wmf"/><Relationship Id="rId9" Type="http://schemas.openxmlformats.org/officeDocument/2006/relationships/image" Target="../media/image175.wmf"/><Relationship Id="rId14" Type="http://schemas.openxmlformats.org/officeDocument/2006/relationships/image" Target="../media/image180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84.wmf"/><Relationship Id="rId5" Type="http://schemas.openxmlformats.org/officeDocument/2006/relationships/oleObject" Target="../embeddings/oleObject161.bin"/><Relationship Id="rId10" Type="http://schemas.openxmlformats.org/officeDocument/2006/relationships/image" Target="../media/image186.wmf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163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88.wmf"/><Relationship Id="rId5" Type="http://schemas.openxmlformats.org/officeDocument/2006/relationships/oleObject" Target="../embeddings/oleObject165.bin"/><Relationship Id="rId10" Type="http://schemas.openxmlformats.org/officeDocument/2006/relationships/image" Target="../media/image190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167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92.wmf"/><Relationship Id="rId5" Type="http://schemas.openxmlformats.org/officeDocument/2006/relationships/oleObject" Target="../embeddings/oleObject169.bin"/><Relationship Id="rId4" Type="http://schemas.openxmlformats.org/officeDocument/2006/relationships/image" Target="../media/image191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oleObject" Target="../embeddings/oleObject175.bin"/><Relationship Id="rId18" Type="http://schemas.openxmlformats.org/officeDocument/2006/relationships/image" Target="../media/image200.wmf"/><Relationship Id="rId26" Type="http://schemas.openxmlformats.org/officeDocument/2006/relationships/image" Target="../media/image204.wmf"/><Relationship Id="rId3" Type="http://schemas.openxmlformats.org/officeDocument/2006/relationships/oleObject" Target="../embeddings/oleObject170.bin"/><Relationship Id="rId21" Type="http://schemas.openxmlformats.org/officeDocument/2006/relationships/oleObject" Target="../embeddings/oleObject179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97.wmf"/><Relationship Id="rId17" Type="http://schemas.openxmlformats.org/officeDocument/2006/relationships/oleObject" Target="../embeddings/oleObject177.bin"/><Relationship Id="rId25" Type="http://schemas.openxmlformats.org/officeDocument/2006/relationships/oleObject" Target="../embeddings/oleObject18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9.wmf"/><Relationship Id="rId20" Type="http://schemas.openxmlformats.org/officeDocument/2006/relationships/image" Target="../media/image201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94.wmf"/><Relationship Id="rId11" Type="http://schemas.openxmlformats.org/officeDocument/2006/relationships/oleObject" Target="../embeddings/oleObject174.bin"/><Relationship Id="rId24" Type="http://schemas.openxmlformats.org/officeDocument/2006/relationships/image" Target="../media/image203.wmf"/><Relationship Id="rId5" Type="http://schemas.openxmlformats.org/officeDocument/2006/relationships/oleObject" Target="../embeddings/oleObject171.bin"/><Relationship Id="rId15" Type="http://schemas.openxmlformats.org/officeDocument/2006/relationships/oleObject" Target="../embeddings/oleObject176.bin"/><Relationship Id="rId23" Type="http://schemas.openxmlformats.org/officeDocument/2006/relationships/oleObject" Target="../embeddings/oleObject180.bin"/><Relationship Id="rId10" Type="http://schemas.openxmlformats.org/officeDocument/2006/relationships/image" Target="../media/image196.wmf"/><Relationship Id="rId19" Type="http://schemas.openxmlformats.org/officeDocument/2006/relationships/oleObject" Target="../embeddings/oleObject178.bin"/><Relationship Id="rId4" Type="http://schemas.openxmlformats.org/officeDocument/2006/relationships/image" Target="../media/image193.w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98.wmf"/><Relationship Id="rId22" Type="http://schemas.openxmlformats.org/officeDocument/2006/relationships/image" Target="../media/image202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06.wmf"/><Relationship Id="rId5" Type="http://schemas.openxmlformats.org/officeDocument/2006/relationships/oleObject" Target="../embeddings/oleObject183.bin"/><Relationship Id="rId10" Type="http://schemas.openxmlformats.org/officeDocument/2006/relationships/image" Target="../media/image208.wmf"/><Relationship Id="rId4" Type="http://schemas.openxmlformats.org/officeDocument/2006/relationships/image" Target="../media/image205.wmf"/><Relationship Id="rId9" Type="http://schemas.openxmlformats.org/officeDocument/2006/relationships/oleObject" Target="../embeddings/oleObject185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3" Type="http://schemas.openxmlformats.org/officeDocument/2006/relationships/oleObject" Target="../embeddings/oleObject186.bin"/><Relationship Id="rId7" Type="http://schemas.openxmlformats.org/officeDocument/2006/relationships/image" Target="../media/image2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12.wmf"/><Relationship Id="rId5" Type="http://schemas.openxmlformats.org/officeDocument/2006/relationships/image" Target="../media/image211.wmf"/><Relationship Id="rId10" Type="http://schemas.openxmlformats.org/officeDocument/2006/relationships/image" Target="../media/image214.wmf"/><Relationship Id="rId4" Type="http://schemas.openxmlformats.org/officeDocument/2006/relationships/image" Target="../media/image209.wmf"/><Relationship Id="rId9" Type="http://schemas.openxmlformats.org/officeDocument/2006/relationships/image" Target="../media/image210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3" Type="http://schemas.openxmlformats.org/officeDocument/2006/relationships/image" Target="../media/image217.wmf"/><Relationship Id="rId7" Type="http://schemas.openxmlformats.org/officeDocument/2006/relationships/image" Target="../media/image2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189.bin"/><Relationship Id="rId5" Type="http://schemas.openxmlformats.org/officeDocument/2006/relationships/image" Target="../media/image215.wmf"/><Relationship Id="rId4" Type="http://schemas.openxmlformats.org/officeDocument/2006/relationships/oleObject" Target="../embeddings/oleObject188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19.wmf"/><Relationship Id="rId5" Type="http://schemas.openxmlformats.org/officeDocument/2006/relationships/oleObject" Target="../embeddings/oleObject191.bin"/><Relationship Id="rId10" Type="http://schemas.openxmlformats.org/officeDocument/2006/relationships/image" Target="../media/image221.wmf"/><Relationship Id="rId4" Type="http://schemas.openxmlformats.org/officeDocument/2006/relationships/image" Target="../media/image218.wmf"/><Relationship Id="rId9" Type="http://schemas.openxmlformats.org/officeDocument/2006/relationships/oleObject" Target="../embeddings/oleObject193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19.w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218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wmf"/><Relationship Id="rId13" Type="http://schemas.openxmlformats.org/officeDocument/2006/relationships/oleObject" Target="../embeddings/oleObject202.bin"/><Relationship Id="rId18" Type="http://schemas.openxmlformats.org/officeDocument/2006/relationships/image" Target="../media/image230.wmf"/><Relationship Id="rId3" Type="http://schemas.openxmlformats.org/officeDocument/2006/relationships/oleObject" Target="../embeddings/oleObject197.bin"/><Relationship Id="rId21" Type="http://schemas.openxmlformats.org/officeDocument/2006/relationships/oleObject" Target="../embeddings/oleObject206.bin"/><Relationship Id="rId7" Type="http://schemas.openxmlformats.org/officeDocument/2006/relationships/oleObject" Target="../embeddings/oleObject199.bin"/><Relationship Id="rId12" Type="http://schemas.openxmlformats.org/officeDocument/2006/relationships/image" Target="../media/image227.wmf"/><Relationship Id="rId17" Type="http://schemas.openxmlformats.org/officeDocument/2006/relationships/oleObject" Target="../embeddings/oleObject20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9.wmf"/><Relationship Id="rId20" Type="http://schemas.openxmlformats.org/officeDocument/2006/relationships/image" Target="../media/image231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24.wmf"/><Relationship Id="rId11" Type="http://schemas.openxmlformats.org/officeDocument/2006/relationships/oleObject" Target="../embeddings/oleObject201.bin"/><Relationship Id="rId24" Type="http://schemas.openxmlformats.org/officeDocument/2006/relationships/image" Target="../media/image233.wmf"/><Relationship Id="rId5" Type="http://schemas.openxmlformats.org/officeDocument/2006/relationships/oleObject" Target="../embeddings/oleObject198.bin"/><Relationship Id="rId15" Type="http://schemas.openxmlformats.org/officeDocument/2006/relationships/oleObject" Target="../embeddings/oleObject203.bin"/><Relationship Id="rId23" Type="http://schemas.openxmlformats.org/officeDocument/2006/relationships/oleObject" Target="../embeddings/oleObject207.bin"/><Relationship Id="rId10" Type="http://schemas.openxmlformats.org/officeDocument/2006/relationships/image" Target="../media/image226.wmf"/><Relationship Id="rId19" Type="http://schemas.openxmlformats.org/officeDocument/2006/relationships/oleObject" Target="../embeddings/oleObject205.bin"/><Relationship Id="rId4" Type="http://schemas.openxmlformats.org/officeDocument/2006/relationships/image" Target="../media/image223.wmf"/><Relationship Id="rId9" Type="http://schemas.openxmlformats.org/officeDocument/2006/relationships/oleObject" Target="../embeddings/oleObject200.bin"/><Relationship Id="rId14" Type="http://schemas.openxmlformats.org/officeDocument/2006/relationships/image" Target="../media/image228.wmf"/><Relationship Id="rId22" Type="http://schemas.openxmlformats.org/officeDocument/2006/relationships/image" Target="../media/image232.w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3568" y="1301071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第十讲  特征值与特征向量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63688" y="2686273"/>
            <a:ext cx="6400800" cy="256713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</a:rPr>
              <a:t>2.20 </a:t>
            </a:r>
            <a:r>
              <a:rPr lang="zh-CN" altLang="en-US" b="1" dirty="0">
                <a:solidFill>
                  <a:schemeClr val="tx1"/>
                </a:solidFill>
              </a:rPr>
              <a:t>特征值与特征向量的概念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</a:rPr>
              <a:t>2.21 </a:t>
            </a:r>
            <a:r>
              <a:rPr lang="zh-CN" altLang="en-US" b="1" dirty="0">
                <a:solidFill>
                  <a:schemeClr val="tx1"/>
                </a:solidFill>
              </a:rPr>
              <a:t>特征值与特征向量的计算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</a:rPr>
              <a:t>2.22 </a:t>
            </a:r>
            <a:r>
              <a:rPr lang="zh-CN" altLang="en-US" b="1" dirty="0">
                <a:solidFill>
                  <a:schemeClr val="tx1"/>
                </a:solidFill>
              </a:rPr>
              <a:t>特征值的性质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chemeClr val="tx1"/>
                </a:solidFill>
              </a:rPr>
              <a:t>2.23 </a:t>
            </a:r>
            <a:r>
              <a:rPr lang="zh-CN" altLang="en-US" b="1" dirty="0">
                <a:solidFill>
                  <a:schemeClr val="tx1"/>
                </a:solidFill>
              </a:rPr>
              <a:t>特征向量的性质</a:t>
            </a:r>
          </a:p>
        </p:txBody>
      </p:sp>
      <p:pic>
        <p:nvPicPr>
          <p:cNvPr id="4" name="Picture 2" descr="scau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31" y="67811"/>
            <a:ext cx="5472112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17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782" y="1425699"/>
            <a:ext cx="7772400" cy="202192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b="1" dirty="0">
                <a:latin typeface="+mn-ea"/>
                <a:ea typeface="+mn-ea"/>
              </a:rPr>
              <a:t>第十一讲  矩阵方程 </a:t>
            </a:r>
            <a:br>
              <a:rPr lang="en-US" altLang="zh-CN" sz="4800" b="1" dirty="0">
                <a:latin typeface="+mn-ea"/>
                <a:ea typeface="+mn-ea"/>
              </a:rPr>
            </a:br>
            <a:r>
              <a:rPr lang="zh-CN" altLang="en-US" sz="4800" b="1" dirty="0">
                <a:latin typeface="+mn-ea"/>
                <a:ea typeface="+mn-ea"/>
              </a:rPr>
              <a:t>矩阵数字特征的关系</a:t>
            </a:r>
          </a:p>
        </p:txBody>
      </p:sp>
      <p:sp>
        <p:nvSpPr>
          <p:cNvPr id="9" name="Rectangle 5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80102" y="4507378"/>
            <a:ext cx="6840538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3600" noProof="1">
                <a:latin typeface="+mn-ea"/>
              </a:rPr>
              <a:t>2.24 </a:t>
            </a:r>
            <a:r>
              <a:rPr lang="zh-CN" altLang="en-US" sz="3600" noProof="1">
                <a:latin typeface="+mn-ea"/>
              </a:rPr>
              <a:t>矩阵的数字特征</a:t>
            </a:r>
          </a:p>
        </p:txBody>
      </p:sp>
      <p:sp>
        <p:nvSpPr>
          <p:cNvPr id="10" name="Rectangle 5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611782" y="3577551"/>
            <a:ext cx="6840538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3600" noProof="1">
                <a:latin typeface="+mn-ea"/>
              </a:rPr>
              <a:t>2.19 </a:t>
            </a:r>
            <a:r>
              <a:rPr lang="zh-CN" altLang="en-US" sz="3600" noProof="1">
                <a:latin typeface="+mn-ea"/>
              </a:rPr>
              <a:t>矩阵方程</a:t>
            </a:r>
          </a:p>
        </p:txBody>
      </p:sp>
      <p:sp>
        <p:nvSpPr>
          <p:cNvPr id="11" name="Rectangle 5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67544" y="5445224"/>
            <a:ext cx="8568952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3600" noProof="1">
                <a:latin typeface="+mn-ea"/>
              </a:rPr>
              <a:t>2.25 </a:t>
            </a:r>
            <a:r>
              <a:rPr lang="zh-CN" altLang="en-US" sz="3600" noProof="1">
                <a:latin typeface="+mn-ea"/>
              </a:rPr>
              <a:t>数字特征相同的一类矩阵</a:t>
            </a:r>
            <a:r>
              <a:rPr lang="en-US" altLang="zh-CN" sz="3600" noProof="1">
                <a:latin typeface="+mn-ea"/>
              </a:rPr>
              <a:t>—</a:t>
            </a:r>
            <a:r>
              <a:rPr lang="zh-CN" altLang="en-US" sz="3600" noProof="1">
                <a:latin typeface="+mn-ea"/>
              </a:rPr>
              <a:t>相似矩阵</a:t>
            </a:r>
          </a:p>
        </p:txBody>
      </p:sp>
      <p:pic>
        <p:nvPicPr>
          <p:cNvPr id="6" name="Picture 2" descr="scau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31" y="67811"/>
            <a:ext cx="5472112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直角三角形 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直角三角形 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/>
              <a:t>二、</a:t>
            </a:r>
            <a:r>
              <a:rPr lang="zh-CN" altLang="en-US" sz="3600" noProof="1"/>
              <a:t>矩阵数字特征之间的关系</a:t>
            </a:r>
            <a:endParaRPr lang="zh-CN" altLang="en-US" sz="3600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39552" y="3078162"/>
            <a:ext cx="695254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+mn-ea"/>
                <a:ea typeface="+mn-ea"/>
              </a:rPr>
              <a:t>定理</a:t>
            </a:r>
            <a:r>
              <a:rPr lang="en-US" altLang="zh-CN" sz="2400" b="1" dirty="0">
                <a:latin typeface="+mn-ea"/>
                <a:ea typeface="+mn-ea"/>
              </a:rPr>
              <a:t>2.24.1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设</a:t>
            </a:r>
            <a:r>
              <a:rPr lang="en-US" altLang="zh-CN" sz="2400" i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n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阶方阵                的全部特征值为</a:t>
            </a:r>
          </a:p>
          <a:p>
            <a:pPr eaLnBrk="1" hangingPunct="1"/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                         则有</a:t>
            </a:r>
            <a:r>
              <a:rPr lang="zh-CN" altLang="en-US" sz="2400" b="1" dirty="0">
                <a:solidFill>
                  <a:srgbClr val="000000"/>
                </a:solidFill>
              </a:rPr>
              <a:t>       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421857"/>
              </p:ext>
            </p:extLst>
          </p:nvPr>
        </p:nvGraphicFramePr>
        <p:xfrm>
          <a:off x="731639" y="3748980"/>
          <a:ext cx="201453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name="Equation" r:id="rId3" imgW="799920" imgH="228600" progId="Equation.DSMT4">
                  <p:embed/>
                </p:oleObj>
              </mc:Choice>
              <mc:Fallback>
                <p:oleObj name="Equation" r:id="rId3" imgW="799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639" y="3748980"/>
                        <a:ext cx="2014538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456177"/>
              </p:ext>
            </p:extLst>
          </p:nvPr>
        </p:nvGraphicFramePr>
        <p:xfrm>
          <a:off x="1634927" y="4486275"/>
          <a:ext cx="576103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name="Equation" r:id="rId5" imgW="2197080" imgH="228600" progId="Equation.DSMT4">
                  <p:embed/>
                </p:oleObj>
              </mc:Choice>
              <mc:Fallback>
                <p:oleObj name="Equation" r:id="rId5" imgW="2197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4927" y="4486275"/>
                        <a:ext cx="5761037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060252" y="4479925"/>
            <a:ext cx="728662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(1)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060252" y="5272087"/>
            <a:ext cx="728662" cy="523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+mn-ea"/>
                <a:ea typeface="+mn-ea"/>
              </a:rPr>
              <a:t>(2)</a:t>
            </a: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716331"/>
              </p:ext>
            </p:extLst>
          </p:nvPr>
        </p:nvGraphicFramePr>
        <p:xfrm>
          <a:off x="1663502" y="5224462"/>
          <a:ext cx="2636837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" name="Equation" r:id="rId7" imgW="914400" imgH="253800" progId="Equation.DSMT4">
                  <p:embed/>
                </p:oleObj>
              </mc:Choice>
              <mc:Fallback>
                <p:oleObj name="Equation" r:id="rId7" imgW="9144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502" y="5224462"/>
                        <a:ext cx="2636837" cy="690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581291"/>
              </p:ext>
            </p:extLst>
          </p:nvPr>
        </p:nvGraphicFramePr>
        <p:xfrm>
          <a:off x="3738811" y="3067764"/>
          <a:ext cx="1265237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" name="Equation" r:id="rId9" imgW="545760" imgH="241200" progId="Equation.DSMT4">
                  <p:embed/>
                </p:oleObj>
              </mc:Choice>
              <mc:Fallback>
                <p:oleObj name="Equation" r:id="rId9" imgW="545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8811" y="3067764"/>
                        <a:ext cx="1265237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516239" y="5070475"/>
            <a:ext cx="3355975" cy="822325"/>
            <a:chOff x="2709" y="2069"/>
            <a:chExt cx="2114" cy="518"/>
          </a:xfrm>
        </p:grpSpPr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2709" y="2069"/>
              <a:ext cx="186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 flipH="1" flipV="1">
              <a:off x="3752" y="2069"/>
              <a:ext cx="90" cy="22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2845" y="2296"/>
              <a:ext cx="197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400" dirty="0" err="1">
                  <a:solidFill>
                    <a:srgbClr val="000000"/>
                  </a:solidFill>
                  <a:latin typeface="+mn-ea"/>
                  <a:ea typeface="+mn-ea"/>
                </a:rPr>
                <a:t>tr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</a:rPr>
                <a:t>(</a:t>
              </a:r>
              <a:r>
                <a:rPr lang="en-US" altLang="zh-CN" sz="2400" i="1" dirty="0">
                  <a:solidFill>
                    <a:srgbClr val="000000"/>
                  </a:solidFill>
                  <a:latin typeface="+mn-ea"/>
                  <a:ea typeface="+mn-ea"/>
                  <a:cs typeface="Times New Roman" pitchFamily="18" charset="0"/>
                </a:rPr>
                <a:t>A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</a:rPr>
                <a:t>)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</a:rPr>
                <a:t>，方阵</a:t>
              </a:r>
              <a:r>
                <a:rPr lang="en-US" altLang="zh-CN" sz="2400" i="1" dirty="0">
                  <a:solidFill>
                    <a:srgbClr val="000000"/>
                  </a:solidFill>
                  <a:latin typeface="+mn-ea"/>
                  <a:ea typeface="+mn-ea"/>
                  <a:cs typeface="Times New Roman" pitchFamily="18" charset="0"/>
                </a:rPr>
                <a:t>A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</a:rPr>
                <a:t>的迹     </a:t>
              </a:r>
            </a:p>
          </p:txBody>
        </p:sp>
      </p:grp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552110" y="6135687"/>
            <a:ext cx="69557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+mn-ea"/>
                <a:ea typeface="+mn-ea"/>
              </a:rPr>
              <a:t>注</a:t>
            </a:r>
            <a:r>
              <a:rPr lang="zh-CN" altLang="en-US" sz="2400" dirty="0">
                <a:latin typeface="+mn-ea"/>
                <a:ea typeface="+mn-ea"/>
              </a:rPr>
              <a:t>：重特征值按重数算；从特征多项式入手证明。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4868" y="1310453"/>
            <a:ext cx="72469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定义</a:t>
            </a:r>
            <a:r>
              <a:rPr lang="en-US" altLang="zh-CN" sz="2400" b="1" dirty="0">
                <a:latin typeface="+mn-ea"/>
              </a:rPr>
              <a:t>2.24.1   </a:t>
            </a:r>
            <a:r>
              <a:rPr lang="zh-CN" altLang="en-US" sz="2400" dirty="0">
                <a:latin typeface="+mn-ea"/>
              </a:rPr>
              <a:t>矩阵的行列式、秩和特征值称为矩阵的三类数字特征。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868" y="2540670"/>
            <a:ext cx="6032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本节研究三类数字特征之间的关系。</a:t>
            </a:r>
          </a:p>
        </p:txBody>
      </p:sp>
      <p:sp>
        <p:nvSpPr>
          <p:cNvPr id="19" name="直角三角形 1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直角三角形 1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2718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4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6238" y="0"/>
            <a:ext cx="6552803" cy="869442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二、</a:t>
            </a:r>
            <a:r>
              <a:rPr lang="zh-CN" altLang="en-US" sz="3600" noProof="1"/>
              <a:t>矩阵数字特征之间的关系</a:t>
            </a:r>
            <a:endParaRPr lang="zh-CN" altLang="en-US" sz="3600" dirty="0"/>
          </a:p>
        </p:txBody>
      </p:sp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805719"/>
              </p:ext>
            </p:extLst>
          </p:nvPr>
        </p:nvGraphicFramePr>
        <p:xfrm>
          <a:off x="2123728" y="874713"/>
          <a:ext cx="34210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2" name="Equation" r:id="rId3" imgW="1562040" imgH="228600" progId="Equation.DSMT4">
                  <p:embed/>
                </p:oleObj>
              </mc:Choice>
              <mc:Fallback>
                <p:oleObj name="Equation" r:id="rId3" imgW="1562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874713"/>
                        <a:ext cx="342106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16"/>
          <p:cNvGrpSpPr>
            <a:grpSpLocks/>
          </p:cNvGrpSpPr>
          <p:nvPr/>
        </p:nvGrpSpPr>
        <p:grpSpPr bwMode="auto">
          <a:xfrm>
            <a:off x="450828" y="548680"/>
            <a:ext cx="8582799" cy="1584176"/>
            <a:chOff x="451133" y="67285"/>
            <a:chExt cx="8582256" cy="1583713"/>
          </a:xfrm>
        </p:grpSpPr>
        <p:sp>
          <p:nvSpPr>
            <p:cNvPr id="23" name="Text Box 2"/>
            <p:cNvSpPr txBox="1">
              <a:spLocks noChangeArrowheads="1"/>
            </p:cNvSpPr>
            <p:nvPr/>
          </p:nvSpPr>
          <p:spPr bwMode="auto">
            <a:xfrm>
              <a:off x="451133" y="451020"/>
              <a:ext cx="8582256" cy="119997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dirty="0">
                  <a:latin typeface="+mn-ea"/>
                </a:rPr>
                <a:t>例</a:t>
              </a:r>
              <a:r>
                <a:rPr lang="en-US" altLang="zh-CN" sz="2400" dirty="0">
                  <a:latin typeface="+mn-ea"/>
                </a:rPr>
                <a:t>1.3</a:t>
              </a:r>
              <a:r>
                <a:rPr lang="zh-CN" altLang="en-US" sz="2400" dirty="0">
                  <a:latin typeface="+mn-ea"/>
                </a:rPr>
                <a:t>  已知                                       ，其中                     ，</a:t>
              </a:r>
            </a:p>
            <a:p>
              <a:pPr>
                <a:defRPr/>
              </a:pPr>
              <a:endParaRPr lang="zh-CN" altLang="en-US" sz="2400" dirty="0">
                <a:latin typeface="+mn-ea"/>
              </a:endParaRPr>
            </a:p>
            <a:p>
              <a:pPr>
                <a:defRPr/>
              </a:pPr>
              <a:r>
                <a:rPr lang="zh-CN" altLang="en-US" sz="2400" dirty="0">
                  <a:latin typeface="+mn-ea"/>
                </a:rPr>
                <a:t>试求</a:t>
              </a:r>
              <a:r>
                <a:rPr lang="en-US" altLang="zh-CN" sz="2400" i="1" dirty="0">
                  <a:latin typeface="+mn-ea"/>
                </a:rPr>
                <a:t>B </a:t>
              </a:r>
              <a:r>
                <a:rPr lang="zh-CN" altLang="en-US" sz="2400" dirty="0">
                  <a:latin typeface="+mn-ea"/>
                </a:rPr>
                <a:t>的特征值和 行列式。    </a:t>
              </a:r>
            </a:p>
          </p:txBody>
        </p:sp>
        <p:graphicFrame>
          <p:nvGraphicFramePr>
            <p:cNvPr id="2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8758799"/>
                </p:ext>
              </p:extLst>
            </p:nvPr>
          </p:nvGraphicFramePr>
          <p:xfrm>
            <a:off x="6526090" y="67285"/>
            <a:ext cx="1862137" cy="1195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03" name="Equation" r:id="rId5" imgW="850680" imgH="545760" progId="Equation.DSMT4">
                    <p:embed/>
                  </p:oleObj>
                </mc:Choice>
                <mc:Fallback>
                  <p:oleObj name="Equation" r:id="rId5" imgW="850680" imgH="5457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6090" y="67285"/>
                          <a:ext cx="1862137" cy="1195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376238" y="2538809"/>
            <a:ext cx="442460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</a:rPr>
              <a:t>解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  求解矩阵</a:t>
            </a:r>
            <a:r>
              <a:rPr lang="en-US" altLang="zh-CN" sz="2400" i="1" dirty="0">
                <a:solidFill>
                  <a:srgbClr val="000000"/>
                </a:solidFill>
                <a:latin typeface="+mn-ea"/>
              </a:rPr>
              <a:t>A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的特征方程       </a:t>
            </a:r>
          </a:p>
        </p:txBody>
      </p:sp>
      <p:graphicFrame>
        <p:nvGraphicFramePr>
          <p:cNvPr id="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555556"/>
              </p:ext>
            </p:extLst>
          </p:nvPr>
        </p:nvGraphicFramePr>
        <p:xfrm>
          <a:off x="4139952" y="2265759"/>
          <a:ext cx="266382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4" name="Equation" r:id="rId7" imgW="1244520" imgH="545760" progId="Equation.DSMT4">
                  <p:embed/>
                </p:oleObj>
              </mc:Choice>
              <mc:Fallback>
                <p:oleObj name="Equation" r:id="rId7" imgW="124452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2265759"/>
                        <a:ext cx="2663825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8"/>
          <p:cNvSpPr txBox="1">
            <a:spLocks noChangeArrowheads="1"/>
          </p:cNvSpPr>
          <p:nvPr/>
        </p:nvSpPr>
        <p:spPr bwMode="auto">
          <a:xfrm>
            <a:off x="1042988" y="3564334"/>
            <a:ext cx="18726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得特征值     </a:t>
            </a:r>
          </a:p>
        </p:txBody>
      </p:sp>
      <p:graphicFrame>
        <p:nvGraphicFramePr>
          <p:cNvPr id="2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025967"/>
              </p:ext>
            </p:extLst>
          </p:nvPr>
        </p:nvGraphicFramePr>
        <p:xfrm>
          <a:off x="2843213" y="3578622"/>
          <a:ext cx="190182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" name="Equation" r:id="rId9" imgW="888840" imgH="241200" progId="Equation.DSMT4">
                  <p:embed/>
                </p:oleObj>
              </mc:Choice>
              <mc:Fallback>
                <p:oleObj name="Equation" r:id="rId9" imgW="888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578622"/>
                        <a:ext cx="1901825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1042988" y="4283472"/>
            <a:ext cx="2988319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所以</a:t>
            </a:r>
            <a:r>
              <a:rPr lang="en-US" altLang="zh-CN" sz="2400" i="1" dirty="0">
                <a:solidFill>
                  <a:srgbClr val="000000"/>
                </a:solidFill>
                <a:latin typeface="+mn-ea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的特征值为     </a:t>
            </a:r>
          </a:p>
        </p:txBody>
      </p:sp>
      <p:graphicFrame>
        <p:nvGraphicFramePr>
          <p:cNvPr id="3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3806076"/>
              </p:ext>
            </p:extLst>
          </p:nvPr>
        </p:nvGraphicFramePr>
        <p:xfrm>
          <a:off x="1960563" y="4947047"/>
          <a:ext cx="44831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Equation" r:id="rId11" imgW="2095200" imgH="266400" progId="Equation.DSMT4">
                  <p:embed/>
                </p:oleObj>
              </mc:Choice>
              <mc:Fallback>
                <p:oleObj name="Equation" r:id="rId11" imgW="20952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4947047"/>
                        <a:ext cx="448310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30504"/>
              </p:ext>
            </p:extLst>
          </p:nvPr>
        </p:nvGraphicFramePr>
        <p:xfrm>
          <a:off x="1941513" y="5601097"/>
          <a:ext cx="44831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name="Equation" r:id="rId13" imgW="2095200" imgH="266400" progId="Equation.DSMT4">
                  <p:embed/>
                </p:oleObj>
              </mc:Choice>
              <mc:Fallback>
                <p:oleObj name="Equation" r:id="rId13" imgW="209520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5601097"/>
                        <a:ext cx="448310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13"/>
          <p:cNvSpPr txBox="1">
            <a:spLocks noChangeArrowheads="1"/>
          </p:cNvSpPr>
          <p:nvPr/>
        </p:nvSpPr>
        <p:spPr bwMode="auto">
          <a:xfrm>
            <a:off x="1192213" y="6299597"/>
            <a:ext cx="11977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所以</a:t>
            </a:r>
            <a:r>
              <a:rPr lang="zh-CN" altLang="en-US" sz="2800" b="1" dirty="0">
                <a:solidFill>
                  <a:srgbClr val="000000"/>
                </a:solidFill>
              </a:rPr>
              <a:t>    </a:t>
            </a:r>
          </a:p>
        </p:txBody>
      </p:sp>
      <p:graphicFrame>
        <p:nvGraphicFramePr>
          <p:cNvPr id="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707454"/>
              </p:ext>
            </p:extLst>
          </p:nvPr>
        </p:nvGraphicFramePr>
        <p:xfrm>
          <a:off x="2214563" y="6315472"/>
          <a:ext cx="133032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8" name="Equation" r:id="rId15" imgW="622080" imgH="266400" progId="Equation.DSMT4">
                  <p:embed/>
                </p:oleObj>
              </mc:Choice>
              <mc:Fallback>
                <p:oleObj name="Equation" r:id="rId15" imgW="6220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6315472"/>
                        <a:ext cx="133032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直角三角形 1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直角三角形 1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60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9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6238" y="0"/>
            <a:ext cx="6552803" cy="869442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二、</a:t>
            </a:r>
            <a:r>
              <a:rPr lang="zh-CN" altLang="en-US" sz="3600" noProof="1"/>
              <a:t>矩阵数字特征之间的关系</a:t>
            </a:r>
            <a:endParaRPr lang="zh-CN" altLang="en-US" sz="36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2455806"/>
              </p:ext>
            </p:extLst>
          </p:nvPr>
        </p:nvGraphicFramePr>
        <p:xfrm>
          <a:off x="395536" y="1052736"/>
          <a:ext cx="8191500" cy="500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文档" r:id="rId3" imgW="3721100" imgH="2273300" progId="Word.Document.12">
                  <p:embed/>
                </p:oleObj>
              </mc:Choice>
              <mc:Fallback>
                <p:oleObj name="文档" r:id="rId3" imgW="3721100" imgH="2273300" progId="Word.Document.1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052736"/>
                        <a:ext cx="8191500" cy="500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5576" y="6093296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注意</a:t>
            </a:r>
            <a:r>
              <a:rPr lang="zh-CN" altLang="en-US" sz="2400" dirty="0"/>
              <a:t>   讲解证明思路。</a:t>
            </a:r>
          </a:p>
        </p:txBody>
      </p:sp>
      <p:sp>
        <p:nvSpPr>
          <p:cNvPr id="5" name="直角三角形 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直角三角形 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58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6238" y="0"/>
            <a:ext cx="6552803" cy="869442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二、</a:t>
            </a:r>
            <a:r>
              <a:rPr lang="zh-CN" altLang="en-US" sz="3600" noProof="1"/>
              <a:t>矩阵数字特征之间的关系</a:t>
            </a:r>
            <a:endParaRPr lang="zh-CN" altLang="en-US" sz="36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100372"/>
              </p:ext>
            </p:extLst>
          </p:nvPr>
        </p:nvGraphicFramePr>
        <p:xfrm>
          <a:off x="467544" y="1052413"/>
          <a:ext cx="8207375" cy="496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文档" r:id="rId3" imgW="3759200" imgH="2273300" progId="Word.Document.12">
                  <p:embed/>
                </p:oleObj>
              </mc:Choice>
              <mc:Fallback>
                <p:oleObj name="文档" r:id="rId3" imgW="3759200" imgH="2273300" progId="Word.Document.1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052413"/>
                        <a:ext cx="8207375" cy="496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5576" y="6165304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问题</a:t>
            </a:r>
            <a:r>
              <a:rPr lang="zh-CN" altLang="en-US" sz="2400" dirty="0"/>
              <a:t>  如何证明？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623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6239" y="0"/>
            <a:ext cx="6356001" cy="62068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/>
              <a:t>二、</a:t>
            </a:r>
            <a:r>
              <a:rPr lang="zh-CN" altLang="en-US" sz="3600" noProof="1"/>
              <a:t>矩阵数字特征之间的关系</a:t>
            </a:r>
            <a:endParaRPr lang="zh-CN" altLang="en-US" sz="3600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21008"/>
              </p:ext>
            </p:extLst>
          </p:nvPr>
        </p:nvGraphicFramePr>
        <p:xfrm>
          <a:off x="395288" y="557287"/>
          <a:ext cx="8243430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0" name="金山 WPS 文字" r:id="rId3" imgW="3566880" imgH="594360" progId="Office12.wps.Document.8">
                  <p:embed/>
                </p:oleObj>
              </mc:Choice>
              <mc:Fallback>
                <p:oleObj name="金山 WPS 文字" r:id="rId3" imgW="3566880" imgH="594360" progId="Office12.wps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57287"/>
                        <a:ext cx="8243430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284632"/>
              </p:ext>
            </p:extLst>
          </p:nvPr>
        </p:nvGraphicFramePr>
        <p:xfrm>
          <a:off x="298450" y="1916832"/>
          <a:ext cx="8387428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1" name="金山 WPS 文字" r:id="rId5" imgW="3690720" imgH="297000" progId="Office12.wps.Document.8">
                  <p:embed/>
                </p:oleObj>
              </mc:Choice>
              <mc:Fallback>
                <p:oleObj name="金山 WPS 文字" r:id="rId5" imgW="3690720" imgH="297000" progId="Office12.wps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" y="1916832"/>
                        <a:ext cx="8387428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147911"/>
              </p:ext>
            </p:extLst>
          </p:nvPr>
        </p:nvGraphicFramePr>
        <p:xfrm>
          <a:off x="2411760" y="1196752"/>
          <a:ext cx="2274831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2" name="Equation" r:id="rId7" imgW="698400" imgH="190440" progId="Equation.DSMT4">
                  <p:embed/>
                </p:oleObj>
              </mc:Choice>
              <mc:Fallback>
                <p:oleObj name="Equation" r:id="rId7" imgW="6984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196752"/>
                        <a:ext cx="2274831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12605" y="2640146"/>
            <a:ext cx="166001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zh-CN" altLang="en-US" sz="2400" b="1" dirty="0"/>
              <a:t>基本性质</a:t>
            </a:r>
          </a:p>
        </p:txBody>
      </p:sp>
      <p:grpSp>
        <p:nvGrpSpPr>
          <p:cNvPr id="9" name="组合 20"/>
          <p:cNvGrpSpPr>
            <a:grpSpLocks/>
          </p:cNvGrpSpPr>
          <p:nvPr/>
        </p:nvGrpSpPr>
        <p:grpSpPr bwMode="auto">
          <a:xfrm>
            <a:off x="323241" y="3307636"/>
            <a:ext cx="6183786" cy="461665"/>
            <a:chOff x="107488" y="3629755"/>
            <a:chExt cx="6067426" cy="461664"/>
          </a:xfrm>
        </p:grpSpPr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107488" y="3629755"/>
              <a:ext cx="6067426" cy="461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+mn-ea"/>
                  <a:ea typeface="+mn-ea"/>
                </a:rPr>
                <a:t>（</a:t>
              </a:r>
              <a:r>
                <a:rPr lang="en-US" altLang="zh-CN" sz="2400" dirty="0">
                  <a:latin typeface="+mn-ea"/>
                  <a:ea typeface="+mn-ea"/>
                </a:rPr>
                <a:t>1</a:t>
              </a:r>
              <a:r>
                <a:rPr lang="zh-CN" altLang="en-US" sz="2400" dirty="0">
                  <a:latin typeface="+mn-ea"/>
                  <a:ea typeface="+mn-ea"/>
                </a:rPr>
                <a:t>）反身性              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</a:rPr>
                <a:t>。</a:t>
              </a:r>
            </a:p>
          </p:txBody>
        </p:sp>
        <p:graphicFrame>
          <p:nvGraphicFramePr>
            <p:cNvPr id="11" name="Object 6"/>
            <p:cNvGraphicFramePr>
              <a:graphicFrameLocks noChangeAspect="1"/>
            </p:cNvGraphicFramePr>
            <p:nvPr/>
          </p:nvGraphicFramePr>
          <p:xfrm>
            <a:off x="1974024" y="3645018"/>
            <a:ext cx="1085850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93" name="Equation" r:id="rId9" imgW="406080" imgH="164880" progId="Equation.DSMT4">
                    <p:embed/>
                  </p:oleObj>
                </mc:Choice>
                <mc:Fallback>
                  <p:oleObj name="Equation" r:id="rId9" imgW="4060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4024" y="3645018"/>
                          <a:ext cx="1085850" cy="441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9"/>
          <p:cNvGrpSpPr>
            <a:grpSpLocks/>
          </p:cNvGrpSpPr>
          <p:nvPr/>
        </p:nvGrpSpPr>
        <p:grpSpPr bwMode="auto">
          <a:xfrm>
            <a:off x="280841" y="3918039"/>
            <a:ext cx="8092962" cy="461665"/>
            <a:chOff x="144001" y="4421917"/>
            <a:chExt cx="7940675" cy="461666"/>
          </a:xfrm>
        </p:grpSpPr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144001" y="4421917"/>
              <a:ext cx="7940675" cy="46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+mn-ea"/>
                  <a:ea typeface="+mn-ea"/>
                </a:rPr>
                <a:t>（</a:t>
              </a:r>
              <a:r>
                <a:rPr lang="en-US" altLang="zh-CN" sz="2400" dirty="0">
                  <a:latin typeface="+mn-ea"/>
                  <a:ea typeface="+mn-ea"/>
                </a:rPr>
                <a:t>2</a:t>
              </a:r>
              <a:r>
                <a:rPr lang="zh-CN" altLang="en-US" sz="2400" dirty="0">
                  <a:latin typeface="+mn-ea"/>
                  <a:ea typeface="+mn-ea"/>
                </a:rPr>
                <a:t>） 对称性           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</a:rPr>
                <a:t>，则            。</a:t>
              </a:r>
            </a:p>
          </p:txBody>
        </p:sp>
        <p:graphicFrame>
          <p:nvGraphicFramePr>
            <p:cNvPr id="14" name="Object 7"/>
            <p:cNvGraphicFramePr>
              <a:graphicFrameLocks noChangeAspect="1"/>
            </p:cNvGraphicFramePr>
            <p:nvPr/>
          </p:nvGraphicFramePr>
          <p:xfrm>
            <a:off x="1979784" y="4437084"/>
            <a:ext cx="1085850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94" name="Equation" r:id="rId11" imgW="406080" imgH="164880" progId="Equation.DSMT4">
                    <p:embed/>
                  </p:oleObj>
                </mc:Choice>
                <mc:Fallback>
                  <p:oleObj name="Equation" r:id="rId11" imgW="4060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84" y="4437084"/>
                          <a:ext cx="1085850" cy="441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8"/>
            <p:cNvGraphicFramePr>
              <a:graphicFrameLocks noChangeAspect="1"/>
            </p:cNvGraphicFramePr>
            <p:nvPr/>
          </p:nvGraphicFramePr>
          <p:xfrm>
            <a:off x="3707928" y="4437084"/>
            <a:ext cx="1085850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95" name="Equation" r:id="rId13" imgW="406080" imgH="164880" progId="Equation.DSMT4">
                    <p:embed/>
                  </p:oleObj>
                </mc:Choice>
                <mc:Fallback>
                  <p:oleObj name="Equation" r:id="rId13" imgW="4060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928" y="4437084"/>
                          <a:ext cx="1085850" cy="441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8"/>
          <p:cNvGrpSpPr>
            <a:grpSpLocks/>
          </p:cNvGrpSpPr>
          <p:nvPr/>
        </p:nvGrpSpPr>
        <p:grpSpPr bwMode="auto">
          <a:xfrm>
            <a:off x="315186" y="4510817"/>
            <a:ext cx="9576618" cy="489733"/>
            <a:chOff x="144001" y="5214080"/>
            <a:chExt cx="9396413" cy="489732"/>
          </a:xfrm>
        </p:grpSpPr>
        <p:sp>
          <p:nvSpPr>
            <p:cNvPr id="17" name="Text Box 8"/>
            <p:cNvSpPr txBox="1">
              <a:spLocks noChangeArrowheads="1"/>
            </p:cNvSpPr>
            <p:nvPr/>
          </p:nvSpPr>
          <p:spPr bwMode="auto">
            <a:xfrm>
              <a:off x="144001" y="5214080"/>
              <a:ext cx="9396413" cy="461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+mn-ea"/>
                  <a:ea typeface="+mn-ea"/>
                </a:rPr>
                <a:t>（</a:t>
              </a:r>
              <a:r>
                <a:rPr lang="en-US" altLang="zh-CN" sz="2400" dirty="0">
                  <a:latin typeface="+mn-ea"/>
                  <a:ea typeface="+mn-ea"/>
                </a:rPr>
                <a:t>3</a:t>
              </a:r>
              <a:r>
                <a:rPr lang="zh-CN" altLang="en-US" sz="2400" dirty="0">
                  <a:latin typeface="+mn-ea"/>
                  <a:ea typeface="+mn-ea"/>
                </a:rPr>
                <a:t>） 传递性            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</a:rPr>
                <a:t>，          ，则             。 </a:t>
              </a:r>
            </a:p>
          </p:txBody>
        </p:sp>
        <p:graphicFrame>
          <p:nvGraphicFramePr>
            <p:cNvPr id="18" name="Object 9"/>
            <p:cNvGraphicFramePr>
              <a:graphicFrameLocks noChangeAspect="1"/>
            </p:cNvGraphicFramePr>
            <p:nvPr/>
          </p:nvGraphicFramePr>
          <p:xfrm>
            <a:off x="1979784" y="5229150"/>
            <a:ext cx="1085850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96" name="Equation" r:id="rId15" imgW="406080" imgH="164880" progId="Equation.DSMT4">
                    <p:embed/>
                  </p:oleObj>
                </mc:Choice>
                <mc:Fallback>
                  <p:oleObj name="Equation" r:id="rId15" imgW="4060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84" y="5229150"/>
                          <a:ext cx="1085850" cy="441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0"/>
            <p:cNvGraphicFramePr>
              <a:graphicFrameLocks noChangeAspect="1"/>
            </p:cNvGraphicFramePr>
            <p:nvPr/>
          </p:nvGraphicFramePr>
          <p:xfrm>
            <a:off x="3275892" y="5256942"/>
            <a:ext cx="1008084" cy="442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97" name="Equation" r:id="rId17" imgW="406080" imgH="177480" progId="Equation.DSMT4">
                    <p:embed/>
                  </p:oleObj>
                </mc:Choice>
                <mc:Fallback>
                  <p:oleObj name="Equation" r:id="rId17" imgW="4060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92" y="5256942"/>
                          <a:ext cx="1008084" cy="442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1"/>
            <p:cNvGraphicFramePr>
              <a:graphicFrameLocks noChangeAspect="1"/>
            </p:cNvGraphicFramePr>
            <p:nvPr/>
          </p:nvGraphicFramePr>
          <p:xfrm>
            <a:off x="5286300" y="5229150"/>
            <a:ext cx="1085850" cy="474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98" name="Equation" r:id="rId19" imgW="406080" imgH="177480" progId="Equation.DSMT4">
                    <p:embed/>
                  </p:oleObj>
                </mc:Choice>
                <mc:Fallback>
                  <p:oleObj name="Equation" r:id="rId19" imgW="4060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6300" y="5229150"/>
                          <a:ext cx="1085850" cy="4746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40606" y="4973124"/>
            <a:ext cx="8291969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2400" dirty="0">
                <a:latin typeface="+mn-ea"/>
                <a:ea typeface="+mn-ea"/>
              </a:rPr>
              <a:t>一般地，满足自反性</a:t>
            </a:r>
            <a:r>
              <a:rPr lang="zh-CN" altLang="en-US" sz="2400" dirty="0">
                <a:latin typeface="+mn-ea"/>
                <a:ea typeface="+mn-ea"/>
              </a:rPr>
              <a:t>（反身性）</a:t>
            </a:r>
            <a:r>
              <a:rPr lang="zh-CN" altLang="zh-CN" sz="2400" dirty="0">
                <a:latin typeface="+mn-ea"/>
                <a:ea typeface="+mn-ea"/>
              </a:rPr>
              <a:t>、对称性、传递性这三个性质的关系称为</a:t>
            </a:r>
            <a:r>
              <a:rPr lang="zh-CN" altLang="zh-CN" sz="2400" dirty="0">
                <a:solidFill>
                  <a:srgbClr val="0000CC"/>
                </a:solidFill>
                <a:latin typeface="+mn-ea"/>
                <a:ea typeface="+mn-ea"/>
              </a:rPr>
              <a:t>等价关系</a:t>
            </a:r>
            <a:r>
              <a:rPr lang="zh-CN" altLang="zh-CN" sz="2400" dirty="0">
                <a:latin typeface="+mn-ea"/>
                <a:ea typeface="+mn-ea"/>
              </a:rPr>
              <a:t>。方阵的相似关系就是一种等价关系，两个相似矩阵有着许多相同的性质</a:t>
            </a:r>
            <a:r>
              <a:rPr lang="en-US" altLang="zh-CN" sz="2400" dirty="0">
                <a:latin typeface="+mn-ea"/>
                <a:ea typeface="+mn-ea"/>
              </a:rPr>
              <a:t>.</a:t>
            </a:r>
            <a:endParaRPr lang="zh-CN" altLang="zh-CN" sz="2400" dirty="0">
              <a:latin typeface="+mn-ea"/>
              <a:ea typeface="+mn-ea"/>
            </a:endParaRPr>
          </a:p>
          <a:p>
            <a:pPr eaLnBrk="1" hangingPunct="1"/>
            <a:endParaRPr lang="zh-CN" altLang="en-US" sz="2400" b="1" dirty="0"/>
          </a:p>
        </p:txBody>
      </p:sp>
      <p:sp>
        <p:nvSpPr>
          <p:cNvPr id="22" name="直角三角形 21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直角三角形 22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7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44016"/>
            <a:ext cx="8424936" cy="62068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latin typeface="+mn-ea"/>
                <a:ea typeface="+mn-ea"/>
              </a:rPr>
              <a:t>三、</a:t>
            </a:r>
            <a:r>
              <a:rPr lang="zh-CN" altLang="zh-CN" sz="3600" dirty="0">
                <a:latin typeface="+mn-ea"/>
                <a:ea typeface="+mn-ea"/>
              </a:rPr>
              <a:t>数字特征相同的一类矩阵</a:t>
            </a:r>
            <a:r>
              <a:rPr lang="en-US" altLang="zh-CN" sz="3600" dirty="0">
                <a:latin typeface="+mn-ea"/>
                <a:ea typeface="+mn-ea"/>
              </a:rPr>
              <a:t>——</a:t>
            </a:r>
            <a:r>
              <a:rPr lang="zh-CN" altLang="en-US" sz="3600" dirty="0">
                <a:latin typeface="+mn-ea"/>
                <a:ea typeface="+mn-ea"/>
              </a:rPr>
              <a:t>相似矩阵</a:t>
            </a:r>
          </a:p>
        </p:txBody>
      </p:sp>
      <p:sp>
        <p:nvSpPr>
          <p:cNvPr id="3" name="矩形 2"/>
          <p:cNvSpPr/>
          <p:nvPr/>
        </p:nvSpPr>
        <p:spPr>
          <a:xfrm>
            <a:off x="539552" y="908720"/>
            <a:ext cx="82809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</a:rPr>
              <a:t>      </a:t>
            </a:r>
            <a:r>
              <a:rPr lang="zh-CN" altLang="zh-CN" sz="2400" dirty="0">
                <a:latin typeface="+mn-ea"/>
              </a:rPr>
              <a:t>本节讨论数字特征相同的一类矩阵：相似矩阵。进一步得到矩阵对角化的条件。</a:t>
            </a:r>
          </a:p>
        </p:txBody>
      </p:sp>
      <p:sp>
        <p:nvSpPr>
          <p:cNvPr id="22557" name="矩形 22556"/>
          <p:cNvSpPr/>
          <p:nvPr/>
        </p:nvSpPr>
        <p:spPr>
          <a:xfrm>
            <a:off x="539552" y="1988840"/>
            <a:ext cx="8064896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+mn-ea"/>
              </a:rPr>
              <a:t>定义</a:t>
            </a:r>
            <a:r>
              <a:rPr lang="en-US" altLang="zh-CN" sz="2400" b="1" dirty="0">
                <a:latin typeface="+mn-ea"/>
              </a:rPr>
              <a:t>2.25.1  </a:t>
            </a:r>
            <a:r>
              <a:rPr lang="zh-CN" altLang="zh-CN" sz="2400" dirty="0">
                <a:latin typeface="+mn-ea"/>
              </a:rPr>
              <a:t>设</a:t>
            </a:r>
            <a:r>
              <a:rPr lang="en-US" altLang="zh-CN" sz="2400" dirty="0">
                <a:latin typeface="+mn-ea"/>
              </a:rPr>
              <a:t>  </a:t>
            </a:r>
            <a:r>
              <a:rPr lang="zh-CN" altLang="en-US" sz="2400" dirty="0">
                <a:latin typeface="+mn-ea"/>
              </a:rPr>
              <a:t>，   为两个</a:t>
            </a:r>
            <a:r>
              <a:rPr lang="en-US" altLang="zh-CN" sz="2400" dirty="0">
                <a:latin typeface="+mn-ea"/>
              </a:rPr>
              <a:t>n </a:t>
            </a:r>
            <a:r>
              <a:rPr lang="zh-CN" altLang="en-US" sz="2400" dirty="0">
                <a:latin typeface="+mn-ea"/>
              </a:rPr>
              <a:t>阶矩阵，如果存在可逆矩阵</a:t>
            </a:r>
            <a:r>
              <a:rPr lang="en-US" altLang="zh-CN" sz="2400" dirty="0">
                <a:latin typeface="+mn-ea"/>
              </a:rPr>
              <a:t>P</a:t>
            </a:r>
            <a:r>
              <a:rPr lang="zh-CN" altLang="en-US" sz="2400" dirty="0">
                <a:latin typeface="+mn-ea"/>
              </a:rPr>
              <a:t>，使得：                ，则称   与   为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相似矩阵</a:t>
            </a:r>
            <a:r>
              <a:rPr lang="zh-CN" altLang="en-US" sz="2400" dirty="0">
                <a:latin typeface="+mn-ea"/>
              </a:rPr>
              <a:t>。记为  </a:t>
            </a:r>
          </a:p>
        </p:txBody>
      </p:sp>
      <p:pic>
        <p:nvPicPr>
          <p:cNvPr id="22597" name="Picture 6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112878"/>
            <a:ext cx="351430" cy="401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00" name="Picture 7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132856"/>
            <a:ext cx="340158" cy="388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04" name="Picture 7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246" y="2622949"/>
            <a:ext cx="1543586" cy="428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" name="Picture 6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530" y="2666912"/>
            <a:ext cx="351430" cy="401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7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866" y="2680921"/>
            <a:ext cx="340158" cy="388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18" name="Picture 9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82" name="Rectangle 92"/>
          <p:cNvSpPr>
            <a:spLocks noChangeArrowheads="1"/>
          </p:cNvSpPr>
          <p:nvPr/>
        </p:nvSpPr>
        <p:spPr bwMode="auto">
          <a:xfrm>
            <a:off x="607725" y="3149032"/>
            <a:ext cx="43915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可逆矩阵</a:t>
            </a:r>
            <a:r>
              <a:rPr kumimoji="0" lang="en-US" altLang="zh-CN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P</a:t>
            </a:r>
            <a:r>
              <a:rPr kumimoji="0" lang="en-US" altLang="zh-CN" sz="2400" b="1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称为</a:t>
            </a:r>
            <a:r>
              <a:rPr lang="zh-CN" altLang="en-US" sz="2400" b="1" dirty="0">
                <a:latin typeface="+mn-ea"/>
                <a:cs typeface="黑体" pitchFamily="49" charset="-122"/>
              </a:rPr>
              <a:t>相似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黑体" pitchFamily="49" charset="-122"/>
              </a:rPr>
              <a:t>变换矩阵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。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宋体" pitchFamily="2" charset="-122"/>
              </a:rPr>
              <a:t> </a:t>
            </a:r>
          </a:p>
        </p:txBody>
      </p:sp>
      <p:sp>
        <p:nvSpPr>
          <p:cNvPr id="22629" name="矩形 22628"/>
          <p:cNvSpPr/>
          <p:nvPr/>
        </p:nvSpPr>
        <p:spPr>
          <a:xfrm>
            <a:off x="607725" y="3717032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/>
              <a:t>相似矩阵具有下列性质：</a:t>
            </a:r>
          </a:p>
        </p:txBody>
      </p:sp>
      <p:sp>
        <p:nvSpPr>
          <p:cNvPr id="22630" name="矩形 22629"/>
          <p:cNvSpPr/>
          <p:nvPr/>
        </p:nvSpPr>
        <p:spPr>
          <a:xfrm>
            <a:off x="467544" y="4187932"/>
            <a:ext cx="26164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 </a:t>
            </a:r>
            <a:r>
              <a:rPr lang="zh-CN" altLang="zh-CN" sz="2400" dirty="0"/>
              <a:t>（</a:t>
            </a:r>
            <a:r>
              <a:rPr lang="en-US" altLang="zh-CN" sz="2400" dirty="0"/>
              <a:t>1</a:t>
            </a:r>
            <a:r>
              <a:rPr lang="zh-CN" altLang="zh-CN" sz="2400" dirty="0"/>
              <a:t>）自反性，即</a:t>
            </a:r>
            <a:endParaRPr lang="zh-CN" altLang="en-US" sz="2400" dirty="0"/>
          </a:p>
        </p:txBody>
      </p:sp>
      <p:pic>
        <p:nvPicPr>
          <p:cNvPr id="22634" name="Picture 10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200598"/>
            <a:ext cx="1118101" cy="436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631" name="矩形 22630"/>
          <p:cNvSpPr/>
          <p:nvPr/>
        </p:nvSpPr>
        <p:spPr>
          <a:xfrm>
            <a:off x="467544" y="4869160"/>
            <a:ext cx="45400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2</a:t>
            </a:r>
            <a:r>
              <a:rPr lang="zh-CN" altLang="zh-CN" sz="2400" dirty="0">
                <a:latin typeface="+mn-ea"/>
              </a:rPr>
              <a:t>）对称性，即若</a:t>
            </a:r>
            <a:r>
              <a:rPr lang="en-US" altLang="zh-CN" sz="2400" dirty="0">
                <a:latin typeface="+mn-ea"/>
              </a:rPr>
              <a:t>           </a:t>
            </a:r>
            <a:r>
              <a:rPr lang="zh-CN" altLang="en-US" sz="2400" dirty="0">
                <a:latin typeface="+mn-ea"/>
              </a:rPr>
              <a:t>，则 </a:t>
            </a:r>
          </a:p>
        </p:txBody>
      </p:sp>
      <p:pic>
        <p:nvPicPr>
          <p:cNvPr id="22635" name="Picture 10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680921"/>
            <a:ext cx="950180" cy="370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4" name="Picture 10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753" y="4914591"/>
            <a:ext cx="950180" cy="370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36" name="Picture 108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389" y="4914591"/>
            <a:ext cx="950180" cy="370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632" name="矩形 22631"/>
          <p:cNvSpPr/>
          <p:nvPr/>
        </p:nvSpPr>
        <p:spPr>
          <a:xfrm>
            <a:off x="467544" y="5589240"/>
            <a:ext cx="53046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3</a:t>
            </a:r>
            <a:r>
              <a:rPr lang="zh-CN" altLang="zh-CN" sz="2400" dirty="0">
                <a:latin typeface="+mn-ea"/>
              </a:rPr>
              <a:t>）传递性，即若</a:t>
            </a:r>
            <a:r>
              <a:rPr lang="en-US" altLang="zh-CN" sz="2400" dirty="0">
                <a:latin typeface="+mn-ea"/>
              </a:rPr>
              <a:t>         </a:t>
            </a:r>
            <a:r>
              <a:rPr lang="zh-CN" altLang="en-US" sz="2400" dirty="0">
                <a:latin typeface="+mn-ea"/>
              </a:rPr>
              <a:t>，</a:t>
            </a:r>
            <a:r>
              <a:rPr lang="en-US" altLang="zh-CN" sz="2400" dirty="0">
                <a:latin typeface="+mn-ea"/>
              </a:rPr>
              <a:t>        </a:t>
            </a:r>
            <a:r>
              <a:rPr lang="zh-CN" altLang="en-US" sz="2400" dirty="0">
                <a:latin typeface="+mn-ea"/>
              </a:rPr>
              <a:t>，则</a:t>
            </a:r>
          </a:p>
        </p:txBody>
      </p:sp>
      <p:pic>
        <p:nvPicPr>
          <p:cNvPr id="22637" name="Picture 10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5627910"/>
            <a:ext cx="948736" cy="393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38" name="Picture 11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929" y="5617482"/>
            <a:ext cx="863291" cy="336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39" name="Picture 1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366" y="5649680"/>
            <a:ext cx="863291" cy="35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直角三角形 22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直角三角形 23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276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2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557" grpId="0"/>
      <p:bldP spid="22582" grpId="0"/>
      <p:bldP spid="22629" grpId="0"/>
      <p:bldP spid="22630" grpId="0"/>
      <p:bldP spid="22631" grpId="0"/>
      <p:bldP spid="226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44016"/>
            <a:ext cx="8424936" cy="62068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latin typeface="+mn-ea"/>
                <a:ea typeface="+mn-ea"/>
              </a:rPr>
              <a:t>三、</a:t>
            </a:r>
            <a:r>
              <a:rPr lang="zh-CN" altLang="zh-CN" sz="3600" dirty="0">
                <a:latin typeface="+mn-ea"/>
                <a:ea typeface="+mn-ea"/>
              </a:rPr>
              <a:t>数字特征相同的一类矩阵</a:t>
            </a:r>
            <a:r>
              <a:rPr lang="en-US" altLang="zh-CN" sz="3600" dirty="0">
                <a:latin typeface="+mn-ea"/>
                <a:ea typeface="+mn-ea"/>
              </a:rPr>
              <a:t>——</a:t>
            </a:r>
            <a:r>
              <a:rPr lang="zh-CN" altLang="en-US" sz="3600" dirty="0">
                <a:latin typeface="+mn-ea"/>
                <a:ea typeface="+mn-ea"/>
              </a:rPr>
              <a:t>相似矩阵</a:t>
            </a:r>
          </a:p>
        </p:txBody>
      </p:sp>
      <p:pic>
        <p:nvPicPr>
          <p:cNvPr id="22618" name="Picture 9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953582"/>
              </p:ext>
            </p:extLst>
          </p:nvPr>
        </p:nvGraphicFramePr>
        <p:xfrm>
          <a:off x="928688" y="1412776"/>
          <a:ext cx="522763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8" name="Equation" r:id="rId4" imgW="5689440" imgH="622080" progId="Equation.DSMT4">
                  <p:embed/>
                </p:oleObj>
              </mc:Choice>
              <mc:Fallback>
                <p:oleObj name="Equation" r:id="rId4" imgW="568944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1412776"/>
                        <a:ext cx="5227637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246830"/>
              </p:ext>
            </p:extLst>
          </p:nvPr>
        </p:nvGraphicFramePr>
        <p:xfrm>
          <a:off x="868363" y="2128738"/>
          <a:ext cx="730408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9" name="Equation" r:id="rId6" imgW="7949880" imgH="495000" progId="Equation.DSMT4">
                  <p:embed/>
                </p:oleObj>
              </mc:Choice>
              <mc:Fallback>
                <p:oleObj name="Equation" r:id="rId6" imgW="794988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363" y="2128738"/>
                        <a:ext cx="7304087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511206"/>
              </p:ext>
            </p:extLst>
          </p:nvPr>
        </p:nvGraphicFramePr>
        <p:xfrm>
          <a:off x="860425" y="2847876"/>
          <a:ext cx="36401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0" name="Equation" r:id="rId8" imgW="3962160" imgH="495000" progId="Equation.DSMT4">
                  <p:embed/>
                </p:oleObj>
              </mc:Choice>
              <mc:Fallback>
                <p:oleObj name="Equation" r:id="rId8" imgW="39621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2847876"/>
                        <a:ext cx="364013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362816"/>
              </p:ext>
            </p:extLst>
          </p:nvPr>
        </p:nvGraphicFramePr>
        <p:xfrm>
          <a:off x="855663" y="3495576"/>
          <a:ext cx="60198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" name="Equation" r:id="rId10" imgW="6553080" imgH="495000" progId="Equation.DSMT4">
                  <p:embed/>
                </p:oleObj>
              </mc:Choice>
              <mc:Fallback>
                <p:oleObj name="Equation" r:id="rId10" imgW="655308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3495576"/>
                        <a:ext cx="60198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288198"/>
              </p:ext>
            </p:extLst>
          </p:nvPr>
        </p:nvGraphicFramePr>
        <p:xfrm>
          <a:off x="884238" y="4144863"/>
          <a:ext cx="15271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2" name="Equation" r:id="rId12" imgW="1663560" imgH="495000" progId="Equation.DSMT4">
                  <p:embed/>
                </p:oleObj>
              </mc:Choice>
              <mc:Fallback>
                <p:oleObj name="Equation" r:id="rId12" imgW="16635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4144863"/>
                        <a:ext cx="15271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311553"/>
              </p:ext>
            </p:extLst>
          </p:nvPr>
        </p:nvGraphicFramePr>
        <p:xfrm>
          <a:off x="892175" y="4792563"/>
          <a:ext cx="519271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3" name="Equation" r:id="rId14" imgW="5651280" imgH="507960" progId="Equation.DSMT4">
                  <p:embed/>
                </p:oleObj>
              </mc:Choice>
              <mc:Fallback>
                <p:oleObj name="Equation" r:id="rId14" imgW="56512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4792563"/>
                        <a:ext cx="519271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713600"/>
              </p:ext>
            </p:extLst>
          </p:nvPr>
        </p:nvGraphicFramePr>
        <p:xfrm>
          <a:off x="896938" y="5440263"/>
          <a:ext cx="32432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4" name="Equation" r:id="rId16" imgW="3530520" imgH="495000" progId="Equation.DSMT4">
                  <p:embed/>
                </p:oleObj>
              </mc:Choice>
              <mc:Fallback>
                <p:oleObj name="Equation" r:id="rId16" imgW="353052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938" y="5440263"/>
                        <a:ext cx="32432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392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311A95F-4C65-47C5-8EAA-9F10131D2773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057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205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6A347F1-A420-419F-8BE0-A42E0CBA8845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57200" y="762000"/>
            <a:ext cx="751199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定理</a:t>
            </a:r>
            <a:r>
              <a:rPr lang="en-US" altLang="zh-CN" sz="2800" b="1" dirty="0"/>
              <a:t>   </a:t>
            </a:r>
            <a:r>
              <a:rPr lang="zh-CN" altLang="en-US" sz="2800" b="1" dirty="0"/>
              <a:t>若</a:t>
            </a:r>
            <a:r>
              <a:rPr lang="en-US" altLang="zh-CN" sz="2800" b="1" dirty="0"/>
              <a:t>n</a:t>
            </a:r>
            <a:r>
              <a:rPr lang="zh-CN" altLang="en-US" sz="2800" b="1" dirty="0"/>
              <a:t>阶矩阵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相似，则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有相同的</a:t>
            </a:r>
          </a:p>
          <a:p>
            <a:pPr eaLnBrk="1" hangingPunct="1"/>
            <a:r>
              <a:rPr lang="zh-CN" altLang="en-US" sz="2800" b="1" dirty="0"/>
              <a:t>              特征多项式和特征值。</a:t>
            </a:r>
          </a:p>
        </p:txBody>
      </p:sp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1143000" y="2590800"/>
          <a:ext cx="17526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4" name="Equation" r:id="rId3" imgW="698400" imgH="190440" progId="Equation.DSMT4">
                  <p:embed/>
                </p:oleObj>
              </mc:Choice>
              <mc:Fallback>
                <p:oleObj name="Equation" r:id="rId3" imgW="69840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590800"/>
                        <a:ext cx="17526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1143000" y="3505200"/>
          <a:ext cx="14478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" name="Equation" r:id="rId5" imgW="533160" imgH="253800" progId="Equation.DSMT4">
                  <p:embed/>
                </p:oleObj>
              </mc:Choice>
              <mc:Fallback>
                <p:oleObj name="Equation" r:id="rId5" imgW="5331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505200"/>
                        <a:ext cx="1447800" cy="69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/>
        </p:nvGraphicFramePr>
        <p:xfrm>
          <a:off x="2514600" y="3505200"/>
          <a:ext cx="2514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" name="Equation" r:id="rId7" imgW="952200" imgH="279360" progId="Equation.DSMT4">
                  <p:embed/>
                </p:oleObj>
              </mc:Choice>
              <mc:Fallback>
                <p:oleObj name="Equation" r:id="rId7" imgW="9522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505200"/>
                        <a:ext cx="25146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2"/>
          <p:cNvGraphicFramePr>
            <a:graphicFrameLocks noChangeAspect="1"/>
          </p:cNvGraphicFramePr>
          <p:nvPr/>
        </p:nvGraphicFramePr>
        <p:xfrm>
          <a:off x="4953000" y="3505200"/>
          <a:ext cx="28194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7" name="Equation" r:id="rId9" imgW="1066680" imgH="279360" progId="Equation.DSMT4">
                  <p:embed/>
                </p:oleObj>
              </mc:Choice>
              <mc:Fallback>
                <p:oleObj name="Equation" r:id="rId9" imgW="10666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505200"/>
                        <a:ext cx="2819400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13"/>
          <p:cNvGraphicFramePr>
            <a:graphicFrameLocks noChangeAspect="1"/>
          </p:cNvGraphicFramePr>
          <p:nvPr/>
        </p:nvGraphicFramePr>
        <p:xfrm>
          <a:off x="2568575" y="4267200"/>
          <a:ext cx="2895600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8" name="Equation" r:id="rId11" imgW="1091880" imgH="279360" progId="Equation.DSMT4">
                  <p:embed/>
                </p:oleObj>
              </mc:Choice>
              <mc:Fallback>
                <p:oleObj name="Equation" r:id="rId11" imgW="10918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4267200"/>
                        <a:ext cx="2895600" cy="728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14"/>
          <p:cNvGraphicFramePr>
            <a:graphicFrameLocks noChangeAspect="1"/>
          </p:cNvGraphicFramePr>
          <p:nvPr/>
        </p:nvGraphicFramePr>
        <p:xfrm>
          <a:off x="2568575" y="4943475"/>
          <a:ext cx="17526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9" name="Equation" r:id="rId13" imgW="647640" imgH="253800" progId="Equation.DSMT4">
                  <p:embed/>
                </p:oleObj>
              </mc:Choice>
              <mc:Fallback>
                <p:oleObj name="Equation" r:id="rId13" imgW="6476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4943475"/>
                        <a:ext cx="17526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609600" y="1884363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</a:rPr>
              <a:t>分析：</a:t>
            </a:r>
          </a:p>
        </p:txBody>
      </p:sp>
    </p:spTree>
    <p:extLst>
      <p:ext uri="{BB962C8B-B14F-4D97-AF65-F5344CB8AC3E}">
        <p14:creationId xmlns:p14="http://schemas.microsoft.com/office/powerpoint/2010/main" val="371008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utoUpdateAnimBg="0"/>
      <p:bldP spid="2356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EDFF419-17AD-4CFD-8394-BE6DBA07FB55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4106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410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E1D3C7-7EC3-48B6-A8E7-4C14C96A41B5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534988" y="2424113"/>
            <a:ext cx="145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</a:rPr>
              <a:t>证明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:(</a:t>
            </a:r>
            <a:r>
              <a:rPr lang="en-US" altLang="zh-CN" sz="2800" b="1">
                <a:sym typeface="Wingdings" panose="05000000000000000000" pitchFamily="2" charset="2"/>
              </a:rPr>
              <a:t>1)</a:t>
            </a:r>
            <a:endParaRPr lang="en-US" altLang="zh-CN" sz="2800" b="1"/>
          </a:p>
        </p:txBody>
      </p:sp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679450" y="3000375"/>
          <a:ext cx="25146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6" name="Equation" r:id="rId3" imgW="888840" imgH="203040" progId="Equation.DSMT4">
                  <p:embed/>
                </p:oleObj>
              </mc:Choice>
              <mc:Fallback>
                <p:oleObj name="Equation" r:id="rId3" imgW="888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3000375"/>
                        <a:ext cx="251460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/>
        </p:nvGraphicFramePr>
        <p:xfrm>
          <a:off x="3200400" y="2928938"/>
          <a:ext cx="266700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7" name="Equation" r:id="rId5" imgW="977760" imgH="279360" progId="Equation.DSMT4">
                  <p:embed/>
                </p:oleObj>
              </mc:Choice>
              <mc:Fallback>
                <p:oleObj name="Equation" r:id="rId5" imgW="9777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928938"/>
                        <a:ext cx="2667000" cy="750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5867400" y="2971800"/>
          <a:ext cx="2514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name="Equation" r:id="rId7" imgW="952200" imgH="279360" progId="Equation.DSMT4">
                  <p:embed/>
                </p:oleObj>
              </mc:Choice>
              <mc:Fallback>
                <p:oleObj name="Equation" r:id="rId7" imgW="9522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971800"/>
                        <a:ext cx="25146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11"/>
          <p:cNvGraphicFramePr>
            <a:graphicFrameLocks noChangeAspect="1"/>
          </p:cNvGraphicFramePr>
          <p:nvPr/>
        </p:nvGraphicFramePr>
        <p:xfrm>
          <a:off x="2667000" y="3657600"/>
          <a:ext cx="60198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name="Equation" r:id="rId9" imgW="2222280" imgH="279360" progId="Equation.DSMT4">
                  <p:embed/>
                </p:oleObj>
              </mc:Choice>
              <mc:Fallback>
                <p:oleObj name="Equation" r:id="rId9" imgW="22222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657600"/>
                        <a:ext cx="601980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3" name="Rectangle 13"/>
          <p:cNvSpPr>
            <a:spLocks noChangeArrowheads="1"/>
          </p:cNvSpPr>
          <p:nvPr/>
        </p:nvSpPr>
        <p:spPr bwMode="auto">
          <a:xfrm>
            <a:off x="1295400" y="4343400"/>
            <a:ext cx="2095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(2)</a:t>
            </a:r>
          </a:p>
        </p:txBody>
      </p:sp>
      <p:graphicFrame>
        <p:nvGraphicFramePr>
          <p:cNvPr id="25618" name="Object 18"/>
          <p:cNvGraphicFramePr>
            <a:graphicFrameLocks noChangeAspect="1"/>
          </p:cNvGraphicFramePr>
          <p:nvPr/>
        </p:nvGraphicFramePr>
        <p:xfrm>
          <a:off x="609600" y="4953000"/>
          <a:ext cx="25146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0" name="Equation" r:id="rId11" imgW="888840" imgH="203040" progId="Equation.DSMT4">
                  <p:embed/>
                </p:oleObj>
              </mc:Choice>
              <mc:Fallback>
                <p:oleObj name="Equation" r:id="rId11" imgW="8888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953000"/>
                        <a:ext cx="251460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9" name="Object 19"/>
          <p:cNvGraphicFramePr>
            <a:graphicFrameLocks noChangeAspect="1"/>
          </p:cNvGraphicFramePr>
          <p:nvPr/>
        </p:nvGraphicFramePr>
        <p:xfrm>
          <a:off x="3124200" y="5029200"/>
          <a:ext cx="29718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1" name="Equation" r:id="rId13" imgW="1130040" imgH="228600" progId="Equation.DSMT4">
                  <p:embed/>
                </p:oleObj>
              </mc:Choice>
              <mc:Fallback>
                <p:oleObj name="Equation" r:id="rId13" imgW="1130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029200"/>
                        <a:ext cx="2971800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0" name="Object 20"/>
          <p:cNvGraphicFramePr>
            <a:graphicFrameLocks noChangeAspect="1"/>
          </p:cNvGraphicFramePr>
          <p:nvPr/>
        </p:nvGraphicFramePr>
        <p:xfrm>
          <a:off x="4114800" y="5576888"/>
          <a:ext cx="32766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2" name="Equation" r:id="rId15" imgW="1257120" imgH="228600" progId="Equation.DSMT4">
                  <p:embed/>
                </p:oleObj>
              </mc:Choice>
              <mc:Fallback>
                <p:oleObj name="Equation" r:id="rId15" imgW="1257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576888"/>
                        <a:ext cx="3276600" cy="595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0" name="Rectangle 21"/>
          <p:cNvSpPr>
            <a:spLocks noChangeArrowheads="1"/>
          </p:cNvSpPr>
          <p:nvPr/>
        </p:nvSpPr>
        <p:spPr bwMode="auto">
          <a:xfrm>
            <a:off x="533400" y="381000"/>
            <a:ext cx="7345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性质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阶矩阵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相似，则</a:t>
            </a:r>
          </a:p>
        </p:txBody>
      </p:sp>
      <p:sp>
        <p:nvSpPr>
          <p:cNvPr id="4111" name="Rectangle 22"/>
          <p:cNvSpPr>
            <a:spLocks noChangeArrowheads="1"/>
          </p:cNvSpPr>
          <p:nvPr/>
        </p:nvSpPr>
        <p:spPr bwMode="auto">
          <a:xfrm>
            <a:off x="1666875" y="1038225"/>
            <a:ext cx="4248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(1). 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有相等的行列式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</p:txBody>
      </p:sp>
      <p:sp>
        <p:nvSpPr>
          <p:cNvPr id="4112" name="Rectangle 23"/>
          <p:cNvSpPr>
            <a:spLocks noChangeArrowheads="1"/>
          </p:cNvSpPr>
          <p:nvPr/>
        </p:nvSpPr>
        <p:spPr bwMode="auto">
          <a:xfrm>
            <a:off x="1660525" y="1633538"/>
            <a:ext cx="3771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(2). 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有相等的迹。</a:t>
            </a:r>
          </a:p>
        </p:txBody>
      </p:sp>
    </p:spTree>
    <p:extLst>
      <p:ext uri="{BB962C8B-B14F-4D97-AF65-F5344CB8AC3E}">
        <p14:creationId xmlns:p14="http://schemas.microsoft.com/office/powerpoint/2010/main" val="211895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7" grpId="0" autoUpdateAnimBg="0"/>
      <p:bldP spid="2561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44016"/>
            <a:ext cx="8424936" cy="62068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latin typeface="+mn-ea"/>
                <a:ea typeface="+mn-ea"/>
              </a:rPr>
              <a:t>三、</a:t>
            </a:r>
            <a:r>
              <a:rPr lang="zh-CN" altLang="zh-CN" sz="3600" dirty="0">
                <a:latin typeface="+mn-ea"/>
                <a:ea typeface="+mn-ea"/>
              </a:rPr>
              <a:t>数字特征相同的一类矩阵</a:t>
            </a:r>
            <a:r>
              <a:rPr lang="en-US" altLang="zh-CN" sz="3600" dirty="0">
                <a:latin typeface="+mn-ea"/>
                <a:ea typeface="+mn-ea"/>
              </a:rPr>
              <a:t>——</a:t>
            </a:r>
            <a:r>
              <a:rPr lang="zh-CN" altLang="en-US" sz="3600" dirty="0">
                <a:latin typeface="+mn-ea"/>
                <a:ea typeface="+mn-ea"/>
              </a:rPr>
              <a:t>相似矩阵</a:t>
            </a:r>
          </a:p>
        </p:txBody>
      </p:sp>
      <p:pic>
        <p:nvPicPr>
          <p:cNvPr id="22618" name="Picture 9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组合 10"/>
          <p:cNvGrpSpPr>
            <a:grpSpLocks/>
          </p:cNvGrpSpPr>
          <p:nvPr/>
        </p:nvGrpSpPr>
        <p:grpSpPr bwMode="auto">
          <a:xfrm>
            <a:off x="755650" y="836712"/>
            <a:ext cx="8136830" cy="1130300"/>
            <a:chOff x="395288" y="478087"/>
            <a:chExt cx="8137252" cy="1130300"/>
          </a:xfrm>
        </p:grpSpPr>
        <p:sp>
          <p:nvSpPr>
            <p:cNvPr id="24" name="Text Box 4"/>
            <p:cNvSpPr txBox="1">
              <a:spLocks noChangeArrowheads="1"/>
            </p:cNvSpPr>
            <p:nvPr/>
          </p:nvSpPr>
          <p:spPr bwMode="auto">
            <a:xfrm>
              <a:off x="395288" y="785813"/>
              <a:ext cx="191600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latin typeface="+mn-ea"/>
                  <a:ea typeface="+mn-ea"/>
                </a:rPr>
                <a:t>2.23.3 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</a:rPr>
                <a:t>设</a:t>
              </a:r>
            </a:p>
          </p:txBody>
        </p:sp>
        <p:graphicFrame>
          <p:nvGraphicFramePr>
            <p:cNvPr id="25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1504384"/>
                </p:ext>
              </p:extLst>
            </p:nvPr>
          </p:nvGraphicFramePr>
          <p:xfrm>
            <a:off x="2266677" y="478087"/>
            <a:ext cx="6265863" cy="1130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6" name="Equation" r:id="rId4" imgW="2539800" imgH="457200" progId="Equation.DSMT4">
                    <p:embed/>
                  </p:oleObj>
                </mc:Choice>
                <mc:Fallback>
                  <p:oleObj name="Equation" r:id="rId4" imgW="25398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6677" y="478087"/>
                          <a:ext cx="6265863" cy="1130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755650" y="2132013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/>
        </p:nvGraphicFramePr>
        <p:xfrm>
          <a:off x="1403350" y="2876550"/>
          <a:ext cx="4224338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7" name="Equation" r:id="rId6" imgW="1549080" imgH="253800" progId="Equation.DSMT4">
                  <p:embed/>
                </p:oleObj>
              </mc:Choice>
              <mc:Fallback>
                <p:oleObj name="Equation" r:id="rId6" imgW="15490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876550"/>
                        <a:ext cx="4224338" cy="696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/>
          <p:cNvGraphicFramePr>
            <a:graphicFrameLocks noChangeAspect="1"/>
          </p:cNvGraphicFramePr>
          <p:nvPr/>
        </p:nvGraphicFramePr>
        <p:xfrm>
          <a:off x="1331913" y="3762375"/>
          <a:ext cx="3417887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name="Equation" r:id="rId8" imgW="1333440" imgH="457200" progId="Equation.DSMT4">
                  <p:embed/>
                </p:oleObj>
              </mc:Choice>
              <mc:Fallback>
                <p:oleObj name="Equation" r:id="rId8" imgW="13334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762375"/>
                        <a:ext cx="3417887" cy="1179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6"/>
          <p:cNvGraphicFramePr>
            <a:graphicFrameLocks noChangeAspect="1"/>
          </p:cNvGraphicFramePr>
          <p:nvPr/>
        </p:nvGraphicFramePr>
        <p:xfrm>
          <a:off x="1331913" y="5229225"/>
          <a:ext cx="3238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name="Equation" r:id="rId10" imgW="3238200" imgH="431640" progId="Equation.DSMT4">
                  <p:embed/>
                </p:oleObj>
              </mc:Choice>
              <mc:Fallback>
                <p:oleObj name="Equation" r:id="rId10" imgW="3238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229225"/>
                        <a:ext cx="3238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" name="Picture 107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300" y="2121678"/>
            <a:ext cx="1209500" cy="4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直角三角形 11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直角三角形 12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0560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44016"/>
            <a:ext cx="8424936" cy="62068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latin typeface="+mn-ea"/>
                <a:ea typeface="+mn-ea"/>
              </a:rPr>
              <a:t>三、</a:t>
            </a:r>
            <a:r>
              <a:rPr lang="zh-CN" altLang="zh-CN" sz="3600" dirty="0">
                <a:latin typeface="+mn-ea"/>
                <a:ea typeface="+mn-ea"/>
              </a:rPr>
              <a:t>数字特征相同的一类矩阵</a:t>
            </a:r>
            <a:r>
              <a:rPr lang="en-US" altLang="zh-CN" sz="3600" dirty="0">
                <a:latin typeface="+mn-ea"/>
                <a:ea typeface="+mn-ea"/>
              </a:rPr>
              <a:t>——</a:t>
            </a:r>
            <a:r>
              <a:rPr lang="zh-CN" altLang="en-US" sz="3600" dirty="0">
                <a:latin typeface="+mn-ea"/>
                <a:ea typeface="+mn-ea"/>
              </a:rPr>
              <a:t>相似矩阵</a:t>
            </a:r>
          </a:p>
        </p:txBody>
      </p:sp>
      <p:pic>
        <p:nvPicPr>
          <p:cNvPr id="22618" name="Picture 9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" name="组合 19"/>
          <p:cNvGrpSpPr>
            <a:grpSpLocks/>
          </p:cNvGrpSpPr>
          <p:nvPr/>
        </p:nvGrpSpPr>
        <p:grpSpPr bwMode="auto">
          <a:xfrm>
            <a:off x="828675" y="1860574"/>
            <a:ext cx="7704138" cy="1187450"/>
            <a:chOff x="468313" y="981075"/>
            <a:chExt cx="7704137" cy="1187450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468313" y="1268413"/>
              <a:ext cx="77041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+mn-ea"/>
                  <a:ea typeface="+mn-ea"/>
                </a:rPr>
                <a:t>问                                                是否相似？                          </a:t>
              </a:r>
            </a:p>
          </p:txBody>
        </p:sp>
        <p:graphicFrame>
          <p:nvGraphicFramePr>
            <p:cNvPr id="44" name="Object 2"/>
            <p:cNvGraphicFramePr>
              <a:graphicFrameLocks noChangeAspect="1"/>
            </p:cNvGraphicFramePr>
            <p:nvPr/>
          </p:nvGraphicFramePr>
          <p:xfrm>
            <a:off x="1263650" y="981075"/>
            <a:ext cx="3735388" cy="1187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86" name="Equation" r:id="rId4" imgW="1562040" imgH="495000" progId="Equation.DSMT4">
                    <p:embed/>
                  </p:oleObj>
                </mc:Choice>
                <mc:Fallback>
                  <p:oleObj name="Equation" r:id="rId4" imgW="1562040" imgH="495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3650" y="981075"/>
                          <a:ext cx="3735388" cy="1187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" name="Text Box 13"/>
          <p:cNvSpPr txBox="1">
            <a:spLocks noChangeArrowheads="1"/>
          </p:cNvSpPr>
          <p:nvPr/>
        </p:nvSpPr>
        <p:spPr bwMode="auto">
          <a:xfrm>
            <a:off x="755650" y="3101999"/>
            <a:ext cx="53030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latin typeface="+mn-ea"/>
                <a:ea typeface="+mn-ea"/>
              </a:rPr>
              <a:t>分析：显然</a:t>
            </a:r>
            <a:r>
              <a:rPr lang="en-US" altLang="zh-CN" sz="2400" dirty="0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与</a:t>
            </a:r>
            <a:r>
              <a:rPr lang="en-US" altLang="zh-CN" sz="2400" dirty="0">
                <a:latin typeface="+mn-ea"/>
                <a:ea typeface="+mn-ea"/>
              </a:rPr>
              <a:t>B</a:t>
            </a:r>
            <a:r>
              <a:rPr lang="zh-CN" altLang="en-US" sz="2400" dirty="0">
                <a:latin typeface="+mn-ea"/>
                <a:ea typeface="+mn-ea"/>
              </a:rPr>
              <a:t>有相同的特征值</a:t>
            </a:r>
            <a:r>
              <a:rPr lang="en-US" altLang="zh-CN" sz="2400" dirty="0">
                <a:latin typeface="+mn-ea"/>
                <a:ea typeface="+mn-ea"/>
              </a:rPr>
              <a:t>1, 1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</a:p>
        </p:txBody>
      </p:sp>
      <p:sp>
        <p:nvSpPr>
          <p:cNvPr id="46" name="Text Box 14"/>
          <p:cNvSpPr txBox="1">
            <a:spLocks noChangeArrowheads="1"/>
          </p:cNvSpPr>
          <p:nvPr/>
        </p:nvSpPr>
        <p:spPr bwMode="auto">
          <a:xfrm>
            <a:off x="750136" y="3697311"/>
            <a:ext cx="25378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任取可逆矩阵</a:t>
            </a:r>
            <a:r>
              <a:rPr lang="en-US" altLang="zh-CN" sz="2400" i="1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P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，</a:t>
            </a:r>
          </a:p>
        </p:txBody>
      </p:sp>
      <p:graphicFrame>
        <p:nvGraphicFramePr>
          <p:cNvPr id="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532637"/>
              </p:ext>
            </p:extLst>
          </p:nvPr>
        </p:nvGraphicFramePr>
        <p:xfrm>
          <a:off x="1747838" y="4345012"/>
          <a:ext cx="1027112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7" name="Equation" r:id="rId6" imgW="431640" imgH="190440" progId="Equation.DSMT4">
                  <p:embed/>
                </p:oleObj>
              </mc:Choice>
              <mc:Fallback>
                <p:oleObj name="Equation" r:id="rId6" imgW="4316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4345012"/>
                        <a:ext cx="1027112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558558"/>
              </p:ext>
            </p:extLst>
          </p:nvPr>
        </p:nvGraphicFramePr>
        <p:xfrm>
          <a:off x="2755900" y="4418037"/>
          <a:ext cx="1079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8" name="Equation" r:id="rId8" imgW="1079280" imgH="380880" progId="Equation.DSMT4">
                  <p:embed/>
                </p:oleObj>
              </mc:Choice>
              <mc:Fallback>
                <p:oleObj name="Equation" r:id="rId8" imgW="10792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4418037"/>
                        <a:ext cx="1079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19345"/>
              </p:ext>
            </p:extLst>
          </p:nvPr>
        </p:nvGraphicFramePr>
        <p:xfrm>
          <a:off x="3908425" y="4489474"/>
          <a:ext cx="520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9" name="Equation" r:id="rId10" imgW="520560" imgH="291960" progId="Equation.DSMT4">
                  <p:embed/>
                </p:oleObj>
              </mc:Choice>
              <mc:Fallback>
                <p:oleObj name="Equation" r:id="rId10" imgW="5205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425" y="4489474"/>
                        <a:ext cx="5207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013443"/>
              </p:ext>
            </p:extLst>
          </p:nvPr>
        </p:nvGraphicFramePr>
        <p:xfrm>
          <a:off x="960438" y="4992712"/>
          <a:ext cx="2171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0" name="Equation" r:id="rId12" imgW="2171520" imgH="393480" progId="Equation.DSMT4">
                  <p:embed/>
                </p:oleObj>
              </mc:Choice>
              <mc:Fallback>
                <p:oleObj name="Equation" r:id="rId12" imgW="21715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4992712"/>
                        <a:ext cx="2171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813749"/>
              </p:ext>
            </p:extLst>
          </p:nvPr>
        </p:nvGraphicFramePr>
        <p:xfrm>
          <a:off x="4483100" y="4457724"/>
          <a:ext cx="66516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1" name="Equation" r:id="rId14" imgW="279360" imgH="164880" progId="Equation.DSMT4">
                  <p:embed/>
                </p:oleObj>
              </mc:Choice>
              <mc:Fallback>
                <p:oleObj name="Equation" r:id="rId14" imgW="27936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4457724"/>
                        <a:ext cx="66516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Group 28"/>
          <p:cNvGrpSpPr>
            <a:grpSpLocks/>
          </p:cNvGrpSpPr>
          <p:nvPr/>
        </p:nvGrpSpPr>
        <p:grpSpPr bwMode="auto">
          <a:xfrm>
            <a:off x="971550" y="5713447"/>
            <a:ext cx="5905500" cy="523876"/>
            <a:chOff x="611" y="3249"/>
            <a:chExt cx="3720" cy="330"/>
          </a:xfrm>
        </p:grpSpPr>
        <p:sp>
          <p:nvSpPr>
            <p:cNvPr id="53" name="Text Box 29"/>
            <p:cNvSpPr txBox="1">
              <a:spLocks noChangeArrowheads="1"/>
            </p:cNvSpPr>
            <p:nvPr/>
          </p:nvSpPr>
          <p:spPr bwMode="auto">
            <a:xfrm>
              <a:off x="611" y="3249"/>
              <a:ext cx="3720" cy="330"/>
            </a:xfrm>
            <a:prstGeom prst="rect">
              <a:avLst/>
            </a:prstGeom>
            <a:solidFill>
              <a:srgbClr val="BEC89E"/>
            </a:solidFill>
            <a:ln w="28575">
              <a:solidFill>
                <a:srgbClr val="FF0066"/>
              </a:solidFill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kumimoji="1" lang="zh-CN" altLang="en-US" sz="2800" dirty="0">
                  <a:solidFill>
                    <a:srgbClr val="0000FF"/>
                  </a:solidFill>
                  <a:latin typeface="+mn-ea"/>
                  <a:ea typeface="+mn-ea"/>
                </a:rPr>
                <a:t>注意：</a:t>
              </a:r>
              <a:r>
                <a:rPr kumimoji="1" lang="zh-CN" altLang="en-US" sz="2800" dirty="0">
                  <a:solidFill>
                    <a:srgbClr val="000000"/>
                  </a:solidFill>
                  <a:latin typeface="+mn-ea"/>
                  <a:ea typeface="+mn-ea"/>
                </a:rPr>
                <a:t>相同的特征值           相似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+mn-ea"/>
                  <a:ea typeface="+mn-ea"/>
                </a:rPr>
                <a:t>.</a:t>
              </a:r>
            </a:p>
          </p:txBody>
        </p:sp>
        <p:sp>
          <p:nvSpPr>
            <p:cNvPr id="54" name="Line 30"/>
            <p:cNvSpPr>
              <a:spLocks noChangeShapeType="1"/>
            </p:cNvSpPr>
            <p:nvPr/>
          </p:nvSpPr>
          <p:spPr bwMode="auto">
            <a:xfrm flipH="1">
              <a:off x="2789" y="3339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55" name="Group 31"/>
            <p:cNvGrpSpPr>
              <a:grpSpLocks/>
            </p:cNvGrpSpPr>
            <p:nvPr/>
          </p:nvGrpSpPr>
          <p:grpSpPr bwMode="auto">
            <a:xfrm>
              <a:off x="2789" y="3385"/>
              <a:ext cx="590" cy="181"/>
              <a:chOff x="2789" y="3385"/>
              <a:chExt cx="590" cy="181"/>
            </a:xfrm>
          </p:grpSpPr>
          <p:sp>
            <p:nvSpPr>
              <p:cNvPr id="56" name="Line 32"/>
              <p:cNvSpPr>
                <a:spLocks noChangeShapeType="1"/>
              </p:cNvSpPr>
              <p:nvPr/>
            </p:nvSpPr>
            <p:spPr bwMode="auto">
              <a:xfrm>
                <a:off x="2789" y="3475"/>
                <a:ext cx="59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7" name="Line 33"/>
              <p:cNvSpPr>
                <a:spLocks noChangeShapeType="1"/>
              </p:cNvSpPr>
              <p:nvPr/>
            </p:nvSpPr>
            <p:spPr bwMode="auto">
              <a:xfrm flipH="1">
                <a:off x="2879" y="3385"/>
                <a:ext cx="318" cy="18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58" name="Text Box 17"/>
          <p:cNvSpPr txBox="1">
            <a:spLocks noChangeArrowheads="1"/>
          </p:cNvSpPr>
          <p:nvPr/>
        </p:nvSpPr>
        <p:spPr bwMode="auto">
          <a:xfrm>
            <a:off x="728284" y="1104923"/>
            <a:ext cx="4032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latin typeface="+mn-ea"/>
                <a:ea typeface="+mn-ea"/>
              </a:rPr>
              <a:t>相似性质应用举例</a:t>
            </a:r>
          </a:p>
        </p:txBody>
      </p:sp>
      <p:sp>
        <p:nvSpPr>
          <p:cNvPr id="21" name="直角三角形 2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直角三角形 2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967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5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44016"/>
            <a:ext cx="8424936" cy="62068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latin typeface="+mn-ea"/>
                <a:ea typeface="+mn-ea"/>
              </a:rPr>
              <a:t>三、</a:t>
            </a:r>
            <a:r>
              <a:rPr lang="zh-CN" altLang="zh-CN" sz="3600" dirty="0">
                <a:latin typeface="+mn-ea"/>
                <a:ea typeface="+mn-ea"/>
              </a:rPr>
              <a:t>数字特征相同的一类矩阵</a:t>
            </a:r>
            <a:r>
              <a:rPr lang="en-US" altLang="zh-CN" sz="3600" dirty="0">
                <a:latin typeface="+mn-ea"/>
                <a:ea typeface="+mn-ea"/>
              </a:rPr>
              <a:t>——</a:t>
            </a:r>
            <a:r>
              <a:rPr lang="zh-CN" altLang="en-US" sz="3600" dirty="0">
                <a:latin typeface="+mn-ea"/>
                <a:ea typeface="+mn-ea"/>
              </a:rPr>
              <a:t>相似矩阵</a:t>
            </a:r>
          </a:p>
        </p:txBody>
      </p:sp>
      <p:pic>
        <p:nvPicPr>
          <p:cNvPr id="22618" name="Picture 9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5799443"/>
              </p:ext>
            </p:extLst>
          </p:nvPr>
        </p:nvGraphicFramePr>
        <p:xfrm>
          <a:off x="395536" y="1196752"/>
          <a:ext cx="8281168" cy="388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文档" r:id="rId4" imgW="3848100" imgH="1612900" progId="Word.Document.12">
                  <p:embed/>
                </p:oleObj>
              </mc:Choice>
              <mc:Fallback>
                <p:oleObj name="文档" r:id="rId4" imgW="3848100" imgH="1612900" progId="Word.Document.1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196752"/>
                        <a:ext cx="8281168" cy="388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直角三角形 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直角三角形 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21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44016"/>
            <a:ext cx="8424936" cy="62068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latin typeface="+mn-ea"/>
                <a:ea typeface="+mn-ea"/>
              </a:rPr>
              <a:t>三、</a:t>
            </a:r>
            <a:r>
              <a:rPr lang="zh-CN" altLang="zh-CN" sz="3600" dirty="0">
                <a:latin typeface="+mn-ea"/>
                <a:ea typeface="+mn-ea"/>
              </a:rPr>
              <a:t>数字特征相同的一类矩阵</a:t>
            </a:r>
            <a:r>
              <a:rPr lang="en-US" altLang="zh-CN" sz="3600" dirty="0">
                <a:latin typeface="+mn-ea"/>
                <a:ea typeface="+mn-ea"/>
              </a:rPr>
              <a:t>——</a:t>
            </a:r>
            <a:r>
              <a:rPr lang="zh-CN" altLang="en-US" sz="3600" dirty="0">
                <a:latin typeface="+mn-ea"/>
                <a:ea typeface="+mn-ea"/>
              </a:rPr>
              <a:t>相似矩阵</a:t>
            </a:r>
          </a:p>
        </p:txBody>
      </p:sp>
      <p:pic>
        <p:nvPicPr>
          <p:cNvPr id="22618" name="Picture 9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443944" y="1628800"/>
            <a:ext cx="7848550" cy="2751609"/>
            <a:chOff x="159" y="300"/>
            <a:chExt cx="4989" cy="2079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159" y="300"/>
              <a:ext cx="4989" cy="2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000000"/>
                  </a:solidFill>
                </a:rPr>
                <a:t>       </a:t>
              </a:r>
              <a:r>
                <a:rPr lang="zh-CN" altLang="en-US" sz="2400" b="1" dirty="0">
                  <a:latin typeface="+mn-ea"/>
                  <a:ea typeface="+mn-ea"/>
                </a:rPr>
                <a:t>定理</a:t>
              </a:r>
              <a:r>
                <a:rPr lang="en-US" altLang="zh-CN" sz="2400" b="1" dirty="0">
                  <a:latin typeface="+mn-ea"/>
                  <a:ea typeface="+mn-ea"/>
                </a:rPr>
                <a:t>2.25.1   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</a:rPr>
                <a:t>n 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</a:rPr>
                <a:t>阶矩阵</a:t>
              </a:r>
              <a:r>
                <a:rPr lang="en-US" altLang="zh-CN" sz="2400" dirty="0">
                  <a:solidFill>
                    <a:srgbClr val="000000"/>
                  </a:solidFill>
                  <a:latin typeface="+mn-ea"/>
                  <a:ea typeface="+mn-ea"/>
                </a:rPr>
                <a:t>A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</a:rPr>
                <a:t>能相似于对角矩阵</a:t>
              </a:r>
            </a:p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endParaRPr lang="zh-CN" altLang="en-US" sz="2800" b="1" dirty="0">
                <a:solidFill>
                  <a:srgbClr val="000000"/>
                </a:solidFill>
              </a:endParaRPr>
            </a:p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endParaRPr lang="zh-CN" altLang="en-US" sz="2800" b="1" dirty="0">
                <a:solidFill>
                  <a:srgbClr val="000000"/>
                </a:solidFill>
              </a:endParaRPr>
            </a:p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</a:rPr>
                <a:t>的充分必要条件是</a:t>
              </a:r>
              <a:r>
                <a:rPr lang="en-US" altLang="zh-CN" sz="2400" dirty="0">
                  <a:latin typeface="+mn-ea"/>
                  <a:ea typeface="+mn-ea"/>
                </a:rPr>
                <a:t>A</a:t>
              </a:r>
              <a:r>
                <a:rPr lang="zh-CN" altLang="en-US" sz="2400" dirty="0">
                  <a:latin typeface="+mn-ea"/>
                  <a:ea typeface="+mn-ea"/>
                </a:rPr>
                <a:t>有</a:t>
              </a:r>
              <a:r>
                <a:rPr lang="en-US" altLang="zh-CN" sz="2400" dirty="0">
                  <a:latin typeface="+mn-ea"/>
                  <a:ea typeface="+mn-ea"/>
                </a:rPr>
                <a:t>n</a:t>
              </a:r>
              <a:r>
                <a:rPr lang="zh-CN" altLang="en-US" sz="2400" dirty="0">
                  <a:latin typeface="+mn-ea"/>
                  <a:ea typeface="+mn-ea"/>
                </a:rPr>
                <a:t>个线性无关的特征向量</a:t>
              </a:r>
              <a:r>
                <a:rPr lang="zh-CN" altLang="en-US" sz="2400" dirty="0">
                  <a:solidFill>
                    <a:srgbClr val="000000"/>
                  </a:solidFill>
                  <a:latin typeface="+mn-ea"/>
                  <a:ea typeface="+mn-ea"/>
                </a:rPr>
                <a:t>。</a:t>
              </a:r>
            </a:p>
          </p:txBody>
        </p:sp>
        <p:graphicFrame>
          <p:nvGraphicFramePr>
            <p:cNvPr id="7" name="Object 2"/>
            <p:cNvGraphicFramePr>
              <a:graphicFrameLocks noChangeAspect="1"/>
            </p:cNvGraphicFramePr>
            <p:nvPr/>
          </p:nvGraphicFramePr>
          <p:xfrm>
            <a:off x="1791" y="754"/>
            <a:ext cx="2075" cy="1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4" name="Equation" r:id="rId4" imgW="1422360" imgH="939600" progId="Equation.DSMT4">
                    <p:embed/>
                  </p:oleObj>
                </mc:Choice>
                <mc:Fallback>
                  <p:oleObj name="Equation" r:id="rId4" imgW="1422360" imgH="939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754"/>
                          <a:ext cx="2075" cy="1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395536" y="5085184"/>
            <a:ext cx="7924800" cy="1015663"/>
          </a:xfrm>
          <a:prstGeom prst="rect">
            <a:avLst/>
          </a:prstGeom>
          <a:solidFill>
            <a:srgbClr val="336600"/>
          </a:solidFill>
          <a:ln w="28575" cap="rnd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3200" b="1" i="1" dirty="0">
                <a:solidFill>
                  <a:srgbClr val="0000A4"/>
                </a:solidFill>
                <a:latin typeface="Times New Roman" pitchFamily="18" charset="0"/>
                <a:ea typeface="楷体_GB2312" pitchFamily="49" charset="-122"/>
              </a:rPr>
              <a:t>      </a:t>
            </a:r>
            <a:r>
              <a:rPr kumimoji="1" lang="en-US" altLang="zh-CN" sz="2800" b="1" i="1" dirty="0">
                <a:solidFill>
                  <a:schemeClr val="bg1"/>
                </a:solidFill>
                <a:latin typeface="+mn-ea"/>
              </a:rPr>
              <a:t>A </a:t>
            </a:r>
            <a:r>
              <a:rPr kumimoji="1" lang="zh-CN" altLang="en-US" sz="2800" b="1" dirty="0">
                <a:solidFill>
                  <a:schemeClr val="bg1"/>
                </a:solidFill>
                <a:latin typeface="+mn-ea"/>
              </a:rPr>
              <a:t>能否与对角阵 </a:t>
            </a:r>
            <a:r>
              <a:rPr kumimoji="1" lang="zh-CN" altLang="en-US" sz="2800" b="1" i="1" dirty="0">
                <a:solidFill>
                  <a:schemeClr val="bg1"/>
                </a:solidFill>
                <a:latin typeface="+mn-ea"/>
                <a:sym typeface="Symbol" pitchFamily="18" charset="2"/>
              </a:rPr>
              <a:t> </a:t>
            </a:r>
            <a:r>
              <a:rPr kumimoji="1" lang="zh-CN" altLang="en-US" sz="2800" b="1" dirty="0">
                <a:solidFill>
                  <a:schemeClr val="bg1"/>
                </a:solidFill>
                <a:latin typeface="+mn-ea"/>
              </a:rPr>
              <a:t>相似取决于</a:t>
            </a:r>
          </a:p>
          <a:p>
            <a:pPr eaLnBrk="0" hangingPunct="0"/>
            <a:r>
              <a:rPr kumimoji="1" lang="zh-CN" altLang="en-US" sz="2800" b="1" dirty="0">
                <a:solidFill>
                  <a:schemeClr val="bg1"/>
                </a:solidFill>
                <a:latin typeface="+mn-ea"/>
              </a:rPr>
              <a:t>      </a:t>
            </a:r>
            <a:r>
              <a:rPr kumimoji="1" lang="en-US" altLang="zh-CN" sz="2800" b="1" i="1" dirty="0">
                <a:solidFill>
                  <a:schemeClr val="bg1"/>
                </a:solidFill>
                <a:latin typeface="+mn-ea"/>
              </a:rPr>
              <a:t>A </a:t>
            </a:r>
            <a:r>
              <a:rPr kumimoji="1" lang="zh-CN" altLang="en-US" sz="2800" b="1" dirty="0">
                <a:solidFill>
                  <a:schemeClr val="bg1"/>
                </a:solidFill>
                <a:latin typeface="+mn-ea"/>
              </a:rPr>
              <a:t>是否有 </a:t>
            </a:r>
            <a:r>
              <a:rPr kumimoji="1" lang="en-US" altLang="zh-CN" sz="2800" b="1" i="1" dirty="0">
                <a:solidFill>
                  <a:schemeClr val="bg1"/>
                </a:solidFill>
                <a:latin typeface="+mn-ea"/>
              </a:rPr>
              <a:t>n</a:t>
            </a:r>
            <a:r>
              <a:rPr kumimoji="1" lang="en-US" altLang="zh-CN" sz="2800" b="1" baseline="-25000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zh-CN" altLang="en-US" sz="2800" b="1" dirty="0">
                <a:solidFill>
                  <a:schemeClr val="bg1"/>
                </a:solidFill>
                <a:latin typeface="+mn-ea"/>
              </a:rPr>
              <a:t>个线性无关的特征向量</a:t>
            </a: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1043608" y="908720"/>
            <a:ext cx="55451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latin typeface="+mn-ea"/>
                <a:ea typeface="+mn-ea"/>
              </a:rPr>
              <a:t>方阵可对角化得充分必要条件</a:t>
            </a:r>
          </a:p>
        </p:txBody>
      </p:sp>
      <p:sp>
        <p:nvSpPr>
          <p:cNvPr id="10" name="直角三角形 9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89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5E6DD64-4D4D-4A4A-82EF-7513DBE7B487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8915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1330322-F44D-424B-AD04-E54AA7DDB6E3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533400" y="1308100"/>
            <a:ext cx="739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3.2.2 </a:t>
            </a:r>
            <a:r>
              <a:rPr lang="zh-CN" altLang="en-US" sz="32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矩阵的对角化</a:t>
            </a:r>
            <a:r>
              <a:rPr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(n</a:t>
            </a:r>
            <a:r>
              <a:rPr lang="zh-CN" altLang="en-US" sz="32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阶方阵</a:t>
            </a:r>
            <a:r>
              <a:rPr lang="en-US" altLang="zh-CN" sz="32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592138" y="2193925"/>
            <a:ext cx="8061325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相似矩阵具有许多共同的性质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对于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阶矩阵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希望</a:t>
            </a: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在与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相似的矩阵中寻找一个较简单的矩阵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在研</a:t>
            </a: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究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的性质时只需研究这一较简单矩阵的同类性质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因此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考虑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阶矩阵是否与一个对角矩阵相似的问题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矩阵的对角化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(Diagonalization)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问题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289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4" grpId="0" build="p" autoUpdateAnimBg="0"/>
      <p:bldP spid="51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1200FC-D11A-454E-A9E5-8038EB7B39CD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7176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717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C135550-53B2-4FAD-812E-8DDA02EE1F92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304800" y="409575"/>
            <a:ext cx="1447800" cy="528638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推论</a:t>
            </a:r>
            <a:r>
              <a:rPr lang="en-US" altLang="zh-CN" sz="2800" b="1"/>
              <a:t>3.2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1981200" y="381000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如果</a:t>
            </a:r>
            <a:r>
              <a:rPr lang="en-US" altLang="zh-CN" sz="2800" b="1"/>
              <a:t>n</a:t>
            </a:r>
            <a:r>
              <a:rPr lang="zh-CN" altLang="en-US" sz="2800" b="1"/>
              <a:t>阶矩阵</a:t>
            </a:r>
            <a:r>
              <a:rPr lang="en-US" altLang="zh-CN" sz="2800" b="1"/>
              <a:t>A</a:t>
            </a:r>
            <a:r>
              <a:rPr lang="zh-CN" altLang="en-US" sz="2800" b="1"/>
              <a:t>的特征值</a:t>
            </a:r>
          </a:p>
        </p:txBody>
      </p:sp>
      <p:graphicFrame>
        <p:nvGraphicFramePr>
          <p:cNvPr id="9222" name="Object 6"/>
          <p:cNvGraphicFramePr>
            <a:graphicFrameLocks noChangeAspect="1"/>
          </p:cNvGraphicFramePr>
          <p:nvPr/>
        </p:nvGraphicFramePr>
        <p:xfrm>
          <a:off x="5791200" y="381000"/>
          <a:ext cx="134778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0" r:id="rId3" imgW="558800" imgH="228600" progId="Equation.DSMT4">
                  <p:embed/>
                </p:oleObj>
              </mc:Choice>
              <mc:Fallback>
                <p:oleObj r:id="rId3" imgW="558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81000"/>
                        <a:ext cx="1347788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7086600" y="38100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互不相同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2057400" y="10668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则相似于对角矩阵</a:t>
            </a:r>
          </a:p>
        </p:txBody>
      </p:sp>
      <p:graphicFrame>
        <p:nvGraphicFramePr>
          <p:cNvPr id="9225" name="Object 9"/>
          <p:cNvGraphicFramePr>
            <a:graphicFrameLocks noChangeAspect="1"/>
          </p:cNvGraphicFramePr>
          <p:nvPr/>
        </p:nvGraphicFramePr>
        <p:xfrm>
          <a:off x="3200400" y="1676400"/>
          <a:ext cx="2057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1" r:id="rId5" imgW="876300" imgH="711200" progId="Equation.DSMT4">
                  <p:embed/>
                </p:oleObj>
              </mc:Choice>
              <mc:Fallback>
                <p:oleObj r:id="rId5" imgW="8763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676400"/>
                        <a:ext cx="2057400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0" y="3733800"/>
            <a:ext cx="9144000" cy="1373188"/>
            <a:chOff x="0" y="2352"/>
            <a:chExt cx="5760" cy="865"/>
          </a:xfrm>
        </p:grpSpPr>
        <p:sp>
          <p:nvSpPr>
            <p:cNvPr id="7183" name="Rectangle 10"/>
            <p:cNvSpPr>
              <a:spLocks noChangeArrowheads="1"/>
            </p:cNvSpPr>
            <p:nvPr/>
          </p:nvSpPr>
          <p:spPr bwMode="auto">
            <a:xfrm>
              <a:off x="0" y="2352"/>
              <a:ext cx="5760" cy="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定理 </a:t>
              </a:r>
              <a:r>
                <a:rPr lang="en-US" altLang="zh-CN" sz="2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3.7: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 n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阶矩阵</a:t>
              </a:r>
              <a:r>
                <a:rPr lang="en-US" altLang="zh-CN" sz="2800" b="1" dirty="0">
                  <a:latin typeface="宋体" panose="02010600030101010101" pitchFamily="2" charset="-122"/>
                </a:rPr>
                <a:t>A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与对角矩阵相似的充分必要条件是对于每一个   重特征值   ，对应着   个线性无关的特征向量（证明略）。 </a:t>
              </a:r>
            </a:p>
          </p:txBody>
        </p:sp>
        <p:graphicFrame>
          <p:nvGraphicFramePr>
            <p:cNvPr id="7172" name="Object 11"/>
            <p:cNvGraphicFramePr>
              <a:graphicFrameLocks noChangeAspect="1"/>
            </p:cNvGraphicFramePr>
            <p:nvPr/>
          </p:nvGraphicFramePr>
          <p:xfrm>
            <a:off x="960" y="2586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52" name="Microsoft 公式 3.0" r:id="rId7" imgW="152334" imgH="228501" progId="Equation.3">
                    <p:embed/>
                  </p:oleObj>
                </mc:Choice>
                <mc:Fallback>
                  <p:oleObj name="Microsoft 公式 3.0" r:id="rId7" imgW="152334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586"/>
                          <a:ext cx="288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3" name="Object 12"/>
            <p:cNvGraphicFramePr>
              <a:graphicFrameLocks noChangeAspect="1"/>
            </p:cNvGraphicFramePr>
            <p:nvPr/>
          </p:nvGraphicFramePr>
          <p:xfrm>
            <a:off x="2204" y="2592"/>
            <a:ext cx="34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53" name="Microsoft 公式 3.0" r:id="rId9" imgW="165028" imgH="228501" progId="Equation.3">
                    <p:embed/>
                  </p:oleObj>
                </mc:Choice>
                <mc:Fallback>
                  <p:oleObj name="Microsoft 公式 3.0" r:id="rId9" imgW="165028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4" y="2592"/>
                          <a:ext cx="340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4" name="Object 13"/>
            <p:cNvGraphicFramePr>
              <a:graphicFrameLocks noChangeAspect="1"/>
            </p:cNvGraphicFramePr>
            <p:nvPr/>
          </p:nvGraphicFramePr>
          <p:xfrm>
            <a:off x="3504" y="2598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54" name="Microsoft 公式 3.0" r:id="rId11" imgW="152334" imgH="228501" progId="Equation.3">
                    <p:embed/>
                  </p:oleObj>
                </mc:Choice>
                <mc:Fallback>
                  <p:oleObj name="Microsoft 公式 3.0" r:id="rId11" imgW="152334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598"/>
                          <a:ext cx="288" cy="4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3186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 autoUpdateAnimBg="0"/>
      <p:bldP spid="9221" grpId="0" autoUpdateAnimBg="0"/>
      <p:bldP spid="9223" grpId="0" autoUpdateAnimBg="0"/>
      <p:bldP spid="922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44016"/>
            <a:ext cx="8424936" cy="62068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latin typeface="+mn-ea"/>
                <a:ea typeface="+mn-ea"/>
              </a:rPr>
              <a:t>三、</a:t>
            </a:r>
            <a:r>
              <a:rPr lang="zh-CN" altLang="zh-CN" sz="3600" dirty="0">
                <a:latin typeface="+mn-ea"/>
                <a:ea typeface="+mn-ea"/>
              </a:rPr>
              <a:t>数字特征相同的一类矩阵</a:t>
            </a:r>
            <a:r>
              <a:rPr lang="en-US" altLang="zh-CN" sz="3600" dirty="0">
                <a:latin typeface="+mn-ea"/>
                <a:ea typeface="+mn-ea"/>
              </a:rPr>
              <a:t>——</a:t>
            </a:r>
            <a:r>
              <a:rPr lang="zh-CN" altLang="en-US" sz="3600" dirty="0">
                <a:latin typeface="+mn-ea"/>
                <a:ea typeface="+mn-ea"/>
              </a:rPr>
              <a:t>相似矩阵</a:t>
            </a:r>
          </a:p>
        </p:txBody>
      </p:sp>
      <p:pic>
        <p:nvPicPr>
          <p:cNvPr id="22618" name="Picture 9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571225" y="836712"/>
            <a:ext cx="20714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证明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sym typeface="Wingdings" pitchFamily="2" charset="2"/>
              </a:rPr>
              <a:t>: 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sym typeface="Wingdings" pitchFamily="2" charset="2"/>
              </a:rPr>
              <a:t>必要性 </a:t>
            </a:r>
            <a:endParaRPr lang="en-US" altLang="zh-CN" sz="2400" dirty="0">
              <a:solidFill>
                <a:srgbClr val="0000FF"/>
              </a:solidFill>
              <a:latin typeface="+mn-ea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04306"/>
              </p:ext>
            </p:extLst>
          </p:nvPr>
        </p:nvGraphicFramePr>
        <p:xfrm>
          <a:off x="755576" y="1484784"/>
          <a:ext cx="590391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4" name="Equation" r:id="rId4" imgW="6032500" imgH="457200" progId="Equation.DSMT4">
                  <p:embed/>
                </p:oleObj>
              </mc:Choice>
              <mc:Fallback>
                <p:oleObj name="Equation" r:id="rId4" imgW="603250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484784"/>
                        <a:ext cx="5903913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780997"/>
              </p:ext>
            </p:extLst>
          </p:nvPr>
        </p:nvGraphicFramePr>
        <p:xfrm>
          <a:off x="556369" y="2060848"/>
          <a:ext cx="62865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5" name="Equation" r:id="rId6" imgW="6540500" imgH="457200" progId="Equation.DSMT4">
                  <p:embed/>
                </p:oleObj>
              </mc:Choice>
              <mc:Fallback>
                <p:oleObj name="Equation" r:id="rId6" imgW="65405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369" y="2060848"/>
                        <a:ext cx="62865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2267744" y="2564904"/>
            <a:ext cx="3730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FF0066"/>
                </a:solidFill>
              </a:rPr>
              <a:t>（</a:t>
            </a:r>
            <a:r>
              <a:rPr lang="en-US" altLang="zh-CN" sz="2400" b="1" dirty="0">
                <a:solidFill>
                  <a:srgbClr val="FF0066"/>
                </a:solidFill>
              </a:rPr>
              <a:t>P</a:t>
            </a:r>
            <a:r>
              <a:rPr lang="zh-CN" altLang="en-US" sz="2400" b="1" dirty="0">
                <a:solidFill>
                  <a:srgbClr val="FF0066"/>
                </a:solidFill>
              </a:rPr>
              <a:t>的列向量                  ）</a:t>
            </a:r>
          </a:p>
        </p:txBody>
      </p:sp>
      <p:graphicFrame>
        <p:nvGraphicFramePr>
          <p:cNvPr id="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665327"/>
              </p:ext>
            </p:extLst>
          </p:nvPr>
        </p:nvGraphicFramePr>
        <p:xfrm>
          <a:off x="4151328" y="2602235"/>
          <a:ext cx="14398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6" name="Equation" r:id="rId8" imgW="787058" imgH="253890" progId="Equation.DSMT4">
                  <p:embed/>
                </p:oleObj>
              </mc:Choice>
              <mc:Fallback>
                <p:oleObj name="Equation" r:id="rId8" imgW="787058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28" y="2602235"/>
                        <a:ext cx="14398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302925"/>
              </p:ext>
            </p:extLst>
          </p:nvPr>
        </p:nvGraphicFramePr>
        <p:xfrm>
          <a:off x="1980308" y="2996456"/>
          <a:ext cx="21145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7" name="Equation" r:id="rId10" imgW="876311" imgH="190620" progId="Equation.DSMT4">
                  <p:embed/>
                </p:oleObj>
              </mc:Choice>
              <mc:Fallback>
                <p:oleObj name="Equation" r:id="rId10" imgW="876311" imgH="1906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308" y="2996456"/>
                        <a:ext cx="21145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970765"/>
              </p:ext>
            </p:extLst>
          </p:nvPr>
        </p:nvGraphicFramePr>
        <p:xfrm>
          <a:off x="322958" y="2996456"/>
          <a:ext cx="74422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8" name="Equation" r:id="rId12" imgW="7429466" imgH="2086020" progId="Equation.DSMT4">
                  <p:embed/>
                </p:oleObj>
              </mc:Choice>
              <mc:Fallback>
                <p:oleObj name="Equation" r:id="rId12" imgW="7429466" imgH="20860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958" y="2996456"/>
                        <a:ext cx="74422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243418"/>
              </p:ext>
            </p:extLst>
          </p:nvPr>
        </p:nvGraphicFramePr>
        <p:xfrm>
          <a:off x="251520" y="5085184"/>
          <a:ext cx="2592388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9" name="Equation" r:id="rId14" imgW="1219200" imgH="228600" progId="Equation.DSMT4">
                  <p:embed/>
                </p:oleObj>
              </mc:Choice>
              <mc:Fallback>
                <p:oleObj name="Equation" r:id="rId14" imgW="1219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5085184"/>
                        <a:ext cx="2592388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941239"/>
              </p:ext>
            </p:extLst>
          </p:nvPr>
        </p:nvGraphicFramePr>
        <p:xfrm>
          <a:off x="2843908" y="5085184"/>
          <a:ext cx="33559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0" name="Equation" r:id="rId16" imgW="1400099" imgH="218970" progId="Equation.DSMT4">
                  <p:embed/>
                </p:oleObj>
              </mc:Choice>
              <mc:Fallback>
                <p:oleObj name="Equation" r:id="rId16" imgW="1400099" imgH="2189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908" y="5085184"/>
                        <a:ext cx="33559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1606925" y="4293443"/>
            <a:ext cx="84458" cy="863749"/>
          </a:xfrm>
          <a:prstGeom prst="downArrow">
            <a:avLst>
              <a:gd name="adj1" fmla="val 50000"/>
              <a:gd name="adj2" fmla="val 150000"/>
            </a:avLst>
          </a:prstGeom>
          <a:solidFill>
            <a:srgbClr val="009900"/>
          </a:solidFill>
          <a:ln w="38100" algn="ctr">
            <a:solidFill>
              <a:srgbClr val="FF0066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 sz="2800" b="1">
              <a:solidFill>
                <a:srgbClr val="000000"/>
              </a:solidFill>
            </a:endParaRPr>
          </a:p>
        </p:txBody>
      </p:sp>
      <p:sp>
        <p:nvSpPr>
          <p:cNvPr id="14" name="AutoShape 10"/>
          <p:cNvSpPr>
            <a:spLocks noChangeArrowheads="1"/>
          </p:cNvSpPr>
          <p:nvPr/>
        </p:nvSpPr>
        <p:spPr bwMode="auto">
          <a:xfrm>
            <a:off x="3778945" y="4293096"/>
            <a:ext cx="288925" cy="719138"/>
          </a:xfrm>
          <a:prstGeom prst="downArrow">
            <a:avLst>
              <a:gd name="adj1" fmla="val 50000"/>
              <a:gd name="adj2" fmla="val 62225"/>
            </a:avLst>
          </a:prstGeom>
          <a:solidFill>
            <a:srgbClr val="009900"/>
          </a:solidFill>
          <a:ln w="38100" algn="ctr">
            <a:solidFill>
              <a:srgbClr val="0000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 sz="2800" b="1">
              <a:solidFill>
                <a:srgbClr val="000000"/>
              </a:solidFill>
            </a:endParaRPr>
          </a:p>
        </p:txBody>
      </p:sp>
      <p:graphicFrame>
        <p:nvGraphicFramePr>
          <p:cNvPr id="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802910"/>
              </p:ext>
            </p:extLst>
          </p:nvPr>
        </p:nvGraphicFramePr>
        <p:xfrm>
          <a:off x="395983" y="5828134"/>
          <a:ext cx="4089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1" name="Equation" r:id="rId18" imgW="4076576" imgH="476280" progId="Equation.DSMT4">
                  <p:embed/>
                </p:oleObj>
              </mc:Choice>
              <mc:Fallback>
                <p:oleObj name="Equation" r:id="rId18" imgW="4076576" imgH="476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83" y="5828134"/>
                        <a:ext cx="4089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845242"/>
              </p:ext>
            </p:extLst>
          </p:nvPr>
        </p:nvGraphicFramePr>
        <p:xfrm>
          <a:off x="322958" y="2996456"/>
          <a:ext cx="165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2" name="Equation" r:id="rId20" imgW="1651000" imgH="381000" progId="Equation.DSMT4">
                  <p:embed/>
                </p:oleObj>
              </mc:Choice>
              <mc:Fallback>
                <p:oleObj name="Equation" r:id="rId20" imgW="1651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958" y="2996456"/>
                        <a:ext cx="1651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53128"/>
              </p:ext>
            </p:extLst>
          </p:nvPr>
        </p:nvGraphicFramePr>
        <p:xfrm>
          <a:off x="539700" y="6330950"/>
          <a:ext cx="76327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3" name="Equation" r:id="rId22" imgW="3162176" imgH="200070" progId="Equation.DSMT4">
                  <p:embed/>
                </p:oleObj>
              </mc:Choice>
              <mc:Fallback>
                <p:oleObj name="Equation" r:id="rId22" imgW="3162176" imgH="20007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00" y="6330950"/>
                        <a:ext cx="76327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94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44016"/>
            <a:ext cx="8424936" cy="62068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latin typeface="+mn-ea"/>
                <a:ea typeface="+mn-ea"/>
              </a:rPr>
              <a:t>三、</a:t>
            </a:r>
            <a:r>
              <a:rPr lang="zh-CN" altLang="zh-CN" sz="3600" dirty="0">
                <a:latin typeface="+mn-ea"/>
                <a:ea typeface="+mn-ea"/>
              </a:rPr>
              <a:t>数字特征相同的一类矩阵</a:t>
            </a:r>
            <a:r>
              <a:rPr lang="en-US" altLang="zh-CN" sz="3600" dirty="0">
                <a:latin typeface="+mn-ea"/>
                <a:ea typeface="+mn-ea"/>
              </a:rPr>
              <a:t>——</a:t>
            </a:r>
            <a:r>
              <a:rPr lang="zh-CN" altLang="en-US" sz="3600" dirty="0">
                <a:latin typeface="+mn-ea"/>
                <a:ea typeface="+mn-ea"/>
              </a:rPr>
              <a:t>相似矩阵</a:t>
            </a:r>
          </a:p>
        </p:txBody>
      </p:sp>
      <p:pic>
        <p:nvPicPr>
          <p:cNvPr id="22618" name="Picture 9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683568" y="764704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sym typeface="Wingdings" pitchFamily="2" charset="2"/>
              </a:rPr>
              <a:t>充分性</a:t>
            </a:r>
            <a:endParaRPr lang="zh-CN" altLang="en-US" sz="2400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921127"/>
              </p:ext>
            </p:extLst>
          </p:nvPr>
        </p:nvGraphicFramePr>
        <p:xfrm>
          <a:off x="611560" y="2205310"/>
          <a:ext cx="8266112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2" name="Equation" r:id="rId4" imgW="8801100" imgH="1574800" progId="Equation.DSMT4">
                  <p:embed/>
                </p:oleObj>
              </mc:Choice>
              <mc:Fallback>
                <p:oleObj name="Equation" r:id="rId4" imgW="8801100" imgH="157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205310"/>
                        <a:ext cx="8266112" cy="153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84585" y="3929335"/>
            <a:ext cx="620712" cy="508000"/>
          </a:xfrm>
          <a:prstGeom prst="rect">
            <a:avLst/>
          </a:prstGeom>
          <a:solidFill>
            <a:srgbClr val="FFCCCC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kumimoji="1" lang="zh-CN" altLang="zh-CN" sz="2400" b="1">
              <a:solidFill>
                <a:srgbClr val="FF0066"/>
              </a:solidFill>
              <a:latin typeface="Times New Roman" pitchFamily="18" charset="0"/>
            </a:endParaRP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56281"/>
              </p:ext>
            </p:extLst>
          </p:nvPr>
        </p:nvGraphicFramePr>
        <p:xfrm>
          <a:off x="684585" y="3962673"/>
          <a:ext cx="36512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3" name="Equation" r:id="rId6" imgW="3530600" imgH="431800" progId="Equation.DSMT4">
                  <p:embed/>
                </p:oleObj>
              </mc:Choice>
              <mc:Fallback>
                <p:oleObj name="Equation" r:id="rId6" imgW="35306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85" y="3962673"/>
                        <a:ext cx="36512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604622" y="5153298"/>
            <a:ext cx="698500" cy="508000"/>
          </a:xfrm>
          <a:prstGeom prst="rect">
            <a:avLst/>
          </a:prstGeom>
          <a:solidFill>
            <a:srgbClr val="FFCCCC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kumimoji="1" lang="zh-CN" altLang="zh-CN" sz="2400" b="1">
              <a:solidFill>
                <a:srgbClr val="FF0066"/>
              </a:solidFill>
              <a:latin typeface="Times New Roman" pitchFamily="18" charset="0"/>
            </a:endParaRP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281328"/>
              </p:ext>
            </p:extLst>
          </p:nvPr>
        </p:nvGraphicFramePr>
        <p:xfrm>
          <a:off x="756022" y="1844948"/>
          <a:ext cx="388778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4" name="Equation" r:id="rId8" imgW="3136900" imgH="444500" progId="Equation.DSMT4">
                  <p:embed/>
                </p:oleObj>
              </mc:Choice>
              <mc:Fallback>
                <p:oleObj name="Equation" r:id="rId8" imgW="31369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022" y="1844948"/>
                        <a:ext cx="3887788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711415"/>
              </p:ext>
            </p:extLst>
          </p:nvPr>
        </p:nvGraphicFramePr>
        <p:xfrm>
          <a:off x="4285035" y="4683398"/>
          <a:ext cx="4103687" cy="155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5" name="Equation" r:id="rId10" imgW="4165600" imgH="1574800" progId="Equation.DSMT4">
                  <p:embed/>
                </p:oleObj>
              </mc:Choice>
              <mc:Fallback>
                <p:oleObj name="Equation" r:id="rId10" imgW="4165600" imgH="157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035" y="4683398"/>
                        <a:ext cx="4103687" cy="155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471218"/>
              </p:ext>
            </p:extLst>
          </p:nvPr>
        </p:nvGraphicFramePr>
        <p:xfrm>
          <a:off x="4356472" y="4030935"/>
          <a:ext cx="31686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6" name="Equation" r:id="rId12" imgW="3086100" imgH="431800" progId="Equation.DSMT4">
                  <p:embed/>
                </p:oleObj>
              </mc:Choice>
              <mc:Fallback>
                <p:oleObj name="Equation" r:id="rId12" imgW="3086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472" y="4030935"/>
                        <a:ext cx="31686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815834"/>
              </p:ext>
            </p:extLst>
          </p:nvPr>
        </p:nvGraphicFramePr>
        <p:xfrm>
          <a:off x="8244260" y="5186635"/>
          <a:ext cx="10477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7" name="Equation" r:id="rId14" imgW="393359" imgH="164957" progId="Equation.3">
                  <p:embed/>
                </p:oleObj>
              </mc:Choice>
              <mc:Fallback>
                <p:oleObj name="Equation" r:id="rId14" imgW="39335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4260" y="5186635"/>
                        <a:ext cx="10477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300524"/>
              </p:ext>
            </p:extLst>
          </p:nvPr>
        </p:nvGraphicFramePr>
        <p:xfrm>
          <a:off x="684585" y="1268685"/>
          <a:ext cx="835183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8" name="Equation" r:id="rId16" imgW="3429000" imgH="228600" progId="Equation.3">
                  <p:embed/>
                </p:oleObj>
              </mc:Choice>
              <mc:Fallback>
                <p:oleObj name="Equation" r:id="rId16" imgW="3429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85" y="1268685"/>
                        <a:ext cx="8351837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032274"/>
              </p:ext>
            </p:extLst>
          </p:nvPr>
        </p:nvGraphicFramePr>
        <p:xfrm>
          <a:off x="756022" y="6126435"/>
          <a:ext cx="55911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9" name="Equation" r:id="rId18" imgW="2343133" imgH="218970" progId="Equation.DSMT4">
                  <p:embed/>
                </p:oleObj>
              </mc:Choice>
              <mc:Fallback>
                <p:oleObj name="Equation" r:id="rId18" imgW="2343133" imgH="2189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022" y="6126435"/>
                        <a:ext cx="55911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Oval 16"/>
          <p:cNvSpPr>
            <a:spLocks noChangeArrowheads="1"/>
          </p:cNvSpPr>
          <p:nvPr/>
        </p:nvSpPr>
        <p:spPr bwMode="auto">
          <a:xfrm>
            <a:off x="1692647" y="3962673"/>
            <a:ext cx="649288" cy="433387"/>
          </a:xfrm>
          <a:prstGeom prst="ellipse">
            <a:avLst/>
          </a:prstGeom>
          <a:noFill/>
          <a:ln w="28575" cap="rnd" algn="ctr">
            <a:solidFill>
              <a:srgbClr val="6633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 sz="2800" b="1">
              <a:solidFill>
                <a:srgbClr val="000000"/>
              </a:solidFill>
            </a:endParaRPr>
          </a:p>
        </p:txBody>
      </p:sp>
      <p:sp>
        <p:nvSpPr>
          <p:cNvPr id="17" name="Oval 17"/>
          <p:cNvSpPr>
            <a:spLocks noChangeArrowheads="1"/>
          </p:cNvSpPr>
          <p:nvPr/>
        </p:nvSpPr>
        <p:spPr bwMode="auto">
          <a:xfrm>
            <a:off x="4788272" y="4076973"/>
            <a:ext cx="649288" cy="433387"/>
          </a:xfrm>
          <a:prstGeom prst="ellipse">
            <a:avLst/>
          </a:prstGeom>
          <a:noFill/>
          <a:ln w="28575" cap="rnd" algn="ctr">
            <a:solidFill>
              <a:srgbClr val="6633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 sz="2800" b="1">
              <a:solidFill>
                <a:srgbClr val="000000"/>
              </a:solidFill>
            </a:endParaRPr>
          </a:p>
        </p:txBody>
      </p:sp>
      <p:sp>
        <p:nvSpPr>
          <p:cNvPr id="18" name="Oval 18"/>
          <p:cNvSpPr>
            <a:spLocks noChangeArrowheads="1"/>
          </p:cNvSpPr>
          <p:nvPr/>
        </p:nvSpPr>
        <p:spPr bwMode="auto">
          <a:xfrm>
            <a:off x="5580435" y="4034110"/>
            <a:ext cx="649287" cy="433388"/>
          </a:xfrm>
          <a:prstGeom prst="ellipse">
            <a:avLst/>
          </a:prstGeom>
          <a:noFill/>
          <a:ln w="28575" cap="rnd" algn="ctr">
            <a:solidFill>
              <a:srgbClr val="FF00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 sz="2800" b="1">
              <a:solidFill>
                <a:srgbClr val="000000"/>
              </a:solidFill>
            </a:endParaRPr>
          </a:p>
        </p:txBody>
      </p:sp>
      <p:sp>
        <p:nvSpPr>
          <p:cNvPr id="19" name="Oval 19"/>
          <p:cNvSpPr>
            <a:spLocks noChangeArrowheads="1"/>
          </p:cNvSpPr>
          <p:nvPr/>
        </p:nvSpPr>
        <p:spPr bwMode="auto">
          <a:xfrm>
            <a:off x="2411785" y="3962673"/>
            <a:ext cx="649287" cy="433387"/>
          </a:xfrm>
          <a:prstGeom prst="ellipse">
            <a:avLst/>
          </a:prstGeom>
          <a:noFill/>
          <a:ln w="28575" cap="rnd" algn="ctr">
            <a:solidFill>
              <a:srgbClr val="FF00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 sz="2800" b="1">
              <a:solidFill>
                <a:srgbClr val="000000"/>
              </a:solidFill>
            </a:endParaRPr>
          </a:p>
        </p:txBody>
      </p:sp>
      <p:sp>
        <p:nvSpPr>
          <p:cNvPr id="20" name="Oval 20"/>
          <p:cNvSpPr>
            <a:spLocks noChangeArrowheads="1"/>
          </p:cNvSpPr>
          <p:nvPr/>
        </p:nvSpPr>
        <p:spPr bwMode="auto">
          <a:xfrm>
            <a:off x="3635747" y="3962673"/>
            <a:ext cx="649288" cy="506412"/>
          </a:xfrm>
          <a:prstGeom prst="ellipse">
            <a:avLst/>
          </a:prstGeom>
          <a:noFill/>
          <a:ln w="28575" cap="rnd" algn="ctr">
            <a:solidFill>
              <a:srgbClr val="00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 sz="2800" b="1">
              <a:solidFill>
                <a:srgbClr val="000000"/>
              </a:solidFill>
            </a:endParaRPr>
          </a:p>
        </p:txBody>
      </p:sp>
      <p:sp>
        <p:nvSpPr>
          <p:cNvPr id="21" name="Oval 21"/>
          <p:cNvSpPr>
            <a:spLocks noChangeArrowheads="1"/>
          </p:cNvSpPr>
          <p:nvPr/>
        </p:nvSpPr>
        <p:spPr bwMode="auto">
          <a:xfrm>
            <a:off x="6731372" y="4003948"/>
            <a:ext cx="649288" cy="433387"/>
          </a:xfrm>
          <a:prstGeom prst="ellipse">
            <a:avLst/>
          </a:prstGeom>
          <a:noFill/>
          <a:ln w="28575" cap="rnd" algn="ctr">
            <a:solidFill>
              <a:srgbClr val="00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 sz="2800" b="1">
              <a:solidFill>
                <a:srgbClr val="000000"/>
              </a:solidFill>
            </a:endParaRPr>
          </a:p>
        </p:txBody>
      </p:sp>
      <p:sp>
        <p:nvSpPr>
          <p:cNvPr id="22" name="直角三角形 21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直角三角形 22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248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9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44016"/>
            <a:ext cx="8424936" cy="62068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latin typeface="+mn-ea"/>
                <a:ea typeface="+mn-ea"/>
              </a:rPr>
              <a:t>三、</a:t>
            </a:r>
            <a:r>
              <a:rPr lang="zh-CN" altLang="zh-CN" sz="3600" dirty="0">
                <a:latin typeface="+mn-ea"/>
                <a:ea typeface="+mn-ea"/>
              </a:rPr>
              <a:t>数字特征相同的一类矩阵</a:t>
            </a:r>
            <a:r>
              <a:rPr lang="en-US" altLang="zh-CN" sz="3600" dirty="0">
                <a:latin typeface="+mn-ea"/>
                <a:ea typeface="+mn-ea"/>
              </a:rPr>
              <a:t>——</a:t>
            </a:r>
            <a:r>
              <a:rPr lang="zh-CN" altLang="en-US" sz="3600" dirty="0">
                <a:latin typeface="+mn-ea"/>
                <a:ea typeface="+mn-ea"/>
              </a:rPr>
              <a:t>相似矩阵</a:t>
            </a:r>
          </a:p>
        </p:txBody>
      </p:sp>
      <p:pic>
        <p:nvPicPr>
          <p:cNvPr id="22618" name="Picture 9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404704" y="818441"/>
            <a:ext cx="55451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CC"/>
                </a:solidFill>
                <a:latin typeface="+mn-ea"/>
                <a:ea typeface="+mn-ea"/>
              </a:rPr>
              <a:t>定理</a:t>
            </a:r>
            <a:r>
              <a:rPr lang="en-US" altLang="zh-CN" sz="2400" dirty="0">
                <a:solidFill>
                  <a:srgbClr val="0000CC"/>
                </a:solidFill>
                <a:latin typeface="+mn-ea"/>
                <a:ea typeface="+mn-ea"/>
              </a:rPr>
              <a:t>2.15.1</a:t>
            </a:r>
            <a:r>
              <a:rPr lang="zh-CN" altLang="en-US" sz="2400" dirty="0">
                <a:solidFill>
                  <a:srgbClr val="0000CC"/>
                </a:solidFill>
                <a:latin typeface="+mn-ea"/>
                <a:ea typeface="+mn-ea"/>
              </a:rPr>
              <a:t>的意义</a:t>
            </a:r>
          </a:p>
        </p:txBody>
      </p:sp>
      <p:grpSp>
        <p:nvGrpSpPr>
          <p:cNvPr id="7" name="Group 17"/>
          <p:cNvGrpSpPr>
            <a:grpSpLocks/>
          </p:cNvGrpSpPr>
          <p:nvPr/>
        </p:nvGrpSpPr>
        <p:grpSpPr bwMode="auto">
          <a:xfrm>
            <a:off x="449932" y="1458913"/>
            <a:ext cx="6210300" cy="461963"/>
            <a:chOff x="431" y="890"/>
            <a:chExt cx="3912" cy="291"/>
          </a:xfrm>
        </p:grpSpPr>
        <p:graphicFrame>
          <p:nvGraphicFramePr>
            <p:cNvPr id="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552186"/>
                </p:ext>
              </p:extLst>
            </p:nvPr>
          </p:nvGraphicFramePr>
          <p:xfrm>
            <a:off x="975" y="906"/>
            <a:ext cx="336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2" name="Equation" r:id="rId4" imgW="5334045" imgH="400140" progId="Equation.DSMT4">
                    <p:embed/>
                  </p:oleObj>
                </mc:Choice>
                <mc:Fallback>
                  <p:oleObj name="Equation" r:id="rId4" imgW="5334045" imgH="4001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906"/>
                          <a:ext cx="336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431" y="890"/>
              <a:ext cx="6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latin typeface="+mn-ea"/>
                  <a:ea typeface="+mn-ea"/>
                </a:rPr>
                <a:t>（</a:t>
              </a:r>
              <a:r>
                <a:rPr lang="en-US" altLang="zh-CN" sz="2400" dirty="0">
                  <a:latin typeface="+mn-ea"/>
                  <a:ea typeface="+mn-ea"/>
                </a:rPr>
                <a:t>1</a:t>
              </a:r>
              <a:r>
                <a:rPr lang="zh-CN" altLang="en-US" sz="2400" dirty="0">
                  <a:latin typeface="+mn-ea"/>
                  <a:ea typeface="+mn-ea"/>
                </a:rPr>
                <a:t>）</a:t>
              </a:r>
            </a:p>
          </p:txBody>
        </p:sp>
      </p:grpSp>
      <p:grpSp>
        <p:nvGrpSpPr>
          <p:cNvPr id="10" name="Group 19"/>
          <p:cNvGrpSpPr>
            <a:grpSpLocks/>
          </p:cNvGrpSpPr>
          <p:nvPr/>
        </p:nvGrpSpPr>
        <p:grpSpPr bwMode="auto">
          <a:xfrm>
            <a:off x="490859" y="1972468"/>
            <a:ext cx="8329613" cy="1223963"/>
            <a:chOff x="380" y="1298"/>
            <a:chExt cx="5247" cy="771"/>
          </a:xfrm>
        </p:grpSpPr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380" y="1298"/>
              <a:ext cx="6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latin typeface="+mn-ea"/>
                  <a:ea typeface="+mn-ea"/>
                </a:rPr>
                <a:t>（</a:t>
              </a:r>
              <a:r>
                <a:rPr lang="en-US" altLang="zh-CN" sz="2400" dirty="0">
                  <a:latin typeface="+mn-ea"/>
                  <a:ea typeface="+mn-ea"/>
                </a:rPr>
                <a:t>2</a:t>
              </a:r>
              <a:r>
                <a:rPr lang="zh-CN" altLang="en-US" sz="2400" dirty="0">
                  <a:latin typeface="+mn-ea"/>
                  <a:ea typeface="+mn-ea"/>
                </a:rPr>
                <a:t>）</a:t>
              </a:r>
            </a:p>
          </p:txBody>
        </p:sp>
        <p:graphicFrame>
          <p:nvGraphicFramePr>
            <p:cNvPr id="12" name="Object 4"/>
            <p:cNvGraphicFramePr>
              <a:graphicFrameLocks noChangeAspect="1"/>
            </p:cNvGraphicFramePr>
            <p:nvPr/>
          </p:nvGraphicFramePr>
          <p:xfrm>
            <a:off x="899" y="1344"/>
            <a:ext cx="472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3" name="Equation" r:id="rId6" imgW="7496189" imgH="380970" progId="Equation.DSMT4">
                    <p:embed/>
                  </p:oleObj>
                </mc:Choice>
                <mc:Fallback>
                  <p:oleObj name="Equation" r:id="rId6" imgW="7496189" imgH="3809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" y="1344"/>
                          <a:ext cx="472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5"/>
            <p:cNvGraphicFramePr>
              <a:graphicFrameLocks noChangeAspect="1"/>
            </p:cNvGraphicFramePr>
            <p:nvPr/>
          </p:nvGraphicFramePr>
          <p:xfrm>
            <a:off x="1619" y="1765"/>
            <a:ext cx="137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4" name="Equation" r:id="rId8" imgW="2171599" imgH="476280" progId="Equation.DSMT4">
                    <p:embed/>
                  </p:oleObj>
                </mc:Choice>
                <mc:Fallback>
                  <p:oleObj name="Equation" r:id="rId8" imgW="2171599" imgH="476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" y="1765"/>
                          <a:ext cx="1376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2"/>
          <p:cNvGraphicFramePr>
            <a:graphicFrameLocks noChangeAspect="1"/>
          </p:cNvGraphicFramePr>
          <p:nvPr/>
        </p:nvGraphicFramePr>
        <p:xfrm>
          <a:off x="4681538" y="3429000"/>
          <a:ext cx="4462462" cy="263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5" name="Equation" r:id="rId10" imgW="2352588" imgH="1390770" progId="Equation.DSMT4">
                  <p:embed/>
                </p:oleObj>
              </mc:Choice>
              <mc:Fallback>
                <p:oleObj name="Equation" r:id="rId10" imgW="2352588" imgH="13907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538" y="3429000"/>
                        <a:ext cx="4462462" cy="263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"/>
          <p:cNvGraphicFramePr>
            <a:graphicFrameLocks noChangeAspect="1"/>
          </p:cNvGraphicFramePr>
          <p:nvPr/>
        </p:nvGraphicFramePr>
        <p:xfrm>
          <a:off x="395288" y="3644900"/>
          <a:ext cx="3889375" cy="202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6" name="Equation" r:id="rId12" imgW="1790711" imgH="933390" progId="Equation.DSMT4">
                  <p:embed/>
                </p:oleObj>
              </mc:Choice>
              <mc:Fallback>
                <p:oleObj name="Equation" r:id="rId12" imgW="1790711" imgH="9333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644900"/>
                        <a:ext cx="3889375" cy="202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20"/>
          <p:cNvGrpSpPr>
            <a:grpSpLocks/>
          </p:cNvGrpSpPr>
          <p:nvPr/>
        </p:nvGrpSpPr>
        <p:grpSpPr bwMode="auto">
          <a:xfrm>
            <a:off x="971550" y="2720975"/>
            <a:ext cx="2881313" cy="1068388"/>
            <a:chOff x="612" y="1665"/>
            <a:chExt cx="1097" cy="722"/>
          </a:xfrm>
        </p:grpSpPr>
        <p:sp>
          <p:nvSpPr>
            <p:cNvPr id="17" name="Oval 13"/>
            <p:cNvSpPr>
              <a:spLocks noChangeArrowheads="1"/>
            </p:cNvSpPr>
            <p:nvPr/>
          </p:nvSpPr>
          <p:spPr bwMode="auto">
            <a:xfrm>
              <a:off x="1544" y="1665"/>
              <a:ext cx="165" cy="497"/>
            </a:xfrm>
            <a:prstGeom prst="ellipse">
              <a:avLst/>
            </a:prstGeom>
            <a:noFill/>
            <a:ln w="28575" algn="ctr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 sz="2800" b="1">
                <a:solidFill>
                  <a:srgbClr val="000000"/>
                </a:solidFill>
              </a:endParaRPr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 flipH="1">
              <a:off x="612" y="1979"/>
              <a:ext cx="953" cy="40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" name="Group 21"/>
          <p:cNvGrpSpPr>
            <a:grpSpLocks/>
          </p:cNvGrpSpPr>
          <p:nvPr/>
        </p:nvGrpSpPr>
        <p:grpSpPr bwMode="auto">
          <a:xfrm>
            <a:off x="4284663" y="2781300"/>
            <a:ext cx="1800225" cy="719138"/>
            <a:chOff x="2699" y="1752"/>
            <a:chExt cx="1134" cy="453"/>
          </a:xfrm>
        </p:grpSpPr>
        <p:sp>
          <p:nvSpPr>
            <p:cNvPr id="20" name="Oval 15"/>
            <p:cNvSpPr>
              <a:spLocks noChangeArrowheads="1"/>
            </p:cNvSpPr>
            <p:nvPr/>
          </p:nvSpPr>
          <p:spPr bwMode="auto">
            <a:xfrm>
              <a:off x="2699" y="1752"/>
              <a:ext cx="272" cy="363"/>
            </a:xfrm>
            <a:prstGeom prst="ellipse">
              <a:avLst/>
            </a:prstGeom>
            <a:noFill/>
            <a:ln w="28575" algn="ctr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sz="2800" b="1">
                <a:solidFill>
                  <a:srgbClr val="000000"/>
                </a:solidFill>
              </a:endParaRPr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2971" y="2024"/>
              <a:ext cx="862" cy="181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48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564" y="146856"/>
            <a:ext cx="8424936" cy="62068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latin typeface="+mn-ea"/>
                <a:ea typeface="+mn-ea"/>
              </a:rPr>
              <a:t>三、</a:t>
            </a:r>
            <a:r>
              <a:rPr lang="zh-CN" altLang="zh-CN" sz="3600" dirty="0">
                <a:latin typeface="+mn-ea"/>
                <a:ea typeface="+mn-ea"/>
              </a:rPr>
              <a:t>数字特征相同的一类矩阵</a:t>
            </a:r>
            <a:r>
              <a:rPr lang="en-US" altLang="zh-CN" sz="3600" dirty="0">
                <a:latin typeface="+mn-ea"/>
                <a:ea typeface="+mn-ea"/>
              </a:rPr>
              <a:t>——</a:t>
            </a:r>
            <a:r>
              <a:rPr lang="zh-CN" altLang="en-US" sz="3600" dirty="0">
                <a:latin typeface="+mn-ea"/>
                <a:ea typeface="+mn-ea"/>
              </a:rPr>
              <a:t>相似矩阵</a:t>
            </a:r>
          </a:p>
        </p:txBody>
      </p:sp>
      <p:sp>
        <p:nvSpPr>
          <p:cNvPr id="22608" name="Rectangle 46"/>
          <p:cNvSpPr>
            <a:spLocks noChangeArrowheads="1"/>
          </p:cNvSpPr>
          <p:nvPr/>
        </p:nvSpPr>
        <p:spPr bwMode="auto">
          <a:xfrm>
            <a:off x="323528" y="743005"/>
            <a:ext cx="56166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i="1" dirty="0">
                <a:latin typeface="+mn-ea"/>
                <a:cs typeface="Times New Roman" pitchFamily="18" charset="0"/>
              </a:rPr>
              <a:t>n </a:t>
            </a:r>
            <a:r>
              <a:rPr lang="zh-CN" altLang="zh-CN" sz="2400" dirty="0">
                <a:latin typeface="+mn-ea"/>
                <a:cs typeface="Times New Roman" pitchFamily="18" charset="0"/>
              </a:rPr>
              <a:t>阶实对称矩阵</a:t>
            </a:r>
            <a:r>
              <a:rPr lang="en-US" altLang="zh-CN" sz="2400" dirty="0">
                <a:latin typeface="+mn-ea"/>
                <a:cs typeface="Times New Roman" pitchFamily="18" charset="0"/>
              </a:rPr>
              <a:t>A</a:t>
            </a:r>
            <a:r>
              <a:rPr kumimoji="0" 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对角化步骤</a:t>
            </a:r>
            <a:r>
              <a:rPr kumimoji="0" 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如下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: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宋体" pitchFamily="2" charset="-122"/>
            </a:endParaRPr>
          </a:p>
        </p:txBody>
      </p:sp>
      <p:graphicFrame>
        <p:nvGraphicFramePr>
          <p:cNvPr id="22609" name="对象 226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157039"/>
              </p:ext>
            </p:extLst>
          </p:nvPr>
        </p:nvGraphicFramePr>
        <p:xfrm>
          <a:off x="2957837" y="1321813"/>
          <a:ext cx="1326131" cy="45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2" r:id="rId3" imgW="749625" imgH="254110" progId="Equation.DSMT4">
                  <p:embed/>
                </p:oleObj>
              </mc:Choice>
              <mc:Fallback>
                <p:oleObj r:id="rId3" imgW="749625" imgH="25411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837" y="1321813"/>
                        <a:ext cx="1326131" cy="4532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10" name="对象 226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726352"/>
              </p:ext>
            </p:extLst>
          </p:nvPr>
        </p:nvGraphicFramePr>
        <p:xfrm>
          <a:off x="6876256" y="1270992"/>
          <a:ext cx="1482080" cy="444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3" r:id="rId5" imgW="762662" imgH="228799" progId="Equation.DSMT4">
                  <p:embed/>
                </p:oleObj>
              </mc:Choice>
              <mc:Fallback>
                <p:oleObj r:id="rId5" imgW="762662" imgH="228799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1270992"/>
                        <a:ext cx="1482080" cy="4446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11" name="对象 226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439853"/>
              </p:ext>
            </p:extLst>
          </p:nvPr>
        </p:nvGraphicFramePr>
        <p:xfrm>
          <a:off x="1615390" y="1772816"/>
          <a:ext cx="364142" cy="54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4" r:id="rId7" imgW="152931" imgH="229397" progId="Equation.DSMT4">
                  <p:embed/>
                </p:oleObj>
              </mc:Choice>
              <mc:Fallback>
                <p:oleObj r:id="rId7" imgW="152931" imgH="229397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5390" y="1772816"/>
                        <a:ext cx="364142" cy="5462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12" name="对象 226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841149"/>
              </p:ext>
            </p:extLst>
          </p:nvPr>
        </p:nvGraphicFramePr>
        <p:xfrm>
          <a:off x="2359990" y="1870300"/>
          <a:ext cx="351010" cy="351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5" r:id="rId9" imgW="165747" imgH="165747" progId="Equation.DSMT4">
                  <p:embed/>
                </p:oleObj>
              </mc:Choice>
              <mc:Fallback>
                <p:oleObj r:id="rId9" imgW="165747" imgH="165747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990" y="1870300"/>
                        <a:ext cx="351010" cy="3510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13" name="对象 226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428846"/>
              </p:ext>
            </p:extLst>
          </p:nvPr>
        </p:nvGraphicFramePr>
        <p:xfrm>
          <a:off x="3059832" y="1772816"/>
          <a:ext cx="508340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6" r:id="rId11" imgW="114598" imgH="229197" progId="Equation.DSMT4">
                  <p:embed/>
                </p:oleObj>
              </mc:Choice>
              <mc:Fallback>
                <p:oleObj r:id="rId11" imgW="114598" imgH="229197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1772816"/>
                        <a:ext cx="508340" cy="576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14" name="对象 226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513073"/>
              </p:ext>
            </p:extLst>
          </p:nvPr>
        </p:nvGraphicFramePr>
        <p:xfrm>
          <a:off x="4711734" y="1886981"/>
          <a:ext cx="1971799" cy="445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7" r:id="rId13" imgW="889386" imgH="203288" progId="Equation.DSMT4">
                  <p:embed/>
                </p:oleObj>
              </mc:Choice>
              <mc:Fallback>
                <p:oleObj r:id="rId13" imgW="889386" imgH="203288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1734" y="1886981"/>
                        <a:ext cx="1971799" cy="4452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15" name="Rectangle 53"/>
          <p:cNvSpPr>
            <a:spLocks noChangeArrowheads="1"/>
          </p:cNvSpPr>
          <p:nvPr/>
        </p:nvSpPr>
        <p:spPr bwMode="auto">
          <a:xfrm>
            <a:off x="179512" y="1268760"/>
            <a:ext cx="75608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(1)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求出特征方程                                                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宋体" pitchFamily="2" charset="-122"/>
            </a:endParaRPr>
          </a:p>
        </p:txBody>
      </p:sp>
      <p:sp>
        <p:nvSpPr>
          <p:cNvPr id="22616" name="Rectangle 54"/>
          <p:cNvSpPr>
            <a:spLocks noChangeArrowheads="1"/>
          </p:cNvSpPr>
          <p:nvPr/>
        </p:nvSpPr>
        <p:spPr bwMode="auto">
          <a:xfrm>
            <a:off x="3967568" y="1279049"/>
            <a:ext cx="47088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的所有不同的实根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                  ,</a:t>
            </a:r>
            <a:endParaRPr kumimoji="0" 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宋体" pitchFamily="2" charset="-122"/>
            </a:endParaRPr>
          </a:p>
        </p:txBody>
      </p:sp>
      <p:sp>
        <p:nvSpPr>
          <p:cNvPr id="22617" name="Rectangle 55"/>
          <p:cNvSpPr>
            <a:spLocks noChangeArrowheads="1"/>
          </p:cNvSpPr>
          <p:nvPr/>
        </p:nvSpPr>
        <p:spPr bwMode="auto">
          <a:xfrm>
            <a:off x="611560" y="1814973"/>
            <a:ext cx="70525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其中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为    的       </a:t>
            </a:r>
            <a:endParaRPr kumimoji="0" 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宋体" pitchFamily="2" charset="-122"/>
            </a:endParaRPr>
          </a:p>
        </p:txBody>
      </p:sp>
      <p:sp>
        <p:nvSpPr>
          <p:cNvPr id="22625" name="矩形 22624"/>
          <p:cNvSpPr/>
          <p:nvPr/>
        </p:nvSpPr>
        <p:spPr>
          <a:xfrm>
            <a:off x="3127558" y="1849898"/>
            <a:ext cx="40030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670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>
                <a:latin typeface="+mn-ea"/>
                <a:cs typeface="Times New Roman" pitchFamily="18" charset="0"/>
              </a:rPr>
              <a:t>重特征值</a:t>
            </a:r>
            <a:r>
              <a:rPr lang="en-US" altLang="zh-CN" sz="2400" dirty="0">
                <a:latin typeface="+mn-ea"/>
                <a:cs typeface="Times New Roman" pitchFamily="18" charset="0"/>
              </a:rPr>
              <a:t>                     </a:t>
            </a:r>
            <a:r>
              <a:rPr lang="zh-CN" altLang="en-US" sz="2400" dirty="0">
                <a:latin typeface="+mn-ea"/>
                <a:cs typeface="Times New Roman" pitchFamily="18" charset="0"/>
              </a:rPr>
              <a:t>；</a:t>
            </a:r>
            <a:endParaRPr lang="zh-CN" altLang="zh-CN" sz="2400" dirty="0">
              <a:latin typeface="+mn-ea"/>
              <a:cs typeface="宋体" pitchFamily="2" charset="-122"/>
            </a:endParaRPr>
          </a:p>
        </p:txBody>
      </p:sp>
      <p:sp>
        <p:nvSpPr>
          <p:cNvPr id="22626" name="矩形 22625"/>
          <p:cNvSpPr/>
          <p:nvPr/>
        </p:nvSpPr>
        <p:spPr>
          <a:xfrm>
            <a:off x="395536" y="2348880"/>
            <a:ext cx="31822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ea"/>
              </a:rPr>
              <a:t>(2) </a:t>
            </a:r>
            <a:r>
              <a:rPr lang="zh-CN" altLang="zh-CN" sz="2400" dirty="0">
                <a:latin typeface="+mn-ea"/>
              </a:rPr>
              <a:t>对每一特征值</a:t>
            </a:r>
            <a:r>
              <a:rPr lang="en-US" altLang="zh-CN" sz="2400" dirty="0">
                <a:latin typeface="+mn-ea"/>
              </a:rPr>
              <a:t>   </a:t>
            </a:r>
            <a:r>
              <a:rPr lang="zh-CN" altLang="en-US" sz="2400" dirty="0">
                <a:latin typeface="+mn-ea"/>
              </a:rPr>
              <a:t>，</a:t>
            </a:r>
          </a:p>
        </p:txBody>
      </p:sp>
      <p:sp>
        <p:nvSpPr>
          <p:cNvPr id="22627" name="Rectangle 7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628" name="对象 226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236551"/>
              </p:ext>
            </p:extLst>
          </p:nvPr>
        </p:nvGraphicFramePr>
        <p:xfrm>
          <a:off x="2843808" y="2386197"/>
          <a:ext cx="306289" cy="459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8" r:id="rId15" imgW="152931" imgH="229397" progId="Equation.DSMT4">
                  <p:embed/>
                </p:oleObj>
              </mc:Choice>
              <mc:Fallback>
                <p:oleObj r:id="rId15" imgW="152931" imgH="229397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386197"/>
                        <a:ext cx="306289" cy="4594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29" name="矩形 22628"/>
          <p:cNvSpPr/>
          <p:nvPr/>
        </p:nvSpPr>
        <p:spPr>
          <a:xfrm>
            <a:off x="3293274" y="2391271"/>
            <a:ext cx="4916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/>
              <a:t>解齐次线性方程组</a:t>
            </a:r>
            <a:r>
              <a:rPr lang="en-US" altLang="zh-CN" sz="2400" dirty="0"/>
              <a:t>                 </a:t>
            </a:r>
            <a:r>
              <a:rPr lang="zh-CN" altLang="en-US" sz="2400" dirty="0"/>
              <a:t>，</a:t>
            </a:r>
          </a:p>
        </p:txBody>
      </p:sp>
      <p:sp>
        <p:nvSpPr>
          <p:cNvPr id="22630" name="Rectangle 7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631" name="对象 226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582301"/>
              </p:ext>
            </p:extLst>
          </p:nvPr>
        </p:nvGraphicFramePr>
        <p:xfrm>
          <a:off x="5940152" y="2409617"/>
          <a:ext cx="1791748" cy="443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9" r:id="rId16" imgW="928309" imgH="228898" progId="Equation.DSMT4">
                  <p:embed/>
                </p:oleObj>
              </mc:Choice>
              <mc:Fallback>
                <p:oleObj r:id="rId16" imgW="928309" imgH="228898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2409617"/>
                        <a:ext cx="1791748" cy="4433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2" name="矩形 22631"/>
          <p:cNvSpPr/>
          <p:nvPr/>
        </p:nvSpPr>
        <p:spPr>
          <a:xfrm>
            <a:off x="945716" y="2895327"/>
            <a:ext cx="69493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/>
              <a:t>求得它的一个基础解系</a:t>
            </a:r>
            <a:r>
              <a:rPr lang="en-US" altLang="zh-CN" sz="2400" dirty="0"/>
              <a:t>                               </a:t>
            </a:r>
            <a:r>
              <a:rPr lang="zh-CN" altLang="en-US" sz="2400" dirty="0"/>
              <a:t>；</a:t>
            </a:r>
          </a:p>
        </p:txBody>
      </p:sp>
      <p:sp>
        <p:nvSpPr>
          <p:cNvPr id="22633" name="Rectangle 7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634" name="对象 226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2292693"/>
              </p:ext>
            </p:extLst>
          </p:nvPr>
        </p:nvGraphicFramePr>
        <p:xfrm>
          <a:off x="4208148" y="2924944"/>
          <a:ext cx="3179873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0" r:id="rId18" imgW="1752600" imgH="241300" progId="Equation.DSMT4">
                  <p:embed/>
                </p:oleObj>
              </mc:Choice>
              <mc:Fallback>
                <p:oleObj r:id="rId18" imgW="1752600" imgH="241300" progId="Equation.DSMT4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8148" y="2924944"/>
                        <a:ext cx="3179873" cy="432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5" name="矩形 22634"/>
          <p:cNvSpPr/>
          <p:nvPr/>
        </p:nvSpPr>
        <p:spPr>
          <a:xfrm>
            <a:off x="398554" y="3429000"/>
            <a:ext cx="44614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ea"/>
              </a:rPr>
              <a:t>(3) </a:t>
            </a:r>
            <a:r>
              <a:rPr lang="zh-CN" altLang="zh-CN" sz="2400" dirty="0">
                <a:latin typeface="+mn-ea"/>
              </a:rPr>
              <a:t>利用施密特正交化方法，把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2636" name="Rectangle 7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637" name="对象 226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022601"/>
              </p:ext>
            </p:extLst>
          </p:nvPr>
        </p:nvGraphicFramePr>
        <p:xfrm>
          <a:off x="4766217" y="3419023"/>
          <a:ext cx="1754508" cy="471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1" r:id="rId20" imgW="889772" imgH="241510" progId="Equation.DSMT4">
                  <p:embed/>
                </p:oleObj>
              </mc:Choice>
              <mc:Fallback>
                <p:oleObj r:id="rId20" imgW="889772" imgH="241510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6217" y="3419023"/>
                        <a:ext cx="1754508" cy="4716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8" name="矩形 22637"/>
          <p:cNvSpPr/>
          <p:nvPr/>
        </p:nvSpPr>
        <p:spPr>
          <a:xfrm>
            <a:off x="6516216" y="342900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/>
              <a:t>正交化，</a:t>
            </a:r>
            <a:endParaRPr lang="zh-CN" altLang="en-US" sz="2400" dirty="0"/>
          </a:p>
        </p:txBody>
      </p:sp>
      <p:sp>
        <p:nvSpPr>
          <p:cNvPr id="22639" name="矩形 22638"/>
          <p:cNvSpPr/>
          <p:nvPr/>
        </p:nvSpPr>
        <p:spPr>
          <a:xfrm>
            <a:off x="950325" y="3981236"/>
            <a:ext cx="82702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/>
              <a:t>然后单位化，得到正交单位向量组</a:t>
            </a:r>
            <a:r>
              <a:rPr lang="en-US" altLang="zh-CN" sz="2400" dirty="0"/>
              <a:t>                             </a:t>
            </a:r>
            <a:r>
              <a:rPr lang="zh-CN" altLang="en-US" sz="2400" dirty="0"/>
              <a:t>；</a:t>
            </a:r>
          </a:p>
        </p:txBody>
      </p:sp>
      <p:sp>
        <p:nvSpPr>
          <p:cNvPr id="22640" name="Rectangle 8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641" name="对象 226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667428"/>
              </p:ext>
            </p:extLst>
          </p:nvPr>
        </p:nvGraphicFramePr>
        <p:xfrm>
          <a:off x="5753526" y="4045951"/>
          <a:ext cx="3138954" cy="424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2" r:id="rId22" imgW="1765300" imgH="241300" progId="Equation.DSMT4">
                  <p:embed/>
                </p:oleObj>
              </mc:Choice>
              <mc:Fallback>
                <p:oleObj r:id="rId22" imgW="1765300" imgH="241300" progId="Equation.DSMT4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526" y="4045951"/>
                        <a:ext cx="3138954" cy="4241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42" name="矩形 22641"/>
          <p:cNvSpPr/>
          <p:nvPr/>
        </p:nvSpPr>
        <p:spPr>
          <a:xfrm>
            <a:off x="395536" y="4465733"/>
            <a:ext cx="8164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ea"/>
              </a:rPr>
              <a:t>(4) </a:t>
            </a:r>
            <a:r>
              <a:rPr lang="zh-CN" altLang="zh-CN" sz="2400" dirty="0">
                <a:latin typeface="+mn-ea"/>
              </a:rPr>
              <a:t>记</a:t>
            </a:r>
            <a:r>
              <a:rPr lang="en-US" altLang="zh-CN" sz="2400" dirty="0">
                <a:latin typeface="+mn-ea"/>
              </a:rPr>
              <a:t>                                                                        </a:t>
            </a:r>
            <a:r>
              <a:rPr lang="zh-CN" altLang="en-US" sz="2400" dirty="0">
                <a:latin typeface="+mn-ea"/>
              </a:rPr>
              <a:t>，则</a:t>
            </a:r>
          </a:p>
        </p:txBody>
      </p:sp>
      <p:sp>
        <p:nvSpPr>
          <p:cNvPr id="22643" name="Rectangle 8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644" name="对象 226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490847"/>
              </p:ext>
            </p:extLst>
          </p:nvPr>
        </p:nvGraphicFramePr>
        <p:xfrm>
          <a:off x="1259632" y="4483891"/>
          <a:ext cx="6599384" cy="443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3" r:id="rId24" imgW="3541763" imgH="241195" progId="Equation.DSMT4">
                  <p:embed/>
                </p:oleObj>
              </mc:Choice>
              <mc:Fallback>
                <p:oleObj r:id="rId24" imgW="3541763" imgH="241195" progId="Equation.DSMT4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483891"/>
                        <a:ext cx="6599384" cy="4435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45" name="Rectangle 9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646" name="对象 226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16306"/>
              </p:ext>
            </p:extLst>
          </p:nvPr>
        </p:nvGraphicFramePr>
        <p:xfrm>
          <a:off x="8388424" y="4476402"/>
          <a:ext cx="392758" cy="392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4" r:id="rId26" imgW="165747" imgH="165747" progId="Equation.DSMT4">
                  <p:embed/>
                </p:oleObj>
              </mc:Choice>
              <mc:Fallback>
                <p:oleObj r:id="rId26" imgW="165747" imgH="165747" progId="Equation.DSMT4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424" y="4476402"/>
                        <a:ext cx="392758" cy="3927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47" name="矩形 22646"/>
          <p:cNvSpPr/>
          <p:nvPr/>
        </p:nvSpPr>
        <p:spPr>
          <a:xfrm>
            <a:off x="827584" y="4941168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/>
              <a:t>为正交矩阵，使</a:t>
            </a:r>
            <a:endParaRPr lang="zh-CN" altLang="en-US" sz="2400" dirty="0"/>
          </a:p>
        </p:txBody>
      </p:sp>
      <p:sp>
        <p:nvSpPr>
          <p:cNvPr id="22648" name="Rectangle 9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649" name="对象 226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664768"/>
              </p:ext>
            </p:extLst>
          </p:nvPr>
        </p:nvGraphicFramePr>
        <p:xfrm>
          <a:off x="1919427" y="5373216"/>
          <a:ext cx="1204507" cy="382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5" r:id="rId28" imgW="597678" imgH="190748" progId="Equation.DSMT4">
                  <p:embed/>
                </p:oleObj>
              </mc:Choice>
              <mc:Fallback>
                <p:oleObj r:id="rId28" imgW="597678" imgH="190748" progId="Equation.DSMT4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427" y="5373216"/>
                        <a:ext cx="1204507" cy="3823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50" name="Rectangle 10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651" name="对象 226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82742"/>
              </p:ext>
            </p:extLst>
          </p:nvPr>
        </p:nvGraphicFramePr>
        <p:xfrm>
          <a:off x="3431595" y="5013176"/>
          <a:ext cx="5244861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6" r:id="rId30" imgW="2488120" imgH="406224" progId="Equation.DSMT4">
                  <p:embed/>
                </p:oleObj>
              </mc:Choice>
              <mc:Fallback>
                <p:oleObj r:id="rId30" imgW="2488120" imgH="406224" progId="Equation.DSMT4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595" y="5013176"/>
                        <a:ext cx="5244861" cy="8640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52" name="矩形 22651"/>
          <p:cNvSpPr/>
          <p:nvPr/>
        </p:nvSpPr>
        <p:spPr>
          <a:xfrm>
            <a:off x="3043888" y="5373216"/>
            <a:ext cx="5317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ym typeface="Symbol"/>
              </a:rPr>
              <a:t></a:t>
            </a:r>
            <a:endParaRPr lang="zh-CN" altLang="en-US" sz="2400" dirty="0"/>
          </a:p>
        </p:txBody>
      </p:sp>
      <p:sp>
        <p:nvSpPr>
          <p:cNvPr id="22653" name="Rectangle 103"/>
          <p:cNvSpPr>
            <a:spLocks noChangeArrowheads="1"/>
          </p:cNvSpPr>
          <p:nvPr/>
        </p:nvSpPr>
        <p:spPr bwMode="auto">
          <a:xfrm>
            <a:off x="179512" y="5725705"/>
            <a:ext cx="79704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黑体" pitchFamily="49" charset="-122"/>
              </a:rPr>
              <a:t>注意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  矩阵</a:t>
            </a:r>
            <a:r>
              <a:rPr kumimoji="0" lang="zh-CN" altLang="en-US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  <a:sym typeface="Symbol" pitchFamily="18" charset="2"/>
              </a:rPr>
              <a:t>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</a:rPr>
              <a:t>的主对角线元素     </a:t>
            </a:r>
            <a:r>
              <a:rPr lang="zh-CN" altLang="en-US" sz="2400" dirty="0">
                <a:latin typeface="+mn-ea"/>
                <a:cs typeface="Times New Roman" pitchFamily="18" charset="0"/>
              </a:rPr>
              <a:t>的重数为                      ，</a:t>
            </a:r>
            <a:endParaRPr lang="en-US" altLang="zh-CN" sz="2400" dirty="0">
              <a:latin typeface="+mn-ea"/>
              <a:cs typeface="Times New Roman" pitchFamily="18" charset="0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+mn-ea"/>
                <a:cs typeface="Times New Roman" pitchFamily="18" charset="0"/>
              </a:rPr>
              <a:t>         且排列</a:t>
            </a:r>
            <a:r>
              <a:rPr kumimoji="0" lang="zh-CN" altLang="en-US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itchFamily="18" charset="0"/>
                <a:sym typeface="Symbol" pitchFamily="18" charset="2"/>
              </a:rPr>
              <a:t>顺序相对应。 </a:t>
            </a:r>
          </a:p>
        </p:txBody>
      </p:sp>
      <p:graphicFrame>
        <p:nvGraphicFramePr>
          <p:cNvPr id="22654" name="对象 226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374134"/>
              </p:ext>
            </p:extLst>
          </p:nvPr>
        </p:nvGraphicFramePr>
        <p:xfrm>
          <a:off x="4087022" y="5877272"/>
          <a:ext cx="412971" cy="619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7" r:id="rId32" imgW="152931" imgH="229397" progId="Equation.DSMT4">
                  <p:embed/>
                </p:oleObj>
              </mc:Choice>
              <mc:Fallback>
                <p:oleObj r:id="rId32" imgW="152931" imgH="229397" progId="Equation.DSMT4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7022" y="5877272"/>
                        <a:ext cx="412971" cy="6194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55" name="Rectangle 104"/>
          <p:cNvSpPr>
            <a:spLocks noChangeArrowheads="1"/>
          </p:cNvSpPr>
          <p:nvPr/>
        </p:nvSpPr>
        <p:spPr bwMode="auto">
          <a:xfrm>
            <a:off x="0" y="737484"/>
            <a:ext cx="774035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rPr>
              <a:t> 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22656" name="Rectangle 10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2657" name="对象 226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462007"/>
              </p:ext>
            </p:extLst>
          </p:nvPr>
        </p:nvGraphicFramePr>
        <p:xfrm>
          <a:off x="5724129" y="5949280"/>
          <a:ext cx="1991836" cy="464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8" r:id="rId33" imgW="979175" imgH="228898" progId="Equation.DSMT4">
                  <p:embed/>
                </p:oleObj>
              </mc:Choice>
              <mc:Fallback>
                <p:oleObj r:id="rId33" imgW="979175" imgH="228898" progId="Equation.DSMT4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9" y="5949280"/>
                        <a:ext cx="1991836" cy="4641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直角三角形 4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直角三角形 4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02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2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2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2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2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2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2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2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2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2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2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2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2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2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2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2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2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2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2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2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2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2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2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08" grpId="0"/>
      <p:bldP spid="22615" grpId="0"/>
      <p:bldP spid="22616" grpId="0"/>
      <p:bldP spid="22617" grpId="0"/>
      <p:bldP spid="22625" grpId="0"/>
      <p:bldP spid="22626" grpId="0"/>
      <p:bldP spid="22629" grpId="0"/>
      <p:bldP spid="22632" grpId="0"/>
      <p:bldP spid="22635" grpId="0"/>
      <p:bldP spid="22638" grpId="0"/>
      <p:bldP spid="22639" grpId="0"/>
      <p:bldP spid="22642" grpId="0"/>
      <p:bldP spid="22647" grpId="0"/>
      <p:bldP spid="22652" grpId="0"/>
      <p:bldP spid="2265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日期占位符 1">
            <a:extLst>
              <a:ext uri="{FF2B5EF4-FFF2-40B4-BE49-F238E27FC236}">
                <a16:creationId xmlns:a16="http://schemas.microsoft.com/office/drawing/2014/main" id="{6000AF65-1978-4633-A590-E72572EF65C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7435DF0-CED5-4FAA-9017-E6D6ACE74EB1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8436" name="页脚占位符 2">
            <a:extLst>
              <a:ext uri="{FF2B5EF4-FFF2-40B4-BE49-F238E27FC236}">
                <a16:creationId xmlns:a16="http://schemas.microsoft.com/office/drawing/2014/main" id="{A514E121-E6A6-464F-AEE7-13EFCEA3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18437" name="灯片编号占位符 3">
            <a:extLst>
              <a:ext uri="{FF2B5EF4-FFF2-40B4-BE49-F238E27FC236}">
                <a16:creationId xmlns:a16="http://schemas.microsoft.com/office/drawing/2014/main" id="{64E013F0-BE6D-4414-AA7D-E2E896F69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3C01D79-C01A-4733-B435-B766DEE51BA5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40966" name="Text Box 6">
            <a:extLst>
              <a:ext uri="{FF2B5EF4-FFF2-40B4-BE49-F238E27FC236}">
                <a16:creationId xmlns:a16="http://schemas.microsoft.com/office/drawing/2014/main" id="{374A638E-4B86-4638-9806-ADA85C1AD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52600"/>
            <a:ext cx="80994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</a:rPr>
              <a:t>注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(1):</a:t>
            </a:r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若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的全部线性无关特征向量个数小于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n</a:t>
            </a:r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个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,</a:t>
            </a:r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则</a:t>
            </a:r>
          </a:p>
          <a:p>
            <a:pPr eaLnBrk="1" hangingPunct="1"/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不能对角化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,</a:t>
            </a:r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此时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只能化为若当标准形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.</a:t>
            </a:r>
            <a:endParaRPr lang="en-US" altLang="zh-CN" sz="2800" b="1">
              <a:solidFill>
                <a:srgbClr val="0000FF"/>
              </a:solidFill>
            </a:endParaRPr>
          </a:p>
        </p:txBody>
      </p:sp>
      <p:graphicFrame>
        <p:nvGraphicFramePr>
          <p:cNvPr id="40967" name="Object 7">
            <a:extLst>
              <a:ext uri="{FF2B5EF4-FFF2-40B4-BE49-F238E27FC236}">
                <a16:creationId xmlns:a16="http://schemas.microsoft.com/office/drawing/2014/main" id="{A0DD8F8C-AA27-4911-A991-5058026DF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048000"/>
          <a:ext cx="830580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Equation" r:id="rId3" imgW="3377880" imgH="457200" progId="Equation.DSMT4">
                  <p:embed/>
                </p:oleObj>
              </mc:Choice>
              <mc:Fallback>
                <p:oleObj name="Equation" r:id="rId3" imgW="3377880" imgH="457200" progId="Equation.DSMT4">
                  <p:embed/>
                  <p:pic>
                    <p:nvPicPr>
                      <p:cNvPr id="40967" name="Object 7">
                        <a:extLst>
                          <a:ext uri="{FF2B5EF4-FFF2-40B4-BE49-F238E27FC236}">
                            <a16:creationId xmlns:a16="http://schemas.microsoft.com/office/drawing/2014/main" id="{A0DD8F8C-AA27-4911-A991-5058026DFF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0"/>
                        <a:ext cx="8305800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44624"/>
            <a:ext cx="8424936" cy="62068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latin typeface="+mn-ea"/>
                <a:ea typeface="+mn-ea"/>
              </a:rPr>
              <a:t>三、</a:t>
            </a:r>
            <a:r>
              <a:rPr lang="zh-CN" altLang="zh-CN" sz="3600" dirty="0">
                <a:latin typeface="+mn-ea"/>
                <a:ea typeface="+mn-ea"/>
              </a:rPr>
              <a:t>数字特征相同的一类矩阵</a:t>
            </a:r>
            <a:r>
              <a:rPr lang="en-US" altLang="zh-CN" sz="3600" dirty="0">
                <a:latin typeface="+mn-ea"/>
                <a:ea typeface="+mn-ea"/>
              </a:rPr>
              <a:t>——</a:t>
            </a:r>
            <a:r>
              <a:rPr lang="zh-CN" altLang="en-US" sz="3600" dirty="0">
                <a:latin typeface="+mn-ea"/>
                <a:ea typeface="+mn-ea"/>
              </a:rPr>
              <a:t>相似矩阵</a:t>
            </a:r>
          </a:p>
        </p:txBody>
      </p:sp>
      <p:pic>
        <p:nvPicPr>
          <p:cNvPr id="22618" name="Picture 9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55650" y="1108051"/>
            <a:ext cx="1447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例</a:t>
            </a:r>
            <a:r>
              <a:rPr kumimoji="1" lang="en-US" altLang="zh-CN" sz="2400" b="1" dirty="0">
                <a:latin typeface="+mn-ea"/>
              </a:rPr>
              <a:t>4</a:t>
            </a:r>
            <a:r>
              <a:rPr kumimoji="1" lang="zh-CN" altLang="en-US" sz="2400" b="1" dirty="0">
                <a:solidFill>
                  <a:srgbClr val="0000FF"/>
                </a:solidFill>
                <a:latin typeface="+mn-ea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zh-CN" altLang="en-US" sz="2400" dirty="0">
                <a:solidFill>
                  <a:srgbClr val="000000"/>
                </a:solidFill>
                <a:latin typeface="+mn-ea"/>
              </a:rPr>
              <a:t>设</a:t>
            </a:r>
            <a:r>
              <a:rPr kumimoji="1" lang="zh-CN" altLang="en-US" sz="2400" dirty="0">
                <a:solidFill>
                  <a:srgbClr val="333399"/>
                </a:solidFill>
                <a:latin typeface="+mn-ea"/>
              </a:rPr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211638" y="1114401"/>
            <a:ext cx="46624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dirty="0">
                <a:solidFill>
                  <a:srgbClr val="000000"/>
                </a:solidFill>
                <a:latin typeface="+mn-ea"/>
              </a:rPr>
              <a:t>已知</a:t>
            </a:r>
            <a:r>
              <a:rPr kumimoji="1" lang="en-US" altLang="zh-CN" sz="2400" dirty="0">
                <a:solidFill>
                  <a:srgbClr val="000000"/>
                </a:solidFill>
                <a:latin typeface="+mn-ea"/>
              </a:rPr>
              <a:t>A</a:t>
            </a:r>
            <a:r>
              <a:rPr kumimoji="1" lang="zh-CN" altLang="en-US" sz="2400" dirty="0">
                <a:solidFill>
                  <a:srgbClr val="000000"/>
                </a:solidFill>
                <a:latin typeface="+mn-ea"/>
              </a:rPr>
              <a:t>可对角化即有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468313" y="3501008"/>
            <a:ext cx="792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b="1" dirty="0">
                <a:latin typeface="宋体" pitchFamily="2" charset="-122"/>
              </a:rPr>
              <a:t>解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439870"/>
              </p:ext>
            </p:extLst>
          </p:nvPr>
        </p:nvGraphicFramePr>
        <p:xfrm>
          <a:off x="1908175" y="620688"/>
          <a:ext cx="2222500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6" name="Equation" r:id="rId4" imgW="2324100" imgH="1574800" progId="Equation.DSMT4">
                  <p:embed/>
                </p:oleObj>
              </mc:Choice>
              <mc:Fallback>
                <p:oleObj name="Equation" r:id="rId4" imgW="2324100" imgH="157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620688"/>
                        <a:ext cx="2222500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07268"/>
              </p:ext>
            </p:extLst>
          </p:nvPr>
        </p:nvGraphicFramePr>
        <p:xfrm>
          <a:off x="320676" y="2043895"/>
          <a:ext cx="8823325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7" name="Equation" r:id="rId6" imgW="9220200" imgH="1574800" progId="Equation.DSMT4">
                  <p:embed/>
                </p:oleObj>
              </mc:Choice>
              <mc:Fallback>
                <p:oleObj name="Equation" r:id="rId6" imgW="9220200" imgH="157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6" y="2043895"/>
                        <a:ext cx="8823325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419818"/>
              </p:ext>
            </p:extLst>
          </p:nvPr>
        </p:nvGraphicFramePr>
        <p:xfrm>
          <a:off x="1136650" y="3543870"/>
          <a:ext cx="50196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8" name="Equation" r:id="rId8" imgW="5245100" imgH="419100" progId="Equation.DSMT4">
                  <p:embed/>
                </p:oleObj>
              </mc:Choice>
              <mc:Fallback>
                <p:oleObj name="Equation" r:id="rId8" imgW="52451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3543870"/>
                        <a:ext cx="50196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786908"/>
              </p:ext>
            </p:extLst>
          </p:nvPr>
        </p:nvGraphicFramePr>
        <p:xfrm>
          <a:off x="885606" y="4090270"/>
          <a:ext cx="6188075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9" name="Equation" r:id="rId10" imgW="2425700" imgH="241300" progId="Equation.DSMT4">
                  <p:embed/>
                </p:oleObj>
              </mc:Choice>
              <mc:Fallback>
                <p:oleObj name="Equation" r:id="rId10" imgW="24257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606" y="4090270"/>
                        <a:ext cx="6188075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536241"/>
              </p:ext>
            </p:extLst>
          </p:nvPr>
        </p:nvGraphicFramePr>
        <p:xfrm>
          <a:off x="1657245" y="4651890"/>
          <a:ext cx="20891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0" name="Equation" r:id="rId12" imgW="838200" imgH="241300" progId="Equation.DSMT4">
                  <p:embed/>
                </p:oleObj>
              </mc:Choice>
              <mc:Fallback>
                <p:oleObj name="Equation" r:id="rId12" imgW="8382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245" y="4651890"/>
                        <a:ext cx="20891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527802"/>
              </p:ext>
            </p:extLst>
          </p:nvPr>
        </p:nvGraphicFramePr>
        <p:xfrm>
          <a:off x="118282" y="5101683"/>
          <a:ext cx="1620837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1" name="Equation" r:id="rId14" imgW="939392" imgH="660113" progId="Equation.3">
                  <p:embed/>
                </p:oleObj>
              </mc:Choice>
              <mc:Fallback>
                <p:oleObj name="Equation" r:id="rId14" imgW="939392" imgH="6601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82" y="5101683"/>
                        <a:ext cx="1620837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664653"/>
              </p:ext>
            </p:extLst>
          </p:nvPr>
        </p:nvGraphicFramePr>
        <p:xfrm>
          <a:off x="1697726" y="5246930"/>
          <a:ext cx="200818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2" name="Equation" r:id="rId16" imgW="1536700" imgH="736600" progId="Equation.3">
                  <p:embed/>
                </p:oleObj>
              </mc:Choice>
              <mc:Fallback>
                <p:oleObj name="Equation" r:id="rId16" imgW="15367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726" y="5246930"/>
                        <a:ext cx="2008188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044034"/>
              </p:ext>
            </p:extLst>
          </p:nvPr>
        </p:nvGraphicFramePr>
        <p:xfrm>
          <a:off x="3697395" y="5140105"/>
          <a:ext cx="1700212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3" name="Equation" r:id="rId18" imgW="1130300" imgH="698500" progId="Equation.3">
                  <p:embed/>
                </p:oleObj>
              </mc:Choice>
              <mc:Fallback>
                <p:oleObj name="Equation" r:id="rId18" imgW="11303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395" y="5140105"/>
                        <a:ext cx="1700212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680628"/>
              </p:ext>
            </p:extLst>
          </p:nvPr>
        </p:nvGraphicFramePr>
        <p:xfrm>
          <a:off x="5384705" y="4941168"/>
          <a:ext cx="3709988" cy="137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34" name="Equation" r:id="rId20" imgW="1993900" imgH="736600" progId="Equation.3">
                  <p:embed/>
                </p:oleObj>
              </mc:Choice>
              <mc:Fallback>
                <p:oleObj name="Equation" r:id="rId20" imgW="19939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705" y="4941168"/>
                        <a:ext cx="3709988" cy="1370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直角三角形 1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直角三角形 1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836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144016"/>
            <a:ext cx="8424936" cy="620688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600" dirty="0">
                <a:latin typeface="+mn-ea"/>
                <a:ea typeface="+mn-ea"/>
              </a:rPr>
              <a:t>三、</a:t>
            </a:r>
            <a:r>
              <a:rPr lang="zh-CN" altLang="zh-CN" sz="3600" dirty="0">
                <a:latin typeface="+mn-ea"/>
                <a:ea typeface="+mn-ea"/>
              </a:rPr>
              <a:t>数字特征相同的一类矩阵</a:t>
            </a:r>
            <a:r>
              <a:rPr lang="en-US" altLang="zh-CN" sz="3600" dirty="0">
                <a:latin typeface="+mn-ea"/>
                <a:ea typeface="+mn-ea"/>
              </a:rPr>
              <a:t>——</a:t>
            </a:r>
            <a:r>
              <a:rPr lang="zh-CN" altLang="en-US" sz="3600" dirty="0">
                <a:latin typeface="+mn-ea"/>
                <a:ea typeface="+mn-ea"/>
              </a:rPr>
              <a:t>相似矩阵</a:t>
            </a:r>
          </a:p>
        </p:txBody>
      </p:sp>
      <p:pic>
        <p:nvPicPr>
          <p:cNvPr id="22618" name="Picture 9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74743" y="908720"/>
            <a:ext cx="8064500" cy="295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itchFamily="18" charset="0"/>
              </a:rPr>
              <a:t>        </a:t>
            </a:r>
            <a:r>
              <a:rPr kumimoji="1" lang="zh-CN" altLang="en-US" sz="2400" b="1" dirty="0">
                <a:latin typeface="+mn-ea"/>
                <a:ea typeface="+mn-ea"/>
              </a:rPr>
              <a:t>推论</a:t>
            </a:r>
            <a:r>
              <a:rPr kumimoji="1" lang="en-US" altLang="zh-CN" sz="2400" b="1" dirty="0">
                <a:latin typeface="+mn-ea"/>
                <a:ea typeface="+mn-ea"/>
              </a:rPr>
              <a:t>2.25.2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400" dirty="0">
                <a:latin typeface="+mn-ea"/>
                <a:ea typeface="+mn-ea"/>
              </a:rPr>
              <a:t>（</a:t>
            </a:r>
            <a:r>
              <a:rPr kumimoji="1" lang="en-US" altLang="zh-CN" sz="2400" dirty="0">
                <a:latin typeface="+mn-ea"/>
                <a:ea typeface="+mn-ea"/>
              </a:rPr>
              <a:t>1</a:t>
            </a:r>
            <a:r>
              <a:rPr kumimoji="1" lang="zh-CN" altLang="en-US" sz="2400" dirty="0">
                <a:latin typeface="+mn-ea"/>
                <a:ea typeface="+mn-ea"/>
              </a:rPr>
              <a:t>）</a:t>
            </a:r>
            <a:r>
              <a:rPr kumimoji="1"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若</a:t>
            </a:r>
            <a:r>
              <a:rPr kumimoji="1" lang="en-US" altLang="zh-CN" sz="2400" i="1" dirty="0">
                <a:solidFill>
                  <a:srgbClr val="000000"/>
                </a:solidFill>
                <a:latin typeface="+mn-ea"/>
                <a:ea typeface="+mn-ea"/>
              </a:rPr>
              <a:t>A</a:t>
            </a:r>
            <a:r>
              <a:rPr kumimoji="1"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有</a:t>
            </a:r>
            <a:r>
              <a:rPr kumimoji="1" lang="en-US" altLang="zh-CN" sz="2400" i="1" dirty="0">
                <a:solidFill>
                  <a:srgbClr val="FF0066"/>
                </a:solidFill>
                <a:latin typeface="+mn-ea"/>
                <a:ea typeface="+mn-ea"/>
              </a:rPr>
              <a:t>n </a:t>
            </a:r>
            <a:r>
              <a:rPr kumimoji="1" lang="zh-CN" altLang="en-US" sz="2400" dirty="0">
                <a:solidFill>
                  <a:srgbClr val="FF0066"/>
                </a:solidFill>
                <a:latin typeface="+mn-ea"/>
                <a:ea typeface="+mn-ea"/>
              </a:rPr>
              <a:t>个互异</a:t>
            </a:r>
            <a:r>
              <a:rPr kumimoji="1"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的特征值，则 </a:t>
            </a:r>
            <a:r>
              <a:rPr kumimoji="1" lang="en-US" altLang="zh-CN" sz="2400" i="1" dirty="0">
                <a:solidFill>
                  <a:srgbClr val="000000"/>
                </a:solidFill>
                <a:latin typeface="+mn-ea"/>
                <a:ea typeface="+mn-ea"/>
              </a:rPr>
              <a:t>A</a:t>
            </a:r>
            <a:r>
              <a:rPr kumimoji="1"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与对角阵相 似。</a:t>
            </a:r>
            <a:endParaRPr kumimoji="1" lang="en-US" altLang="zh-CN" sz="24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2400" dirty="0">
                <a:latin typeface="+mn-ea"/>
                <a:ea typeface="+mn-ea"/>
              </a:rPr>
              <a:t>（</a:t>
            </a:r>
            <a:r>
              <a:rPr kumimoji="1" lang="en-US" altLang="zh-CN" sz="2400" dirty="0">
                <a:latin typeface="+mn-ea"/>
                <a:ea typeface="+mn-ea"/>
              </a:rPr>
              <a:t>2</a:t>
            </a:r>
            <a:r>
              <a:rPr kumimoji="1" lang="zh-CN" altLang="en-US" sz="2400" dirty="0">
                <a:latin typeface="+mn-ea"/>
                <a:ea typeface="+mn-ea"/>
              </a:rPr>
              <a:t>）如果</a:t>
            </a:r>
            <a:r>
              <a:rPr kumimoji="1" lang="zh-CN" altLang="en-US" sz="2400" dirty="0">
                <a:solidFill>
                  <a:srgbClr val="FF0066"/>
                </a:solidFill>
                <a:latin typeface="+mn-ea"/>
                <a:ea typeface="+mn-ea"/>
              </a:rPr>
              <a:t> </a:t>
            </a:r>
            <a:r>
              <a:rPr kumimoji="1" lang="en-US" altLang="zh-CN" sz="2400" b="1" i="1" dirty="0">
                <a:solidFill>
                  <a:srgbClr val="FF0066"/>
                </a:solidFill>
                <a:latin typeface="+mn-ea"/>
                <a:ea typeface="+mn-ea"/>
              </a:rPr>
              <a:t>k </a:t>
            </a:r>
            <a:r>
              <a:rPr kumimoji="1" lang="zh-CN" altLang="en-US" sz="2400" b="1" dirty="0">
                <a:solidFill>
                  <a:srgbClr val="FF0066"/>
                </a:solidFill>
                <a:latin typeface="+mn-ea"/>
                <a:ea typeface="+mn-ea"/>
              </a:rPr>
              <a:t>重特征值</a:t>
            </a:r>
            <a:r>
              <a:rPr kumimoji="1" lang="zh-CN" altLang="en-US" sz="2400" dirty="0">
                <a:latin typeface="+mn-ea"/>
                <a:ea typeface="+mn-ea"/>
              </a:rPr>
              <a:t>正好对应 </a:t>
            </a:r>
            <a:r>
              <a:rPr kumimoji="1" lang="en-US" altLang="zh-CN" sz="2400" b="1" i="1" dirty="0">
                <a:solidFill>
                  <a:srgbClr val="FF0066"/>
                </a:solidFill>
                <a:latin typeface="+mn-ea"/>
                <a:ea typeface="+mn-ea"/>
              </a:rPr>
              <a:t>k </a:t>
            </a:r>
            <a:r>
              <a:rPr kumimoji="1" lang="zh-CN" altLang="en-US" sz="2400" b="1" dirty="0">
                <a:solidFill>
                  <a:srgbClr val="FF0066"/>
                </a:solidFill>
                <a:latin typeface="+mn-ea"/>
                <a:ea typeface="+mn-ea"/>
              </a:rPr>
              <a:t>个线性无关</a:t>
            </a:r>
            <a:r>
              <a:rPr kumimoji="1" lang="zh-CN" altLang="en-US" sz="2400" dirty="0">
                <a:latin typeface="+mn-ea"/>
                <a:ea typeface="+mn-ea"/>
              </a:rPr>
              <a:t>的特征向量，则可对角化。</a:t>
            </a:r>
          </a:p>
          <a:p>
            <a:pPr eaLnBrk="1" hangingPunct="1">
              <a:lnSpc>
                <a:spcPct val="150000"/>
              </a:lnSpc>
            </a:pPr>
            <a:endParaRPr kumimoji="1"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5220072" y="2924944"/>
            <a:ext cx="1800225" cy="647700"/>
          </a:xfrm>
          <a:prstGeom prst="wedgeRectCallout">
            <a:avLst>
              <a:gd name="adj1" fmla="val -76042"/>
              <a:gd name="adj2" fmla="val -73810"/>
            </a:avLst>
          </a:prstGeom>
          <a:solidFill>
            <a:srgbClr val="FFCCCC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kumimoji="1" lang="zh-CN" altLang="en-US" sz="2400" b="1" dirty="0">
                <a:solidFill>
                  <a:srgbClr val="CC0053"/>
                </a:solidFill>
                <a:latin typeface="Times New Roman" pitchFamily="18" charset="0"/>
              </a:rPr>
              <a:t>反之不真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542528" y="4060328"/>
            <a:ext cx="7813054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kumimoji="1" lang="en-US" altLang="zh-CN" sz="2800" b="1" dirty="0">
                <a:solidFill>
                  <a:srgbClr val="800000"/>
                </a:solidFill>
                <a:latin typeface="Times New Roman" pitchFamily="18" charset="0"/>
              </a:rPr>
              <a:t>    </a:t>
            </a:r>
            <a:r>
              <a:rPr kumimoji="1" lang="zh-CN" altLang="zh-CN" sz="2400" dirty="0">
                <a:solidFill>
                  <a:srgbClr val="000000"/>
                </a:solidFill>
                <a:latin typeface="+mn-ea"/>
              </a:rPr>
              <a:t>若</a:t>
            </a:r>
            <a:r>
              <a:rPr kumimoji="1" lang="en-US" altLang="zh-CN" sz="2400" i="1" dirty="0">
                <a:solidFill>
                  <a:srgbClr val="000000"/>
                </a:solidFill>
                <a:latin typeface="+mn-ea"/>
              </a:rPr>
              <a:t>A </a:t>
            </a:r>
            <a:r>
              <a:rPr kumimoji="1" lang="zh-CN" altLang="en-US" sz="2400" dirty="0">
                <a:solidFill>
                  <a:srgbClr val="000000"/>
                </a:solidFill>
                <a:latin typeface="+mn-ea"/>
              </a:rPr>
              <a:t>有重特征值</a:t>
            </a:r>
            <a:r>
              <a:rPr kumimoji="1" lang="en-US" altLang="zh-CN" sz="2400" dirty="0">
                <a:solidFill>
                  <a:srgbClr val="000000"/>
                </a:solidFill>
                <a:latin typeface="+mn-ea"/>
              </a:rPr>
              <a:t>,  </a:t>
            </a:r>
            <a:r>
              <a:rPr kumimoji="1" lang="zh-CN" altLang="en-US" sz="2400" dirty="0">
                <a:solidFill>
                  <a:srgbClr val="000000"/>
                </a:solidFill>
                <a:latin typeface="+mn-ea"/>
              </a:rPr>
              <a:t>不能马上断言</a:t>
            </a:r>
            <a:r>
              <a:rPr kumimoji="1" lang="en-US" altLang="zh-CN" sz="2400" i="1" dirty="0">
                <a:solidFill>
                  <a:srgbClr val="000000"/>
                </a:solidFill>
                <a:latin typeface="+mn-ea"/>
              </a:rPr>
              <a:t>A </a:t>
            </a:r>
            <a:r>
              <a:rPr kumimoji="1" lang="zh-CN" altLang="en-US" sz="2400" dirty="0">
                <a:solidFill>
                  <a:srgbClr val="000000"/>
                </a:solidFill>
                <a:latin typeface="+mn-ea"/>
              </a:rPr>
              <a:t>是否与对角阵相似</a:t>
            </a:r>
            <a:r>
              <a:rPr kumimoji="1" lang="en-US" altLang="zh-CN" sz="2400" dirty="0">
                <a:solidFill>
                  <a:srgbClr val="000000"/>
                </a:solidFill>
                <a:latin typeface="+mn-ea"/>
              </a:rPr>
              <a:t>,  </a:t>
            </a: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869726" y="4709392"/>
            <a:ext cx="5181600" cy="652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kumimoji="1" lang="en-US" altLang="zh-CN" sz="2800" b="1" dirty="0">
                <a:solidFill>
                  <a:srgbClr val="800000"/>
                </a:solidFill>
                <a:latin typeface="Times New Roman" pitchFamily="18" charset="0"/>
              </a:rPr>
              <a:t> </a:t>
            </a:r>
            <a:r>
              <a:rPr kumimoji="1" lang="zh-CN" altLang="en-US" sz="2400" dirty="0">
                <a:solidFill>
                  <a:srgbClr val="000000"/>
                </a:solidFill>
                <a:latin typeface="Times New Roman" pitchFamily="18" charset="0"/>
              </a:rPr>
              <a:t>这时要看重根对应的特征向量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  <a:r>
              <a:rPr kumimoji="1" lang="en-US" altLang="zh-CN" sz="2800" b="1" dirty="0">
                <a:solidFill>
                  <a:srgbClr val="800000"/>
                </a:solidFill>
                <a:latin typeface="Times New Roman" pitchFamily="18" charset="0"/>
              </a:rPr>
              <a:t>       </a:t>
            </a:r>
          </a:p>
        </p:txBody>
      </p:sp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直角三角形 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9321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 autoUpdateAnimBg="0"/>
      <p:bldP spid="7" grpId="0" autoUpdateAnimBg="0"/>
      <p:bldP spid="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日期占位符 1">
            <a:extLst>
              <a:ext uri="{FF2B5EF4-FFF2-40B4-BE49-F238E27FC236}">
                <a16:creationId xmlns:a16="http://schemas.microsoft.com/office/drawing/2014/main" id="{639897FE-13EF-4DE3-9651-45F910574EF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794D3C-EB82-47FF-895E-985E3C9E2D66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7413" name="页脚占位符 2">
            <a:extLst>
              <a:ext uri="{FF2B5EF4-FFF2-40B4-BE49-F238E27FC236}">
                <a16:creationId xmlns:a16="http://schemas.microsoft.com/office/drawing/2014/main" id="{0B41B178-5A86-40BB-BC4D-3CCB8738C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24ppt</a:t>
            </a:r>
          </a:p>
        </p:txBody>
      </p:sp>
      <p:sp>
        <p:nvSpPr>
          <p:cNvPr id="17414" name="灯片编号占位符 3">
            <a:extLst>
              <a:ext uri="{FF2B5EF4-FFF2-40B4-BE49-F238E27FC236}">
                <a16:creationId xmlns:a16="http://schemas.microsoft.com/office/drawing/2014/main" id="{76AFF489-8D12-403D-9646-6C10D059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594059-5892-4759-AD34-B573E4EA7F52}" type="slidenum">
              <a:rPr lang="en-US" altLang="zh-CN"/>
              <a:pPr eaLnBrk="1" hangingPunct="1"/>
              <a:t>25</a:t>
            </a:fld>
            <a:endParaRPr lang="en-US" altLang="zh-CN"/>
          </a:p>
        </p:txBody>
      </p:sp>
      <p:sp>
        <p:nvSpPr>
          <p:cNvPr id="50178" name="WordArt 2">
            <a:extLst>
              <a:ext uri="{FF2B5EF4-FFF2-40B4-BE49-F238E27FC236}">
                <a16:creationId xmlns:a16="http://schemas.microsoft.com/office/drawing/2014/main" id="{B4FF0F94-9C27-4135-9CEF-ACB851DE2181}"/>
              </a:ext>
            </a:extLst>
          </p:cNvPr>
          <p:cNvSpPr>
            <a:spLocks noChangeArrowheads="1" noChangeShapeType="1" noTextEdit="1"/>
          </p:cNvSpPr>
          <p:nvPr/>
        </p:nvSpPr>
        <p:spPr bwMode="blackWhite">
          <a:xfrm>
            <a:off x="395288" y="620713"/>
            <a:ext cx="504825" cy="40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2400" kern="1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hlink">
                    <a:alpha val="87057"/>
                  </a:schemeClr>
                </a:soli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25D48CD3-95F3-4291-B2E8-F34E710D6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620713"/>
            <a:ext cx="720090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试证 </a:t>
            </a:r>
            <a:r>
              <a:rPr lang="en-US" altLang="zh-CN" sz="2400"/>
              <a:t>n </a:t>
            </a:r>
            <a:r>
              <a:rPr lang="zh-CN" altLang="en-US" sz="2400"/>
              <a:t>阶矩阵 </a:t>
            </a:r>
            <a:r>
              <a:rPr lang="en-US" altLang="zh-CN" sz="2400"/>
              <a:t>A </a:t>
            </a:r>
            <a:r>
              <a:rPr lang="zh-CN" altLang="en-US" sz="2400"/>
              <a:t>是奇异矩阵的充要条件是 </a:t>
            </a:r>
            <a:r>
              <a:rPr lang="en-US" altLang="zh-CN" sz="2400"/>
              <a:t>A </a:t>
            </a:r>
            <a:r>
              <a:rPr lang="zh-CN" altLang="en-US" sz="2400"/>
              <a:t>中至少</a:t>
            </a:r>
          </a:p>
          <a:p>
            <a:pPr>
              <a:spcBef>
                <a:spcPct val="50000"/>
              </a:spcBef>
            </a:pPr>
            <a:r>
              <a:rPr lang="zh-CN" altLang="en-US" sz="2400"/>
              <a:t>有一个特征值为</a:t>
            </a:r>
            <a:r>
              <a:rPr lang="en-US" altLang="zh-CN" sz="2400"/>
              <a:t>0</a:t>
            </a:r>
            <a:r>
              <a:rPr lang="zh-CN" altLang="en-US" sz="2400"/>
              <a:t>。</a:t>
            </a:r>
          </a:p>
        </p:txBody>
      </p:sp>
      <p:sp>
        <p:nvSpPr>
          <p:cNvPr id="50180" name="Text Box 4">
            <a:extLst>
              <a:ext uri="{FF2B5EF4-FFF2-40B4-BE49-F238E27FC236}">
                <a16:creationId xmlns:a16="http://schemas.microsoft.com/office/drawing/2014/main" id="{EF906B36-00DC-4FAC-9E65-275016620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44675"/>
            <a:ext cx="1008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FF0000"/>
                </a:solidFill>
              </a:rPr>
              <a:t>证明</a:t>
            </a:r>
          </a:p>
        </p:txBody>
      </p:sp>
      <p:sp>
        <p:nvSpPr>
          <p:cNvPr id="50181" name="Text Box 5">
            <a:extLst>
              <a:ext uri="{FF2B5EF4-FFF2-40B4-BE49-F238E27FC236}">
                <a16:creationId xmlns:a16="http://schemas.microsoft.com/office/drawing/2014/main" id="{3BDB138A-66C1-4A88-9609-6F9BE8B93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060575"/>
            <a:ext cx="1008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因为</a:t>
            </a:r>
          </a:p>
        </p:txBody>
      </p:sp>
      <p:graphicFrame>
        <p:nvGraphicFramePr>
          <p:cNvPr id="50182" name="Object 6">
            <a:extLst>
              <a:ext uri="{FF2B5EF4-FFF2-40B4-BE49-F238E27FC236}">
                <a16:creationId xmlns:a16="http://schemas.microsoft.com/office/drawing/2014/main" id="{4DD9CFE8-7398-4B56-A9AB-0AAA7E481B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989138"/>
          <a:ext cx="4751388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" name="Equation" r:id="rId3" imgW="1815840" imgH="253800" progId="Equation.DSMT4">
                  <p:embed/>
                </p:oleObj>
              </mc:Choice>
              <mc:Fallback>
                <p:oleObj name="Equation" r:id="rId3" imgW="1815840" imgH="253800" progId="Equation.DSMT4">
                  <p:embed/>
                  <p:pic>
                    <p:nvPicPr>
                      <p:cNvPr id="50182" name="Object 6">
                        <a:extLst>
                          <a:ext uri="{FF2B5EF4-FFF2-40B4-BE49-F238E27FC236}">
                            <a16:creationId xmlns:a16="http://schemas.microsoft.com/office/drawing/2014/main" id="{4DD9CFE8-7398-4B56-A9AB-0AAA7E481B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989138"/>
                        <a:ext cx="4751388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Text Box 7">
            <a:extLst>
              <a:ext uri="{FF2B5EF4-FFF2-40B4-BE49-F238E27FC236}">
                <a16:creationId xmlns:a16="http://schemas.microsoft.com/office/drawing/2014/main" id="{18148E7E-7FBE-4AAC-A5A5-826303983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513" y="2060575"/>
            <a:ext cx="237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为</a:t>
            </a:r>
            <a:r>
              <a:rPr lang="en-US" altLang="zh-CN" sz="2400"/>
              <a:t>A</a:t>
            </a:r>
            <a:r>
              <a:rPr lang="zh-CN" altLang="en-US" sz="2400"/>
              <a:t>的特征值）</a:t>
            </a:r>
          </a:p>
        </p:txBody>
      </p:sp>
      <p:sp>
        <p:nvSpPr>
          <p:cNvPr id="50184" name="Text Box 8">
            <a:extLst>
              <a:ext uri="{FF2B5EF4-FFF2-40B4-BE49-F238E27FC236}">
                <a16:creationId xmlns:a16="http://schemas.microsoft.com/office/drawing/2014/main" id="{1FDF49DC-9323-49D4-97DB-81638D8D6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852738"/>
            <a:ext cx="865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所以</a:t>
            </a:r>
          </a:p>
        </p:txBody>
      </p:sp>
      <p:graphicFrame>
        <p:nvGraphicFramePr>
          <p:cNvPr id="50185" name="Object 9">
            <a:extLst>
              <a:ext uri="{FF2B5EF4-FFF2-40B4-BE49-F238E27FC236}">
                <a16:creationId xmlns:a16="http://schemas.microsoft.com/office/drawing/2014/main" id="{3C5EA329-4147-4F0A-A0C6-54B3601253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708275"/>
          <a:ext cx="11874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5" name="Equation" r:id="rId5" imgW="419040" imgH="253800" progId="Equation.DSMT4">
                  <p:embed/>
                </p:oleObj>
              </mc:Choice>
              <mc:Fallback>
                <p:oleObj name="Equation" r:id="rId5" imgW="419040" imgH="253800" progId="Equation.DSMT4">
                  <p:embed/>
                  <p:pic>
                    <p:nvPicPr>
                      <p:cNvPr id="50185" name="Object 9">
                        <a:extLst>
                          <a:ext uri="{FF2B5EF4-FFF2-40B4-BE49-F238E27FC236}">
                            <a16:creationId xmlns:a16="http://schemas.microsoft.com/office/drawing/2014/main" id="{3C5EA329-4147-4F0A-A0C6-54B3601253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708275"/>
                        <a:ext cx="118745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6" name="Text Box 10">
            <a:extLst>
              <a:ext uri="{FF2B5EF4-FFF2-40B4-BE49-F238E27FC236}">
                <a16:creationId xmlns:a16="http://schemas.microsoft.com/office/drawing/2014/main" id="{A0CB338B-9000-458F-8AEE-E6E14977C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852738"/>
            <a:ext cx="5256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的充分必要条件是至少有一个特征值</a:t>
            </a:r>
          </a:p>
        </p:txBody>
      </p:sp>
      <p:sp>
        <p:nvSpPr>
          <p:cNvPr id="50187" name="Text Box 11">
            <a:extLst>
              <a:ext uri="{FF2B5EF4-FFF2-40B4-BE49-F238E27FC236}">
                <a16:creationId xmlns:a16="http://schemas.microsoft.com/office/drawing/2014/main" id="{C247BA5F-8340-4CE8-A0E1-75EDBB471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644900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为零。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/>
      <p:bldP spid="50180" grpId="0"/>
      <p:bldP spid="50181" grpId="0"/>
      <p:bldP spid="50183" grpId="0"/>
      <p:bldP spid="50184" grpId="0"/>
      <p:bldP spid="50186" grpId="0"/>
      <p:bldP spid="5018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0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887FCA5-7A03-41EA-A9A3-C879638AC016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8201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820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D43487B-A911-4C82-99DD-04581F0549E2}" type="slidenum">
              <a:rPr lang="en-US" altLang="zh-CN"/>
              <a:pPr eaLnBrk="1" hangingPunct="1"/>
              <a:t>26</a:t>
            </a:fld>
            <a:endParaRPr lang="en-US" altLang="zh-CN"/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6172200" y="152400"/>
          <a:ext cx="2427288" cy="152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6" name="Equation" r:id="rId3" imgW="1130040" imgH="711000" progId="Equation.DSMT4">
                  <p:embed/>
                </p:oleObj>
              </mc:Choice>
              <mc:Fallback>
                <p:oleObj name="Equation" r:id="rId3" imgW="113004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52400"/>
                        <a:ext cx="2427288" cy="152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304800" y="76200"/>
            <a:ext cx="6624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ea typeface="黑体" panose="02010609060101010101" pitchFamily="49" charset="-122"/>
              </a:rPr>
              <a:t>1</a:t>
            </a:r>
            <a:r>
              <a:rPr lang="en-US" altLang="zh-CN" sz="2800" b="1">
                <a:ea typeface="楷体_GB2312" pitchFamily="49" charset="-122"/>
              </a:rPr>
              <a:t>  </a:t>
            </a:r>
            <a:r>
              <a:rPr lang="zh-CN" altLang="en-US" sz="2800" b="1">
                <a:ea typeface="楷体_GB2312" pitchFamily="49" charset="-122"/>
              </a:rPr>
              <a:t>用相似变换化下列矩阵为对角形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381000" y="990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00FF"/>
                </a:solidFill>
              </a:rPr>
              <a:t>解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1066800" y="10668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/>
              <a:t>A</a:t>
            </a:r>
            <a:r>
              <a:rPr lang="zh-CN" altLang="en-US" sz="2400" b="1"/>
              <a:t>的特征方程为</a:t>
            </a:r>
          </a:p>
        </p:txBody>
      </p:sp>
      <p:graphicFrame>
        <p:nvGraphicFramePr>
          <p:cNvPr id="10248" name="Object 8"/>
          <p:cNvGraphicFramePr>
            <a:graphicFrameLocks noChangeAspect="1"/>
          </p:cNvGraphicFramePr>
          <p:nvPr/>
        </p:nvGraphicFramePr>
        <p:xfrm>
          <a:off x="457200" y="1524000"/>
          <a:ext cx="4114800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7" r:id="rId5" imgW="1981200" imgH="711200" progId="Equation.DSMT4">
                  <p:embed/>
                </p:oleObj>
              </mc:Choice>
              <mc:Fallback>
                <p:oleObj r:id="rId5" imgW="19812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524000"/>
                        <a:ext cx="4114800" cy="148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9"/>
          <p:cNvGraphicFramePr>
            <a:graphicFrameLocks noChangeAspect="1"/>
          </p:cNvGraphicFramePr>
          <p:nvPr/>
        </p:nvGraphicFramePr>
        <p:xfrm>
          <a:off x="4572000" y="1905000"/>
          <a:ext cx="25146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8" r:id="rId7" imgW="1091726" imgH="228501" progId="Equation.DSMT4">
                  <p:embed/>
                </p:oleObj>
              </mc:Choice>
              <mc:Fallback>
                <p:oleObj r:id="rId7" imgW="1091726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905000"/>
                        <a:ext cx="2514600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457200" y="31242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特征值为</a:t>
            </a:r>
          </a:p>
        </p:txBody>
      </p:sp>
      <p:graphicFrame>
        <p:nvGraphicFramePr>
          <p:cNvPr id="10251" name="Object 11"/>
          <p:cNvGraphicFramePr>
            <a:graphicFrameLocks noChangeAspect="1"/>
          </p:cNvGraphicFramePr>
          <p:nvPr/>
        </p:nvGraphicFramePr>
        <p:xfrm>
          <a:off x="2209800" y="3124200"/>
          <a:ext cx="28956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9" r:id="rId9" imgW="1282700" imgH="228600" progId="Equation.DSMT4">
                  <p:embed/>
                </p:oleObj>
              </mc:Choice>
              <mc:Fallback>
                <p:oleObj r:id="rId9" imgW="1282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124200"/>
                        <a:ext cx="28956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609600" y="36576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对于</a:t>
            </a:r>
          </a:p>
        </p:txBody>
      </p:sp>
      <p:graphicFrame>
        <p:nvGraphicFramePr>
          <p:cNvPr id="10253" name="Object 13"/>
          <p:cNvGraphicFramePr>
            <a:graphicFrameLocks noChangeAspect="1"/>
          </p:cNvGraphicFramePr>
          <p:nvPr/>
        </p:nvGraphicFramePr>
        <p:xfrm>
          <a:off x="1295400" y="3657600"/>
          <a:ext cx="1219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0" r:id="rId11" imgW="520700" imgH="228600" progId="Equation.DSMT4">
                  <p:embed/>
                </p:oleObj>
              </mc:Choice>
              <mc:Fallback>
                <p:oleObj r:id="rId11" imgW="520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657600"/>
                        <a:ext cx="12192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2667000" y="36576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解 </a:t>
            </a:r>
            <a:r>
              <a:rPr lang="en-US" altLang="zh-CN" sz="2400" b="1"/>
              <a:t>(A+2E)x=0,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381000" y="4191000"/>
            <a:ext cx="358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对系数矩阵作初等行变换</a:t>
            </a:r>
          </a:p>
        </p:txBody>
      </p:sp>
      <p:graphicFrame>
        <p:nvGraphicFramePr>
          <p:cNvPr id="10262" name="Object 22"/>
          <p:cNvGraphicFramePr>
            <a:graphicFrameLocks noChangeAspect="1"/>
          </p:cNvGraphicFramePr>
          <p:nvPr/>
        </p:nvGraphicFramePr>
        <p:xfrm>
          <a:off x="609600" y="4724400"/>
          <a:ext cx="8121650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1" name="Equation" r:id="rId13" imgW="3911400" imgH="761760" progId="Equation.DSMT4">
                  <p:embed/>
                </p:oleObj>
              </mc:Choice>
              <mc:Fallback>
                <p:oleObj name="Equation" r:id="rId13" imgW="391140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724400"/>
                        <a:ext cx="8121650" cy="158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991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 fill="hold"/>
                                        <p:tgtEl>
                                          <p:spTgt spid="10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10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autoUpdateAnimBg="0"/>
      <p:bldP spid="10246" grpId="0" build="p" autoUpdateAnimBg="0"/>
      <p:bldP spid="10247" grpId="0" autoUpdateAnimBg="0"/>
      <p:bldP spid="10250" grpId="0" build="p" autoUpdateAnimBg="0"/>
      <p:bldP spid="10252" grpId="0" build="p" autoUpdateAnimBg="0"/>
      <p:bldP spid="10254" grpId="0" build="p" autoUpdateAnimBg="0"/>
      <p:bldP spid="10261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45F766F-E8D7-43DD-A175-3ED6DF9AF875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9224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922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1B694A-22B3-47D2-8AFB-E0605E9984C7}" type="slidenum">
              <a:rPr lang="en-US" altLang="zh-CN"/>
              <a:pPr eaLnBrk="1" hangingPunct="1"/>
              <a:t>27</a:t>
            </a:fld>
            <a:endParaRPr lang="en-US" altLang="zh-CN"/>
          </a:p>
        </p:txBody>
      </p:sp>
      <p:graphicFrame>
        <p:nvGraphicFramePr>
          <p:cNvPr id="38927" name="Object 15"/>
          <p:cNvGraphicFramePr>
            <a:graphicFrameLocks noChangeAspect="1"/>
          </p:cNvGraphicFramePr>
          <p:nvPr/>
        </p:nvGraphicFramePr>
        <p:xfrm>
          <a:off x="609600" y="3352800"/>
          <a:ext cx="22399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3" name="Equation" r:id="rId3" imgW="1041120" imgH="228600" progId="Equation.DSMT4">
                  <p:embed/>
                </p:oleObj>
              </mc:Choice>
              <mc:Fallback>
                <p:oleObj name="Equation" r:id="rId3" imgW="1041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352800"/>
                        <a:ext cx="223996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1" name="Object 19"/>
          <p:cNvGraphicFramePr>
            <a:graphicFrameLocks noChangeAspect="1"/>
          </p:cNvGraphicFramePr>
          <p:nvPr/>
        </p:nvGraphicFramePr>
        <p:xfrm>
          <a:off x="457200" y="228600"/>
          <a:ext cx="4648200" cy="143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4" name="Equation" r:id="rId5" imgW="2323800" imgH="711000" progId="Equation.DSMT4">
                  <p:embed/>
                </p:oleObj>
              </mc:Choice>
              <mc:Fallback>
                <p:oleObj name="Equation" r:id="rId5" imgW="23238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"/>
                        <a:ext cx="4648200" cy="1430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381000" y="1676400"/>
            <a:ext cx="3124200" cy="1430338"/>
            <a:chOff x="240" y="1056"/>
            <a:chExt cx="1968" cy="901"/>
          </a:xfrm>
        </p:grpSpPr>
        <p:sp>
          <p:nvSpPr>
            <p:cNvPr id="9231" name="Rectangle 20"/>
            <p:cNvSpPr>
              <a:spLocks noChangeArrowheads="1"/>
            </p:cNvSpPr>
            <p:nvPr/>
          </p:nvSpPr>
          <p:spPr bwMode="auto">
            <a:xfrm>
              <a:off x="240" y="1248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解方程组</a:t>
              </a:r>
            </a:p>
          </p:txBody>
        </p:sp>
        <p:graphicFrame>
          <p:nvGraphicFramePr>
            <p:cNvPr id="9222" name="Object 21"/>
            <p:cNvGraphicFramePr>
              <a:graphicFrameLocks noChangeAspect="1"/>
            </p:cNvGraphicFramePr>
            <p:nvPr/>
          </p:nvGraphicFramePr>
          <p:xfrm>
            <a:off x="1200" y="1056"/>
            <a:ext cx="1008" cy="9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95" name="Equation" r:id="rId7" imgW="799920" imgH="711000" progId="Equation.DSMT4">
                    <p:embed/>
                  </p:oleObj>
                </mc:Choice>
                <mc:Fallback>
                  <p:oleObj name="Equation" r:id="rId7" imgW="79992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056"/>
                          <a:ext cx="1008" cy="9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3810000" y="2133600"/>
            <a:ext cx="4953000" cy="538163"/>
            <a:chOff x="2400" y="1344"/>
            <a:chExt cx="3120" cy="339"/>
          </a:xfrm>
        </p:grpSpPr>
        <p:graphicFrame>
          <p:nvGraphicFramePr>
            <p:cNvPr id="9221" name="Object 13"/>
            <p:cNvGraphicFramePr>
              <a:graphicFrameLocks noChangeAspect="1"/>
            </p:cNvGraphicFramePr>
            <p:nvPr/>
          </p:nvGraphicFramePr>
          <p:xfrm>
            <a:off x="4320" y="1344"/>
            <a:ext cx="120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96" r:id="rId9" imgW="812447" imgH="228501" progId="Equation.DSMT4">
                    <p:embed/>
                  </p:oleObj>
                </mc:Choice>
                <mc:Fallback>
                  <p:oleObj r:id="rId9" imgW="812447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344"/>
                          <a:ext cx="1200" cy="3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0" name="Rectangle 22"/>
            <p:cNvSpPr>
              <a:spLocks noChangeArrowheads="1"/>
            </p:cNvSpPr>
            <p:nvPr/>
          </p:nvSpPr>
          <p:spPr bwMode="auto">
            <a:xfrm>
              <a:off x="2400" y="1344"/>
              <a:ext cx="18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可求得一个特征向量</a:t>
              </a:r>
            </a:p>
          </p:txBody>
        </p:sp>
      </p:grpSp>
      <p:sp>
        <p:nvSpPr>
          <p:cNvPr id="38935" name="Text Box 23"/>
          <p:cNvSpPr txBox="1">
            <a:spLocks noChangeArrowheads="1"/>
          </p:cNvSpPr>
          <p:nvPr/>
        </p:nvSpPr>
        <p:spPr bwMode="auto">
          <a:xfrm>
            <a:off x="2895600" y="34290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解 </a:t>
            </a:r>
            <a:r>
              <a:rPr lang="en-US" altLang="zh-CN" sz="2400" b="1"/>
              <a:t>(A-E)x=0,</a:t>
            </a:r>
          </a:p>
        </p:txBody>
      </p:sp>
      <p:sp>
        <p:nvSpPr>
          <p:cNvPr id="38936" name="Text Box 24"/>
          <p:cNvSpPr txBox="1">
            <a:spLocks noChangeArrowheads="1"/>
          </p:cNvSpPr>
          <p:nvPr/>
        </p:nvSpPr>
        <p:spPr bwMode="auto">
          <a:xfrm>
            <a:off x="381000" y="4038600"/>
            <a:ext cx="358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对系数矩阵作初等行变换</a:t>
            </a:r>
          </a:p>
        </p:txBody>
      </p:sp>
      <p:graphicFrame>
        <p:nvGraphicFramePr>
          <p:cNvPr id="38937" name="Object 25"/>
          <p:cNvGraphicFramePr>
            <a:graphicFrameLocks noChangeAspect="1"/>
          </p:cNvGraphicFramePr>
          <p:nvPr/>
        </p:nvGraphicFramePr>
        <p:xfrm>
          <a:off x="685800" y="4572000"/>
          <a:ext cx="7648575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7" name="Equation" r:id="rId11" imgW="3682800" imgH="761760" progId="Equation.DSMT4">
                  <p:embed/>
                </p:oleObj>
              </mc:Choice>
              <mc:Fallback>
                <p:oleObj name="Equation" r:id="rId11" imgW="368280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572000"/>
                        <a:ext cx="7648575" cy="158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469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9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8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5" grpId="0" build="p" autoUpdateAnimBg="0"/>
      <p:bldP spid="38936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9451B18-0B47-4967-B059-FB2B4AB40F4D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0248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1024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7A5FB25-4421-4190-A3E1-DB6E84894C8B}" type="slidenum">
              <a:rPr lang="en-US" altLang="zh-CN"/>
              <a:pPr eaLnBrk="1" hangingPunct="1"/>
              <a:t>28</a:t>
            </a:fld>
            <a:endParaRPr lang="en-US" altLang="zh-CN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304800" y="228600"/>
            <a:ext cx="3200400" cy="1368425"/>
            <a:chOff x="192" y="144"/>
            <a:chExt cx="2016" cy="862"/>
          </a:xfrm>
        </p:grpSpPr>
        <p:sp>
          <p:nvSpPr>
            <p:cNvPr id="10253" name="Rectangle 9"/>
            <p:cNvSpPr>
              <a:spLocks noChangeArrowheads="1"/>
            </p:cNvSpPr>
            <p:nvPr/>
          </p:nvSpPr>
          <p:spPr bwMode="auto">
            <a:xfrm>
              <a:off x="192" y="336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解方程组</a:t>
              </a:r>
            </a:p>
          </p:txBody>
        </p:sp>
        <p:graphicFrame>
          <p:nvGraphicFramePr>
            <p:cNvPr id="10246" name="Object 10"/>
            <p:cNvGraphicFramePr>
              <a:graphicFrameLocks noChangeAspect="1"/>
            </p:cNvGraphicFramePr>
            <p:nvPr/>
          </p:nvGraphicFramePr>
          <p:xfrm>
            <a:off x="1152" y="144"/>
            <a:ext cx="1056" cy="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7" name="Equation" r:id="rId3" imgW="876240" imgH="711000" progId="Equation.DSMT4">
                    <p:embed/>
                  </p:oleObj>
                </mc:Choice>
                <mc:Fallback>
                  <p:oleObj name="Equation" r:id="rId3" imgW="87624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44"/>
                          <a:ext cx="1056" cy="8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3886200" y="381000"/>
            <a:ext cx="4473575" cy="1046163"/>
            <a:chOff x="2448" y="240"/>
            <a:chExt cx="2818" cy="659"/>
          </a:xfrm>
        </p:grpSpPr>
        <p:graphicFrame>
          <p:nvGraphicFramePr>
            <p:cNvPr id="10245" name="Object 6"/>
            <p:cNvGraphicFramePr>
              <a:graphicFrameLocks noChangeAspect="1"/>
            </p:cNvGraphicFramePr>
            <p:nvPr/>
          </p:nvGraphicFramePr>
          <p:xfrm>
            <a:off x="2544" y="576"/>
            <a:ext cx="2496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8" r:id="rId5" imgW="1765300" imgH="228600" progId="Equation.DSMT4">
                    <p:embed/>
                  </p:oleObj>
                </mc:Choice>
                <mc:Fallback>
                  <p:oleObj r:id="rId5" imgW="17653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576"/>
                          <a:ext cx="2496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2" name="Rectangle 11"/>
            <p:cNvSpPr>
              <a:spLocks noChangeArrowheads="1"/>
            </p:cNvSpPr>
            <p:nvPr/>
          </p:nvSpPr>
          <p:spPr bwMode="auto">
            <a:xfrm>
              <a:off x="2448" y="240"/>
              <a:ext cx="28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可求得两个线性无关的特征向量</a:t>
              </a:r>
            </a:p>
          </p:txBody>
        </p:sp>
      </p:grpSp>
      <p:graphicFrame>
        <p:nvGraphicFramePr>
          <p:cNvPr id="39951" name="Object 15"/>
          <p:cNvGraphicFramePr>
            <a:graphicFrameLocks noChangeAspect="1"/>
          </p:cNvGraphicFramePr>
          <p:nvPr/>
        </p:nvGraphicFramePr>
        <p:xfrm>
          <a:off x="228600" y="1828800"/>
          <a:ext cx="4648200" cy="14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9" name="Equation" r:id="rId7" imgW="2286000" imgH="711000" progId="Equation.DSMT4">
                  <p:embed/>
                </p:oleObj>
              </mc:Choice>
              <mc:Fallback>
                <p:oleObj name="Equation" r:id="rId7" imgW="22860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828800"/>
                        <a:ext cx="4648200" cy="1449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2" name="Object 16"/>
          <p:cNvGraphicFramePr>
            <a:graphicFrameLocks noChangeAspect="1"/>
          </p:cNvGraphicFramePr>
          <p:nvPr/>
        </p:nvGraphicFramePr>
        <p:xfrm>
          <a:off x="457200" y="3733800"/>
          <a:ext cx="3465513" cy="165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0" name="Equation" r:id="rId9" imgW="1498320" imgH="711000" progId="Equation.DSMT4">
                  <p:embed/>
                </p:oleObj>
              </mc:Choice>
              <mc:Fallback>
                <p:oleObj name="Equation" r:id="rId9" imgW="14983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733800"/>
                        <a:ext cx="3465513" cy="165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3" name="Object 17"/>
          <p:cNvGraphicFramePr>
            <a:graphicFrameLocks noChangeAspect="1"/>
          </p:cNvGraphicFramePr>
          <p:nvPr/>
        </p:nvGraphicFramePr>
        <p:xfrm>
          <a:off x="4648200" y="3810000"/>
          <a:ext cx="3276600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1" r:id="rId11" imgW="1346200" imgH="711200" progId="Equation.DSMT4">
                  <p:embed/>
                </p:oleObj>
              </mc:Choice>
              <mc:Fallback>
                <p:oleObj r:id="rId11" imgW="13462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810000"/>
                        <a:ext cx="3276600" cy="174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134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62500B6-15AF-4A7C-B733-C6494A092B13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7414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1741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8854FB-6FC5-44B5-83A1-43D2F483F0F3}" type="slidenum">
              <a:rPr lang="en-US" altLang="zh-CN"/>
              <a:pPr eaLnBrk="1" hangingPunct="1"/>
              <a:t>29</a:t>
            </a:fld>
            <a:endParaRPr lang="en-US" altLang="zh-CN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579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将一个方阵</a:t>
            </a:r>
            <a:r>
              <a:rPr lang="en-US" altLang="zh-CN" sz="2400" b="1"/>
              <a:t>A</a:t>
            </a:r>
            <a:r>
              <a:rPr lang="zh-CN" altLang="en-US" sz="2400" b="1"/>
              <a:t>对角化</a:t>
            </a:r>
            <a:r>
              <a:rPr lang="en-US" altLang="zh-CN" sz="2400" b="1"/>
              <a:t>,</a:t>
            </a:r>
            <a:r>
              <a:rPr lang="zh-CN" altLang="en-US" sz="2400" b="1"/>
              <a:t>可以按如下步骤进行</a:t>
            </a:r>
            <a:r>
              <a:rPr lang="en-US" altLang="zh-CN" sz="2400" b="1"/>
              <a:t>:</a:t>
            </a:r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381000" y="1066800"/>
          <a:ext cx="80772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7" name="Equation" r:id="rId3" imgW="3568680" imgH="228600" progId="Equation.DSMT4">
                  <p:embed/>
                </p:oleObj>
              </mc:Choice>
              <mc:Fallback>
                <p:oleObj name="Equation" r:id="rId3" imgW="3568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066800"/>
                        <a:ext cx="80772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381000" y="1905000"/>
          <a:ext cx="8458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8" name="Equation" r:id="rId5" imgW="4051080" imgH="431640" progId="Equation.DSMT4">
                  <p:embed/>
                </p:oleObj>
              </mc:Choice>
              <mc:Fallback>
                <p:oleObj name="Equation" r:id="rId5" imgW="4051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905000"/>
                        <a:ext cx="8458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7"/>
          <p:cNvGraphicFramePr>
            <a:graphicFrameLocks noChangeAspect="1"/>
          </p:cNvGraphicFramePr>
          <p:nvPr/>
        </p:nvGraphicFramePr>
        <p:xfrm>
          <a:off x="381000" y="3124200"/>
          <a:ext cx="8229600" cy="291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9" name="Equation" r:id="rId7" imgW="3974760" imgH="1409400" progId="Equation.DSMT4">
                  <p:embed/>
                </p:oleObj>
              </mc:Choice>
              <mc:Fallback>
                <p:oleObj name="Equation" r:id="rId7" imgW="3974760" imgH="140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124200"/>
                        <a:ext cx="8229600" cy="291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61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10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DC43175-4537-438C-B7B7-B7330BA67F34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8436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1843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9E93656-B333-4E13-96AB-AA0FF959F4ED}" type="slidenum">
              <a:rPr lang="en-US" altLang="zh-CN"/>
              <a:pPr eaLnBrk="1" hangingPunct="1"/>
              <a:t>30</a:t>
            </a:fld>
            <a:endParaRPr lang="en-US" altLang="zh-CN"/>
          </a:p>
        </p:txBody>
      </p:sp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304800" y="1752600"/>
            <a:ext cx="80994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</a:rPr>
              <a:t>注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(1):</a:t>
            </a:r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若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的全部线性无关特征向量个数小于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n</a:t>
            </a:r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个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,</a:t>
            </a:r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则</a:t>
            </a:r>
          </a:p>
          <a:p>
            <a:pPr eaLnBrk="1" hangingPunct="1"/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不能对角化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,</a:t>
            </a:r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此时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A</a:t>
            </a:r>
            <a:r>
              <a:rPr lang="zh-CN" altLang="en-US" sz="2800" b="1">
                <a:solidFill>
                  <a:srgbClr val="0000FF"/>
                </a:solidFill>
                <a:sym typeface="Wingdings" panose="05000000000000000000" pitchFamily="2" charset="2"/>
              </a:rPr>
              <a:t>只能化为若当标准形</a:t>
            </a:r>
            <a:r>
              <a:rPr lang="en-US" altLang="zh-CN" sz="2800" b="1">
                <a:solidFill>
                  <a:srgbClr val="0000FF"/>
                </a:solidFill>
                <a:sym typeface="Wingdings" panose="05000000000000000000" pitchFamily="2" charset="2"/>
              </a:rPr>
              <a:t>.</a:t>
            </a:r>
            <a:endParaRPr lang="en-US" altLang="zh-CN" sz="2800" b="1">
              <a:solidFill>
                <a:srgbClr val="0000FF"/>
              </a:solidFill>
            </a:endParaRPr>
          </a:p>
        </p:txBody>
      </p:sp>
      <p:graphicFrame>
        <p:nvGraphicFramePr>
          <p:cNvPr id="40967" name="Object 7"/>
          <p:cNvGraphicFramePr>
            <a:graphicFrameLocks noChangeAspect="1"/>
          </p:cNvGraphicFramePr>
          <p:nvPr/>
        </p:nvGraphicFramePr>
        <p:xfrm>
          <a:off x="533400" y="3048000"/>
          <a:ext cx="830580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7" name="Equation" r:id="rId3" imgW="3377880" imgH="457200" progId="Equation.DSMT4">
                  <p:embed/>
                </p:oleObj>
              </mc:Choice>
              <mc:Fallback>
                <p:oleObj name="Equation" r:id="rId3" imgW="3377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048000"/>
                        <a:ext cx="8305800" cy="112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9281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3" name="日期占位符 1">
            <a:extLst>
              <a:ext uri="{FF2B5EF4-FFF2-40B4-BE49-F238E27FC236}">
                <a16:creationId xmlns:a16="http://schemas.microsoft.com/office/drawing/2014/main" id="{923EE708-F759-41FD-ADF2-45A83650BE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193D2E-7607-4184-AD02-0913BF6F3208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19464" name="页脚占位符 2">
            <a:extLst>
              <a:ext uri="{FF2B5EF4-FFF2-40B4-BE49-F238E27FC236}">
                <a16:creationId xmlns:a16="http://schemas.microsoft.com/office/drawing/2014/main" id="{8BEE261A-1E08-4AD5-8465-6691E6FA3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19465" name="灯片编号占位符 3">
            <a:extLst>
              <a:ext uri="{FF2B5EF4-FFF2-40B4-BE49-F238E27FC236}">
                <a16:creationId xmlns:a16="http://schemas.microsoft.com/office/drawing/2014/main" id="{6A9E5A11-F1BD-4765-A4F9-8208B567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3ACB09-2A13-4846-9840-CF537D49DFB6}" type="slidenum">
              <a:rPr lang="en-US" altLang="zh-CN"/>
              <a:pPr eaLnBrk="1" hangingPunct="1"/>
              <a:t>31</a:t>
            </a:fld>
            <a:endParaRPr lang="en-US" altLang="zh-CN"/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BA11C285-3230-4F24-BFD7-FEB494F60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1000"/>
            <a:ext cx="4914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练习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下列矩阵是否可对角化 </a:t>
            </a:r>
          </a:p>
        </p:txBody>
      </p:sp>
      <p:graphicFrame>
        <p:nvGraphicFramePr>
          <p:cNvPr id="33797" name="Object 5">
            <a:extLst>
              <a:ext uri="{FF2B5EF4-FFF2-40B4-BE49-F238E27FC236}">
                <a16:creationId xmlns:a16="http://schemas.microsoft.com/office/drawing/2014/main" id="{6109BB01-B718-4069-BD60-89D2D19C0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0"/>
          <a:ext cx="2895600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2" name="公式" r:id="rId3" imgW="2234880" imgH="1180800" progId="Equation.3">
                  <p:embed/>
                </p:oleObj>
              </mc:Choice>
              <mc:Fallback>
                <p:oleObj name="公式" r:id="rId3" imgW="2234880" imgH="1180800" progId="Equation.3">
                  <p:embed/>
                  <p:pic>
                    <p:nvPicPr>
                      <p:cNvPr id="33797" name="Object 5">
                        <a:extLst>
                          <a:ext uri="{FF2B5EF4-FFF2-40B4-BE49-F238E27FC236}">
                            <a16:creationId xmlns:a16="http://schemas.microsoft.com/office/drawing/2014/main" id="{6109BB01-B718-4069-BD60-89D2D19C0D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0"/>
                        <a:ext cx="2895600" cy="153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Rectangle 6">
            <a:extLst>
              <a:ext uri="{FF2B5EF4-FFF2-40B4-BE49-F238E27FC236}">
                <a16:creationId xmlns:a16="http://schemas.microsoft.com/office/drawing/2014/main" id="{2E902057-0D65-4AD3-9995-E29BA85C9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95400"/>
            <a:ext cx="2414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    已知矩阵 </a:t>
            </a:r>
          </a:p>
        </p:txBody>
      </p:sp>
      <p:graphicFrame>
        <p:nvGraphicFramePr>
          <p:cNvPr id="33799" name="Object 7">
            <a:extLst>
              <a:ext uri="{FF2B5EF4-FFF2-40B4-BE49-F238E27FC236}">
                <a16:creationId xmlns:a16="http://schemas.microsoft.com/office/drawing/2014/main" id="{968E2D09-C4FE-43D4-9859-9C1EF8571D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1365250"/>
          <a:ext cx="2895600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3" name="公式" r:id="rId5" imgW="2234880" imgH="1180800" progId="Equation.3">
                  <p:embed/>
                </p:oleObj>
              </mc:Choice>
              <mc:Fallback>
                <p:oleObj name="公式" r:id="rId5" imgW="2234880" imgH="1180800" progId="Equation.3">
                  <p:embed/>
                  <p:pic>
                    <p:nvPicPr>
                      <p:cNvPr id="33799" name="Object 7">
                        <a:extLst>
                          <a:ext uri="{FF2B5EF4-FFF2-40B4-BE49-F238E27FC236}">
                            <a16:creationId xmlns:a16="http://schemas.microsoft.com/office/drawing/2014/main" id="{968E2D09-C4FE-43D4-9859-9C1EF8571D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365250"/>
                        <a:ext cx="2895600" cy="1530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0" name="Rectangle 8">
            <a:extLst>
              <a:ext uri="{FF2B5EF4-FFF2-40B4-BE49-F238E27FC236}">
                <a16:creationId xmlns:a16="http://schemas.microsoft.com/office/drawing/2014/main" id="{5387A4B2-FBBC-4943-B70C-135848E7B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71800"/>
            <a:ext cx="8069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有特征值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（二重）和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-2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，对应的特征向量分别为 </a:t>
            </a:r>
          </a:p>
        </p:txBody>
      </p:sp>
      <p:graphicFrame>
        <p:nvGraphicFramePr>
          <p:cNvPr id="33801" name="Object 9">
            <a:extLst>
              <a:ext uri="{FF2B5EF4-FFF2-40B4-BE49-F238E27FC236}">
                <a16:creationId xmlns:a16="http://schemas.microsoft.com/office/drawing/2014/main" id="{A0D8BE69-5707-409C-9EB5-FCFAA010F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6888" y="3733800"/>
          <a:ext cx="309721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4" name="公式" r:id="rId6" imgW="2197080" imgH="406080" progId="Equation.3">
                  <p:embed/>
                </p:oleObj>
              </mc:Choice>
              <mc:Fallback>
                <p:oleObj name="公式" r:id="rId6" imgW="2197080" imgH="406080" progId="Equation.3">
                  <p:embed/>
                  <p:pic>
                    <p:nvPicPr>
                      <p:cNvPr id="33801" name="Object 9">
                        <a:extLst>
                          <a:ext uri="{FF2B5EF4-FFF2-40B4-BE49-F238E27FC236}">
                            <a16:creationId xmlns:a16="http://schemas.microsoft.com/office/drawing/2014/main" id="{A0D8BE69-5707-409C-9EB5-FCFAA010FF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888" y="3733800"/>
                        <a:ext cx="3097212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0">
            <a:extLst>
              <a:ext uri="{FF2B5EF4-FFF2-40B4-BE49-F238E27FC236}">
                <a16:creationId xmlns:a16="http://schemas.microsoft.com/office/drawing/2014/main" id="{C9A55D8E-5814-490B-8811-71F0B775CD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3733800"/>
          <a:ext cx="17081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5" name="公式" r:id="rId8" imgW="1206360" imgH="406080" progId="Equation.3">
                  <p:embed/>
                </p:oleObj>
              </mc:Choice>
              <mc:Fallback>
                <p:oleObj name="公式" r:id="rId8" imgW="1206360" imgH="406080" progId="Equation.3">
                  <p:embed/>
                  <p:pic>
                    <p:nvPicPr>
                      <p:cNvPr id="33802" name="Object 10">
                        <a:extLst>
                          <a:ext uri="{FF2B5EF4-FFF2-40B4-BE49-F238E27FC236}">
                            <a16:creationId xmlns:a16="http://schemas.microsoft.com/office/drawing/2014/main" id="{C9A55D8E-5814-490B-8811-71F0B775CD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733800"/>
                        <a:ext cx="170815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Rectangle 11">
            <a:extLst>
              <a:ext uri="{FF2B5EF4-FFF2-40B4-BE49-F238E27FC236}">
                <a16:creationId xmlns:a16="http://schemas.microsoft.com/office/drawing/2014/main" id="{B933890D-9110-4681-87E3-3196C1C28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495800"/>
            <a:ext cx="598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因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33804" name="Object 12">
            <a:extLst>
              <a:ext uri="{FF2B5EF4-FFF2-40B4-BE49-F238E27FC236}">
                <a16:creationId xmlns:a16="http://schemas.microsoft.com/office/drawing/2014/main" id="{560B5FF1-82C7-4ADA-9629-6444E8A14B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4572000"/>
          <a:ext cx="2819400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6" name="公式" r:id="rId10" imgW="1790640" imgH="1180800" progId="Equation.3">
                  <p:embed/>
                </p:oleObj>
              </mc:Choice>
              <mc:Fallback>
                <p:oleObj name="公式" r:id="rId10" imgW="1790640" imgH="1180800" progId="Equation.3">
                  <p:embed/>
                  <p:pic>
                    <p:nvPicPr>
                      <p:cNvPr id="33804" name="Object 12">
                        <a:extLst>
                          <a:ext uri="{FF2B5EF4-FFF2-40B4-BE49-F238E27FC236}">
                            <a16:creationId xmlns:a16="http://schemas.microsoft.com/office/drawing/2014/main" id="{560B5FF1-82C7-4ADA-9629-6444E8A14B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572000"/>
                        <a:ext cx="2819400" cy="168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337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8" dur="80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9" dur="80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80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/>
      <p:bldP spid="33798" grpId="0"/>
      <p:bldP spid="33800" grpId="0"/>
      <p:bldP spid="3380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日期占位符 1">
            <a:extLst>
              <a:ext uri="{FF2B5EF4-FFF2-40B4-BE49-F238E27FC236}">
                <a16:creationId xmlns:a16="http://schemas.microsoft.com/office/drawing/2014/main" id="{BF1AB962-EB98-43B0-AE6B-CE5BB41E549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A147FEB-58DD-4141-827D-4CAE479A55FB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0485" name="页脚占位符 2">
            <a:extLst>
              <a:ext uri="{FF2B5EF4-FFF2-40B4-BE49-F238E27FC236}">
                <a16:creationId xmlns:a16="http://schemas.microsoft.com/office/drawing/2014/main" id="{C442AF79-69D0-44C6-8FEB-C9B6B71A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20486" name="灯片编号占位符 3">
            <a:extLst>
              <a:ext uri="{FF2B5EF4-FFF2-40B4-BE49-F238E27FC236}">
                <a16:creationId xmlns:a16="http://schemas.microsoft.com/office/drawing/2014/main" id="{006D9D1E-1E45-442C-A30C-FC0FF341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49F0517-E893-422D-8A88-659CBE7FA7F5}" type="slidenum">
              <a:rPr lang="en-US" altLang="zh-CN"/>
              <a:pPr eaLnBrk="1" hangingPunct="1"/>
              <a:t>32</a:t>
            </a:fld>
            <a:endParaRPr lang="en-US" altLang="zh-CN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BA5DA8D6-7CF1-48D4-A25E-5153CB70B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609600"/>
            <a:ext cx="8278813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故这三个特征向量线性无关。于是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可相似对角化。</a:t>
            </a:r>
          </a:p>
          <a:p>
            <a:pPr eaLnBrk="1" hangingPunct="1"/>
            <a:endParaRPr lang="zh-CN" altLang="en-US" sz="8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       以三个特征向量为列构造矩阵 </a:t>
            </a:r>
          </a:p>
        </p:txBody>
      </p:sp>
      <p:graphicFrame>
        <p:nvGraphicFramePr>
          <p:cNvPr id="35847" name="Object 7">
            <a:extLst>
              <a:ext uri="{FF2B5EF4-FFF2-40B4-BE49-F238E27FC236}">
                <a16:creationId xmlns:a16="http://schemas.microsoft.com/office/drawing/2014/main" id="{4D0E80F9-5252-459A-8B63-5976FD68BB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2032000"/>
          <a:ext cx="2971800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2" name="公式" r:id="rId3" imgW="2057400" imgH="1180800" progId="Equation.3">
                  <p:embed/>
                </p:oleObj>
              </mc:Choice>
              <mc:Fallback>
                <p:oleObj name="公式" r:id="rId3" imgW="2057400" imgH="1180800" progId="Equation.3">
                  <p:embed/>
                  <p:pic>
                    <p:nvPicPr>
                      <p:cNvPr id="35847" name="Object 7">
                        <a:extLst>
                          <a:ext uri="{FF2B5EF4-FFF2-40B4-BE49-F238E27FC236}">
                            <a16:creationId xmlns:a16="http://schemas.microsoft.com/office/drawing/2014/main" id="{4D0E80F9-5252-459A-8B63-5976FD68BB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032000"/>
                        <a:ext cx="2971800" cy="170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8" name="Rectangle 8">
            <a:extLst>
              <a:ext uri="{FF2B5EF4-FFF2-40B4-BE49-F238E27FC236}">
                <a16:creationId xmlns:a16="http://schemas.microsoft.com/office/drawing/2014/main" id="{B330E34C-CEEC-4E75-A691-193BDB115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429000"/>
            <a:ext cx="598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35850" name="Object 10">
            <a:extLst>
              <a:ext uri="{FF2B5EF4-FFF2-40B4-BE49-F238E27FC236}">
                <a16:creationId xmlns:a16="http://schemas.microsoft.com/office/drawing/2014/main" id="{754D93CC-F126-479F-A77E-4AFA9DE31F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4114800"/>
          <a:ext cx="3886200" cy="183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3" name="公式" r:id="rId5" imgW="2489040" imgH="1180800" progId="Equation.3">
                  <p:embed/>
                </p:oleObj>
              </mc:Choice>
              <mc:Fallback>
                <p:oleObj name="公式" r:id="rId5" imgW="2489040" imgH="1180800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754D93CC-F126-479F-A77E-4AFA9DE31F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114800"/>
                        <a:ext cx="3886200" cy="183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  <p:bldP spid="3584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日期占位符 1">
            <a:extLst>
              <a:ext uri="{FF2B5EF4-FFF2-40B4-BE49-F238E27FC236}">
                <a16:creationId xmlns:a16="http://schemas.microsoft.com/office/drawing/2014/main" id="{4B4089E8-2613-4909-92F3-B247ED61144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368145-2E43-419C-AF30-AD6FD1E81C98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1510" name="页脚占位符 2">
            <a:extLst>
              <a:ext uri="{FF2B5EF4-FFF2-40B4-BE49-F238E27FC236}">
                <a16:creationId xmlns:a16="http://schemas.microsoft.com/office/drawing/2014/main" id="{8BE937C6-EA19-4697-BA4B-FB9E9129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21511" name="灯片编号占位符 3">
            <a:extLst>
              <a:ext uri="{FF2B5EF4-FFF2-40B4-BE49-F238E27FC236}">
                <a16:creationId xmlns:a16="http://schemas.microsoft.com/office/drawing/2014/main" id="{D4B0C71D-0B2E-4B95-8108-A22FF956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3B4E40A-D51E-46CF-926D-A147C6B203DE}" type="slidenum">
              <a:rPr lang="en-US" altLang="zh-CN"/>
              <a:pPr eaLnBrk="1" hangingPunct="1"/>
              <a:t>33</a:t>
            </a:fld>
            <a:endParaRPr lang="en-US" altLang="zh-CN"/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A450654F-FD45-4D40-B715-5105DB82E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81000"/>
            <a:ext cx="1936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练习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已知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31749" name="Object 5">
            <a:extLst>
              <a:ext uri="{FF2B5EF4-FFF2-40B4-BE49-F238E27FC236}">
                <a16:creationId xmlns:a16="http://schemas.microsoft.com/office/drawing/2014/main" id="{72660443-F299-4DAD-A68B-527B850A6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914400"/>
          <a:ext cx="2971800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4" name="Equation" r:id="rId3" imgW="1066680" imgH="711000" progId="Equation.DSMT4">
                  <p:embed/>
                </p:oleObj>
              </mc:Choice>
              <mc:Fallback>
                <p:oleObj name="Equation" r:id="rId3" imgW="1066680" imgH="711000" progId="Equation.DSMT4">
                  <p:embed/>
                  <p:pic>
                    <p:nvPicPr>
                      <p:cNvPr id="31749" name="Object 5">
                        <a:extLst>
                          <a:ext uri="{FF2B5EF4-FFF2-40B4-BE49-F238E27FC236}">
                            <a16:creationId xmlns:a16="http://schemas.microsoft.com/office/drawing/2014/main" id="{72660443-F299-4DAD-A68B-527B850A68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914400"/>
                        <a:ext cx="2971800" cy="196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Text Box 6">
            <a:extLst>
              <a:ext uri="{FF2B5EF4-FFF2-40B4-BE49-F238E27FC236}">
                <a16:creationId xmlns:a16="http://schemas.microsoft.com/office/drawing/2014/main" id="{28B75C75-5059-4C63-AD5B-BE00BB4D5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97188"/>
            <a:ext cx="6043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问      满足什么条件时，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可对角化？ </a:t>
            </a:r>
          </a:p>
        </p:txBody>
      </p:sp>
      <p:graphicFrame>
        <p:nvGraphicFramePr>
          <p:cNvPr id="31751" name="Object 7">
            <a:extLst>
              <a:ext uri="{FF2B5EF4-FFF2-40B4-BE49-F238E27FC236}">
                <a16:creationId xmlns:a16="http://schemas.microsoft.com/office/drawing/2014/main" id="{66836DAA-A943-410C-9036-BE1742C47C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971800"/>
          <a:ext cx="4127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5" name="Equation" r:id="rId5" imgW="126720" imgH="139680" progId="Equation.DSMT4">
                  <p:embed/>
                </p:oleObj>
              </mc:Choice>
              <mc:Fallback>
                <p:oleObj name="Equation" r:id="rId5" imgW="126720" imgH="139680" progId="Equation.DSMT4">
                  <p:embed/>
                  <p:pic>
                    <p:nvPicPr>
                      <p:cNvPr id="31751" name="Object 7">
                        <a:extLst>
                          <a:ext uri="{FF2B5EF4-FFF2-40B4-BE49-F238E27FC236}">
                            <a16:creationId xmlns:a16="http://schemas.microsoft.com/office/drawing/2014/main" id="{66836DAA-A943-410C-9036-BE1742C47C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971800"/>
                        <a:ext cx="4127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Rectangle 8">
            <a:extLst>
              <a:ext uri="{FF2B5EF4-FFF2-40B4-BE49-F238E27FC236}">
                <a16:creationId xmlns:a16="http://schemas.microsoft.com/office/drawing/2014/main" id="{13E93FF3-B8FB-4E10-959E-8B47CB54B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581400"/>
            <a:ext cx="1579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   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首先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31753" name="Object 9">
            <a:extLst>
              <a:ext uri="{FF2B5EF4-FFF2-40B4-BE49-F238E27FC236}">
                <a16:creationId xmlns:a16="http://schemas.microsoft.com/office/drawing/2014/main" id="{0587655E-945D-4785-8204-408A9CE7C2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4191000"/>
          <a:ext cx="453231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6" name="Equation" r:id="rId7" imgW="2768400" imgH="406080" progId="Equation.DSMT4">
                  <p:embed/>
                </p:oleObj>
              </mc:Choice>
              <mc:Fallback>
                <p:oleObj name="Equation" r:id="rId7" imgW="2768400" imgH="406080" progId="Equation.DSMT4">
                  <p:embed/>
                  <p:pic>
                    <p:nvPicPr>
                      <p:cNvPr id="31753" name="Object 9">
                        <a:extLst>
                          <a:ext uri="{FF2B5EF4-FFF2-40B4-BE49-F238E27FC236}">
                            <a16:creationId xmlns:a16="http://schemas.microsoft.com/office/drawing/2014/main" id="{0587655E-945D-4785-8204-408A9CE7C2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191000"/>
                        <a:ext cx="4532313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Rectangle 10">
            <a:extLst>
              <a:ext uri="{FF2B5EF4-FFF2-40B4-BE49-F238E27FC236}">
                <a16:creationId xmlns:a16="http://schemas.microsoft.com/office/drawing/2014/main" id="{F351B5B6-7F1F-4BD0-B8FB-F7A197457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029200"/>
            <a:ext cx="853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所以，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的特征值为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（重数为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）和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（重数为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31750" grpId="0"/>
      <p:bldP spid="31752" grpId="0"/>
      <p:bldP spid="3175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日期占位符 1">
            <a:extLst>
              <a:ext uri="{FF2B5EF4-FFF2-40B4-BE49-F238E27FC236}">
                <a16:creationId xmlns:a16="http://schemas.microsoft.com/office/drawing/2014/main" id="{CC23ABDD-2F3C-440E-B843-9D6368C8244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3977D0B-01C4-4DEA-AC77-DFF92F9283EE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2536" name="页脚占位符 2">
            <a:extLst>
              <a:ext uri="{FF2B5EF4-FFF2-40B4-BE49-F238E27FC236}">
                <a16:creationId xmlns:a16="http://schemas.microsoft.com/office/drawing/2014/main" id="{F30E501F-FE2F-49A3-923D-378F4AC3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22537" name="灯片编号占位符 3">
            <a:extLst>
              <a:ext uri="{FF2B5EF4-FFF2-40B4-BE49-F238E27FC236}">
                <a16:creationId xmlns:a16="http://schemas.microsoft.com/office/drawing/2014/main" id="{3B27F14A-00EE-41FB-A625-B017EBFE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5E4B50C-864A-48CA-9EC4-B2E95631201E}" type="slidenum">
              <a:rPr lang="en-US" altLang="zh-CN"/>
              <a:pPr eaLnBrk="1" hangingPunct="1"/>
              <a:t>34</a:t>
            </a:fld>
            <a:endParaRPr lang="en-US" altLang="zh-CN"/>
          </a:p>
        </p:txBody>
      </p:sp>
      <p:sp>
        <p:nvSpPr>
          <p:cNvPr id="22538" name="Rectangle 5">
            <a:extLst>
              <a:ext uri="{FF2B5EF4-FFF2-40B4-BE49-F238E27FC236}">
                <a16:creationId xmlns:a16="http://schemas.microsoft.com/office/drawing/2014/main" id="{EB554985-11B0-4E3D-A94E-C30ADFCE4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31511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74" name="Text Box 6">
            <a:extLst>
              <a:ext uri="{FF2B5EF4-FFF2-40B4-BE49-F238E27FC236}">
                <a16:creationId xmlns:a16="http://schemas.microsoft.com/office/drawing/2014/main" id="{756FB348-893F-4F7C-9A91-CCFF3B09F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763588"/>
            <a:ext cx="8174038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考虑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的特征值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。对方程组                           ，</a:t>
            </a:r>
          </a:p>
          <a:p>
            <a:pPr eaLnBrk="1" hangingPunct="1"/>
            <a:endParaRPr lang="zh-CN" altLang="en-US" sz="12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仅当  秩                  时，才能使基础解系含 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个解。</a:t>
            </a:r>
          </a:p>
        </p:txBody>
      </p:sp>
      <p:graphicFrame>
        <p:nvGraphicFramePr>
          <p:cNvPr id="32776" name="Object 8">
            <a:extLst>
              <a:ext uri="{FF2B5EF4-FFF2-40B4-BE49-F238E27FC236}">
                <a16:creationId xmlns:a16="http://schemas.microsoft.com/office/drawing/2014/main" id="{C6304F91-4BF7-42DD-A939-AAD1B44D4E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838200"/>
          <a:ext cx="22447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4" name="Equation" r:id="rId3" imgW="1473120" imgH="304560" progId="Equation.DSMT4">
                  <p:embed/>
                </p:oleObj>
              </mc:Choice>
              <mc:Fallback>
                <p:oleObj name="Equation" r:id="rId3" imgW="1473120" imgH="304560" progId="Equation.DSMT4">
                  <p:embed/>
                  <p:pic>
                    <p:nvPicPr>
                      <p:cNvPr id="32776" name="Object 8">
                        <a:extLst>
                          <a:ext uri="{FF2B5EF4-FFF2-40B4-BE49-F238E27FC236}">
                            <a16:creationId xmlns:a16="http://schemas.microsoft.com/office/drawing/2014/main" id="{C6304F91-4BF7-42DD-A939-AAD1B44D4E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838200"/>
                        <a:ext cx="2244725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Object 10">
            <a:extLst>
              <a:ext uri="{FF2B5EF4-FFF2-40B4-BE49-F238E27FC236}">
                <a16:creationId xmlns:a16="http://schemas.microsoft.com/office/drawing/2014/main" id="{19503438-AF45-45EB-9762-E895B2AC2A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1447800"/>
          <a:ext cx="16065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5" name="Equation" r:id="rId5" imgW="1193760" imgH="304560" progId="Equation.DSMT4">
                  <p:embed/>
                </p:oleObj>
              </mc:Choice>
              <mc:Fallback>
                <p:oleObj name="Equation" r:id="rId5" imgW="1193760" imgH="304560" progId="Equation.DSMT4">
                  <p:embed/>
                  <p:pic>
                    <p:nvPicPr>
                      <p:cNvPr id="32778" name="Object 10">
                        <a:extLst>
                          <a:ext uri="{FF2B5EF4-FFF2-40B4-BE49-F238E27FC236}">
                            <a16:creationId xmlns:a16="http://schemas.microsoft.com/office/drawing/2014/main" id="{19503438-AF45-45EB-9762-E895B2AC2A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447800"/>
                        <a:ext cx="160655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Rectangle 11">
            <a:extLst>
              <a:ext uri="{FF2B5EF4-FFF2-40B4-BE49-F238E27FC236}">
                <a16:creationId xmlns:a16="http://schemas.microsoft.com/office/drawing/2014/main" id="{0633AE3F-F7CB-4C0D-B99E-50A5785E0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86000"/>
            <a:ext cx="630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又 </a:t>
            </a:r>
          </a:p>
        </p:txBody>
      </p:sp>
      <p:graphicFrame>
        <p:nvGraphicFramePr>
          <p:cNvPr id="32781" name="Object 13">
            <a:extLst>
              <a:ext uri="{FF2B5EF4-FFF2-40B4-BE49-F238E27FC236}">
                <a16:creationId xmlns:a16="http://schemas.microsoft.com/office/drawing/2014/main" id="{C0D44FD0-4979-4BC8-8D27-8613DED9BC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971800"/>
          <a:ext cx="6478588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6" name="Equation" r:id="rId7" imgW="4228920" imgH="1193760" progId="Equation.DSMT4">
                  <p:embed/>
                </p:oleObj>
              </mc:Choice>
              <mc:Fallback>
                <p:oleObj name="Equation" r:id="rId7" imgW="4228920" imgH="1193760" progId="Equation.DSMT4">
                  <p:embed/>
                  <p:pic>
                    <p:nvPicPr>
                      <p:cNvPr id="32781" name="Object 13">
                        <a:extLst>
                          <a:ext uri="{FF2B5EF4-FFF2-40B4-BE49-F238E27FC236}">
                            <a16:creationId xmlns:a16="http://schemas.microsoft.com/office/drawing/2014/main" id="{C0D44FD0-4979-4BC8-8D27-8613DED9BC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971800"/>
                        <a:ext cx="6478588" cy="182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2" name="Text Box 14">
            <a:extLst>
              <a:ext uri="{FF2B5EF4-FFF2-40B4-BE49-F238E27FC236}">
                <a16:creationId xmlns:a16="http://schemas.microsoft.com/office/drawing/2014/main" id="{EAAADBBB-9565-4586-9394-468AD8E19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030788"/>
            <a:ext cx="1933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           。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32784" name="Object 16">
            <a:extLst>
              <a:ext uri="{FF2B5EF4-FFF2-40B4-BE49-F238E27FC236}">
                <a16:creationId xmlns:a16="http://schemas.microsoft.com/office/drawing/2014/main" id="{57F36E0B-3637-46ED-B0EF-82C12EE791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2338" y="5105400"/>
          <a:ext cx="820737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7" name="Equation" r:id="rId9" imgW="571320" imgH="253800" progId="Equation.DSMT4">
                  <p:embed/>
                </p:oleObj>
              </mc:Choice>
              <mc:Fallback>
                <p:oleObj name="Equation" r:id="rId9" imgW="571320" imgH="253800" progId="Equation.DSMT4">
                  <p:embed/>
                  <p:pic>
                    <p:nvPicPr>
                      <p:cNvPr id="32784" name="Object 16">
                        <a:extLst>
                          <a:ext uri="{FF2B5EF4-FFF2-40B4-BE49-F238E27FC236}">
                            <a16:creationId xmlns:a16="http://schemas.microsoft.com/office/drawing/2014/main" id="{57F36E0B-3637-46ED-B0EF-82C12EE791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5105400"/>
                        <a:ext cx="820737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9" name="Text Box 21">
            <a:extLst>
              <a:ext uri="{FF2B5EF4-FFF2-40B4-BE49-F238E27FC236}">
                <a16:creationId xmlns:a16="http://schemas.microsoft.com/office/drawing/2014/main" id="{4CAE063D-3E00-41B5-A50B-209508552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030788"/>
            <a:ext cx="5327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所以，当          时，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可对角化。 </a:t>
            </a:r>
          </a:p>
        </p:txBody>
      </p:sp>
      <p:graphicFrame>
        <p:nvGraphicFramePr>
          <p:cNvPr id="32790" name="Object 22">
            <a:extLst>
              <a:ext uri="{FF2B5EF4-FFF2-40B4-BE49-F238E27FC236}">
                <a16:creationId xmlns:a16="http://schemas.microsoft.com/office/drawing/2014/main" id="{366BBEB0-4B31-48C6-B2C3-D9E87A186C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5105400"/>
          <a:ext cx="744538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8" name="Equation" r:id="rId11" imgW="571320" imgH="253800" progId="Equation.DSMT4">
                  <p:embed/>
                </p:oleObj>
              </mc:Choice>
              <mc:Fallback>
                <p:oleObj name="Equation" r:id="rId11" imgW="571320" imgH="253800" progId="Equation.DSMT4">
                  <p:embed/>
                  <p:pic>
                    <p:nvPicPr>
                      <p:cNvPr id="32790" name="Object 22">
                        <a:extLst>
                          <a:ext uri="{FF2B5EF4-FFF2-40B4-BE49-F238E27FC236}">
                            <a16:creationId xmlns:a16="http://schemas.microsoft.com/office/drawing/2014/main" id="{366BBEB0-4B31-48C6-B2C3-D9E87A186C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105400"/>
                        <a:ext cx="744538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/>
      <p:bldP spid="32779" grpId="0"/>
      <p:bldP spid="32782" grpId="0"/>
      <p:bldP spid="3278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日期占位符 1">
            <a:extLst>
              <a:ext uri="{FF2B5EF4-FFF2-40B4-BE49-F238E27FC236}">
                <a16:creationId xmlns:a16="http://schemas.microsoft.com/office/drawing/2014/main" id="{0299487C-CC6B-4F3F-B9E7-1CE37E02B70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A274461-6F31-4BD1-BBC8-ABF1CD97697A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3558" name="页脚占位符 2">
            <a:extLst>
              <a:ext uri="{FF2B5EF4-FFF2-40B4-BE49-F238E27FC236}">
                <a16:creationId xmlns:a16="http://schemas.microsoft.com/office/drawing/2014/main" id="{D0C09D4C-6644-453F-8C25-B9EBED46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23559" name="灯片编号占位符 3">
            <a:extLst>
              <a:ext uri="{FF2B5EF4-FFF2-40B4-BE49-F238E27FC236}">
                <a16:creationId xmlns:a16="http://schemas.microsoft.com/office/drawing/2014/main" id="{8A05D6CA-58A1-4802-BA4D-92017A6B9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79B2768-8F7C-4407-9094-1AB093AAEFA0}" type="slidenum">
              <a:rPr lang="en-US" altLang="zh-CN"/>
              <a:pPr eaLnBrk="1" hangingPunct="1"/>
              <a:t>35</a:t>
            </a:fld>
            <a:endParaRPr lang="en-US" altLang="zh-CN"/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DC71F78F-953D-474B-A823-7F723CE1B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" y="609600"/>
            <a:ext cx="1668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练习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3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7658" name="Object 10">
            <a:extLst>
              <a:ext uri="{FF2B5EF4-FFF2-40B4-BE49-F238E27FC236}">
                <a16:creationId xmlns:a16="http://schemas.microsoft.com/office/drawing/2014/main" id="{47452BE4-C2AE-4326-87C9-664BBAC3D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035050"/>
          <a:ext cx="3613150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2" name="公式" r:id="rId3" imgW="2781000" imgH="1549080" progId="Equation.3">
                  <p:embed/>
                </p:oleObj>
              </mc:Choice>
              <mc:Fallback>
                <p:oleObj name="公式" r:id="rId3" imgW="2781000" imgH="1549080" progId="Equation.3">
                  <p:embed/>
                  <p:pic>
                    <p:nvPicPr>
                      <p:cNvPr id="27658" name="Object 10">
                        <a:extLst>
                          <a:ext uri="{FF2B5EF4-FFF2-40B4-BE49-F238E27FC236}">
                            <a16:creationId xmlns:a16="http://schemas.microsoft.com/office/drawing/2014/main" id="{47452BE4-C2AE-4326-87C9-664BBAC3D9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035050"/>
                        <a:ext cx="3613150" cy="201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Text Box 11">
            <a:extLst>
              <a:ext uri="{FF2B5EF4-FFF2-40B4-BE49-F238E27FC236}">
                <a16:creationId xmlns:a16="http://schemas.microsoft.com/office/drawing/2014/main" id="{49128313-3FA3-451F-8AAF-884631285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3201988"/>
            <a:ext cx="1489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求      。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7661" name="Object 13">
            <a:extLst>
              <a:ext uri="{FF2B5EF4-FFF2-40B4-BE49-F238E27FC236}">
                <a16:creationId xmlns:a16="http://schemas.microsoft.com/office/drawing/2014/main" id="{0A31030E-5DC6-487E-87C1-7B400BF783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9950" y="3124200"/>
          <a:ext cx="5334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3" name="公式" r:id="rId5" imgW="368140" imgH="342751" progId="Equation.3">
                  <p:embed/>
                </p:oleObj>
              </mc:Choice>
              <mc:Fallback>
                <p:oleObj name="公式" r:id="rId5" imgW="368140" imgH="342751" progId="Equation.3">
                  <p:embed/>
                  <p:pic>
                    <p:nvPicPr>
                      <p:cNvPr id="27661" name="Object 13">
                        <a:extLst>
                          <a:ext uri="{FF2B5EF4-FFF2-40B4-BE49-F238E27FC236}">
                            <a16:creationId xmlns:a16="http://schemas.microsoft.com/office/drawing/2014/main" id="{0A31030E-5DC6-487E-87C1-7B400BF783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" y="3124200"/>
                        <a:ext cx="533400" cy="49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2" name="Rectangle 14">
            <a:extLst>
              <a:ext uri="{FF2B5EF4-FFF2-40B4-BE49-F238E27FC236}">
                <a16:creationId xmlns:a16="http://schemas.microsoft.com/office/drawing/2014/main" id="{88BBD407-AC90-483C-B5FE-FF43FC470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962400"/>
            <a:ext cx="598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27663" name="Rectangle 15">
            <a:extLst>
              <a:ext uri="{FF2B5EF4-FFF2-40B4-BE49-F238E27FC236}">
                <a16:creationId xmlns:a16="http://schemas.microsoft.com/office/drawing/2014/main" id="{657226EF-6BA6-4A7C-950B-6764AA4AE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038600"/>
            <a:ext cx="630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∵ </a:t>
            </a:r>
          </a:p>
        </p:txBody>
      </p:sp>
      <p:graphicFrame>
        <p:nvGraphicFramePr>
          <p:cNvPr id="27665" name="Object 17">
            <a:extLst>
              <a:ext uri="{FF2B5EF4-FFF2-40B4-BE49-F238E27FC236}">
                <a16:creationId xmlns:a16="http://schemas.microsoft.com/office/drawing/2014/main" id="{F1EA34C8-A642-4972-8EA7-4B0F9E7553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962400"/>
          <a:ext cx="39624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4" name="公式" r:id="rId7" imgW="2793960" imgH="406080" progId="Equation.3">
                  <p:embed/>
                </p:oleObj>
              </mc:Choice>
              <mc:Fallback>
                <p:oleObj name="公式" r:id="rId7" imgW="2793960" imgH="406080" progId="Equation.3">
                  <p:embed/>
                  <p:pic>
                    <p:nvPicPr>
                      <p:cNvPr id="27665" name="Object 17">
                        <a:extLst>
                          <a:ext uri="{FF2B5EF4-FFF2-40B4-BE49-F238E27FC236}">
                            <a16:creationId xmlns:a16="http://schemas.microsoft.com/office/drawing/2014/main" id="{F1EA34C8-A642-4972-8EA7-4B0F9E7553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962400"/>
                        <a:ext cx="3962400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6" name="Text Box 18">
            <a:extLst>
              <a:ext uri="{FF2B5EF4-FFF2-40B4-BE49-F238E27FC236}">
                <a16:creationId xmlns:a16="http://schemas.microsoft.com/office/drawing/2014/main" id="{479941F5-D20E-44B7-BEE0-CC4A6978E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876800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∴  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有特征值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-2 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（重数为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）和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（重数为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27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27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27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6" grpId="0"/>
      <p:bldP spid="27659" grpId="0"/>
      <p:bldP spid="27663" grpId="0"/>
      <p:bldP spid="2766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3" name="日期占位符 1">
            <a:extLst>
              <a:ext uri="{FF2B5EF4-FFF2-40B4-BE49-F238E27FC236}">
                <a16:creationId xmlns:a16="http://schemas.microsoft.com/office/drawing/2014/main" id="{5D4BB9A5-ADF1-44BD-BDEF-368F7B06CD0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510292-950B-4E02-8554-90B251677D89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4584" name="页脚占位符 2">
            <a:extLst>
              <a:ext uri="{FF2B5EF4-FFF2-40B4-BE49-F238E27FC236}">
                <a16:creationId xmlns:a16="http://schemas.microsoft.com/office/drawing/2014/main" id="{A20F5A06-03C1-433F-B122-F67302C5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24585" name="灯片编号占位符 3">
            <a:extLst>
              <a:ext uri="{FF2B5EF4-FFF2-40B4-BE49-F238E27FC236}">
                <a16:creationId xmlns:a16="http://schemas.microsoft.com/office/drawing/2014/main" id="{C2E2D434-F51B-4D28-A5B0-509328848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6837053-3224-4BB0-9D9F-E7A05D1ED560}" type="slidenum">
              <a:rPr lang="en-US" altLang="zh-CN"/>
              <a:pPr eaLnBrk="1" hangingPunct="1"/>
              <a:t>36</a:t>
            </a:fld>
            <a:endParaRPr lang="en-US" altLang="zh-CN"/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A6DB62FE-E2D8-434A-9AB1-BB8AB6CE5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92188"/>
            <a:ext cx="6864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对           ，解                               得基础解系 </a:t>
            </a:r>
          </a:p>
        </p:txBody>
      </p:sp>
      <p:graphicFrame>
        <p:nvGraphicFramePr>
          <p:cNvPr id="28677" name="Object 5">
            <a:extLst>
              <a:ext uri="{FF2B5EF4-FFF2-40B4-BE49-F238E27FC236}">
                <a16:creationId xmlns:a16="http://schemas.microsoft.com/office/drawing/2014/main" id="{BF9F1814-4A97-4197-9A97-B7825961CB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1066800"/>
          <a:ext cx="9144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2" name="公式" r:id="rId3" imgW="622030" imgH="253890" progId="Equation.3">
                  <p:embed/>
                </p:oleObj>
              </mc:Choice>
              <mc:Fallback>
                <p:oleObj name="公式" r:id="rId3" imgW="622030" imgH="253890" progId="Equation.3">
                  <p:embed/>
                  <p:pic>
                    <p:nvPicPr>
                      <p:cNvPr id="28677" name="Object 5">
                        <a:extLst>
                          <a:ext uri="{FF2B5EF4-FFF2-40B4-BE49-F238E27FC236}">
                            <a16:creationId xmlns:a16="http://schemas.microsoft.com/office/drawing/2014/main" id="{BF9F1814-4A97-4197-9A97-B7825961CB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066800"/>
                        <a:ext cx="914400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>
            <a:extLst>
              <a:ext uri="{FF2B5EF4-FFF2-40B4-BE49-F238E27FC236}">
                <a16:creationId xmlns:a16="http://schemas.microsoft.com/office/drawing/2014/main" id="{1877F885-FDAD-4FA8-9AC2-03AE83031F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1066800"/>
          <a:ext cx="24558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3" name="公式" r:id="rId5" imgW="1625400" imgH="304560" progId="Equation.3">
                  <p:embed/>
                </p:oleObj>
              </mc:Choice>
              <mc:Fallback>
                <p:oleObj name="公式" r:id="rId5" imgW="1625400" imgH="304560" progId="Equation.3">
                  <p:embed/>
                  <p:pic>
                    <p:nvPicPr>
                      <p:cNvPr id="28678" name="Object 6">
                        <a:extLst>
                          <a:ext uri="{FF2B5EF4-FFF2-40B4-BE49-F238E27FC236}">
                            <a16:creationId xmlns:a16="http://schemas.microsoft.com/office/drawing/2014/main" id="{1877F885-FDAD-4FA8-9AC2-03AE83031F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066800"/>
                        <a:ext cx="2455863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>
            <a:extLst>
              <a:ext uri="{FF2B5EF4-FFF2-40B4-BE49-F238E27FC236}">
                <a16:creationId xmlns:a16="http://schemas.microsoft.com/office/drawing/2014/main" id="{88DC79C9-42CD-479C-8C3D-A5305CCAF7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828800"/>
          <a:ext cx="26924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4" name="公式" r:id="rId7" imgW="1866600" imgH="419040" progId="Equation.3">
                  <p:embed/>
                </p:oleObj>
              </mc:Choice>
              <mc:Fallback>
                <p:oleObj name="公式" r:id="rId7" imgW="1866600" imgH="419040" progId="Equation.3">
                  <p:embed/>
                  <p:pic>
                    <p:nvPicPr>
                      <p:cNvPr id="28679" name="Object 7">
                        <a:extLst>
                          <a:ext uri="{FF2B5EF4-FFF2-40B4-BE49-F238E27FC236}">
                            <a16:creationId xmlns:a16="http://schemas.microsoft.com/office/drawing/2014/main" id="{88DC79C9-42CD-479C-8C3D-A5305CCAF7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828800"/>
                        <a:ext cx="2692400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>
            <a:extLst>
              <a:ext uri="{FF2B5EF4-FFF2-40B4-BE49-F238E27FC236}">
                <a16:creationId xmlns:a16="http://schemas.microsoft.com/office/drawing/2014/main" id="{5821CB59-9BA2-47E3-806D-EB1E16F5D9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2667000"/>
          <a:ext cx="27432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5" name="公式" r:id="rId9" imgW="1892160" imgH="419040" progId="Equation.3">
                  <p:embed/>
                </p:oleObj>
              </mc:Choice>
              <mc:Fallback>
                <p:oleObj name="公式" r:id="rId9" imgW="1892160" imgH="419040" progId="Equation.3">
                  <p:embed/>
                  <p:pic>
                    <p:nvPicPr>
                      <p:cNvPr id="28680" name="Object 8">
                        <a:extLst>
                          <a:ext uri="{FF2B5EF4-FFF2-40B4-BE49-F238E27FC236}">
                            <a16:creationId xmlns:a16="http://schemas.microsoft.com/office/drawing/2014/main" id="{5821CB59-9BA2-47E3-806D-EB1E16F5D9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667000"/>
                        <a:ext cx="2743200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9">
            <a:extLst>
              <a:ext uri="{FF2B5EF4-FFF2-40B4-BE49-F238E27FC236}">
                <a16:creationId xmlns:a16="http://schemas.microsoft.com/office/drawing/2014/main" id="{2AC2BD11-B620-447F-A99E-763131E893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3505200"/>
          <a:ext cx="27432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6" name="公式" r:id="rId11" imgW="1892160" imgH="419040" progId="Equation.3">
                  <p:embed/>
                </p:oleObj>
              </mc:Choice>
              <mc:Fallback>
                <p:oleObj name="公式" r:id="rId11" imgW="1892160" imgH="419040" progId="Equation.3">
                  <p:embed/>
                  <p:pic>
                    <p:nvPicPr>
                      <p:cNvPr id="28681" name="Object 9">
                        <a:extLst>
                          <a:ext uri="{FF2B5EF4-FFF2-40B4-BE49-F238E27FC236}">
                            <a16:creationId xmlns:a16="http://schemas.microsoft.com/office/drawing/2014/main" id="{2AC2BD11-B620-447F-A99E-763131E893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505200"/>
                        <a:ext cx="2743200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Rectangle 10">
            <a:extLst>
              <a:ext uri="{FF2B5EF4-FFF2-40B4-BE49-F238E27FC236}">
                <a16:creationId xmlns:a16="http://schemas.microsoft.com/office/drawing/2014/main" id="{AD83C4FE-766F-4C02-B71B-2C7F1C70E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692650"/>
            <a:ext cx="8534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457200" algn="l"/>
                <a:tab pos="685800" algn="l"/>
                <a:tab pos="4991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457200" algn="l"/>
                <a:tab pos="685800" algn="l"/>
                <a:tab pos="4991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457200" algn="l"/>
                <a:tab pos="685800" algn="l"/>
                <a:tab pos="4991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457200" algn="l"/>
                <a:tab pos="685800" algn="l"/>
                <a:tab pos="4991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457200" algn="l"/>
                <a:tab pos="685800" algn="l"/>
                <a:tab pos="4991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85800" algn="l"/>
                <a:tab pos="4991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85800" algn="l"/>
                <a:tab pos="4991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85800" algn="l"/>
                <a:tab pos="4991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685800" algn="l"/>
                <a:tab pos="4991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故特征值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的线性无关的特征向量为也为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，由此得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可对角化。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286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/>
      <p:bldP spid="2868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日期占位符 1">
            <a:extLst>
              <a:ext uri="{FF2B5EF4-FFF2-40B4-BE49-F238E27FC236}">
                <a16:creationId xmlns:a16="http://schemas.microsoft.com/office/drawing/2014/main" id="{D45A4687-65F6-4B1C-9C26-96CB8DFB5C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C42DF8-4F54-4D31-80B3-32FDA4C014B8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5607" name="页脚占位符 2">
            <a:extLst>
              <a:ext uri="{FF2B5EF4-FFF2-40B4-BE49-F238E27FC236}">
                <a16:creationId xmlns:a16="http://schemas.microsoft.com/office/drawing/2014/main" id="{C204A24C-CC2D-4FEE-8B36-F52494C34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25608" name="灯片编号占位符 3">
            <a:extLst>
              <a:ext uri="{FF2B5EF4-FFF2-40B4-BE49-F238E27FC236}">
                <a16:creationId xmlns:a16="http://schemas.microsoft.com/office/drawing/2014/main" id="{655DC29E-A8D0-4EEE-8024-C923E10BD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4E36EDB-7572-4F29-801A-A43EEA960409}" type="slidenum">
              <a:rPr lang="en-US" altLang="zh-CN"/>
              <a:pPr eaLnBrk="1" hangingPunct="1"/>
              <a:t>37</a:t>
            </a:fld>
            <a:endParaRPr lang="en-US" altLang="zh-CN"/>
          </a:p>
        </p:txBody>
      </p:sp>
      <p:sp>
        <p:nvSpPr>
          <p:cNvPr id="29703" name="Text Box 7">
            <a:extLst>
              <a:ext uri="{FF2B5EF4-FFF2-40B4-BE49-F238E27FC236}">
                <a16:creationId xmlns:a16="http://schemas.microsoft.com/office/drawing/2014/main" id="{8223C478-560A-4BE1-A084-954F4565B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611188"/>
            <a:ext cx="7042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对             ，解                               得基础解系 </a:t>
            </a:r>
          </a:p>
        </p:txBody>
      </p:sp>
      <p:graphicFrame>
        <p:nvGraphicFramePr>
          <p:cNvPr id="29705" name="Object 9">
            <a:extLst>
              <a:ext uri="{FF2B5EF4-FFF2-40B4-BE49-F238E27FC236}">
                <a16:creationId xmlns:a16="http://schemas.microsoft.com/office/drawing/2014/main" id="{D05171DE-8920-478C-998F-8E52D00C6A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685800"/>
          <a:ext cx="11430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8" name="公式" r:id="rId3" imgW="787058" imgH="253890" progId="Equation.3">
                  <p:embed/>
                </p:oleObj>
              </mc:Choice>
              <mc:Fallback>
                <p:oleObj name="公式" r:id="rId3" imgW="787058" imgH="253890" progId="Equation.3">
                  <p:embed/>
                  <p:pic>
                    <p:nvPicPr>
                      <p:cNvPr id="29705" name="Object 9">
                        <a:extLst>
                          <a:ext uri="{FF2B5EF4-FFF2-40B4-BE49-F238E27FC236}">
                            <a16:creationId xmlns:a16="http://schemas.microsoft.com/office/drawing/2014/main" id="{D05171DE-8920-478C-998F-8E52D00C6A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685800"/>
                        <a:ext cx="11430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11">
            <a:extLst>
              <a:ext uri="{FF2B5EF4-FFF2-40B4-BE49-F238E27FC236}">
                <a16:creationId xmlns:a16="http://schemas.microsoft.com/office/drawing/2014/main" id="{1B4CA0C3-C925-445F-ACB7-8D1F2820E3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685800"/>
          <a:ext cx="2438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9" name="公式" r:id="rId5" imgW="1777680" imgH="304560" progId="Equation.3">
                  <p:embed/>
                </p:oleObj>
              </mc:Choice>
              <mc:Fallback>
                <p:oleObj name="公式" r:id="rId5" imgW="1777680" imgH="304560" progId="Equation.3">
                  <p:embed/>
                  <p:pic>
                    <p:nvPicPr>
                      <p:cNvPr id="29707" name="Object 11">
                        <a:extLst>
                          <a:ext uri="{FF2B5EF4-FFF2-40B4-BE49-F238E27FC236}">
                            <a16:creationId xmlns:a16="http://schemas.microsoft.com/office/drawing/2014/main" id="{1B4CA0C3-C925-445F-ACB7-8D1F2820E3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685800"/>
                        <a:ext cx="24384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13">
            <a:extLst>
              <a:ext uri="{FF2B5EF4-FFF2-40B4-BE49-F238E27FC236}">
                <a16:creationId xmlns:a16="http://schemas.microsoft.com/office/drawing/2014/main" id="{F5489559-9578-41C2-9A73-E9AFBBE081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1371600"/>
          <a:ext cx="24384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0" name="公式" r:id="rId7" imgW="1676160" imgH="419040" progId="Equation.3">
                  <p:embed/>
                </p:oleObj>
              </mc:Choice>
              <mc:Fallback>
                <p:oleObj name="公式" r:id="rId7" imgW="1676160" imgH="419040" progId="Equation.3">
                  <p:embed/>
                  <p:pic>
                    <p:nvPicPr>
                      <p:cNvPr id="29709" name="Object 13">
                        <a:extLst>
                          <a:ext uri="{FF2B5EF4-FFF2-40B4-BE49-F238E27FC236}">
                            <a16:creationId xmlns:a16="http://schemas.microsoft.com/office/drawing/2014/main" id="{F5489559-9578-41C2-9A73-E9AFBBE081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371600"/>
                        <a:ext cx="2438400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Rectangle 14">
            <a:extLst>
              <a:ext uri="{FF2B5EF4-FFF2-40B4-BE49-F238E27FC236}">
                <a16:creationId xmlns:a16="http://schemas.microsoft.com/office/drawing/2014/main" id="{C6EFC030-5C76-410A-932B-707D5ACCC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286000"/>
            <a:ext cx="630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令 </a:t>
            </a:r>
          </a:p>
        </p:txBody>
      </p:sp>
      <p:graphicFrame>
        <p:nvGraphicFramePr>
          <p:cNvPr id="29712" name="Object 16">
            <a:extLst>
              <a:ext uri="{FF2B5EF4-FFF2-40B4-BE49-F238E27FC236}">
                <a16:creationId xmlns:a16="http://schemas.microsoft.com/office/drawing/2014/main" id="{85E434AF-F3BF-46A3-9FCD-1227923AA6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895600"/>
          <a:ext cx="7239000" cy="217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1" name="公式" r:id="rId9" imgW="5143320" imgH="1549080" progId="Equation.3">
                  <p:embed/>
                </p:oleObj>
              </mc:Choice>
              <mc:Fallback>
                <p:oleObj name="公式" r:id="rId9" imgW="5143320" imgH="1549080" progId="Equation.3">
                  <p:embed/>
                  <p:pic>
                    <p:nvPicPr>
                      <p:cNvPr id="29712" name="Object 16">
                        <a:extLst>
                          <a:ext uri="{FF2B5EF4-FFF2-40B4-BE49-F238E27FC236}">
                            <a16:creationId xmlns:a16="http://schemas.microsoft.com/office/drawing/2014/main" id="{85E434AF-F3BF-46A3-9FCD-1227923AA6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895600"/>
                        <a:ext cx="7239000" cy="2178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3" name="Rectangle 17">
            <a:extLst>
              <a:ext uri="{FF2B5EF4-FFF2-40B4-BE49-F238E27FC236}">
                <a16:creationId xmlns:a16="http://schemas.microsoft.com/office/drawing/2014/main" id="{89F2FC60-717C-49F8-9F67-B34DEB7A5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181600"/>
            <a:ext cx="598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lang="zh-CN" altLang="en-US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297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297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3" grpId="0"/>
      <p:bldP spid="29710" grpId="0"/>
      <p:bldP spid="297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日期占位符 1">
            <a:extLst>
              <a:ext uri="{FF2B5EF4-FFF2-40B4-BE49-F238E27FC236}">
                <a16:creationId xmlns:a16="http://schemas.microsoft.com/office/drawing/2014/main" id="{FD118EC9-4396-4A63-8D0F-B0A497BF270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E177639-BABB-4CC7-9805-9E33E510CB56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6631" name="页脚占位符 2">
            <a:extLst>
              <a:ext uri="{FF2B5EF4-FFF2-40B4-BE49-F238E27FC236}">
                <a16:creationId xmlns:a16="http://schemas.microsoft.com/office/drawing/2014/main" id="{40615D94-255C-4304-B32A-CE1212CCF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26632" name="灯片编号占位符 3">
            <a:extLst>
              <a:ext uri="{FF2B5EF4-FFF2-40B4-BE49-F238E27FC236}">
                <a16:creationId xmlns:a16="http://schemas.microsoft.com/office/drawing/2014/main" id="{DDF1264F-2E75-475F-846A-39B3A7AB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CD40B35-B238-40BD-B682-C62F158E1A72}" type="slidenum">
              <a:rPr lang="en-US" altLang="zh-CN"/>
              <a:pPr eaLnBrk="1" hangingPunct="1"/>
              <a:t>38</a:t>
            </a:fld>
            <a:endParaRPr lang="en-US" altLang="zh-CN"/>
          </a:p>
        </p:txBody>
      </p:sp>
      <p:graphicFrame>
        <p:nvGraphicFramePr>
          <p:cNvPr id="30725" name="Object 5">
            <a:extLst>
              <a:ext uri="{FF2B5EF4-FFF2-40B4-BE49-F238E27FC236}">
                <a16:creationId xmlns:a16="http://schemas.microsoft.com/office/drawing/2014/main" id="{0F93FCFB-9C9B-4861-8C96-C4DECB519E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533400"/>
          <a:ext cx="4705350" cy="217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2" name="公式" r:id="rId3" imgW="3352680" imgH="1549080" progId="Equation.3">
                  <p:embed/>
                </p:oleObj>
              </mc:Choice>
              <mc:Fallback>
                <p:oleObj name="公式" r:id="rId3" imgW="3352680" imgH="1549080" progId="Equation.3">
                  <p:embed/>
                  <p:pic>
                    <p:nvPicPr>
                      <p:cNvPr id="30725" name="Object 5">
                        <a:extLst>
                          <a:ext uri="{FF2B5EF4-FFF2-40B4-BE49-F238E27FC236}">
                            <a16:creationId xmlns:a16="http://schemas.microsoft.com/office/drawing/2014/main" id="{0F93FCFB-9C9B-4861-8C96-C4DECB519E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33400"/>
                        <a:ext cx="4705350" cy="2174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Text Box 6">
            <a:extLst>
              <a:ext uri="{FF2B5EF4-FFF2-40B4-BE49-F238E27FC236}">
                <a16:creationId xmlns:a16="http://schemas.microsoft.com/office/drawing/2014/main" id="{6975504B-79C6-4402-A070-14581E585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820988"/>
            <a:ext cx="347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由此得                    。 </a:t>
            </a:r>
          </a:p>
        </p:txBody>
      </p:sp>
      <p:graphicFrame>
        <p:nvGraphicFramePr>
          <p:cNvPr id="30728" name="Object 8">
            <a:extLst>
              <a:ext uri="{FF2B5EF4-FFF2-40B4-BE49-F238E27FC236}">
                <a16:creationId xmlns:a16="http://schemas.microsoft.com/office/drawing/2014/main" id="{183D7B2F-DFAE-4BF7-971A-A1079D03F2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743200"/>
          <a:ext cx="17526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3" name="公式" r:id="rId5" imgW="1257300" imgH="330200" progId="Equation.3">
                  <p:embed/>
                </p:oleObj>
              </mc:Choice>
              <mc:Fallback>
                <p:oleObj name="公式" r:id="rId5" imgW="1257300" imgH="330200" progId="Equation.3">
                  <p:embed/>
                  <p:pic>
                    <p:nvPicPr>
                      <p:cNvPr id="30728" name="Object 8">
                        <a:extLst>
                          <a:ext uri="{FF2B5EF4-FFF2-40B4-BE49-F238E27FC236}">
                            <a16:creationId xmlns:a16="http://schemas.microsoft.com/office/drawing/2014/main" id="{183D7B2F-DFAE-4BF7-971A-A1079D03F2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743200"/>
                        <a:ext cx="1752600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Rectangle 9">
            <a:extLst>
              <a:ext uri="{FF2B5EF4-FFF2-40B4-BE49-F238E27FC236}">
                <a16:creationId xmlns:a16="http://schemas.microsoft.com/office/drawing/2014/main" id="{2B6C9D0F-97FC-4F6E-AB86-B9AA94BA5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581400"/>
            <a:ext cx="1344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于是， </a:t>
            </a:r>
          </a:p>
        </p:txBody>
      </p:sp>
      <p:graphicFrame>
        <p:nvGraphicFramePr>
          <p:cNvPr id="30730" name="Object 10">
            <a:extLst>
              <a:ext uri="{FF2B5EF4-FFF2-40B4-BE49-F238E27FC236}">
                <a16:creationId xmlns:a16="http://schemas.microsoft.com/office/drawing/2014/main" id="{E508784D-2A94-4F6D-97BA-7B3004E246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4724400"/>
          <a:ext cx="22098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4" name="公式" r:id="rId7" imgW="1637589" imgH="342751" progId="Equation.3">
                  <p:embed/>
                </p:oleObj>
              </mc:Choice>
              <mc:Fallback>
                <p:oleObj name="公式" r:id="rId7" imgW="1637589" imgH="342751" progId="Equation.3">
                  <p:embed/>
                  <p:pic>
                    <p:nvPicPr>
                      <p:cNvPr id="30730" name="Object 10">
                        <a:extLst>
                          <a:ext uri="{FF2B5EF4-FFF2-40B4-BE49-F238E27FC236}">
                            <a16:creationId xmlns:a16="http://schemas.microsoft.com/office/drawing/2014/main" id="{E508784D-2A94-4F6D-97BA-7B3004E246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724400"/>
                        <a:ext cx="2209800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11">
            <a:extLst>
              <a:ext uri="{FF2B5EF4-FFF2-40B4-BE49-F238E27FC236}">
                <a16:creationId xmlns:a16="http://schemas.microsoft.com/office/drawing/2014/main" id="{CA1D0E34-9837-4E8B-80B4-E0495E99EF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267200"/>
          <a:ext cx="3657600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5" name="公式" r:id="rId9" imgW="2895480" imgH="1218960" progId="Equation.3">
                  <p:embed/>
                </p:oleObj>
              </mc:Choice>
              <mc:Fallback>
                <p:oleObj name="公式" r:id="rId9" imgW="2895480" imgH="1218960" progId="Equation.3">
                  <p:embed/>
                  <p:pic>
                    <p:nvPicPr>
                      <p:cNvPr id="30731" name="Object 11">
                        <a:extLst>
                          <a:ext uri="{FF2B5EF4-FFF2-40B4-BE49-F238E27FC236}">
                            <a16:creationId xmlns:a16="http://schemas.microsoft.com/office/drawing/2014/main" id="{CA1D0E34-9837-4E8B-80B4-E0495E99EF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267200"/>
                        <a:ext cx="3657600" cy="153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" dur="80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1" dur="80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80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6" grpId="0"/>
      <p:bldP spid="307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1">
            <a:extLst>
              <a:ext uri="{FF2B5EF4-FFF2-40B4-BE49-F238E27FC236}">
                <a16:creationId xmlns:a16="http://schemas.microsoft.com/office/drawing/2014/main" id="{E15AF7D8-32E3-4A44-865A-3138604142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BFC5C3-9059-47C5-96C1-D7426853E37D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9939" name="页脚占位符 2">
            <a:extLst>
              <a:ext uri="{FF2B5EF4-FFF2-40B4-BE49-F238E27FC236}">
                <a16:creationId xmlns:a16="http://schemas.microsoft.com/office/drawing/2014/main" id="{F896A5A0-92FD-4105-868D-0838E2CB9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6A4A51E5-AB4C-4864-803D-80996C9B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33A80D-E9BD-4DE9-B625-11F95B5907C6}" type="slidenum">
              <a:rPr lang="en-US" altLang="zh-CN"/>
              <a:pPr eaLnBrk="1" hangingPunct="1"/>
              <a:t>39</a:t>
            </a:fld>
            <a:endParaRPr lang="en-US" altLang="zh-CN"/>
          </a:p>
        </p:txBody>
      </p:sp>
      <p:pic>
        <p:nvPicPr>
          <p:cNvPr id="39941" name="Picture 4">
            <a:extLst>
              <a:ext uri="{FF2B5EF4-FFF2-40B4-BE49-F238E27FC236}">
                <a16:creationId xmlns:a16="http://schemas.microsoft.com/office/drawing/2014/main" id="{27D49544-7570-4722-BBA2-473A7E99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504825"/>
            <a:ext cx="3352800" cy="1093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5">
            <a:extLst>
              <a:ext uri="{FF2B5EF4-FFF2-40B4-BE49-F238E27FC236}">
                <a16:creationId xmlns:a16="http://schemas.microsoft.com/office/drawing/2014/main" id="{C59FCDB6-AD9F-4842-BBDC-735AAEEF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38" y="485775"/>
            <a:ext cx="297180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3" name="Picture 7">
            <a:extLst>
              <a:ext uri="{FF2B5EF4-FFF2-40B4-BE49-F238E27FC236}">
                <a16:creationId xmlns:a16="http://schemas.microsoft.com/office/drawing/2014/main" id="{E9FB7B67-11C2-4B0B-AB0E-1ABC4C9E7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704850"/>
            <a:ext cx="895350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2" name="Picture 8">
            <a:extLst>
              <a:ext uri="{FF2B5EF4-FFF2-40B4-BE49-F238E27FC236}">
                <a16:creationId xmlns:a16="http://schemas.microsoft.com/office/drawing/2014/main" id="{BE724E91-129C-4266-BB70-128108FE1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2600"/>
            <a:ext cx="38862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3" name="Picture 9">
            <a:extLst>
              <a:ext uri="{FF2B5EF4-FFF2-40B4-BE49-F238E27FC236}">
                <a16:creationId xmlns:a16="http://schemas.microsoft.com/office/drawing/2014/main" id="{CEDFCA49-EE71-4530-BE46-ED2A80635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362200"/>
            <a:ext cx="36576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4" name="Picture 10">
            <a:extLst>
              <a:ext uri="{FF2B5EF4-FFF2-40B4-BE49-F238E27FC236}">
                <a16:creationId xmlns:a16="http://schemas.microsoft.com/office/drawing/2014/main" id="{00EF2578-E337-4F4D-B83B-E0538F6C2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2919413"/>
            <a:ext cx="366236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5" name="Picture 11">
            <a:extLst>
              <a:ext uri="{FF2B5EF4-FFF2-40B4-BE49-F238E27FC236}">
                <a16:creationId xmlns:a16="http://schemas.microsoft.com/office/drawing/2014/main" id="{9D3F818C-29F0-4855-B0FE-19E009901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3429000"/>
            <a:ext cx="4572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6" name="Picture 12">
            <a:extLst>
              <a:ext uri="{FF2B5EF4-FFF2-40B4-BE49-F238E27FC236}">
                <a16:creationId xmlns:a16="http://schemas.microsoft.com/office/drawing/2014/main" id="{3A984526-D302-403F-8BFA-D0FD8B6EE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0"/>
            <a:ext cx="1905000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7" name="Picture 13">
            <a:extLst>
              <a:ext uri="{FF2B5EF4-FFF2-40B4-BE49-F238E27FC236}">
                <a16:creationId xmlns:a16="http://schemas.microsoft.com/office/drawing/2014/main" id="{97EE6369-4FE8-4393-A746-92E7A3A10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72000"/>
            <a:ext cx="2819400" cy="141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8" name="Picture 14">
            <a:extLst>
              <a:ext uri="{FF2B5EF4-FFF2-40B4-BE49-F238E27FC236}">
                <a16:creationId xmlns:a16="http://schemas.microsoft.com/office/drawing/2014/main" id="{AD1F7F49-5389-4EC7-807B-255855103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828800"/>
            <a:ext cx="9144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9" name="Picture 15">
            <a:extLst>
              <a:ext uri="{FF2B5EF4-FFF2-40B4-BE49-F238E27FC236}">
                <a16:creationId xmlns:a16="http://schemas.microsoft.com/office/drawing/2014/main" id="{A1171C03-D932-4AA3-AFE3-C2BE3DCA3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133600"/>
            <a:ext cx="11430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0" name="Picture 16">
            <a:extLst>
              <a:ext uri="{FF2B5EF4-FFF2-40B4-BE49-F238E27FC236}">
                <a16:creationId xmlns:a16="http://schemas.microsoft.com/office/drawing/2014/main" id="{C6AF81D1-E77D-43EC-B97B-B9849A978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819400"/>
            <a:ext cx="3810000" cy="43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1" name="Picture 17">
            <a:extLst>
              <a:ext uri="{FF2B5EF4-FFF2-40B4-BE49-F238E27FC236}">
                <a16:creationId xmlns:a16="http://schemas.microsoft.com/office/drawing/2014/main" id="{92AAB269-E5B7-49C3-8775-57DBF4204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29000"/>
            <a:ext cx="3352800" cy="105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2" name="Picture 18">
            <a:extLst>
              <a:ext uri="{FF2B5EF4-FFF2-40B4-BE49-F238E27FC236}">
                <a16:creationId xmlns:a16="http://schemas.microsoft.com/office/drawing/2014/main" id="{4281577C-2946-4A87-B777-347235C57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648200"/>
            <a:ext cx="76200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83" name="Picture 19">
            <a:extLst>
              <a:ext uri="{FF2B5EF4-FFF2-40B4-BE49-F238E27FC236}">
                <a16:creationId xmlns:a16="http://schemas.microsoft.com/office/drawing/2014/main" id="{08127ED6-801F-4F35-9EAE-07B184EF9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5257800"/>
            <a:ext cx="10668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56" name="Rectangle 20">
            <a:extLst>
              <a:ext uri="{FF2B5EF4-FFF2-40B4-BE49-F238E27FC236}">
                <a16:creationId xmlns:a16="http://schemas.microsoft.com/office/drawing/2014/main" id="{232BFCDE-8252-41C5-AD7B-1B954089C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1133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练习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4" name="日期占位符 5">
            <a:extLst>
              <a:ext uri="{FF2B5EF4-FFF2-40B4-BE49-F238E27FC236}">
                <a16:creationId xmlns:a16="http://schemas.microsoft.com/office/drawing/2014/main" id="{B475A8B5-5B0A-4386-81D4-D5A741C5AA5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5A5077-FD7F-483D-B431-107774B9CCF9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7655" name="页脚占位符 6">
            <a:extLst>
              <a:ext uri="{FF2B5EF4-FFF2-40B4-BE49-F238E27FC236}">
                <a16:creationId xmlns:a16="http://schemas.microsoft.com/office/drawing/2014/main" id="{762CF3A7-79B0-4E2A-8C60-A4F2ECA59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27656" name="灯片编号占位符 7">
            <a:extLst>
              <a:ext uri="{FF2B5EF4-FFF2-40B4-BE49-F238E27FC236}">
                <a16:creationId xmlns:a16="http://schemas.microsoft.com/office/drawing/2014/main" id="{C6AF3565-34FA-435D-ABE0-AA578EA5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7E75D7-F4CC-4C43-96E5-ED8B205373ED}" type="slidenum">
              <a:rPr lang="en-US" altLang="zh-CN"/>
              <a:pPr eaLnBrk="1" hangingPunct="1"/>
              <a:t>40</a:t>
            </a:fld>
            <a:endParaRPr lang="en-US" altLang="zh-CN"/>
          </a:p>
        </p:txBody>
      </p:sp>
      <p:graphicFrame>
        <p:nvGraphicFramePr>
          <p:cNvPr id="46083" name="Object 3">
            <a:extLst>
              <a:ext uri="{FF2B5EF4-FFF2-40B4-BE49-F238E27FC236}">
                <a16:creationId xmlns:a16="http://schemas.microsoft.com/office/drawing/2014/main" id="{ED2A5C8D-30BD-4FF8-9E71-FDACD4AA08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914400"/>
          <a:ext cx="78486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6" name="Equation" r:id="rId3" imgW="3022560" imgH="215640" progId="Equation.DSMT4">
                  <p:embed/>
                </p:oleObj>
              </mc:Choice>
              <mc:Fallback>
                <p:oleObj name="Equation" r:id="rId3" imgW="3022560" imgH="215640" progId="Equation.DSMT4">
                  <p:embed/>
                  <p:pic>
                    <p:nvPicPr>
                      <p:cNvPr id="46083" name="Object 3">
                        <a:extLst>
                          <a:ext uri="{FF2B5EF4-FFF2-40B4-BE49-F238E27FC236}">
                            <a16:creationId xmlns:a16="http://schemas.microsoft.com/office/drawing/2014/main" id="{ED2A5C8D-30BD-4FF8-9E71-FDACD4AA08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14400"/>
                        <a:ext cx="78486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Rectangle 4">
            <a:extLst>
              <a:ext uri="{FF2B5EF4-FFF2-40B4-BE49-F238E27FC236}">
                <a16:creationId xmlns:a16="http://schemas.microsoft.com/office/drawing/2014/main" id="{98CA27C1-E968-462D-AC7F-CE5AC3AF1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"/>
            <a:ext cx="1133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练习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27658" name="Rectangle 5">
            <a:extLst>
              <a:ext uri="{FF2B5EF4-FFF2-40B4-BE49-F238E27FC236}">
                <a16:creationId xmlns:a16="http://schemas.microsoft.com/office/drawing/2014/main" id="{93878ADF-188C-4272-8D30-F8A4A9C8D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04800"/>
            <a:ext cx="1716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另一种解法</a:t>
            </a:r>
          </a:p>
        </p:txBody>
      </p:sp>
      <p:graphicFrame>
        <p:nvGraphicFramePr>
          <p:cNvPr id="46086" name="Object 6">
            <a:extLst>
              <a:ext uri="{FF2B5EF4-FFF2-40B4-BE49-F238E27FC236}">
                <a16:creationId xmlns:a16="http://schemas.microsoft.com/office/drawing/2014/main" id="{30EE2A15-35DC-4DB2-A0C1-3B2127581D6E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228600" y="1600200"/>
          <a:ext cx="48006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7" name="Equation" r:id="rId5" imgW="2387520" imgH="253800" progId="Equation.DSMT4">
                  <p:embed/>
                </p:oleObj>
              </mc:Choice>
              <mc:Fallback>
                <p:oleObj name="Equation" r:id="rId5" imgW="2387520" imgH="253800" progId="Equation.DSMT4">
                  <p:embed/>
                  <p:pic>
                    <p:nvPicPr>
                      <p:cNvPr id="46086" name="Object 6">
                        <a:extLst>
                          <a:ext uri="{FF2B5EF4-FFF2-40B4-BE49-F238E27FC236}">
                            <a16:creationId xmlns:a16="http://schemas.microsoft.com/office/drawing/2014/main" id="{30EE2A15-35DC-4DB2-A0C1-3B2127581D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600200"/>
                        <a:ext cx="48006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1" name="Object 11">
            <a:extLst>
              <a:ext uri="{FF2B5EF4-FFF2-40B4-BE49-F238E27FC236}">
                <a16:creationId xmlns:a16="http://schemas.microsoft.com/office/drawing/2014/main" id="{D8808848-2ED2-4A38-A41C-5D2106F1087B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762000" y="4648200"/>
          <a:ext cx="60960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8" name="Equation" r:id="rId7" imgW="2044440" imgH="215640" progId="Equation.DSMT4">
                  <p:embed/>
                </p:oleObj>
              </mc:Choice>
              <mc:Fallback>
                <p:oleObj name="Equation" r:id="rId7" imgW="2044440" imgH="215640" progId="Equation.DSMT4">
                  <p:embed/>
                  <p:pic>
                    <p:nvPicPr>
                      <p:cNvPr id="46091" name="Object 11">
                        <a:extLst>
                          <a:ext uri="{FF2B5EF4-FFF2-40B4-BE49-F238E27FC236}">
                            <a16:creationId xmlns:a16="http://schemas.microsoft.com/office/drawing/2014/main" id="{D8808848-2ED2-4A38-A41C-5D2106F108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648200"/>
                        <a:ext cx="6096000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4" name="Object 14">
            <a:extLst>
              <a:ext uri="{FF2B5EF4-FFF2-40B4-BE49-F238E27FC236}">
                <a16:creationId xmlns:a16="http://schemas.microsoft.com/office/drawing/2014/main" id="{D47188AA-8C51-4B03-A78C-072660E186DD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81000" y="2362200"/>
          <a:ext cx="4648200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9" name="Equation" r:id="rId9" imgW="2234880" imgH="711000" progId="Equation.DSMT4">
                  <p:embed/>
                </p:oleObj>
              </mc:Choice>
              <mc:Fallback>
                <p:oleObj name="Equation" r:id="rId9" imgW="2234880" imgH="711000" progId="Equation.DSMT4">
                  <p:embed/>
                  <p:pic>
                    <p:nvPicPr>
                      <p:cNvPr id="46094" name="Object 14">
                        <a:extLst>
                          <a:ext uri="{FF2B5EF4-FFF2-40B4-BE49-F238E27FC236}">
                            <a16:creationId xmlns:a16="http://schemas.microsoft.com/office/drawing/2014/main" id="{D47188AA-8C51-4B03-A78C-072660E186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362200"/>
                        <a:ext cx="4648200" cy="147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7" name="Rectangle 17">
            <a:extLst>
              <a:ext uri="{FF2B5EF4-FFF2-40B4-BE49-F238E27FC236}">
                <a16:creationId xmlns:a16="http://schemas.microsoft.com/office/drawing/2014/main" id="{56684839-63CC-4BCC-B155-9347F12A5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114800"/>
            <a:ext cx="182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由定理</a:t>
            </a:r>
            <a:r>
              <a:rPr lang="en-US" altLang="zh-CN" sz="2400" b="1"/>
              <a:t>3.3</a:t>
            </a:r>
            <a:r>
              <a:rPr lang="zh-CN" altLang="en-US" sz="2400" b="1"/>
              <a:t>得</a:t>
            </a:r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日期占位符 1">
            <a:extLst>
              <a:ext uri="{FF2B5EF4-FFF2-40B4-BE49-F238E27FC236}">
                <a16:creationId xmlns:a16="http://schemas.microsoft.com/office/drawing/2014/main" id="{DE0AAC7B-34A0-4C9E-89DD-C1EA89646BF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BAA0CDC-DC8A-43DE-AD61-70C7DFAB35F0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8679" name="页脚占位符 2">
            <a:extLst>
              <a:ext uri="{FF2B5EF4-FFF2-40B4-BE49-F238E27FC236}">
                <a16:creationId xmlns:a16="http://schemas.microsoft.com/office/drawing/2014/main" id="{05453A06-E25F-4CD3-BCFA-1696F3C1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28680" name="灯片编号占位符 3">
            <a:extLst>
              <a:ext uri="{FF2B5EF4-FFF2-40B4-BE49-F238E27FC236}">
                <a16:creationId xmlns:a16="http://schemas.microsoft.com/office/drawing/2014/main" id="{98426EB3-E2DC-4EA1-8B3D-AD5AEBAE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10714F2-1034-48BF-A2AB-9E3768E8F321}" type="slidenum">
              <a:rPr lang="en-US" altLang="zh-CN"/>
              <a:pPr eaLnBrk="1" hangingPunct="1"/>
              <a:t>41</a:t>
            </a:fld>
            <a:endParaRPr lang="en-US" altLang="zh-CN"/>
          </a:p>
        </p:txBody>
      </p:sp>
      <p:graphicFrame>
        <p:nvGraphicFramePr>
          <p:cNvPr id="44034" name="Object 2">
            <a:extLst>
              <a:ext uri="{FF2B5EF4-FFF2-40B4-BE49-F238E27FC236}">
                <a16:creationId xmlns:a16="http://schemas.microsoft.com/office/drawing/2014/main" id="{A1C4E554-CE84-4F25-B2FE-09BAB64AC9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41973"/>
              </p:ext>
            </p:extLst>
          </p:nvPr>
        </p:nvGraphicFramePr>
        <p:xfrm>
          <a:off x="142875" y="152400"/>
          <a:ext cx="7562850" cy="258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" name="Equation" r:id="rId3" imgW="3365280" imgH="1168200" progId="Equation.DSMT4">
                  <p:embed/>
                </p:oleObj>
              </mc:Choice>
              <mc:Fallback>
                <p:oleObj name="Equation" r:id="rId3" imgW="3365280" imgH="1168200" progId="Equation.DSMT4">
                  <p:embed/>
                  <p:pic>
                    <p:nvPicPr>
                      <p:cNvPr id="44034" name="Object 2">
                        <a:extLst>
                          <a:ext uri="{FF2B5EF4-FFF2-40B4-BE49-F238E27FC236}">
                            <a16:creationId xmlns:a16="http://schemas.microsoft.com/office/drawing/2014/main" id="{A1C4E554-CE84-4F25-B2FE-09BAB64AC9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152400"/>
                        <a:ext cx="7562850" cy="258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3">
            <a:extLst>
              <a:ext uri="{FF2B5EF4-FFF2-40B4-BE49-F238E27FC236}">
                <a16:creationId xmlns:a16="http://schemas.microsoft.com/office/drawing/2014/main" id="{9473B88E-0AC5-4380-9409-E4248662F3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2819400"/>
          <a:ext cx="74676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" name="Equation" r:id="rId5" imgW="3251160" imgH="685800" progId="Equation.DSMT4">
                  <p:embed/>
                </p:oleObj>
              </mc:Choice>
              <mc:Fallback>
                <p:oleObj name="Equation" r:id="rId5" imgW="3251160" imgH="685800" progId="Equation.DSMT4">
                  <p:embed/>
                  <p:pic>
                    <p:nvPicPr>
                      <p:cNvPr id="44035" name="Object 3">
                        <a:extLst>
                          <a:ext uri="{FF2B5EF4-FFF2-40B4-BE49-F238E27FC236}">
                            <a16:creationId xmlns:a16="http://schemas.microsoft.com/office/drawing/2014/main" id="{9473B88E-0AC5-4380-9409-E4248662F3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819400"/>
                        <a:ext cx="74676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4">
            <a:extLst>
              <a:ext uri="{FF2B5EF4-FFF2-40B4-BE49-F238E27FC236}">
                <a16:creationId xmlns:a16="http://schemas.microsoft.com/office/drawing/2014/main" id="{518FBB6D-0678-4E77-ACBE-F41CC5B9C7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4495800"/>
          <a:ext cx="6019800" cy="161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2" name="Equation" r:id="rId7" imgW="2793960" imgH="749160" progId="Equation.DSMT4">
                  <p:embed/>
                </p:oleObj>
              </mc:Choice>
              <mc:Fallback>
                <p:oleObj name="Equation" r:id="rId7" imgW="2793960" imgH="749160" progId="Equation.DSMT4">
                  <p:embed/>
                  <p:pic>
                    <p:nvPicPr>
                      <p:cNvPr id="44036" name="Object 4">
                        <a:extLst>
                          <a:ext uri="{FF2B5EF4-FFF2-40B4-BE49-F238E27FC236}">
                            <a16:creationId xmlns:a16="http://schemas.microsoft.com/office/drawing/2014/main" id="{518FBB6D-0678-4E77-ACBE-F41CC5B9C7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495800"/>
                        <a:ext cx="6019800" cy="161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>
            <a:extLst>
              <a:ext uri="{FF2B5EF4-FFF2-40B4-BE49-F238E27FC236}">
                <a16:creationId xmlns:a16="http://schemas.microsoft.com/office/drawing/2014/main" id="{3DEEA8E7-CDA4-40A4-ACDC-B4A2066554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2514600"/>
          <a:ext cx="3455988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3" name="Equation" r:id="rId9" imgW="1688760" imgH="431640" progId="Equation.DSMT4">
                  <p:embed/>
                </p:oleObj>
              </mc:Choice>
              <mc:Fallback>
                <p:oleObj name="Equation" r:id="rId9" imgW="1688760" imgH="431640" progId="Equation.DSMT4">
                  <p:embed/>
                  <p:pic>
                    <p:nvPicPr>
                      <p:cNvPr id="28677" name="Object 5">
                        <a:extLst>
                          <a:ext uri="{FF2B5EF4-FFF2-40B4-BE49-F238E27FC236}">
                            <a16:creationId xmlns:a16="http://schemas.microsoft.com/office/drawing/2014/main" id="{3DEEA8E7-CDA4-40A4-ACDC-B4A2066554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514600"/>
                        <a:ext cx="3455988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日期占位符 3">
            <a:extLst>
              <a:ext uri="{FF2B5EF4-FFF2-40B4-BE49-F238E27FC236}">
                <a16:creationId xmlns:a16="http://schemas.microsoft.com/office/drawing/2014/main" id="{B01636BE-D177-44D0-8500-D74CB3FFC0C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03AF179-4D2B-49BB-9295-CB097DB7448E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9701" name="页脚占位符 4">
            <a:extLst>
              <a:ext uri="{FF2B5EF4-FFF2-40B4-BE49-F238E27FC236}">
                <a16:creationId xmlns:a16="http://schemas.microsoft.com/office/drawing/2014/main" id="{9983E09F-2ED0-400E-9167-2566CF12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(Spring,2010,24ppt)</a:t>
            </a:r>
          </a:p>
        </p:txBody>
      </p:sp>
      <p:sp>
        <p:nvSpPr>
          <p:cNvPr id="29702" name="灯片编号占位符 5">
            <a:extLst>
              <a:ext uri="{FF2B5EF4-FFF2-40B4-BE49-F238E27FC236}">
                <a16:creationId xmlns:a16="http://schemas.microsoft.com/office/drawing/2014/main" id="{5B150536-CB28-4679-950E-473C2E928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9EBE64-FE26-4258-836D-FCAFED2624B4}" type="slidenum">
              <a:rPr lang="en-US" altLang="zh-CN"/>
              <a:pPr eaLnBrk="1" hangingPunct="1"/>
              <a:t>42</a:t>
            </a:fld>
            <a:endParaRPr lang="en-US" altLang="zh-CN"/>
          </a:p>
        </p:txBody>
      </p:sp>
      <p:graphicFrame>
        <p:nvGraphicFramePr>
          <p:cNvPr id="45058" name="Object 2">
            <a:extLst>
              <a:ext uri="{FF2B5EF4-FFF2-40B4-BE49-F238E27FC236}">
                <a16:creationId xmlns:a16="http://schemas.microsoft.com/office/drawing/2014/main" id="{1F4FB2BC-D3A0-485A-B623-E0EB320686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0"/>
          <a:ext cx="6705600" cy="400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8" name="Equation" r:id="rId3" imgW="3111480" imgH="2082600" progId="Equation.DSMT4">
                  <p:embed/>
                </p:oleObj>
              </mc:Choice>
              <mc:Fallback>
                <p:oleObj name="Equation" r:id="rId3" imgW="3111480" imgH="2082600" progId="Equation.DSMT4">
                  <p:embed/>
                  <p:pic>
                    <p:nvPicPr>
                      <p:cNvPr id="45058" name="Object 2">
                        <a:extLst>
                          <a:ext uri="{FF2B5EF4-FFF2-40B4-BE49-F238E27FC236}">
                            <a16:creationId xmlns:a16="http://schemas.microsoft.com/office/drawing/2014/main" id="{1F4FB2BC-D3A0-485A-B623-E0EB320686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0"/>
                        <a:ext cx="6705600" cy="400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>
            <a:extLst>
              <a:ext uri="{FF2B5EF4-FFF2-40B4-BE49-F238E27FC236}">
                <a16:creationId xmlns:a16="http://schemas.microsoft.com/office/drawing/2014/main" id="{AF56E328-F294-4D6A-860B-7021C3EE32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4038600"/>
          <a:ext cx="7543800" cy="219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9" name="Equation" r:id="rId5" imgW="3848040" imgH="1117440" progId="Equation.DSMT4">
                  <p:embed/>
                </p:oleObj>
              </mc:Choice>
              <mc:Fallback>
                <p:oleObj name="Equation" r:id="rId5" imgW="3848040" imgH="1117440" progId="Equation.DSMT4">
                  <p:embed/>
                  <p:pic>
                    <p:nvPicPr>
                      <p:cNvPr id="45059" name="Object 3">
                        <a:extLst>
                          <a:ext uri="{FF2B5EF4-FFF2-40B4-BE49-F238E27FC236}">
                            <a16:creationId xmlns:a16="http://schemas.microsoft.com/office/drawing/2014/main" id="{AF56E328-F294-4D6A-860B-7021C3EE32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038600"/>
                        <a:ext cx="7543800" cy="219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4" name="日期占位符 1">
            <a:extLst>
              <a:ext uri="{FF2B5EF4-FFF2-40B4-BE49-F238E27FC236}">
                <a16:creationId xmlns:a16="http://schemas.microsoft.com/office/drawing/2014/main" id="{9B566BAE-247F-4D40-AB9C-1E22D9E5E71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80C580D-8A93-4121-8370-D26BAF997557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0735" name="页脚占位符 2">
            <a:extLst>
              <a:ext uri="{FF2B5EF4-FFF2-40B4-BE49-F238E27FC236}">
                <a16:creationId xmlns:a16="http://schemas.microsoft.com/office/drawing/2014/main" id="{BF4C51E2-70B7-400F-86A5-3C2A1C0BE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0736" name="灯片编号占位符 3">
            <a:extLst>
              <a:ext uri="{FF2B5EF4-FFF2-40B4-BE49-F238E27FC236}">
                <a16:creationId xmlns:a16="http://schemas.microsoft.com/office/drawing/2014/main" id="{6D8B047D-CEE5-48DB-AC77-54EDF795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A715C7-DA50-4DA8-9DCB-04C29A356E61}" type="slidenum">
              <a:rPr lang="en-US" altLang="zh-CN"/>
              <a:pPr eaLnBrk="1" hangingPunct="1"/>
              <a:t>43</a:t>
            </a:fld>
            <a:endParaRPr lang="en-US" altLang="zh-CN"/>
          </a:p>
        </p:txBody>
      </p:sp>
      <p:sp>
        <p:nvSpPr>
          <p:cNvPr id="30737" name="Rectangle 13">
            <a:extLst>
              <a:ext uri="{FF2B5EF4-FFF2-40B4-BE49-F238E27FC236}">
                <a16:creationId xmlns:a16="http://schemas.microsoft.com/office/drawing/2014/main" id="{E6EAA2DB-1E67-444B-8FDE-03D16445D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30722" name="Object 2">
            <a:extLst>
              <a:ext uri="{FF2B5EF4-FFF2-40B4-BE49-F238E27FC236}">
                <a16:creationId xmlns:a16="http://schemas.microsoft.com/office/drawing/2014/main" id="{5FD80F70-9828-47D8-8678-734FD7376C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115888"/>
          <a:ext cx="1296987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2" name="Equation" r:id="rId3" imgW="812447" imgH="698197" progId="Equation.DSMT4">
                  <p:embed/>
                </p:oleObj>
              </mc:Choice>
              <mc:Fallback>
                <p:oleObj name="Equation" r:id="rId3" imgW="812447" imgH="698197" progId="Equation.DSMT4">
                  <p:embed/>
                  <p:pic>
                    <p:nvPicPr>
                      <p:cNvPr id="30722" name="Object 2">
                        <a:extLst>
                          <a:ext uri="{FF2B5EF4-FFF2-40B4-BE49-F238E27FC236}">
                            <a16:creationId xmlns:a16="http://schemas.microsoft.com/office/drawing/2014/main" id="{5FD80F70-9828-47D8-8678-734FD7376C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15888"/>
                        <a:ext cx="1296987" cy="111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>
            <a:extLst>
              <a:ext uri="{FF2B5EF4-FFF2-40B4-BE49-F238E27FC236}">
                <a16:creationId xmlns:a16="http://schemas.microsoft.com/office/drawing/2014/main" id="{092E0F78-A73B-4FD3-BEC1-91856B43F4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908050"/>
          <a:ext cx="1439863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3" name="Equation" r:id="rId5" imgW="800100" imgH="698500" progId="Equation.DSMT4">
                  <p:embed/>
                </p:oleObj>
              </mc:Choice>
              <mc:Fallback>
                <p:oleObj name="Equation" r:id="rId5" imgW="800100" imgH="698500" progId="Equation.DSMT4">
                  <p:embed/>
                  <p:pic>
                    <p:nvPicPr>
                      <p:cNvPr id="30723" name="Object 3">
                        <a:extLst>
                          <a:ext uri="{FF2B5EF4-FFF2-40B4-BE49-F238E27FC236}">
                            <a16:creationId xmlns:a16="http://schemas.microsoft.com/office/drawing/2014/main" id="{092E0F78-A73B-4FD3-BEC1-91856B43F4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908050"/>
                        <a:ext cx="1439863" cy="1250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>
            <a:extLst>
              <a:ext uri="{FF2B5EF4-FFF2-40B4-BE49-F238E27FC236}">
                <a16:creationId xmlns:a16="http://schemas.microsoft.com/office/drawing/2014/main" id="{071A3B1F-4F34-4889-9A9C-C18F582617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1484313"/>
          <a:ext cx="576262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4" name="Equation" r:id="rId7" imgW="266469" imgH="139579" progId="Equation.DSMT4">
                  <p:embed/>
                </p:oleObj>
              </mc:Choice>
              <mc:Fallback>
                <p:oleObj name="Equation" r:id="rId7" imgW="266469" imgH="139579" progId="Equation.DSMT4">
                  <p:embed/>
                  <p:pic>
                    <p:nvPicPr>
                      <p:cNvPr id="30724" name="Object 4">
                        <a:extLst>
                          <a:ext uri="{FF2B5EF4-FFF2-40B4-BE49-F238E27FC236}">
                            <a16:creationId xmlns:a16="http://schemas.microsoft.com/office/drawing/2014/main" id="{071A3B1F-4F34-4889-9A9C-C18F582617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484313"/>
                        <a:ext cx="576262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>
            <a:extLst>
              <a:ext uri="{FF2B5EF4-FFF2-40B4-BE49-F238E27FC236}">
                <a16:creationId xmlns:a16="http://schemas.microsoft.com/office/drawing/2014/main" id="{32D9934E-154C-45D7-B1B5-E0B140EDCA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1484313"/>
          <a:ext cx="57467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5" name="Equation" r:id="rId9" imgW="266353" imgH="164885" progId="Equation.DSMT4">
                  <p:embed/>
                </p:oleObj>
              </mc:Choice>
              <mc:Fallback>
                <p:oleObj name="Equation" r:id="rId9" imgW="266353" imgH="164885" progId="Equation.DSMT4">
                  <p:embed/>
                  <p:pic>
                    <p:nvPicPr>
                      <p:cNvPr id="30725" name="Object 5">
                        <a:extLst>
                          <a:ext uri="{FF2B5EF4-FFF2-40B4-BE49-F238E27FC236}">
                            <a16:creationId xmlns:a16="http://schemas.microsoft.com/office/drawing/2014/main" id="{32D9934E-154C-45D7-B1B5-E0B140EDC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484313"/>
                        <a:ext cx="574675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8" name="Rectangle 19">
            <a:extLst>
              <a:ext uri="{FF2B5EF4-FFF2-40B4-BE49-F238E27FC236}">
                <a16:creationId xmlns:a16="http://schemas.microsoft.com/office/drawing/2014/main" id="{47F0F800-261B-4AB6-80AA-9AF69891B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85763"/>
            <a:ext cx="439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设矩阵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相似，其中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endParaRPr lang="en-US" altLang="zh-CN" sz="2400"/>
          </a:p>
        </p:txBody>
      </p:sp>
      <p:sp>
        <p:nvSpPr>
          <p:cNvPr id="30739" name="Rectangle 20">
            <a:extLst>
              <a:ext uri="{FF2B5EF4-FFF2-40B4-BE49-F238E27FC236}">
                <a16:creationId xmlns:a16="http://schemas.microsoft.com/office/drawing/2014/main" id="{8B0457FA-95D2-4671-A7EE-8B9F70497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95388"/>
            <a:ext cx="1008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endParaRPr lang="en-US" altLang="zh-CN" sz="2400"/>
          </a:p>
        </p:txBody>
      </p:sp>
      <p:sp>
        <p:nvSpPr>
          <p:cNvPr id="30740" name="Rectangle 21">
            <a:extLst>
              <a:ext uri="{FF2B5EF4-FFF2-40B4-BE49-F238E27FC236}">
                <a16:creationId xmlns:a16="http://schemas.microsoft.com/office/drawing/2014/main" id="{985E54AE-E8C2-4E3C-A3DB-17E4DC515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1339850"/>
            <a:ext cx="565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sz="2400"/>
          </a:p>
        </p:txBody>
      </p:sp>
      <p:sp>
        <p:nvSpPr>
          <p:cNvPr id="30741" name="Rectangle 22">
            <a:extLst>
              <a:ext uri="{FF2B5EF4-FFF2-40B4-BE49-F238E27FC236}">
                <a16:creationId xmlns:a16="http://schemas.microsoft.com/office/drawing/2014/main" id="{B1C1B1AC-7CB6-4973-B543-177A2A95B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1338263"/>
            <a:ext cx="801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400"/>
          </a:p>
        </p:txBody>
      </p:sp>
      <p:grpSp>
        <p:nvGrpSpPr>
          <p:cNvPr id="2" name="组合 32">
            <a:extLst>
              <a:ext uri="{FF2B5EF4-FFF2-40B4-BE49-F238E27FC236}">
                <a16:creationId xmlns:a16="http://schemas.microsoft.com/office/drawing/2014/main" id="{C228A0FD-3B90-48C0-A6E0-7F92020FB686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2492375"/>
            <a:ext cx="8561387" cy="554038"/>
            <a:chOff x="322660" y="2492896"/>
            <a:chExt cx="8561387" cy="554038"/>
          </a:xfrm>
        </p:grpSpPr>
        <p:sp>
          <p:nvSpPr>
            <p:cNvPr id="30753" name="Rectangle 24">
              <a:extLst>
                <a:ext uri="{FF2B5EF4-FFF2-40B4-BE49-F238E27FC236}">
                  <a16:creationId xmlns:a16="http://schemas.microsoft.com/office/drawing/2014/main" id="{0F05691B-A816-4296-8636-0FF8A2885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60" y="2492896"/>
              <a:ext cx="33131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i="1"/>
                <a:t>因为</a:t>
              </a:r>
              <a:r>
                <a:rPr lang="en-US" altLang="zh-CN" sz="2400" b="1" i="1"/>
                <a:t>A</a:t>
              </a:r>
              <a:r>
                <a:rPr lang="zh-CN" altLang="en-US" sz="2400"/>
                <a:t>和</a:t>
              </a:r>
              <a:r>
                <a:rPr lang="en-US" altLang="zh-CN" sz="2400" b="1" i="1"/>
                <a:t>B</a:t>
              </a:r>
              <a:r>
                <a:rPr lang="zh-CN" altLang="en-US" sz="2400"/>
                <a:t>相似，所以</a:t>
              </a:r>
            </a:p>
          </p:txBody>
        </p:sp>
        <p:graphicFrame>
          <p:nvGraphicFramePr>
            <p:cNvPr id="30733" name="Object 7">
              <a:extLst>
                <a:ext uri="{FF2B5EF4-FFF2-40B4-BE49-F238E27FC236}">
                  <a16:creationId xmlns:a16="http://schemas.microsoft.com/office/drawing/2014/main" id="{6F947ECA-3E76-4F4F-B0B1-BC338EC745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19872" y="2492896"/>
            <a:ext cx="5464175" cy="554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6" name="Equation" r:id="rId11" imgW="2501640" imgH="253800" progId="Equation.DSMT4">
                    <p:embed/>
                  </p:oleObj>
                </mc:Choice>
                <mc:Fallback>
                  <p:oleObj name="Equation" r:id="rId11" imgW="2501640" imgH="253800" progId="Equation.DSMT4">
                    <p:embed/>
                    <p:pic>
                      <p:nvPicPr>
                        <p:cNvPr id="30733" name="Object 7">
                          <a:extLst>
                            <a:ext uri="{FF2B5EF4-FFF2-40B4-BE49-F238E27FC236}">
                              <a16:creationId xmlns:a16="http://schemas.microsoft.com/office/drawing/2014/main" id="{6F947ECA-3E76-4F4F-B0B1-BC338EC745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872" y="2492896"/>
                          <a:ext cx="5464175" cy="5540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33">
            <a:extLst>
              <a:ext uri="{FF2B5EF4-FFF2-40B4-BE49-F238E27FC236}">
                <a16:creationId xmlns:a16="http://schemas.microsoft.com/office/drawing/2014/main" id="{9F7BEAE6-A4A9-400B-8D29-8A2545C4C262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284538"/>
            <a:ext cx="7775575" cy="1489075"/>
            <a:chOff x="468313" y="3284984"/>
            <a:chExt cx="7775475" cy="1489075"/>
          </a:xfrm>
        </p:grpSpPr>
        <p:sp>
          <p:nvSpPr>
            <p:cNvPr id="30750" name="Rectangle 26">
              <a:extLst>
                <a:ext uri="{FF2B5EF4-FFF2-40B4-BE49-F238E27FC236}">
                  <a16:creationId xmlns:a16="http://schemas.microsoft.com/office/drawing/2014/main" id="{6A4BF2D5-32D8-41A5-A6A7-D923E9D92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313" y="3573463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由</a:t>
              </a:r>
            </a:p>
          </p:txBody>
        </p:sp>
        <p:graphicFrame>
          <p:nvGraphicFramePr>
            <p:cNvPr id="30730" name="Object 10">
              <a:extLst>
                <a:ext uri="{FF2B5EF4-FFF2-40B4-BE49-F238E27FC236}">
                  <a16:creationId xmlns:a16="http://schemas.microsoft.com/office/drawing/2014/main" id="{DD3C3DA7-3540-456B-A48B-F3AFC772E5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3608" y="3501008"/>
            <a:ext cx="1800225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7" name="Equation" r:id="rId13" imgW="736560" imgH="241200" progId="Equation.DSMT4">
                    <p:embed/>
                  </p:oleObj>
                </mc:Choice>
                <mc:Fallback>
                  <p:oleObj name="Equation" r:id="rId13" imgW="736560" imgH="241200" progId="Equation.DSMT4">
                    <p:embed/>
                    <p:pic>
                      <p:nvPicPr>
                        <p:cNvPr id="30730" name="Object 10">
                          <a:extLst>
                            <a:ext uri="{FF2B5EF4-FFF2-40B4-BE49-F238E27FC236}">
                              <a16:creationId xmlns:a16="http://schemas.microsoft.com/office/drawing/2014/main" id="{DD3C3DA7-3540-456B-A48B-F3AFC772E5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608" y="3501008"/>
                          <a:ext cx="1800225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1" name="Rectangle 37">
              <a:extLst>
                <a:ext uri="{FF2B5EF4-FFF2-40B4-BE49-F238E27FC236}">
                  <a16:creationId xmlns:a16="http://schemas.microsoft.com/office/drawing/2014/main" id="{5577DF91-1495-479A-B251-421638AD3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7824" y="3645024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得</a:t>
              </a:r>
            </a:p>
          </p:txBody>
        </p:sp>
        <p:graphicFrame>
          <p:nvGraphicFramePr>
            <p:cNvPr id="30731" name="Object 11">
              <a:extLst>
                <a:ext uri="{FF2B5EF4-FFF2-40B4-BE49-F238E27FC236}">
                  <a16:creationId xmlns:a16="http://schemas.microsoft.com/office/drawing/2014/main" id="{90DF7D5B-13CE-4305-A6FE-76462AD7A3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5896" y="3284984"/>
            <a:ext cx="2519363" cy="1489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8" name="Equation" r:id="rId15" imgW="1180800" imgH="698400" progId="Equation.DSMT4">
                    <p:embed/>
                  </p:oleObj>
                </mc:Choice>
                <mc:Fallback>
                  <p:oleObj name="Equation" r:id="rId15" imgW="1180800" imgH="698400" progId="Equation.DSMT4">
                    <p:embed/>
                    <p:pic>
                      <p:nvPicPr>
                        <p:cNvPr id="30731" name="Object 11">
                          <a:extLst>
                            <a:ext uri="{FF2B5EF4-FFF2-40B4-BE49-F238E27FC236}">
                              <a16:creationId xmlns:a16="http://schemas.microsoft.com/office/drawing/2014/main" id="{90DF7D5B-13CE-4305-A6FE-76462AD7A3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896" y="3284984"/>
                          <a:ext cx="2519363" cy="1489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2" name="Rectangle 39">
              <a:extLst>
                <a:ext uri="{FF2B5EF4-FFF2-40B4-BE49-F238E27FC236}">
                  <a16:creationId xmlns:a16="http://schemas.microsoft.com/office/drawing/2014/main" id="{71583F1C-9BC6-4DBA-B8E4-E118126EA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3789040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解得</a:t>
              </a:r>
            </a:p>
          </p:txBody>
        </p:sp>
        <p:graphicFrame>
          <p:nvGraphicFramePr>
            <p:cNvPr id="30732" name="Object 12">
              <a:extLst>
                <a:ext uri="{FF2B5EF4-FFF2-40B4-BE49-F238E27FC236}">
                  <a16:creationId xmlns:a16="http://schemas.microsoft.com/office/drawing/2014/main" id="{8869B9D4-558C-46A7-B690-318F1E7786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64288" y="3789040"/>
            <a:ext cx="1079500" cy="539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69" name="Equation" r:id="rId17" imgW="406080" imgH="203040" progId="Equation.DSMT4">
                    <p:embed/>
                  </p:oleObj>
                </mc:Choice>
                <mc:Fallback>
                  <p:oleObj name="Equation" r:id="rId17" imgW="406080" imgH="203040" progId="Equation.DSMT4">
                    <p:embed/>
                    <p:pic>
                      <p:nvPicPr>
                        <p:cNvPr id="30732" name="Object 12">
                          <a:extLst>
                            <a:ext uri="{FF2B5EF4-FFF2-40B4-BE49-F238E27FC236}">
                              <a16:creationId xmlns:a16="http://schemas.microsoft.com/office/drawing/2014/main" id="{8869B9D4-558C-46A7-B690-318F1E7786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4288" y="3789040"/>
                          <a:ext cx="1079500" cy="539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4">
            <a:extLst>
              <a:ext uri="{FF2B5EF4-FFF2-40B4-BE49-F238E27FC236}">
                <a16:creationId xmlns:a16="http://schemas.microsoft.com/office/drawing/2014/main" id="{A5492230-7EC2-4331-949E-FEBDB5928D03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4941888"/>
            <a:ext cx="6619875" cy="544512"/>
            <a:chOff x="250825" y="5157788"/>
            <a:chExt cx="6619875" cy="544512"/>
          </a:xfrm>
        </p:grpSpPr>
        <p:graphicFrame>
          <p:nvGraphicFramePr>
            <p:cNvPr id="30728" name="Object 8">
              <a:extLst>
                <a:ext uri="{FF2B5EF4-FFF2-40B4-BE49-F238E27FC236}">
                  <a16:creationId xmlns:a16="http://schemas.microsoft.com/office/drawing/2014/main" id="{42F4D5B8-FE6F-45FC-9803-690B32634C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8400" y="5229225"/>
            <a:ext cx="31623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70" name="Equation" r:id="rId19" imgW="1447560" imgH="203040" progId="Equation.DSMT4">
                    <p:embed/>
                  </p:oleObj>
                </mc:Choice>
                <mc:Fallback>
                  <p:oleObj name="Equation" r:id="rId19" imgW="1447560" imgH="203040" progId="Equation.DSMT4">
                    <p:embed/>
                    <p:pic>
                      <p:nvPicPr>
                        <p:cNvPr id="30728" name="Object 8">
                          <a:extLst>
                            <a:ext uri="{FF2B5EF4-FFF2-40B4-BE49-F238E27FC236}">
                              <a16:creationId xmlns:a16="http://schemas.microsoft.com/office/drawing/2014/main" id="{42F4D5B8-FE6F-45FC-9803-690B32634C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8400" y="5229225"/>
                          <a:ext cx="3162300" cy="4445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8" name="Rectangle 41">
              <a:extLst>
                <a:ext uri="{FF2B5EF4-FFF2-40B4-BE49-F238E27FC236}">
                  <a16:creationId xmlns:a16="http://schemas.microsoft.com/office/drawing/2014/main" id="{44977DE9-7561-433F-8271-794F1E4E0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" y="5157788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由</a:t>
              </a:r>
            </a:p>
          </p:txBody>
        </p:sp>
        <p:graphicFrame>
          <p:nvGraphicFramePr>
            <p:cNvPr id="30729" name="Object 13">
              <a:extLst>
                <a:ext uri="{FF2B5EF4-FFF2-40B4-BE49-F238E27FC236}">
                  <a16:creationId xmlns:a16="http://schemas.microsoft.com/office/drawing/2014/main" id="{5FDB9B45-2852-4E45-B452-3F3BC69E1E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2988" y="5157788"/>
            <a:ext cx="2016125" cy="544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71" name="Equation" r:id="rId21" imgW="939600" imgH="253800" progId="Equation.DSMT4">
                    <p:embed/>
                  </p:oleObj>
                </mc:Choice>
                <mc:Fallback>
                  <p:oleObj name="Equation" r:id="rId21" imgW="939600" imgH="253800" progId="Equation.DSMT4">
                    <p:embed/>
                    <p:pic>
                      <p:nvPicPr>
                        <p:cNvPr id="30729" name="Object 13">
                          <a:extLst>
                            <a:ext uri="{FF2B5EF4-FFF2-40B4-BE49-F238E27FC236}">
                              <a16:creationId xmlns:a16="http://schemas.microsoft.com/office/drawing/2014/main" id="{5FDB9B45-2852-4E45-B452-3F3BC69E1E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2988" y="5157788"/>
                          <a:ext cx="2016125" cy="544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9" name="Rectangle 43">
              <a:extLst>
                <a:ext uri="{FF2B5EF4-FFF2-40B4-BE49-F238E27FC236}">
                  <a16:creationId xmlns:a16="http://schemas.microsoft.com/office/drawing/2014/main" id="{25DF28BC-E63E-4F30-9E96-6952457B4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138" y="5157788"/>
              <a:ext cx="793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得</a:t>
              </a:r>
            </a:p>
          </p:txBody>
        </p:sp>
      </p:grpSp>
      <p:grpSp>
        <p:nvGrpSpPr>
          <p:cNvPr id="5" name="组合 35">
            <a:extLst>
              <a:ext uri="{FF2B5EF4-FFF2-40B4-BE49-F238E27FC236}">
                <a16:creationId xmlns:a16="http://schemas.microsoft.com/office/drawing/2014/main" id="{60C2AD90-CAE2-4030-8353-73E9A5E53B52}"/>
              </a:ext>
            </a:extLst>
          </p:cNvPr>
          <p:cNvGrpSpPr>
            <a:grpSpLocks/>
          </p:cNvGrpSpPr>
          <p:nvPr/>
        </p:nvGrpSpPr>
        <p:grpSpPr bwMode="auto">
          <a:xfrm>
            <a:off x="541338" y="5518150"/>
            <a:ext cx="4238625" cy="590550"/>
            <a:chOff x="540842" y="5518373"/>
            <a:chExt cx="4238625" cy="590550"/>
          </a:xfrm>
        </p:grpSpPr>
        <p:sp>
          <p:nvSpPr>
            <p:cNvPr id="30746" name="Rectangle 28">
              <a:extLst>
                <a:ext uri="{FF2B5EF4-FFF2-40B4-BE49-F238E27FC236}">
                  <a16:creationId xmlns:a16="http://schemas.microsoft.com/office/drawing/2014/main" id="{7F3D652F-3096-4C03-A017-20E24B393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842" y="5518373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将</a:t>
              </a:r>
            </a:p>
          </p:txBody>
        </p:sp>
        <p:graphicFrame>
          <p:nvGraphicFramePr>
            <p:cNvPr id="30726" name="Object 9">
              <a:extLst>
                <a:ext uri="{FF2B5EF4-FFF2-40B4-BE49-F238E27FC236}">
                  <a16:creationId xmlns:a16="http://schemas.microsoft.com/office/drawing/2014/main" id="{BD3ACB0C-0E7E-471A-AD30-3951EDA433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59979" y="5589811"/>
            <a:ext cx="796925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72" name="Equation" r:id="rId23" imgW="368280" imgH="177480" progId="Equation.DSMT4">
                    <p:embed/>
                  </p:oleObj>
                </mc:Choice>
                <mc:Fallback>
                  <p:oleObj name="Equation" r:id="rId23" imgW="368280" imgH="177480" progId="Equation.DSMT4">
                    <p:embed/>
                    <p:pic>
                      <p:nvPicPr>
                        <p:cNvPr id="30726" name="Object 9">
                          <a:extLst>
                            <a:ext uri="{FF2B5EF4-FFF2-40B4-BE49-F238E27FC236}">
                              <a16:creationId xmlns:a16="http://schemas.microsoft.com/office/drawing/2014/main" id="{BD3ACB0C-0E7E-471A-AD30-3951EDA433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9979" y="5589811"/>
                          <a:ext cx="796925" cy="390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7" name="Rectangle 44">
              <a:extLst>
                <a:ext uri="{FF2B5EF4-FFF2-40B4-BE49-F238E27FC236}">
                  <a16:creationId xmlns:a16="http://schemas.microsoft.com/office/drawing/2014/main" id="{A449B655-527B-4C42-AF5A-AA45334DF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604" y="5589811"/>
              <a:ext cx="15113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代入，得</a:t>
              </a:r>
            </a:p>
          </p:txBody>
        </p:sp>
        <p:graphicFrame>
          <p:nvGraphicFramePr>
            <p:cNvPr id="30727" name="Object 14">
              <a:extLst>
                <a:ext uri="{FF2B5EF4-FFF2-40B4-BE49-F238E27FC236}">
                  <a16:creationId xmlns:a16="http://schemas.microsoft.com/office/drawing/2014/main" id="{E4114CB4-E537-4BA3-AFA0-5533A1CF5E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7904" y="5661248"/>
            <a:ext cx="1071563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73" name="Equation" r:id="rId25" imgW="495000" imgH="203040" progId="Equation.DSMT4">
                    <p:embed/>
                  </p:oleObj>
                </mc:Choice>
                <mc:Fallback>
                  <p:oleObj name="Equation" r:id="rId25" imgW="495000" imgH="203040" progId="Equation.DSMT4">
                    <p:embed/>
                    <p:pic>
                      <p:nvPicPr>
                        <p:cNvPr id="30727" name="Object 14">
                          <a:extLst>
                            <a:ext uri="{FF2B5EF4-FFF2-40B4-BE49-F238E27FC236}">
                              <a16:creationId xmlns:a16="http://schemas.microsoft.com/office/drawing/2014/main" id="{E4114CB4-E537-4BA3-AFA0-5533A1CF5E9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904" y="5661248"/>
                          <a:ext cx="1071563" cy="447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日期占位符 1">
            <a:extLst>
              <a:ext uri="{FF2B5EF4-FFF2-40B4-BE49-F238E27FC236}">
                <a16:creationId xmlns:a16="http://schemas.microsoft.com/office/drawing/2014/main" id="{9E592258-3B08-46C5-8BCF-0569C21ED66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F768ADF-9FF6-492F-A9EA-01B42CACB020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1751" name="页脚占位符 2">
            <a:extLst>
              <a:ext uri="{FF2B5EF4-FFF2-40B4-BE49-F238E27FC236}">
                <a16:creationId xmlns:a16="http://schemas.microsoft.com/office/drawing/2014/main" id="{1D8675E8-2BCC-4518-92C5-4CF16DB4F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1752" name="灯片编号占位符 3">
            <a:extLst>
              <a:ext uri="{FF2B5EF4-FFF2-40B4-BE49-F238E27FC236}">
                <a16:creationId xmlns:a16="http://schemas.microsoft.com/office/drawing/2014/main" id="{55EB096D-56D0-45FA-AC4D-C4C35C99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4B720D-DACE-4747-A0F7-F147CB073DD1}" type="slidenum">
              <a:rPr lang="en-US" altLang="zh-CN"/>
              <a:pPr eaLnBrk="1" hangingPunct="1"/>
              <a:t>44</a:t>
            </a:fld>
            <a:endParaRPr lang="en-US" altLang="zh-CN"/>
          </a:p>
        </p:txBody>
      </p:sp>
      <p:sp>
        <p:nvSpPr>
          <p:cNvPr id="31753" name="Rectangle 2">
            <a:extLst>
              <a:ext uri="{FF2B5EF4-FFF2-40B4-BE49-F238E27FC236}">
                <a16:creationId xmlns:a16="http://schemas.microsoft.com/office/drawing/2014/main" id="{AAB607E3-C419-4D4A-AA54-7B634200E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4625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》2008-2009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31754" name="Rectangle 3">
            <a:extLst>
              <a:ext uri="{FF2B5EF4-FFF2-40B4-BE49-F238E27FC236}">
                <a16:creationId xmlns:a16="http://schemas.microsoft.com/office/drawing/2014/main" id="{D3E5D2E2-405D-470F-BA73-2E8339533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93725"/>
            <a:ext cx="1335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二、填空题</a:t>
            </a:r>
          </a:p>
        </p:txBody>
      </p:sp>
      <p:sp>
        <p:nvSpPr>
          <p:cNvPr id="31755" name="Rectangle 13">
            <a:extLst>
              <a:ext uri="{FF2B5EF4-FFF2-40B4-BE49-F238E27FC236}">
                <a16:creationId xmlns:a16="http://schemas.microsoft.com/office/drawing/2014/main" id="{9A047FF9-FCC9-4A2E-A240-FF36A3BB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47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1746" name="Object 2">
            <a:extLst>
              <a:ext uri="{FF2B5EF4-FFF2-40B4-BE49-F238E27FC236}">
                <a16:creationId xmlns:a16="http://schemas.microsoft.com/office/drawing/2014/main" id="{354BF7A0-C706-442B-9A32-AF66DED16C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836613"/>
          <a:ext cx="1512888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2" name="Equation" r:id="rId3" imgW="952087" imgH="710891" progId="Equation.DSMT4">
                  <p:embed/>
                </p:oleObj>
              </mc:Choice>
              <mc:Fallback>
                <p:oleObj name="Equation" r:id="rId3" imgW="952087" imgH="710891" progId="Equation.DSMT4">
                  <p:embed/>
                  <p:pic>
                    <p:nvPicPr>
                      <p:cNvPr id="31746" name="Object 2">
                        <a:extLst>
                          <a:ext uri="{FF2B5EF4-FFF2-40B4-BE49-F238E27FC236}">
                            <a16:creationId xmlns:a16="http://schemas.microsoft.com/office/drawing/2014/main" id="{354BF7A0-C706-442B-9A32-AF66DED16C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836613"/>
                        <a:ext cx="1512888" cy="1135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3">
            <a:extLst>
              <a:ext uri="{FF2B5EF4-FFF2-40B4-BE49-F238E27FC236}">
                <a16:creationId xmlns:a16="http://schemas.microsoft.com/office/drawing/2014/main" id="{E7AC214C-2341-41BE-9114-6F3F86FFFC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765175"/>
          <a:ext cx="1727200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3" name="Equation" r:id="rId5" imgW="952087" imgH="710891" progId="Equation.DSMT4">
                  <p:embed/>
                </p:oleObj>
              </mc:Choice>
              <mc:Fallback>
                <p:oleObj name="Equation" r:id="rId5" imgW="952087" imgH="710891" progId="Equation.DSMT4">
                  <p:embed/>
                  <p:pic>
                    <p:nvPicPr>
                      <p:cNvPr id="31747" name="Object 3">
                        <a:extLst>
                          <a:ext uri="{FF2B5EF4-FFF2-40B4-BE49-F238E27FC236}">
                            <a16:creationId xmlns:a16="http://schemas.microsoft.com/office/drawing/2014/main" id="{E7AC214C-2341-41BE-9114-6F3F86FFFC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765175"/>
                        <a:ext cx="1727200" cy="1296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>
            <a:extLst>
              <a:ext uri="{FF2B5EF4-FFF2-40B4-BE49-F238E27FC236}">
                <a16:creationId xmlns:a16="http://schemas.microsoft.com/office/drawing/2014/main" id="{4AB3CF4D-8B45-4159-ABD4-824E79DF22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1125538"/>
          <a:ext cx="18478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4" name="Equation" r:id="rId7" imgW="977760" imgH="253800" progId="Equation.DSMT4">
                  <p:embed/>
                </p:oleObj>
              </mc:Choice>
              <mc:Fallback>
                <p:oleObj name="Equation" r:id="rId7" imgW="977760" imgH="253800" progId="Equation.DSMT4">
                  <p:embed/>
                  <p:pic>
                    <p:nvPicPr>
                      <p:cNvPr id="31748" name="Object 4">
                        <a:extLst>
                          <a:ext uri="{FF2B5EF4-FFF2-40B4-BE49-F238E27FC236}">
                            <a16:creationId xmlns:a16="http://schemas.microsoft.com/office/drawing/2014/main" id="{4AB3CF4D-8B45-4159-ABD4-824E79DF22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1125538"/>
                        <a:ext cx="1847850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6" name="Rectangle 18">
            <a:extLst>
              <a:ext uri="{FF2B5EF4-FFF2-40B4-BE49-F238E27FC236}">
                <a16:creationId xmlns:a16="http://schemas.microsoft.com/office/drawing/2014/main" id="{D982922B-7F96-4896-AEA0-6B3D8F074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25538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8.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矩阵</a:t>
            </a:r>
            <a:endParaRPr lang="zh-CN" altLang="en-US" sz="2400"/>
          </a:p>
        </p:txBody>
      </p:sp>
      <p:sp>
        <p:nvSpPr>
          <p:cNvPr id="31757" name="Rectangle 19">
            <a:extLst>
              <a:ext uri="{FF2B5EF4-FFF2-40B4-BE49-F238E27FC236}">
                <a16:creationId xmlns:a16="http://schemas.microsoft.com/office/drawing/2014/main" id="{DA9667F2-D33D-4BA6-91C3-A6DA9A9C5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125538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与矩阵</a:t>
            </a:r>
            <a:endParaRPr lang="zh-CN" altLang="en-US" sz="2400"/>
          </a:p>
        </p:txBody>
      </p:sp>
      <p:sp>
        <p:nvSpPr>
          <p:cNvPr id="31758" name="Rectangle 20">
            <a:extLst>
              <a:ext uri="{FF2B5EF4-FFF2-40B4-BE49-F238E27FC236}">
                <a16:creationId xmlns:a16="http://schemas.microsoft.com/office/drawing/2014/main" id="{972D36BA-06BE-4D17-B242-593051F1F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1125538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相似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sz="2400"/>
          </a:p>
        </p:txBody>
      </p:sp>
      <p:sp>
        <p:nvSpPr>
          <p:cNvPr id="31759" name="Rectangle 23">
            <a:extLst>
              <a:ext uri="{FF2B5EF4-FFF2-40B4-BE49-F238E27FC236}">
                <a16:creationId xmlns:a16="http://schemas.microsoft.com/office/drawing/2014/main" id="{9EE8CF12-CFA8-4694-9201-4A824159E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25" name="Object 5">
            <a:extLst>
              <a:ext uri="{FF2B5EF4-FFF2-40B4-BE49-F238E27FC236}">
                <a16:creationId xmlns:a16="http://schemas.microsoft.com/office/drawing/2014/main" id="{0BEF0637-88E4-411B-BEB4-53D7DD132B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2420938"/>
          <a:ext cx="7705725" cy="334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5" name="Equation" r:id="rId9" imgW="3314520" imgH="1434960" progId="Equation.DSMT4">
                  <p:embed/>
                </p:oleObj>
              </mc:Choice>
              <mc:Fallback>
                <p:oleObj name="Equation" r:id="rId9" imgW="3314520" imgH="1434960" progId="Equation.DSMT4">
                  <p:embed/>
                  <p:pic>
                    <p:nvPicPr>
                      <p:cNvPr id="30725" name="Object 5">
                        <a:extLst>
                          <a:ext uri="{FF2B5EF4-FFF2-40B4-BE49-F238E27FC236}">
                            <a16:creationId xmlns:a16="http://schemas.microsoft.com/office/drawing/2014/main" id="{0BEF0637-88E4-411B-BEB4-53D7DD132B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420938"/>
                        <a:ext cx="7705725" cy="334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日期占位符 1">
            <a:extLst>
              <a:ext uri="{FF2B5EF4-FFF2-40B4-BE49-F238E27FC236}">
                <a16:creationId xmlns:a16="http://schemas.microsoft.com/office/drawing/2014/main" id="{5F4A76A6-B4B4-4531-B3CB-54E8AFECDAD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0C2299-7F9C-48C6-9293-0373AF55B6A0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2773" name="页脚占位符 2">
            <a:extLst>
              <a:ext uri="{FF2B5EF4-FFF2-40B4-BE49-F238E27FC236}">
                <a16:creationId xmlns:a16="http://schemas.microsoft.com/office/drawing/2014/main" id="{562740A3-8610-4AF0-9F82-4E76FB104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2774" name="灯片编号占位符 3">
            <a:extLst>
              <a:ext uri="{FF2B5EF4-FFF2-40B4-BE49-F238E27FC236}">
                <a16:creationId xmlns:a16="http://schemas.microsoft.com/office/drawing/2014/main" id="{C8B1AF85-DB9A-43F2-AB47-A5571796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09D65F8-C7DC-4A01-B6B7-B41F344D2774}" type="slidenum">
              <a:rPr lang="en-US" altLang="zh-CN"/>
              <a:pPr eaLnBrk="1" hangingPunct="1"/>
              <a:t>45</a:t>
            </a:fld>
            <a:endParaRPr lang="en-US" altLang="zh-CN"/>
          </a:p>
        </p:txBody>
      </p:sp>
      <p:sp>
        <p:nvSpPr>
          <p:cNvPr id="32775" name="Rectangle 2">
            <a:extLst>
              <a:ext uri="{FF2B5EF4-FFF2-40B4-BE49-F238E27FC236}">
                <a16:creationId xmlns:a16="http://schemas.microsoft.com/office/drawing/2014/main" id="{6C8D23C4-101D-4D08-AA96-58CDB69B1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》2010-2011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32776" name="Rectangle 3">
            <a:extLst>
              <a:ext uri="{FF2B5EF4-FFF2-40B4-BE49-F238E27FC236}">
                <a16:creationId xmlns:a16="http://schemas.microsoft.com/office/drawing/2014/main" id="{53A04723-3076-424F-A4C2-92D7010D7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593725"/>
            <a:ext cx="1565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三、计算题题</a:t>
            </a:r>
          </a:p>
        </p:txBody>
      </p:sp>
      <p:sp>
        <p:nvSpPr>
          <p:cNvPr id="32777" name="Rectangle 4">
            <a:extLst>
              <a:ext uri="{FF2B5EF4-FFF2-40B4-BE49-F238E27FC236}">
                <a16:creationId xmlns:a16="http://schemas.microsoft.com/office/drawing/2014/main" id="{36639659-CDE7-4DBF-8C2D-D531B06F8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8" name="Rectangle 5">
            <a:extLst>
              <a:ext uri="{FF2B5EF4-FFF2-40B4-BE49-F238E27FC236}">
                <a16:creationId xmlns:a16="http://schemas.microsoft.com/office/drawing/2014/main" id="{FCD23881-4FFD-44F0-B670-1698BFB28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9" name="Rectangle 6">
            <a:extLst>
              <a:ext uri="{FF2B5EF4-FFF2-40B4-BE49-F238E27FC236}">
                <a16:creationId xmlns:a16="http://schemas.microsoft.com/office/drawing/2014/main" id="{594BCD9C-C7D1-4D08-9C56-E7975A2D8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0" name="Rectangle 16">
            <a:extLst>
              <a:ext uri="{FF2B5EF4-FFF2-40B4-BE49-F238E27FC236}">
                <a16:creationId xmlns:a16="http://schemas.microsoft.com/office/drawing/2014/main" id="{BC5C3E59-40C4-4DF4-977D-6D39677D0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2781" name="Rectangle 20">
            <a:extLst>
              <a:ext uri="{FF2B5EF4-FFF2-40B4-BE49-F238E27FC236}">
                <a16:creationId xmlns:a16="http://schemas.microsoft.com/office/drawing/2014/main" id="{D8107D5B-74A2-453C-812A-F528AA9E2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43000"/>
            <a:ext cx="8196263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1524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16.(</a:t>
            </a:r>
            <a:r>
              <a:rPr lang="zh-CN" altLang="en-US" sz="2400"/>
              <a:t>满分</a:t>
            </a:r>
            <a:r>
              <a:rPr lang="en-US" altLang="zh-CN" sz="2400"/>
              <a:t>6</a:t>
            </a:r>
            <a:r>
              <a:rPr lang="zh-CN" altLang="en-US" sz="2400"/>
              <a:t>分</a:t>
            </a:r>
            <a:r>
              <a:rPr lang="en-US" altLang="zh-CN" sz="2400"/>
              <a:t>)</a:t>
            </a:r>
            <a:r>
              <a:rPr lang="en-US" altLang="zh-CN" sz="2400" i="1"/>
              <a:t> A</a:t>
            </a:r>
            <a:r>
              <a:rPr lang="zh-CN" altLang="en-US" sz="2400"/>
              <a:t>，</a:t>
            </a:r>
            <a:r>
              <a:rPr lang="en-US" altLang="zh-CN" sz="2400" i="1"/>
              <a:t>B</a:t>
            </a:r>
            <a:r>
              <a:rPr lang="zh-CN" altLang="en-US" sz="2400"/>
              <a:t>为</a:t>
            </a:r>
            <a:r>
              <a:rPr lang="en-US" altLang="zh-CN" sz="2400"/>
              <a:t>4</a:t>
            </a:r>
            <a:r>
              <a:rPr lang="zh-CN" altLang="en-US" sz="2400"/>
              <a:t>阶方阵，</a:t>
            </a:r>
            <a:r>
              <a:rPr lang="en-US" altLang="zh-CN" sz="2400" i="1"/>
              <a:t>AB+</a:t>
            </a:r>
            <a:r>
              <a:rPr lang="en-US" altLang="zh-CN" sz="2400"/>
              <a:t>2</a:t>
            </a:r>
            <a:r>
              <a:rPr lang="en-US" altLang="zh-CN" sz="2400" i="1"/>
              <a:t>B</a:t>
            </a:r>
            <a:r>
              <a:rPr lang="en-US" altLang="zh-CN" sz="2400"/>
              <a:t>=0</a:t>
            </a:r>
            <a:r>
              <a:rPr lang="zh-CN" altLang="en-US" sz="2400"/>
              <a:t>，矩阵</a:t>
            </a:r>
            <a:r>
              <a:rPr lang="en-US" altLang="zh-CN" sz="2400" i="1"/>
              <a:t>B</a:t>
            </a:r>
            <a:r>
              <a:rPr lang="zh-CN" altLang="en-US" sz="2400"/>
              <a:t>的秩为</a:t>
            </a:r>
            <a:r>
              <a:rPr lang="en-US" altLang="zh-CN" sz="2400"/>
              <a:t>2</a:t>
            </a:r>
            <a:r>
              <a:rPr lang="zh-CN" altLang="en-US" sz="2400"/>
              <a:t>且</a:t>
            </a:r>
          </a:p>
          <a:p>
            <a:pPr eaLnBrk="1" hangingPunct="1"/>
            <a:r>
              <a:rPr lang="en-US" altLang="zh-CN" sz="2400"/>
              <a:t>|</a:t>
            </a:r>
            <a:r>
              <a:rPr lang="en-US" altLang="zh-CN" sz="2400" i="1"/>
              <a:t>I+A</a:t>
            </a:r>
            <a:r>
              <a:rPr lang="en-US" altLang="zh-CN" sz="2400"/>
              <a:t>|=|2</a:t>
            </a:r>
            <a:r>
              <a:rPr lang="en-US" altLang="zh-CN" sz="2400" i="1"/>
              <a:t>I</a:t>
            </a:r>
            <a:r>
              <a:rPr lang="en-US" altLang="zh-CN" sz="2400"/>
              <a:t>-</a:t>
            </a:r>
            <a:r>
              <a:rPr lang="en-US" altLang="zh-CN" sz="2400" i="1"/>
              <a:t>A</a:t>
            </a:r>
            <a:r>
              <a:rPr lang="en-US" altLang="zh-CN" sz="2400"/>
              <a:t>|=0</a:t>
            </a:r>
            <a:r>
              <a:rPr lang="zh-CN" altLang="en-US" sz="2400"/>
              <a:t>。</a:t>
            </a:r>
          </a:p>
          <a:p>
            <a:pPr eaLnBrk="1" hangingPunct="1"/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）求矩阵</a:t>
            </a:r>
            <a:r>
              <a:rPr lang="en-US" altLang="zh-CN" sz="2400" i="1"/>
              <a:t>A</a:t>
            </a:r>
            <a:r>
              <a:rPr lang="zh-CN" altLang="en-US" sz="2400"/>
              <a:t>的特征值；</a:t>
            </a:r>
          </a:p>
          <a:p>
            <a:pPr eaLnBrk="1" hangingPunct="1"/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  <a:r>
              <a:rPr lang="en-US" altLang="zh-CN" sz="2400" i="1"/>
              <a:t>A</a:t>
            </a:r>
            <a:r>
              <a:rPr lang="zh-CN" altLang="en-US" sz="2400"/>
              <a:t>是否可相似对角化？说明原因。</a:t>
            </a:r>
          </a:p>
          <a:p>
            <a:pPr eaLnBrk="1" hangingPunct="1"/>
            <a:r>
              <a:rPr lang="zh-CN" altLang="en-US" sz="2400"/>
              <a:t>（</a:t>
            </a:r>
            <a:r>
              <a:rPr lang="en-US" altLang="zh-CN" sz="2400"/>
              <a:t>3</a:t>
            </a:r>
            <a:r>
              <a:rPr lang="zh-CN" altLang="en-US" sz="2400"/>
              <a:t>）求</a:t>
            </a:r>
            <a:r>
              <a:rPr lang="en-US" altLang="zh-CN" sz="2400"/>
              <a:t>|</a:t>
            </a:r>
            <a:r>
              <a:rPr lang="en-US" altLang="zh-CN" sz="2400" i="1"/>
              <a:t>A+</a:t>
            </a:r>
            <a:r>
              <a:rPr lang="en-US" altLang="zh-CN" sz="2400"/>
              <a:t>3</a:t>
            </a:r>
            <a:r>
              <a:rPr lang="en-US" altLang="zh-CN" sz="2400" i="1"/>
              <a:t>I</a:t>
            </a:r>
            <a:r>
              <a:rPr lang="en-US" altLang="zh-CN" sz="2400"/>
              <a:t>|</a:t>
            </a:r>
            <a:r>
              <a:rPr lang="zh-CN" altLang="en-US" sz="2400"/>
              <a:t>。</a:t>
            </a:r>
          </a:p>
        </p:txBody>
      </p:sp>
      <p:graphicFrame>
        <p:nvGraphicFramePr>
          <p:cNvPr id="132134" name="Object 2">
            <a:extLst>
              <a:ext uri="{FF2B5EF4-FFF2-40B4-BE49-F238E27FC236}">
                <a16:creationId xmlns:a16="http://schemas.microsoft.com/office/drawing/2014/main" id="{58ED92C1-8919-4D41-BA3E-16419E0371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3789363"/>
          <a:ext cx="244951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0" name="Equation" r:id="rId3" imgW="1320227" imgH="241195" progId="Equation.DSMT4">
                  <p:embed/>
                </p:oleObj>
              </mc:Choice>
              <mc:Fallback>
                <p:oleObj name="Equation" r:id="rId3" imgW="1320227" imgH="241195" progId="Equation.DSMT4">
                  <p:embed/>
                  <p:pic>
                    <p:nvPicPr>
                      <p:cNvPr id="132134" name="Object 2">
                        <a:extLst>
                          <a:ext uri="{FF2B5EF4-FFF2-40B4-BE49-F238E27FC236}">
                            <a16:creationId xmlns:a16="http://schemas.microsoft.com/office/drawing/2014/main" id="{58ED92C1-8919-4D41-BA3E-16419E037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789363"/>
                        <a:ext cx="2449513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2133" name="图片 105">
            <a:extLst>
              <a:ext uri="{FF2B5EF4-FFF2-40B4-BE49-F238E27FC236}">
                <a16:creationId xmlns:a16="http://schemas.microsoft.com/office/drawing/2014/main" id="{FC0C6F8A-DA0D-4BE2-9A64-404E2C9F0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733800"/>
            <a:ext cx="406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135" name="Rectangle 39">
            <a:extLst>
              <a:ext uri="{FF2B5EF4-FFF2-40B4-BE49-F238E27FC236}">
                <a16:creationId xmlns:a16="http://schemas.microsoft.com/office/drawing/2014/main" id="{54D303DA-7272-4AFF-9452-1C90EE95A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357563"/>
            <a:ext cx="12509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</a:p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）由</a:t>
            </a:r>
            <a:endParaRPr lang="zh-CN" altLang="en-US" sz="2400"/>
          </a:p>
        </p:txBody>
      </p:sp>
      <p:sp>
        <p:nvSpPr>
          <p:cNvPr id="132136" name="Rectangle 40">
            <a:extLst>
              <a:ext uri="{FF2B5EF4-FFF2-40B4-BE49-F238E27FC236}">
                <a16:creationId xmlns:a16="http://schemas.microsoft.com/office/drawing/2014/main" id="{37496D19-732E-4F8A-BFE4-A4437F1C9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787775"/>
            <a:ext cx="15954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知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endParaRPr lang="zh-CN" altLang="en-US" sz="2400"/>
          </a:p>
        </p:txBody>
      </p:sp>
      <p:sp>
        <p:nvSpPr>
          <p:cNvPr id="132137" name="Rectangle 41">
            <a:extLst>
              <a:ext uri="{FF2B5EF4-FFF2-40B4-BE49-F238E27FC236}">
                <a16:creationId xmlns:a16="http://schemas.microsoft.com/office/drawing/2014/main" id="{51E8459E-B06C-41BC-B6DA-3D6C5C086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810000"/>
            <a:ext cx="179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的特征值。</a:t>
            </a:r>
            <a:r>
              <a:rPr lang="zh-CN" altLang="en-US" sz="2400"/>
              <a:t> </a:t>
            </a:r>
          </a:p>
        </p:txBody>
      </p:sp>
      <p:sp>
        <p:nvSpPr>
          <p:cNvPr id="32786" name="Rectangle 46">
            <a:extLst>
              <a:ext uri="{FF2B5EF4-FFF2-40B4-BE49-F238E27FC236}">
                <a16:creationId xmlns:a16="http://schemas.microsoft.com/office/drawing/2014/main" id="{D70A984D-FC0D-431E-8BF6-137B74F0C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组合 29">
            <a:extLst>
              <a:ext uri="{FF2B5EF4-FFF2-40B4-BE49-F238E27FC236}">
                <a16:creationId xmlns:a16="http://schemas.microsoft.com/office/drawing/2014/main" id="{9C2E1B02-BEBE-423A-A985-D12F64EE19B2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343400"/>
            <a:ext cx="7267575" cy="533400"/>
            <a:chOff x="468313" y="4343400"/>
            <a:chExt cx="7267574" cy="533400"/>
          </a:xfrm>
        </p:grpSpPr>
        <p:pic>
          <p:nvPicPr>
            <p:cNvPr id="32796" name="图片 106">
              <a:extLst>
                <a:ext uri="{FF2B5EF4-FFF2-40B4-BE49-F238E27FC236}">
                  <a16:creationId xmlns:a16="http://schemas.microsoft.com/office/drawing/2014/main" id="{EBEBB955-B646-4043-9AF5-9F60A9E2D1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313" y="4365625"/>
              <a:ext cx="1655762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797" name="图片 107">
              <a:extLst>
                <a:ext uri="{FF2B5EF4-FFF2-40B4-BE49-F238E27FC236}">
                  <a16:creationId xmlns:a16="http://schemas.microsoft.com/office/drawing/2014/main" id="{2E19E505-BB0C-459A-9793-C36ED64EA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4075" y="4437063"/>
              <a:ext cx="358775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32771" name="Object 3">
              <a:extLst>
                <a:ext uri="{FF2B5EF4-FFF2-40B4-BE49-F238E27FC236}">
                  <a16:creationId xmlns:a16="http://schemas.microsoft.com/office/drawing/2014/main" id="{3ADB327A-5BC7-41AE-A418-7C3006C501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55875" y="4437063"/>
            <a:ext cx="1800225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31" name="Equation" r:id="rId8" imgW="926698" imgH="203112" progId="Equation.DSMT4">
                    <p:embed/>
                  </p:oleObj>
                </mc:Choice>
                <mc:Fallback>
                  <p:oleObj name="Equation" r:id="rId8" imgW="926698" imgH="203112" progId="Equation.DSMT4">
                    <p:embed/>
                    <p:pic>
                      <p:nvPicPr>
                        <p:cNvPr id="32771" name="Object 3">
                          <a:extLst>
                            <a:ext uri="{FF2B5EF4-FFF2-40B4-BE49-F238E27FC236}">
                              <a16:creationId xmlns:a16="http://schemas.microsoft.com/office/drawing/2014/main" id="{3ADB327A-5BC7-41AE-A418-7C3006C501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875" y="4437063"/>
                          <a:ext cx="1800225" cy="390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8" name="Rectangle 48">
              <a:extLst>
                <a:ext uri="{FF2B5EF4-FFF2-40B4-BE49-F238E27FC236}">
                  <a16:creationId xmlns:a16="http://schemas.microsoft.com/office/drawing/2014/main" id="{3C1B8401-FFA3-46F2-873C-2898F515B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4363393"/>
              <a:ext cx="11336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故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</a:t>
              </a:r>
              <a:endParaRPr lang="zh-CN" altLang="en-US" sz="2400"/>
            </a:p>
          </p:txBody>
        </p:sp>
        <p:pic>
          <p:nvPicPr>
            <p:cNvPr id="32799" name="图片 109">
              <a:extLst>
                <a:ext uri="{FF2B5EF4-FFF2-40B4-BE49-F238E27FC236}">
                  <a16:creationId xmlns:a16="http://schemas.microsoft.com/office/drawing/2014/main" id="{1394373F-0960-407E-9DC1-C6F429BE89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6400" y="4343400"/>
              <a:ext cx="40640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800" name="Rectangle 49">
              <a:extLst>
                <a:ext uri="{FF2B5EF4-FFF2-40B4-BE49-F238E27FC236}">
                  <a16:creationId xmlns:a16="http://schemas.microsoft.com/office/drawing/2014/main" id="{6509001F-7F08-4288-9E72-0603711D1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4419600"/>
              <a:ext cx="17922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的特征值，</a:t>
              </a:r>
              <a:r>
                <a:rPr lang="zh-CN" altLang="en-US" sz="2400"/>
                <a:t> </a:t>
              </a:r>
            </a:p>
          </p:txBody>
        </p:sp>
      </p:grpSp>
      <p:grpSp>
        <p:nvGrpSpPr>
          <p:cNvPr id="3" name="组合 30">
            <a:extLst>
              <a:ext uri="{FF2B5EF4-FFF2-40B4-BE49-F238E27FC236}">
                <a16:creationId xmlns:a16="http://schemas.microsoft.com/office/drawing/2014/main" id="{A112087F-548D-4CB7-A215-576322DCDE83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876800"/>
            <a:ext cx="7881938" cy="522288"/>
            <a:chOff x="381000" y="4876800"/>
            <a:chExt cx="7881938" cy="522288"/>
          </a:xfrm>
        </p:grpSpPr>
        <p:sp>
          <p:nvSpPr>
            <p:cNvPr id="32793" name="Rectangle 51">
              <a:extLst>
                <a:ext uri="{FF2B5EF4-FFF2-40B4-BE49-F238E27FC236}">
                  <a16:creationId xmlns:a16="http://schemas.microsoft.com/office/drawing/2014/main" id="{75811A89-3A86-4460-B4FA-F214546C4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48768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又</a:t>
              </a:r>
              <a:endParaRPr lang="zh-CN" altLang="en-US" sz="2400"/>
            </a:p>
          </p:txBody>
        </p:sp>
        <p:pic>
          <p:nvPicPr>
            <p:cNvPr id="32794" name="图片 110">
              <a:extLst>
                <a:ext uri="{FF2B5EF4-FFF2-40B4-BE49-F238E27FC236}">
                  <a16:creationId xmlns:a16="http://schemas.microsoft.com/office/drawing/2014/main" id="{4121C990-F7B2-4540-9967-F922C69F75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4953000"/>
              <a:ext cx="338138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95" name="Rectangle 52">
              <a:extLst>
                <a:ext uri="{FF2B5EF4-FFF2-40B4-BE49-F238E27FC236}">
                  <a16:creationId xmlns:a16="http://schemas.microsoft.com/office/drawing/2014/main" id="{C824CBC7-047D-4B59-94A1-3295FA93B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450" y="4941888"/>
              <a:ext cx="70754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的秩为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，即特征值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有两个线性无关的特征向量，</a:t>
              </a:r>
              <a:r>
                <a:rPr lang="zh-CN" altLang="en-US" sz="2400"/>
                <a:t> </a:t>
              </a:r>
            </a:p>
          </p:txBody>
        </p:sp>
      </p:grpSp>
      <p:grpSp>
        <p:nvGrpSpPr>
          <p:cNvPr id="4" name="组合 31">
            <a:extLst>
              <a:ext uri="{FF2B5EF4-FFF2-40B4-BE49-F238E27FC236}">
                <a16:creationId xmlns:a16="http://schemas.microsoft.com/office/drawing/2014/main" id="{E1180E5D-8E8F-4CCB-9B24-D085D46E54C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5486400"/>
            <a:ext cx="5145088" cy="488950"/>
            <a:chOff x="457200" y="5486400"/>
            <a:chExt cx="5145434" cy="489596"/>
          </a:xfrm>
        </p:grpSpPr>
        <p:sp>
          <p:nvSpPr>
            <p:cNvPr id="32790" name="Rectangle 54">
              <a:extLst>
                <a:ext uri="{FF2B5EF4-FFF2-40B4-BE49-F238E27FC236}">
                  <a16:creationId xmlns:a16="http://schemas.microsoft.com/office/drawing/2014/main" id="{AB0CB90F-BF04-42D8-B614-1D2777420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54864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故</a:t>
              </a:r>
              <a:endParaRPr lang="zh-CN" altLang="en-US" sz="2400"/>
            </a:p>
          </p:txBody>
        </p:sp>
        <p:pic>
          <p:nvPicPr>
            <p:cNvPr id="32791" name="图片 111">
              <a:extLst>
                <a:ext uri="{FF2B5EF4-FFF2-40B4-BE49-F238E27FC236}">
                  <a16:creationId xmlns:a16="http://schemas.microsoft.com/office/drawing/2014/main" id="{1E60CF58-15A7-4A97-939B-3E54CBC6FF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0113" y="5516563"/>
              <a:ext cx="339725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92" name="Rectangle 55">
              <a:extLst>
                <a:ext uri="{FF2B5EF4-FFF2-40B4-BE49-F238E27FC236}">
                  <a16:creationId xmlns:a16="http://schemas.microsoft.com/office/drawing/2014/main" id="{E94C223E-7ED0-4388-A546-2F3F7741C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1913" y="5514331"/>
              <a:ext cx="427072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的特征值为    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-2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。</a:t>
              </a:r>
              <a:r>
                <a:rPr lang="zh-CN" altLang="en-US" sz="2400"/>
                <a:t> 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2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2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2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2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2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2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35" grpId="0"/>
      <p:bldP spid="132136" grpId="0"/>
      <p:bldP spid="13213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日期占位符 1">
            <a:extLst>
              <a:ext uri="{FF2B5EF4-FFF2-40B4-BE49-F238E27FC236}">
                <a16:creationId xmlns:a16="http://schemas.microsoft.com/office/drawing/2014/main" id="{A09EA481-7824-4625-AA3E-D6F8DEE69FD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3BA387-0938-427D-ADDE-7DAEFF1C88FC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3797" name="页脚占位符 2">
            <a:extLst>
              <a:ext uri="{FF2B5EF4-FFF2-40B4-BE49-F238E27FC236}">
                <a16:creationId xmlns:a16="http://schemas.microsoft.com/office/drawing/2014/main" id="{48BDF14A-A253-4A6E-B64B-56B3992C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3798" name="灯片编号占位符 3">
            <a:extLst>
              <a:ext uri="{FF2B5EF4-FFF2-40B4-BE49-F238E27FC236}">
                <a16:creationId xmlns:a16="http://schemas.microsoft.com/office/drawing/2014/main" id="{BF797B58-9938-4910-AE3E-57CD14D14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62AEA0B-87C9-412E-B39B-8546D75DED33}" type="slidenum">
              <a:rPr lang="en-US" altLang="zh-CN"/>
              <a:pPr eaLnBrk="1" hangingPunct="1"/>
              <a:t>46</a:t>
            </a:fld>
            <a:endParaRPr lang="en-US" altLang="zh-CN"/>
          </a:p>
        </p:txBody>
      </p:sp>
      <p:sp>
        <p:nvSpPr>
          <p:cNvPr id="33799" name="Rectangle 2">
            <a:extLst>
              <a:ext uri="{FF2B5EF4-FFF2-40B4-BE49-F238E27FC236}">
                <a16:creationId xmlns:a16="http://schemas.microsoft.com/office/drawing/2014/main" id="{2760DEE2-6E4B-4530-A593-5C1873A69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》2010-2011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33800" name="Rectangle 6">
            <a:extLst>
              <a:ext uri="{FF2B5EF4-FFF2-40B4-BE49-F238E27FC236}">
                <a16:creationId xmlns:a16="http://schemas.microsoft.com/office/drawing/2014/main" id="{B540472F-A010-4652-9E19-6E22A4401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1" name="Rectangle 7">
            <a:extLst>
              <a:ext uri="{FF2B5EF4-FFF2-40B4-BE49-F238E27FC236}">
                <a16:creationId xmlns:a16="http://schemas.microsoft.com/office/drawing/2014/main" id="{EF11355D-24AF-4267-9F5C-26B876120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3802" name="Rectangle 16">
            <a:extLst>
              <a:ext uri="{FF2B5EF4-FFF2-40B4-BE49-F238E27FC236}">
                <a16:creationId xmlns:a16="http://schemas.microsoft.com/office/drawing/2014/main" id="{1BF77661-3794-4F7E-BFFD-04659C39F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147" name="Rectangle 27">
            <a:extLst>
              <a:ext uri="{FF2B5EF4-FFF2-40B4-BE49-F238E27FC236}">
                <a16:creationId xmlns:a16="http://schemas.microsoft.com/office/drawing/2014/main" id="{F98B9C03-FC8D-4CDE-9FB0-D031BD860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3" y="1047750"/>
            <a:ext cx="91122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）能相似对角化。因为对应于特征值</a:t>
            </a:r>
            <a:r>
              <a:rPr lang="en-US" altLang="zh-CN" sz="2400"/>
              <a:t>-1</a:t>
            </a:r>
            <a:r>
              <a:rPr lang="zh-CN" altLang="en-US" sz="2400"/>
              <a:t>，</a:t>
            </a:r>
            <a:r>
              <a:rPr lang="en-US" altLang="zh-CN" sz="2400"/>
              <a:t>2</a:t>
            </a:r>
            <a:r>
              <a:rPr lang="zh-CN" altLang="en-US" sz="2400"/>
              <a:t>各有一个特征向量，</a:t>
            </a:r>
          </a:p>
          <a:p>
            <a:pPr eaLnBrk="1" hangingPunct="1"/>
            <a:r>
              <a:rPr lang="zh-CN" altLang="en-US" sz="2400"/>
              <a:t>对应于特征值</a:t>
            </a:r>
            <a:r>
              <a:rPr lang="en-US" altLang="zh-CN" sz="2400"/>
              <a:t>-2</a:t>
            </a:r>
            <a:r>
              <a:rPr lang="zh-CN" altLang="en-US" sz="2400"/>
              <a:t>有两个线性无关的特征向量，</a:t>
            </a:r>
          </a:p>
        </p:txBody>
      </p:sp>
      <p:grpSp>
        <p:nvGrpSpPr>
          <p:cNvPr id="2" name="组合 24">
            <a:extLst>
              <a:ext uri="{FF2B5EF4-FFF2-40B4-BE49-F238E27FC236}">
                <a16:creationId xmlns:a16="http://schemas.microsoft.com/office/drawing/2014/main" id="{6DB3CF25-8F5D-4FA1-BE26-229F5396C314}"/>
              </a:ext>
            </a:extLst>
          </p:cNvPr>
          <p:cNvGrpSpPr>
            <a:grpSpLocks/>
          </p:cNvGrpSpPr>
          <p:nvPr/>
        </p:nvGrpSpPr>
        <p:grpSpPr bwMode="auto">
          <a:xfrm>
            <a:off x="417513" y="2492375"/>
            <a:ext cx="3222625" cy="479425"/>
            <a:chOff x="417513" y="2492375"/>
            <a:chExt cx="3222625" cy="479425"/>
          </a:xfrm>
        </p:grpSpPr>
        <p:sp>
          <p:nvSpPr>
            <p:cNvPr id="33816" name="Rectangle 30">
              <a:extLst>
                <a:ext uri="{FF2B5EF4-FFF2-40B4-BE49-F238E27FC236}">
                  <a16:creationId xmlns:a16="http://schemas.microsoft.com/office/drawing/2014/main" id="{3F5B2253-3B5F-42EB-A147-7B3A79722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13" y="2514600"/>
              <a:ext cx="57308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故 </a:t>
              </a:r>
            </a:p>
          </p:txBody>
        </p:sp>
        <p:pic>
          <p:nvPicPr>
            <p:cNvPr id="33817" name="图片 113">
              <a:extLst>
                <a:ext uri="{FF2B5EF4-FFF2-40B4-BE49-F238E27FC236}">
                  <a16:creationId xmlns:a16="http://schemas.microsoft.com/office/drawing/2014/main" id="{DE26580C-4F6D-41EA-950C-D01ECD9A65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4088" y="2536825"/>
              <a:ext cx="341312" cy="358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18" name="Rectangle 32">
              <a:extLst>
                <a:ext uri="{FF2B5EF4-FFF2-40B4-BE49-F238E27FC236}">
                  <a16:creationId xmlns:a16="http://schemas.microsoft.com/office/drawing/2014/main" id="{DE2A0328-3522-4E67-926E-3693E3B16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888" y="2492375"/>
              <a:ext cx="23812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可相似对角化。</a:t>
              </a:r>
              <a:r>
                <a:rPr lang="zh-CN" altLang="en-US"/>
                <a:t> </a:t>
              </a:r>
            </a:p>
          </p:txBody>
        </p:sp>
      </p:grpSp>
      <p:sp>
        <p:nvSpPr>
          <p:cNvPr id="33805" name="Rectangle 35">
            <a:extLst>
              <a:ext uri="{FF2B5EF4-FFF2-40B4-BE49-F238E27FC236}">
                <a16:creationId xmlns:a16="http://schemas.microsoft.com/office/drawing/2014/main" id="{1543A65E-B570-456C-9D42-2FBE621AB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6" name="Rectangle 38">
            <a:extLst>
              <a:ext uri="{FF2B5EF4-FFF2-40B4-BE49-F238E27FC236}">
                <a16:creationId xmlns:a16="http://schemas.microsoft.com/office/drawing/2014/main" id="{AFC8D16E-99C2-4F2C-BCA6-8555A5158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组合 25">
            <a:extLst>
              <a:ext uri="{FF2B5EF4-FFF2-40B4-BE49-F238E27FC236}">
                <a16:creationId xmlns:a16="http://schemas.microsoft.com/office/drawing/2014/main" id="{98327911-EB7A-4933-8E0B-60FBAE1E181E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3141663"/>
            <a:ext cx="6148388" cy="1177925"/>
            <a:chOff x="323850" y="3141663"/>
            <a:chExt cx="6148083" cy="1177925"/>
          </a:xfrm>
        </p:grpSpPr>
        <p:sp>
          <p:nvSpPr>
            <p:cNvPr id="33813" name="Rectangle 33">
              <a:extLst>
                <a:ext uri="{FF2B5EF4-FFF2-40B4-BE49-F238E27FC236}">
                  <a16:creationId xmlns:a16="http://schemas.microsoft.com/office/drawing/2014/main" id="{F05709B5-7BA3-4479-86A0-2D9481519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50" y="3141663"/>
              <a:ext cx="1047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（</a:t>
              </a:r>
              <a:r>
                <a:rPr lang="en-US" altLang="zh-CN" sz="2400"/>
                <a:t>3</a:t>
              </a:r>
              <a:r>
                <a:rPr lang="zh-CN" altLang="en-US" sz="2400"/>
                <a:t>） </a:t>
              </a:r>
            </a:p>
          </p:txBody>
        </p:sp>
        <p:graphicFrame>
          <p:nvGraphicFramePr>
            <p:cNvPr id="33794" name="Object 2">
              <a:extLst>
                <a:ext uri="{FF2B5EF4-FFF2-40B4-BE49-F238E27FC236}">
                  <a16:creationId xmlns:a16="http://schemas.microsoft.com/office/drawing/2014/main" id="{2408A31E-7B87-4565-9527-CBFF8394C6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58888" y="3213100"/>
            <a:ext cx="936625" cy="363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54" name="Equation" r:id="rId4" imgW="469696" imgH="177723" progId="Equation.DSMT4">
                    <p:embed/>
                  </p:oleObj>
                </mc:Choice>
                <mc:Fallback>
                  <p:oleObj name="Equation" r:id="rId4" imgW="469696" imgH="177723" progId="Equation.DSMT4">
                    <p:embed/>
                    <p:pic>
                      <p:nvPicPr>
                        <p:cNvPr id="33794" name="Object 2">
                          <a:extLst>
                            <a:ext uri="{FF2B5EF4-FFF2-40B4-BE49-F238E27FC236}">
                              <a16:creationId xmlns:a16="http://schemas.microsoft.com/office/drawing/2014/main" id="{2408A31E-7B87-4565-9527-CBFF8394C6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8888" y="3213100"/>
                          <a:ext cx="936625" cy="3635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4" name="Rectangle 36">
              <a:extLst>
                <a:ext uri="{FF2B5EF4-FFF2-40B4-BE49-F238E27FC236}">
                  <a16:creationId xmlns:a16="http://schemas.microsoft.com/office/drawing/2014/main" id="{0028F6AC-43B6-4CD7-88E5-226230B8D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538" y="3210868"/>
              <a:ext cx="420339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的特征值为  </a:t>
              </a:r>
              <a:r>
                <a:rPr lang="en-US" altLang="zh-CN" sz="2400"/>
                <a:t>2</a:t>
              </a:r>
              <a:r>
                <a:rPr lang="zh-CN" altLang="en-US" sz="2400"/>
                <a:t>，</a:t>
              </a:r>
              <a:r>
                <a:rPr lang="en-US" altLang="zh-CN" sz="2400"/>
                <a:t>5</a:t>
              </a:r>
              <a:r>
                <a:rPr lang="zh-CN" altLang="en-US" sz="2400"/>
                <a:t>，</a:t>
              </a:r>
              <a:r>
                <a:rPr lang="en-US" altLang="zh-CN" sz="2400"/>
                <a:t>1</a:t>
              </a:r>
              <a:r>
                <a:rPr lang="zh-CN" altLang="en-US" sz="2400"/>
                <a:t>，</a:t>
              </a:r>
              <a:r>
                <a:rPr lang="en-US" altLang="zh-CN" sz="2400"/>
                <a:t>1</a:t>
              </a:r>
              <a:r>
                <a:rPr lang="zh-CN" altLang="en-US" sz="2400"/>
                <a:t>。故 </a:t>
              </a:r>
            </a:p>
          </p:txBody>
        </p:sp>
        <p:graphicFrame>
          <p:nvGraphicFramePr>
            <p:cNvPr id="33795" name="Object 3">
              <a:extLst>
                <a:ext uri="{FF2B5EF4-FFF2-40B4-BE49-F238E27FC236}">
                  <a16:creationId xmlns:a16="http://schemas.microsoft.com/office/drawing/2014/main" id="{C3118957-F05C-4115-882D-82382A67FB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1913" y="3860800"/>
            <a:ext cx="1008062" cy="458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55" name="Equation" r:id="rId6" imgW="520474" imgH="241195" progId="Equation.DSMT4">
                    <p:embed/>
                  </p:oleObj>
                </mc:Choice>
                <mc:Fallback>
                  <p:oleObj name="Equation" r:id="rId6" imgW="520474" imgH="241195" progId="Equation.DSMT4">
                    <p:embed/>
                    <p:pic>
                      <p:nvPicPr>
                        <p:cNvPr id="33795" name="Object 3">
                          <a:extLst>
                            <a:ext uri="{FF2B5EF4-FFF2-40B4-BE49-F238E27FC236}">
                              <a16:creationId xmlns:a16="http://schemas.microsoft.com/office/drawing/2014/main" id="{C3118957-F05C-4115-882D-82382A67FB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913" y="3860800"/>
                          <a:ext cx="1008062" cy="458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5" name="Rectangle 39">
              <a:extLst>
                <a:ext uri="{FF2B5EF4-FFF2-40B4-BE49-F238E27FC236}">
                  <a16:creationId xmlns:a16="http://schemas.microsoft.com/office/drawing/2014/main" id="{75E7CA3A-0D22-4287-8C6F-F42CC9599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538" y="3860800"/>
              <a:ext cx="10699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/>
                <a:t>=10</a:t>
              </a:r>
              <a:r>
                <a:rPr lang="zh-CN" altLang="en-US" sz="2400"/>
                <a:t>。</a:t>
              </a:r>
              <a:r>
                <a:rPr lang="zh-CN" altLang="en-US"/>
                <a:t> </a:t>
              </a:r>
            </a:p>
          </p:txBody>
        </p:sp>
      </p:grpSp>
      <p:sp>
        <p:nvSpPr>
          <p:cNvPr id="33808" name="Rectangle 40">
            <a:extLst>
              <a:ext uri="{FF2B5EF4-FFF2-40B4-BE49-F238E27FC236}">
                <a16:creationId xmlns:a16="http://schemas.microsoft.com/office/drawing/2014/main" id="{50FAA508-01D8-43F9-B2C2-53AFA3B3D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593725"/>
            <a:ext cx="1565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三、计算题题</a:t>
            </a:r>
          </a:p>
        </p:txBody>
      </p:sp>
      <p:grpSp>
        <p:nvGrpSpPr>
          <p:cNvPr id="4" name="组合 23">
            <a:extLst>
              <a:ext uri="{FF2B5EF4-FFF2-40B4-BE49-F238E27FC236}">
                <a16:creationId xmlns:a16="http://schemas.microsoft.com/office/drawing/2014/main" id="{FCE70697-2619-453E-A4D0-DEEA81A48617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905000"/>
            <a:ext cx="5353050" cy="461963"/>
            <a:chOff x="228600" y="1905000"/>
            <a:chExt cx="5353050" cy="461665"/>
          </a:xfrm>
        </p:grpSpPr>
        <p:pic>
          <p:nvPicPr>
            <p:cNvPr id="33810" name="图片 112">
              <a:extLst>
                <a:ext uri="{FF2B5EF4-FFF2-40B4-BE49-F238E27FC236}">
                  <a16:creationId xmlns:a16="http://schemas.microsoft.com/office/drawing/2014/main" id="{505596CD-83B2-46CA-9089-06DFDC46D0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1905000"/>
              <a:ext cx="342900" cy="360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811" name="Rectangle 29">
              <a:extLst>
                <a:ext uri="{FF2B5EF4-FFF2-40B4-BE49-F238E27FC236}">
                  <a16:creationId xmlns:a16="http://schemas.microsoft.com/office/drawing/2014/main" id="{329D3428-7634-4A81-969D-C5A06AF2D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1905000"/>
              <a:ext cx="42100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有四个线性无关的特征向量，</a:t>
              </a:r>
              <a:r>
                <a:rPr lang="zh-CN" altLang="en-US"/>
                <a:t> </a:t>
              </a:r>
            </a:p>
          </p:txBody>
        </p:sp>
        <p:sp>
          <p:nvSpPr>
            <p:cNvPr id="33812" name="矩形 22">
              <a:extLst>
                <a:ext uri="{FF2B5EF4-FFF2-40B4-BE49-F238E27FC236}">
                  <a16:creationId xmlns:a16="http://schemas.microsoft.com/office/drawing/2014/main" id="{F44DC7CB-58C6-4757-8348-42809652D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" y="1905000"/>
              <a:ext cx="80021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所以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日期占位符 1">
            <a:extLst>
              <a:ext uri="{FF2B5EF4-FFF2-40B4-BE49-F238E27FC236}">
                <a16:creationId xmlns:a16="http://schemas.microsoft.com/office/drawing/2014/main" id="{8AF30E1C-0DCC-4CB5-8112-34E4586F622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F10BE55-C30A-475F-A9B5-4263265200BA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4823" name="页脚占位符 2">
            <a:extLst>
              <a:ext uri="{FF2B5EF4-FFF2-40B4-BE49-F238E27FC236}">
                <a16:creationId xmlns:a16="http://schemas.microsoft.com/office/drawing/2014/main" id="{250E1DA6-7374-4F7D-B44E-9FE982DF5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4824" name="灯片编号占位符 3">
            <a:extLst>
              <a:ext uri="{FF2B5EF4-FFF2-40B4-BE49-F238E27FC236}">
                <a16:creationId xmlns:a16="http://schemas.microsoft.com/office/drawing/2014/main" id="{CCFB8DBA-C55A-4CB6-A938-6A45C354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A2B4A62-8E18-4F97-958B-8332B26E9798}" type="slidenum">
              <a:rPr lang="en-US" altLang="zh-CN"/>
              <a:pPr eaLnBrk="1" hangingPunct="1"/>
              <a:t>47</a:t>
            </a:fld>
            <a:endParaRPr lang="en-US" altLang="zh-CN"/>
          </a:p>
        </p:txBody>
      </p:sp>
      <p:sp>
        <p:nvSpPr>
          <p:cNvPr id="34825" name="Rectangle 2">
            <a:extLst>
              <a:ext uri="{FF2B5EF4-FFF2-40B4-BE49-F238E27FC236}">
                <a16:creationId xmlns:a16="http://schemas.microsoft.com/office/drawing/2014/main" id="{837C4C7A-6FE9-4456-B101-5A24394B3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》2009-2010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34826" name="Rectangle 3">
            <a:extLst>
              <a:ext uri="{FF2B5EF4-FFF2-40B4-BE49-F238E27FC236}">
                <a16:creationId xmlns:a16="http://schemas.microsoft.com/office/drawing/2014/main" id="{38A7E526-002A-4776-98F3-41FF6F552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93725"/>
            <a:ext cx="1335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五、解答题</a:t>
            </a:r>
          </a:p>
        </p:txBody>
      </p:sp>
      <p:sp>
        <p:nvSpPr>
          <p:cNvPr id="34827" name="Rectangle 4">
            <a:extLst>
              <a:ext uri="{FF2B5EF4-FFF2-40B4-BE49-F238E27FC236}">
                <a16:creationId xmlns:a16="http://schemas.microsoft.com/office/drawing/2014/main" id="{0BE4CB74-E013-436B-8104-78ECE67EE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8" name="Rectangle 18">
            <a:extLst>
              <a:ext uri="{FF2B5EF4-FFF2-40B4-BE49-F238E27FC236}">
                <a16:creationId xmlns:a16="http://schemas.microsoft.com/office/drawing/2014/main" id="{72A470BD-A521-417C-A7FE-FDF5E7997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3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4818" name="Object 21">
            <a:extLst>
              <a:ext uri="{FF2B5EF4-FFF2-40B4-BE49-F238E27FC236}">
                <a16:creationId xmlns:a16="http://schemas.microsoft.com/office/drawing/2014/main" id="{00FA147F-38FD-4586-88DF-30B77D3647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1628775"/>
          <a:ext cx="2303462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4" name="Equation" r:id="rId3" imgW="1193800" imgH="457200" progId="Equation.DSMT4">
                  <p:embed/>
                </p:oleObj>
              </mc:Choice>
              <mc:Fallback>
                <p:oleObj name="Equation" r:id="rId3" imgW="1193800" imgH="457200" progId="Equation.DSMT4">
                  <p:embed/>
                  <p:pic>
                    <p:nvPicPr>
                      <p:cNvPr id="34818" name="Object 21">
                        <a:extLst>
                          <a:ext uri="{FF2B5EF4-FFF2-40B4-BE49-F238E27FC236}">
                            <a16:creationId xmlns:a16="http://schemas.microsoft.com/office/drawing/2014/main" id="{00FA147F-38FD-4586-88DF-30B77D3647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2303462" cy="88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20">
            <a:extLst>
              <a:ext uri="{FF2B5EF4-FFF2-40B4-BE49-F238E27FC236}">
                <a16:creationId xmlns:a16="http://schemas.microsoft.com/office/drawing/2014/main" id="{DB6BB6EA-FEBD-467A-9594-05E2499C32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2060575"/>
          <a:ext cx="779462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5" name="Equation" r:id="rId5" imgW="342751" imgH="190417" progId="Equation.DSMT4">
                  <p:embed/>
                </p:oleObj>
              </mc:Choice>
              <mc:Fallback>
                <p:oleObj name="Equation" r:id="rId5" imgW="342751" imgH="190417" progId="Equation.DSMT4">
                  <p:embed/>
                  <p:pic>
                    <p:nvPicPr>
                      <p:cNvPr id="34819" name="Object 20">
                        <a:extLst>
                          <a:ext uri="{FF2B5EF4-FFF2-40B4-BE49-F238E27FC236}">
                            <a16:creationId xmlns:a16="http://schemas.microsoft.com/office/drawing/2014/main" id="{DB6BB6EA-FEBD-467A-9594-05E2499C32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060575"/>
                        <a:ext cx="779462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9" name="Rectangle 22">
            <a:extLst>
              <a:ext uri="{FF2B5EF4-FFF2-40B4-BE49-F238E27FC236}">
                <a16:creationId xmlns:a16="http://schemas.microsoft.com/office/drawing/2014/main" id="{96B375A6-0039-47C0-8A08-9E885A6A3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052513"/>
            <a:ext cx="869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16.(10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分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阶矩阵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的特征值为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，对应的特征向量依次为</a:t>
            </a:r>
            <a:endParaRPr lang="zh-CN" altLang="en-US" sz="2400"/>
          </a:p>
        </p:txBody>
      </p:sp>
      <p:sp>
        <p:nvSpPr>
          <p:cNvPr id="34830" name="Rectangle 23">
            <a:extLst>
              <a:ext uri="{FF2B5EF4-FFF2-40B4-BE49-F238E27FC236}">
                <a16:creationId xmlns:a16="http://schemas.microsoft.com/office/drawing/2014/main" id="{4408720C-63AF-4E5A-83CC-77395F42D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1628775"/>
            <a:ext cx="22240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）求矩阵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2400"/>
          </a:p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）求</a:t>
            </a:r>
            <a:endParaRPr lang="zh-CN" altLang="en-US" sz="2400"/>
          </a:p>
        </p:txBody>
      </p:sp>
      <p:sp>
        <p:nvSpPr>
          <p:cNvPr id="34831" name="Rectangle 24">
            <a:extLst>
              <a:ext uri="{FF2B5EF4-FFF2-40B4-BE49-F238E27FC236}">
                <a16:creationId xmlns:a16="http://schemas.microsoft.com/office/drawing/2014/main" id="{C19CA852-4F69-4EA9-9A82-45D0206CB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2675" y="4073525"/>
            <a:ext cx="222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/>
          </a:p>
        </p:txBody>
      </p:sp>
      <p:sp>
        <p:nvSpPr>
          <p:cNvPr id="34832" name="Rectangle 27">
            <a:extLst>
              <a:ext uri="{FF2B5EF4-FFF2-40B4-BE49-F238E27FC236}">
                <a16:creationId xmlns:a16="http://schemas.microsoft.com/office/drawing/2014/main" id="{433E09B3-EDD4-4777-BC84-3F0B10439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组合 19">
            <a:extLst>
              <a:ext uri="{FF2B5EF4-FFF2-40B4-BE49-F238E27FC236}">
                <a16:creationId xmlns:a16="http://schemas.microsoft.com/office/drawing/2014/main" id="{2C9786B6-1577-47FB-949C-DBF4AEC61655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2708275"/>
            <a:ext cx="7567612" cy="1543050"/>
            <a:chOff x="179388" y="2708275"/>
            <a:chExt cx="7567612" cy="1543050"/>
          </a:xfrm>
        </p:grpSpPr>
        <p:sp>
          <p:nvSpPr>
            <p:cNvPr id="34837" name="Rectangle 25">
              <a:extLst>
                <a:ext uri="{FF2B5EF4-FFF2-40B4-BE49-F238E27FC236}">
                  <a16:creationId xmlns:a16="http://schemas.microsoft.com/office/drawing/2014/main" id="{9F57BABB-0055-4CF1-B944-4BB43DFB3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88" y="2708275"/>
              <a:ext cx="31734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解：（</a:t>
              </a:r>
              <a:r>
                <a:rPr lang="en-US" altLang="zh-CN" sz="2400"/>
                <a:t>1</a:t>
              </a:r>
              <a:r>
                <a:rPr lang="zh-CN" altLang="en-US" sz="2400"/>
                <a:t>）由题意知：</a:t>
              </a:r>
            </a:p>
          </p:txBody>
        </p:sp>
        <p:graphicFrame>
          <p:nvGraphicFramePr>
            <p:cNvPr id="34820" name="Object 26">
              <a:extLst>
                <a:ext uri="{FF2B5EF4-FFF2-40B4-BE49-F238E27FC236}">
                  <a16:creationId xmlns:a16="http://schemas.microsoft.com/office/drawing/2014/main" id="{C3913DD0-46CB-49D2-B450-24D7E93AC5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2000" y="3124200"/>
            <a:ext cx="6985000" cy="1127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6" name="Equation" r:id="rId7" imgW="2831760" imgH="457200" progId="Equation.DSMT4">
                    <p:embed/>
                  </p:oleObj>
                </mc:Choice>
                <mc:Fallback>
                  <p:oleObj name="Equation" r:id="rId7" imgW="2831760" imgH="457200" progId="Equation.DSMT4">
                    <p:embed/>
                    <p:pic>
                      <p:nvPicPr>
                        <p:cNvPr id="34820" name="Object 26">
                          <a:extLst>
                            <a:ext uri="{FF2B5EF4-FFF2-40B4-BE49-F238E27FC236}">
                              <a16:creationId xmlns:a16="http://schemas.microsoft.com/office/drawing/2014/main" id="{C3913DD0-46CB-49D2-B450-24D7E93AC5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000" y="3124200"/>
                          <a:ext cx="6985000" cy="1127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34" name="Rectangle 30">
            <a:extLst>
              <a:ext uri="{FF2B5EF4-FFF2-40B4-BE49-F238E27FC236}">
                <a16:creationId xmlns:a16="http://schemas.microsoft.com/office/drawing/2014/main" id="{DFA9E0D2-DE4C-4E66-83B5-8B42D02E0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组合 20">
            <a:extLst>
              <a:ext uri="{FF2B5EF4-FFF2-40B4-BE49-F238E27FC236}">
                <a16:creationId xmlns:a16="http://schemas.microsoft.com/office/drawing/2014/main" id="{CD24C224-2464-4007-82D7-1CEC92DB1662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343400"/>
            <a:ext cx="8294688" cy="1428750"/>
            <a:chOff x="381000" y="4343400"/>
            <a:chExt cx="8294688" cy="1428750"/>
          </a:xfrm>
        </p:grpSpPr>
        <p:sp>
          <p:nvSpPr>
            <p:cNvPr id="34836" name="Rectangle 28">
              <a:extLst>
                <a:ext uri="{FF2B5EF4-FFF2-40B4-BE49-F238E27FC236}">
                  <a16:creationId xmlns:a16="http://schemas.microsoft.com/office/drawing/2014/main" id="{1E0DE4A0-6A1F-4ECC-A83E-F42F4F13A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4343400"/>
              <a:ext cx="8778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所以 </a:t>
              </a:r>
            </a:p>
          </p:txBody>
        </p:sp>
        <p:graphicFrame>
          <p:nvGraphicFramePr>
            <p:cNvPr id="34821" name="Object 29">
              <a:extLst>
                <a:ext uri="{FF2B5EF4-FFF2-40B4-BE49-F238E27FC236}">
                  <a16:creationId xmlns:a16="http://schemas.microsoft.com/office/drawing/2014/main" id="{ECFB46E6-DFB2-494B-9DBF-757384611C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313" y="4724400"/>
            <a:ext cx="8207375" cy="1047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7" name="Equation" r:id="rId9" imgW="3873500" imgH="495300" progId="Equation.DSMT4">
                    <p:embed/>
                  </p:oleObj>
                </mc:Choice>
                <mc:Fallback>
                  <p:oleObj name="Equation" r:id="rId9" imgW="3873500" imgH="495300" progId="Equation.DSMT4">
                    <p:embed/>
                    <p:pic>
                      <p:nvPicPr>
                        <p:cNvPr id="34821" name="Object 29">
                          <a:extLst>
                            <a:ext uri="{FF2B5EF4-FFF2-40B4-BE49-F238E27FC236}">
                              <a16:creationId xmlns:a16="http://schemas.microsoft.com/office/drawing/2014/main" id="{ECFB46E6-DFB2-494B-9DBF-757384611C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313" y="4724400"/>
                          <a:ext cx="8207375" cy="1047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日期占位符 1">
            <a:extLst>
              <a:ext uri="{FF2B5EF4-FFF2-40B4-BE49-F238E27FC236}">
                <a16:creationId xmlns:a16="http://schemas.microsoft.com/office/drawing/2014/main" id="{B726853B-E0DB-42FF-A88F-4D75A76F17D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D67889-B6C5-4485-BBDF-94C4731C5CB4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5846" name="页脚占位符 2">
            <a:extLst>
              <a:ext uri="{FF2B5EF4-FFF2-40B4-BE49-F238E27FC236}">
                <a16:creationId xmlns:a16="http://schemas.microsoft.com/office/drawing/2014/main" id="{C4337FF9-A28C-4A6A-B538-C61D64F5A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5847" name="灯片编号占位符 3">
            <a:extLst>
              <a:ext uri="{FF2B5EF4-FFF2-40B4-BE49-F238E27FC236}">
                <a16:creationId xmlns:a16="http://schemas.microsoft.com/office/drawing/2014/main" id="{8CA13E7B-EB64-4361-9EF2-163EDD67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B895F7-A644-4BF5-845D-6965905625F2}" type="slidenum">
              <a:rPr lang="en-US" altLang="zh-CN"/>
              <a:pPr eaLnBrk="1" hangingPunct="1"/>
              <a:t>48</a:t>
            </a:fld>
            <a:endParaRPr lang="en-US" altLang="zh-CN"/>
          </a:p>
        </p:txBody>
      </p:sp>
      <p:sp>
        <p:nvSpPr>
          <p:cNvPr id="35848" name="Rectangle 2">
            <a:extLst>
              <a:ext uri="{FF2B5EF4-FFF2-40B4-BE49-F238E27FC236}">
                <a16:creationId xmlns:a16="http://schemas.microsoft.com/office/drawing/2014/main" id="{84A8F825-0A5F-48D9-82E2-437D1B6F0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》2009-2010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35849" name="Rectangle 3">
            <a:extLst>
              <a:ext uri="{FF2B5EF4-FFF2-40B4-BE49-F238E27FC236}">
                <a16:creationId xmlns:a16="http://schemas.microsoft.com/office/drawing/2014/main" id="{D38CC8A3-A23D-47EC-8255-235D3B176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93725"/>
            <a:ext cx="1335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五、解答题</a:t>
            </a:r>
          </a:p>
        </p:txBody>
      </p:sp>
      <p:sp>
        <p:nvSpPr>
          <p:cNvPr id="35850" name="Rectangle 4">
            <a:extLst>
              <a:ext uri="{FF2B5EF4-FFF2-40B4-BE49-F238E27FC236}">
                <a16:creationId xmlns:a16="http://schemas.microsoft.com/office/drawing/2014/main" id="{2E8B045E-52E5-4481-B76D-C88EF38C1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19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1" name="Rectangle 5">
            <a:extLst>
              <a:ext uri="{FF2B5EF4-FFF2-40B4-BE49-F238E27FC236}">
                <a16:creationId xmlns:a16="http://schemas.microsoft.com/office/drawing/2014/main" id="{02B2B59C-2EAF-4EC4-979B-96BD9B36D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33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5842" name="Object 6">
            <a:extLst>
              <a:ext uri="{FF2B5EF4-FFF2-40B4-BE49-F238E27FC236}">
                <a16:creationId xmlns:a16="http://schemas.microsoft.com/office/drawing/2014/main" id="{3CAEF83A-E2FA-4169-8E0D-D64638F971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1628775"/>
          <a:ext cx="2303462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0" name="Equation" r:id="rId3" imgW="1193800" imgH="457200" progId="Equation.DSMT4">
                  <p:embed/>
                </p:oleObj>
              </mc:Choice>
              <mc:Fallback>
                <p:oleObj name="Equation" r:id="rId3" imgW="1193800" imgH="457200" progId="Equation.DSMT4">
                  <p:embed/>
                  <p:pic>
                    <p:nvPicPr>
                      <p:cNvPr id="35842" name="Object 6">
                        <a:extLst>
                          <a:ext uri="{FF2B5EF4-FFF2-40B4-BE49-F238E27FC236}">
                            <a16:creationId xmlns:a16="http://schemas.microsoft.com/office/drawing/2014/main" id="{3CAEF83A-E2FA-4169-8E0D-D64638F971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2303462" cy="884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7">
            <a:extLst>
              <a:ext uri="{FF2B5EF4-FFF2-40B4-BE49-F238E27FC236}">
                <a16:creationId xmlns:a16="http://schemas.microsoft.com/office/drawing/2014/main" id="{21DACAF9-A39D-4984-8CBD-CD60BE8411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2060575"/>
          <a:ext cx="779462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1" name="Equation" r:id="rId5" imgW="342751" imgH="190417" progId="Equation.DSMT4">
                  <p:embed/>
                </p:oleObj>
              </mc:Choice>
              <mc:Fallback>
                <p:oleObj name="Equation" r:id="rId5" imgW="342751" imgH="190417" progId="Equation.DSMT4">
                  <p:embed/>
                  <p:pic>
                    <p:nvPicPr>
                      <p:cNvPr id="35843" name="Object 7">
                        <a:extLst>
                          <a:ext uri="{FF2B5EF4-FFF2-40B4-BE49-F238E27FC236}">
                            <a16:creationId xmlns:a16="http://schemas.microsoft.com/office/drawing/2014/main" id="{21DACAF9-A39D-4984-8CBD-CD60BE8411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2060575"/>
                        <a:ext cx="779462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2" name="Rectangle 8">
            <a:extLst>
              <a:ext uri="{FF2B5EF4-FFF2-40B4-BE49-F238E27FC236}">
                <a16:creationId xmlns:a16="http://schemas.microsoft.com/office/drawing/2014/main" id="{5677BA91-1E6D-4483-BE78-9F0D74581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052513"/>
            <a:ext cx="869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16.(10</a:t>
            </a:r>
            <a:r>
              <a:rPr lang="zh-CN" altLang="en-US" sz="2400">
                <a:latin typeface="宋体" panose="02010600030101010101" pitchFamily="2" charset="-122"/>
                <a:cs typeface="Times New Roman" panose="02020603050405020304" pitchFamily="18" charset="0"/>
              </a:rPr>
              <a:t>分</a:t>
            </a:r>
            <a:r>
              <a:rPr lang="en-US" altLang="zh-CN" sz="2400"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阶矩阵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的特征值为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，对应的特征向量依次为</a:t>
            </a:r>
            <a:endParaRPr lang="zh-CN" altLang="en-US" sz="2400"/>
          </a:p>
        </p:txBody>
      </p:sp>
      <p:sp>
        <p:nvSpPr>
          <p:cNvPr id="35853" name="Rectangle 9">
            <a:extLst>
              <a:ext uri="{FF2B5EF4-FFF2-40B4-BE49-F238E27FC236}">
                <a16:creationId xmlns:a16="http://schemas.microsoft.com/office/drawing/2014/main" id="{03BDCD60-AC1C-4312-863C-5E767868F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1628775"/>
            <a:ext cx="22240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）求矩阵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2400"/>
          </a:p>
          <a:p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）求</a:t>
            </a:r>
            <a:endParaRPr lang="zh-CN" altLang="en-US" sz="2400"/>
          </a:p>
        </p:txBody>
      </p:sp>
      <p:sp>
        <p:nvSpPr>
          <p:cNvPr id="35854" name="Rectangle 10">
            <a:extLst>
              <a:ext uri="{FF2B5EF4-FFF2-40B4-BE49-F238E27FC236}">
                <a16:creationId xmlns:a16="http://schemas.microsoft.com/office/drawing/2014/main" id="{E0DDC413-F5DA-42D6-902C-C78B71643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2675" y="4073525"/>
            <a:ext cx="222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9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/>
          </a:p>
        </p:txBody>
      </p:sp>
      <p:sp>
        <p:nvSpPr>
          <p:cNvPr id="35855" name="Rectangle 12">
            <a:extLst>
              <a:ext uri="{FF2B5EF4-FFF2-40B4-BE49-F238E27FC236}">
                <a16:creationId xmlns:a16="http://schemas.microsoft.com/office/drawing/2014/main" id="{17A36F1F-34A0-465B-BD42-B8D557B34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6" name="Rectangle 15">
            <a:extLst>
              <a:ext uri="{FF2B5EF4-FFF2-40B4-BE49-F238E27FC236}">
                <a16:creationId xmlns:a16="http://schemas.microsoft.com/office/drawing/2014/main" id="{CFDD5FAD-A415-480F-A382-DBAED5B97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7" name="Rectangle 18">
            <a:extLst>
              <a:ext uri="{FF2B5EF4-FFF2-40B4-BE49-F238E27FC236}">
                <a16:creationId xmlns:a16="http://schemas.microsoft.com/office/drawing/2014/main" id="{78F5DDF2-3C6E-4E29-B8C1-DF83674FE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组合 18">
            <a:extLst>
              <a:ext uri="{FF2B5EF4-FFF2-40B4-BE49-F238E27FC236}">
                <a16:creationId xmlns:a16="http://schemas.microsoft.com/office/drawing/2014/main" id="{B425979E-EEDA-4C5A-A86B-7F062E3FB6F8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590800"/>
            <a:ext cx="8378825" cy="3133725"/>
            <a:chOff x="152400" y="2590800"/>
            <a:chExt cx="8378825" cy="3133725"/>
          </a:xfrm>
        </p:grpSpPr>
        <p:sp>
          <p:nvSpPr>
            <p:cNvPr id="35859" name="Rectangle 11">
              <a:extLst>
                <a:ext uri="{FF2B5EF4-FFF2-40B4-BE49-F238E27FC236}">
                  <a16:creationId xmlns:a16="http://schemas.microsoft.com/office/drawing/2014/main" id="{D8455AC5-3B03-4A59-BBBA-28C0E185E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" y="2590800"/>
              <a:ext cx="16494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解：（</a:t>
              </a:r>
              <a:r>
                <a:rPr lang="en-US" altLang="zh-CN" sz="2400"/>
                <a:t>2</a:t>
              </a:r>
              <a:r>
                <a:rPr lang="zh-CN" altLang="en-US" sz="2400"/>
                <a:t>）</a:t>
              </a:r>
            </a:p>
          </p:txBody>
        </p:sp>
        <p:graphicFrame>
          <p:nvGraphicFramePr>
            <p:cNvPr id="35844" name="Object 17">
              <a:extLst>
                <a:ext uri="{FF2B5EF4-FFF2-40B4-BE49-F238E27FC236}">
                  <a16:creationId xmlns:a16="http://schemas.microsoft.com/office/drawing/2014/main" id="{3DD2F852-9875-4A01-B5A2-BF02831DC7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5288" y="2924175"/>
            <a:ext cx="8135937" cy="2800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12" name="Equation" r:id="rId7" imgW="2882880" imgH="990360" progId="Equation.DSMT4">
                    <p:embed/>
                  </p:oleObj>
                </mc:Choice>
                <mc:Fallback>
                  <p:oleObj name="Equation" r:id="rId7" imgW="2882880" imgH="990360" progId="Equation.DSMT4">
                    <p:embed/>
                    <p:pic>
                      <p:nvPicPr>
                        <p:cNvPr id="35844" name="Object 17">
                          <a:extLst>
                            <a:ext uri="{FF2B5EF4-FFF2-40B4-BE49-F238E27FC236}">
                              <a16:creationId xmlns:a16="http://schemas.microsoft.com/office/drawing/2014/main" id="{3DD2F852-9875-4A01-B5A2-BF02831DC7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88" y="2924175"/>
                          <a:ext cx="8135937" cy="2800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7" name="日期占位符 1">
            <a:extLst>
              <a:ext uri="{FF2B5EF4-FFF2-40B4-BE49-F238E27FC236}">
                <a16:creationId xmlns:a16="http://schemas.microsoft.com/office/drawing/2014/main" id="{0D8D89E4-B30A-42F7-A202-B7B11C9EE17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E489FBC-EBFE-48A6-80B7-24EA32134A1E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6878" name="页脚占位符 2">
            <a:extLst>
              <a:ext uri="{FF2B5EF4-FFF2-40B4-BE49-F238E27FC236}">
                <a16:creationId xmlns:a16="http://schemas.microsoft.com/office/drawing/2014/main" id="{C3ABA071-35C2-4767-9D0B-CB2371657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6879" name="灯片编号占位符 3">
            <a:extLst>
              <a:ext uri="{FF2B5EF4-FFF2-40B4-BE49-F238E27FC236}">
                <a16:creationId xmlns:a16="http://schemas.microsoft.com/office/drawing/2014/main" id="{5C9F9C8B-A60A-47AB-81DD-83D83253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B1CB365-59DC-44EA-891A-0D8F8E5E9E77}" type="slidenum">
              <a:rPr lang="en-US" altLang="zh-CN"/>
              <a:pPr eaLnBrk="1" hangingPunct="1"/>
              <a:t>49</a:t>
            </a:fld>
            <a:endParaRPr lang="en-US" altLang="zh-CN"/>
          </a:p>
        </p:txBody>
      </p:sp>
      <p:sp>
        <p:nvSpPr>
          <p:cNvPr id="36880" name="Rectangle 2">
            <a:extLst>
              <a:ext uri="{FF2B5EF4-FFF2-40B4-BE49-F238E27FC236}">
                <a16:creationId xmlns:a16="http://schemas.microsoft.com/office/drawing/2014/main" id="{0C31AAAC-7B30-412C-B076-615002C47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511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》2011-2012</a:t>
            </a:r>
            <a:r>
              <a:rPr lang="zh-CN" altLang="en-US" b="1"/>
              <a:t>学年第</a:t>
            </a:r>
            <a:r>
              <a:rPr lang="en-US" altLang="zh-CN" b="1"/>
              <a:t>2</a:t>
            </a:r>
            <a:r>
              <a:rPr lang="zh-CN" altLang="en-US" b="1"/>
              <a:t>学期，试卷</a:t>
            </a:r>
          </a:p>
        </p:txBody>
      </p:sp>
      <p:sp>
        <p:nvSpPr>
          <p:cNvPr id="36881" name="Rectangle 3">
            <a:extLst>
              <a:ext uri="{FF2B5EF4-FFF2-40B4-BE49-F238E27FC236}">
                <a16:creationId xmlns:a16="http://schemas.microsoft.com/office/drawing/2014/main" id="{38D07A9C-9ABD-4978-9B71-DCA3C20C2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44575" y="28146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6882" name="Rectangle 21">
            <a:extLst>
              <a:ext uri="{FF2B5EF4-FFF2-40B4-BE49-F238E27FC236}">
                <a16:creationId xmlns:a16="http://schemas.microsoft.com/office/drawing/2014/main" id="{17040802-D632-46BC-A6E2-51BAA919F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836613"/>
            <a:ext cx="612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16.</a:t>
            </a:r>
            <a:endParaRPr lang="zh-CN" altLang="en-US" sz="2400"/>
          </a:p>
        </p:txBody>
      </p:sp>
      <p:sp>
        <p:nvSpPr>
          <p:cNvPr id="36883" name="矩形 18">
            <a:extLst>
              <a:ext uri="{FF2B5EF4-FFF2-40B4-BE49-F238E27FC236}">
                <a16:creationId xmlns:a16="http://schemas.microsoft.com/office/drawing/2014/main" id="{103D8791-F072-4EBB-B02F-8A36A4DD6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765175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/>
              <a:t>设</a:t>
            </a:r>
            <a:endParaRPr lang="zh-CN" altLang="en-US" sz="2800"/>
          </a:p>
        </p:txBody>
      </p:sp>
      <p:sp>
        <p:nvSpPr>
          <p:cNvPr id="36884" name="Rectangle 8">
            <a:extLst>
              <a:ext uri="{FF2B5EF4-FFF2-40B4-BE49-F238E27FC236}">
                <a16:creationId xmlns:a16="http://schemas.microsoft.com/office/drawing/2014/main" id="{099DBA52-A4F3-4C84-86CE-53A1ACE6A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6866" name="Object 7">
            <a:extLst>
              <a:ext uri="{FF2B5EF4-FFF2-40B4-BE49-F238E27FC236}">
                <a16:creationId xmlns:a16="http://schemas.microsoft.com/office/drawing/2014/main" id="{5F381550-1395-44B2-8CA3-5156503781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831850"/>
          <a:ext cx="360363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8" name="Equation" r:id="rId3" imgW="152268" imgH="164957" progId="Equation.DSMT4">
                  <p:embed/>
                </p:oleObj>
              </mc:Choice>
              <mc:Fallback>
                <p:oleObj name="Equation" r:id="rId3" imgW="152268" imgH="164957" progId="Equation.DSMT4">
                  <p:embed/>
                  <p:pic>
                    <p:nvPicPr>
                      <p:cNvPr id="36866" name="Object 7">
                        <a:extLst>
                          <a:ext uri="{FF2B5EF4-FFF2-40B4-BE49-F238E27FC236}">
                            <a16:creationId xmlns:a16="http://schemas.microsoft.com/office/drawing/2014/main" id="{5F381550-1395-44B2-8CA3-5156503781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831850"/>
                        <a:ext cx="360363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5" name="矩形 21">
            <a:extLst>
              <a:ext uri="{FF2B5EF4-FFF2-40B4-BE49-F238E27FC236}">
                <a16:creationId xmlns:a16="http://schemas.microsoft.com/office/drawing/2014/main" id="{26DE9505-D3A6-4CCD-A86E-34D9F4B5E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836613"/>
            <a:ext cx="3878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是二阶方阵，特征值分别为</a:t>
            </a:r>
            <a:endParaRPr lang="zh-CN" altLang="en-US" sz="2400"/>
          </a:p>
        </p:txBody>
      </p:sp>
      <p:sp>
        <p:nvSpPr>
          <p:cNvPr id="36886" name="Rectangle 10">
            <a:extLst>
              <a:ext uri="{FF2B5EF4-FFF2-40B4-BE49-F238E27FC236}">
                <a16:creationId xmlns:a16="http://schemas.microsoft.com/office/drawing/2014/main" id="{296B2562-5653-4973-B9FD-389205C0D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6867" name="Object 9">
            <a:extLst>
              <a:ext uri="{FF2B5EF4-FFF2-40B4-BE49-F238E27FC236}">
                <a16:creationId xmlns:a16="http://schemas.microsoft.com/office/drawing/2014/main" id="{CF90C39E-6B8B-492A-A571-1DB145731E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836613"/>
          <a:ext cx="15668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9" name="Equation" r:id="rId5" imgW="825500" imgH="228600" progId="Equation.DSMT4">
                  <p:embed/>
                </p:oleObj>
              </mc:Choice>
              <mc:Fallback>
                <p:oleObj name="Equation" r:id="rId5" imgW="825500" imgH="228600" progId="Equation.DSMT4">
                  <p:embed/>
                  <p:pic>
                    <p:nvPicPr>
                      <p:cNvPr id="36867" name="Object 9">
                        <a:extLst>
                          <a:ext uri="{FF2B5EF4-FFF2-40B4-BE49-F238E27FC236}">
                            <a16:creationId xmlns:a16="http://schemas.microsoft.com/office/drawing/2014/main" id="{CF90C39E-6B8B-492A-A571-1DB145731E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836613"/>
                        <a:ext cx="1566863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7" name="Rectangle 11">
            <a:extLst>
              <a:ext uri="{FF2B5EF4-FFF2-40B4-BE49-F238E27FC236}">
                <a16:creationId xmlns:a16="http://schemas.microsoft.com/office/drawing/2014/main" id="{B9625724-801B-4C51-A9DA-F2592BF70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412875"/>
            <a:ext cx="3656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其对应的特征向量分别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400"/>
              <a:t> </a:t>
            </a:r>
          </a:p>
        </p:txBody>
      </p:sp>
      <p:sp>
        <p:nvSpPr>
          <p:cNvPr id="36888" name="Rectangle 13">
            <a:extLst>
              <a:ext uri="{FF2B5EF4-FFF2-40B4-BE49-F238E27FC236}">
                <a16:creationId xmlns:a16="http://schemas.microsoft.com/office/drawing/2014/main" id="{63BFDFA2-4555-4D50-94EF-F24FCD1EE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6868" name="Object 12">
            <a:extLst>
              <a:ext uri="{FF2B5EF4-FFF2-40B4-BE49-F238E27FC236}">
                <a16:creationId xmlns:a16="http://schemas.microsoft.com/office/drawing/2014/main" id="{038929F7-B7EE-4879-A30F-92A7E82163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1268413"/>
          <a:ext cx="9239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0" name="Equation" r:id="rId7" imgW="533169" imgH="457002" progId="Equation.DSMT4">
                  <p:embed/>
                </p:oleObj>
              </mc:Choice>
              <mc:Fallback>
                <p:oleObj name="Equation" r:id="rId7" imgW="533169" imgH="457002" progId="Equation.DSMT4">
                  <p:embed/>
                  <p:pic>
                    <p:nvPicPr>
                      <p:cNvPr id="36868" name="Object 12">
                        <a:extLst>
                          <a:ext uri="{FF2B5EF4-FFF2-40B4-BE49-F238E27FC236}">
                            <a16:creationId xmlns:a16="http://schemas.microsoft.com/office/drawing/2014/main" id="{038929F7-B7EE-4879-A30F-92A7E82163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1268413"/>
                        <a:ext cx="923925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9" name="Rectangle 15">
            <a:extLst>
              <a:ext uri="{FF2B5EF4-FFF2-40B4-BE49-F238E27FC236}">
                <a16:creationId xmlns:a16="http://schemas.microsoft.com/office/drawing/2014/main" id="{90A75196-57C6-45A3-A303-5F7943161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6869" name="Object 14">
            <a:extLst>
              <a:ext uri="{FF2B5EF4-FFF2-40B4-BE49-F238E27FC236}">
                <a16:creationId xmlns:a16="http://schemas.microsoft.com/office/drawing/2014/main" id="{24646562-1828-46C7-BDDF-1C885A0A24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1341438"/>
          <a:ext cx="10191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1" name="Equation" r:id="rId9" imgW="647700" imgH="457200" progId="Equation.DSMT4">
                  <p:embed/>
                </p:oleObj>
              </mc:Choice>
              <mc:Fallback>
                <p:oleObj name="Equation" r:id="rId9" imgW="647700" imgH="457200" progId="Equation.DSMT4">
                  <p:embed/>
                  <p:pic>
                    <p:nvPicPr>
                      <p:cNvPr id="36869" name="Object 14">
                        <a:extLst>
                          <a:ext uri="{FF2B5EF4-FFF2-40B4-BE49-F238E27FC236}">
                            <a16:creationId xmlns:a16="http://schemas.microsoft.com/office/drawing/2014/main" id="{24646562-1828-46C7-BDDF-1C885A0A24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341438"/>
                        <a:ext cx="1019175" cy="719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0" name="矩形 29">
            <a:extLst>
              <a:ext uri="{FF2B5EF4-FFF2-40B4-BE49-F238E27FC236}">
                <a16:creationId xmlns:a16="http://schemas.microsoft.com/office/drawing/2014/main" id="{448FF903-DCB3-4FA1-876E-43918A2B9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1412875"/>
            <a:ext cx="4937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设</a:t>
            </a:r>
            <a:endParaRPr lang="zh-CN" altLang="en-US" sz="2400"/>
          </a:p>
        </p:txBody>
      </p:sp>
      <p:sp>
        <p:nvSpPr>
          <p:cNvPr id="36891" name="Rectangle 17">
            <a:extLst>
              <a:ext uri="{FF2B5EF4-FFF2-40B4-BE49-F238E27FC236}">
                <a16:creationId xmlns:a16="http://schemas.microsoft.com/office/drawing/2014/main" id="{A44CF072-C9D4-4EBE-A064-BF3D86E52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6870" name="Object 16">
            <a:extLst>
              <a:ext uri="{FF2B5EF4-FFF2-40B4-BE49-F238E27FC236}">
                <a16:creationId xmlns:a16="http://schemas.microsoft.com/office/drawing/2014/main" id="{C3A1DEAE-C4FC-474B-AD66-95C579B4F5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5463" y="1412875"/>
          <a:ext cx="15509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2" name="Equation" r:id="rId11" imgW="787058" imgH="253890" progId="Equation.DSMT4">
                  <p:embed/>
                </p:oleObj>
              </mc:Choice>
              <mc:Fallback>
                <p:oleObj name="Equation" r:id="rId11" imgW="787058" imgH="253890" progId="Equation.DSMT4">
                  <p:embed/>
                  <p:pic>
                    <p:nvPicPr>
                      <p:cNvPr id="36870" name="Object 16">
                        <a:extLst>
                          <a:ext uri="{FF2B5EF4-FFF2-40B4-BE49-F238E27FC236}">
                            <a16:creationId xmlns:a16="http://schemas.microsoft.com/office/drawing/2014/main" id="{C3A1DEAE-C4FC-474B-AD66-95C579B4F5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1412875"/>
                        <a:ext cx="1550987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2" name="矩形 32">
            <a:extLst>
              <a:ext uri="{FF2B5EF4-FFF2-40B4-BE49-F238E27FC236}">
                <a16:creationId xmlns:a16="http://schemas.microsoft.com/office/drawing/2014/main" id="{22E6957C-8975-4568-AA20-1A7D5C605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989138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求</a:t>
            </a:r>
            <a:endParaRPr lang="zh-CN" altLang="en-US" sz="2400"/>
          </a:p>
        </p:txBody>
      </p:sp>
      <p:sp>
        <p:nvSpPr>
          <p:cNvPr id="36893" name="Rectangle 19">
            <a:extLst>
              <a:ext uri="{FF2B5EF4-FFF2-40B4-BE49-F238E27FC236}">
                <a16:creationId xmlns:a16="http://schemas.microsoft.com/office/drawing/2014/main" id="{3C25885C-ED88-4EB8-8B1E-746845C85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6871" name="Object 18">
            <a:extLst>
              <a:ext uri="{FF2B5EF4-FFF2-40B4-BE49-F238E27FC236}">
                <a16:creationId xmlns:a16="http://schemas.microsoft.com/office/drawing/2014/main" id="{20E7D9A0-D924-4321-A432-2AABBD9ED7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513" y="2017713"/>
          <a:ext cx="109378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3" name="Equation" r:id="rId13" imgW="482400" imgH="228600" progId="Equation.DSMT4">
                  <p:embed/>
                </p:oleObj>
              </mc:Choice>
              <mc:Fallback>
                <p:oleObj name="Equation" r:id="rId13" imgW="482400" imgH="228600" progId="Equation.DSMT4">
                  <p:embed/>
                  <p:pic>
                    <p:nvPicPr>
                      <p:cNvPr id="36871" name="Object 18">
                        <a:extLst>
                          <a:ext uri="{FF2B5EF4-FFF2-40B4-BE49-F238E27FC236}">
                            <a16:creationId xmlns:a16="http://schemas.microsoft.com/office/drawing/2014/main" id="{20E7D9A0-D924-4321-A432-2AABBD9ED7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13" y="2017713"/>
                        <a:ext cx="1093787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4" name="Rectangle 21">
            <a:extLst>
              <a:ext uri="{FF2B5EF4-FFF2-40B4-BE49-F238E27FC236}">
                <a16:creationId xmlns:a16="http://schemas.microsoft.com/office/drawing/2014/main" id="{5F4C38C8-2474-4595-8AF8-1BDD7F043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6872" name="Object 20">
            <a:extLst>
              <a:ext uri="{FF2B5EF4-FFF2-40B4-BE49-F238E27FC236}">
                <a16:creationId xmlns:a16="http://schemas.microsoft.com/office/drawing/2014/main" id="{5ADCA843-2276-47B3-9BC4-ACD50C2CE0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2060575"/>
          <a:ext cx="4318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4" name="Equation" r:id="rId15" imgW="203112" imgH="190417" progId="Equation.DSMT4">
                  <p:embed/>
                </p:oleObj>
              </mc:Choice>
              <mc:Fallback>
                <p:oleObj name="Equation" r:id="rId15" imgW="203112" imgH="190417" progId="Equation.DSMT4">
                  <p:embed/>
                  <p:pic>
                    <p:nvPicPr>
                      <p:cNvPr id="36872" name="Object 20">
                        <a:extLst>
                          <a:ext uri="{FF2B5EF4-FFF2-40B4-BE49-F238E27FC236}">
                            <a16:creationId xmlns:a16="http://schemas.microsoft.com/office/drawing/2014/main" id="{5ADCA843-2276-47B3-9BC4-ACD50C2CE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060575"/>
                        <a:ext cx="431800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5" name="矩形 37">
            <a:extLst>
              <a:ext uri="{FF2B5EF4-FFF2-40B4-BE49-F238E27FC236}">
                <a16:creationId xmlns:a16="http://schemas.microsoft.com/office/drawing/2014/main" id="{9A3FEE78-4186-4895-90E4-4CDC9F56A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2060575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400"/>
              <a:t>及</a:t>
            </a:r>
            <a:endParaRPr lang="zh-CN" altLang="en-US" sz="2400"/>
          </a:p>
        </p:txBody>
      </p:sp>
      <p:sp>
        <p:nvSpPr>
          <p:cNvPr id="36896" name="Rectangle 23">
            <a:extLst>
              <a:ext uri="{FF2B5EF4-FFF2-40B4-BE49-F238E27FC236}">
                <a16:creationId xmlns:a16="http://schemas.microsoft.com/office/drawing/2014/main" id="{5C37DA3F-651E-4E76-9155-EDA4E5C18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6873" name="Object 22">
            <a:extLst>
              <a:ext uri="{FF2B5EF4-FFF2-40B4-BE49-F238E27FC236}">
                <a16:creationId xmlns:a16="http://schemas.microsoft.com/office/drawing/2014/main" id="{4AD97222-D70F-49D2-809A-433C38B998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2060575"/>
          <a:ext cx="4318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5" name="Equation" r:id="rId17" imgW="203024" imgH="253780" progId="Equation.DSMT4">
                  <p:embed/>
                </p:oleObj>
              </mc:Choice>
              <mc:Fallback>
                <p:oleObj name="Equation" r:id="rId17" imgW="203024" imgH="253780" progId="Equation.DSMT4">
                  <p:embed/>
                  <p:pic>
                    <p:nvPicPr>
                      <p:cNvPr id="36873" name="Object 22">
                        <a:extLst>
                          <a:ext uri="{FF2B5EF4-FFF2-40B4-BE49-F238E27FC236}">
                            <a16:creationId xmlns:a16="http://schemas.microsoft.com/office/drawing/2014/main" id="{4AD97222-D70F-49D2-809A-433C38B998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060575"/>
                        <a:ext cx="43180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97" name="Rectangle 25">
            <a:extLst>
              <a:ext uri="{FF2B5EF4-FFF2-40B4-BE49-F238E27FC236}">
                <a16:creationId xmlns:a16="http://schemas.microsoft.com/office/drawing/2014/main" id="{20BCA73D-70E3-4EE3-851F-63D0BA519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组合 36">
            <a:extLst>
              <a:ext uri="{FF2B5EF4-FFF2-40B4-BE49-F238E27FC236}">
                <a16:creationId xmlns:a16="http://schemas.microsoft.com/office/drawing/2014/main" id="{2CE6700D-E8DA-40AB-A8E4-925B8034B86B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667000"/>
            <a:ext cx="3568700" cy="936625"/>
            <a:chOff x="304800" y="2667000"/>
            <a:chExt cx="3568700" cy="936625"/>
          </a:xfrm>
        </p:grpSpPr>
        <p:sp>
          <p:nvSpPr>
            <p:cNvPr id="36901" name="矩形 40">
              <a:extLst>
                <a:ext uri="{FF2B5EF4-FFF2-40B4-BE49-F238E27FC236}">
                  <a16:creationId xmlns:a16="http://schemas.microsoft.com/office/drawing/2014/main" id="{770A840F-A776-489A-8F16-09E4A51DB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2743200"/>
              <a:ext cx="57785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zh-CN" sz="2400"/>
                <a:t>解</a:t>
              </a:r>
              <a:r>
                <a:rPr lang="en-US" altLang="zh-CN" sz="2400"/>
                <a:t>:</a:t>
              </a:r>
              <a:endParaRPr lang="zh-CN" altLang="en-US" sz="2400"/>
            </a:p>
          </p:txBody>
        </p:sp>
        <p:graphicFrame>
          <p:nvGraphicFramePr>
            <p:cNvPr id="36874" name="Object 24">
              <a:extLst>
                <a:ext uri="{FF2B5EF4-FFF2-40B4-BE49-F238E27FC236}">
                  <a16:creationId xmlns:a16="http://schemas.microsoft.com/office/drawing/2014/main" id="{3303D6FA-FA45-43DD-9241-A4ECA234AE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43000" y="2667000"/>
            <a:ext cx="2730500" cy="936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06" name="Equation" r:id="rId19" imgW="1333500" imgH="457200" progId="Equation.DSMT4">
                    <p:embed/>
                  </p:oleObj>
                </mc:Choice>
                <mc:Fallback>
                  <p:oleObj name="Equation" r:id="rId19" imgW="1333500" imgH="457200" progId="Equation.DSMT4">
                    <p:embed/>
                    <p:pic>
                      <p:nvPicPr>
                        <p:cNvPr id="36874" name="Object 24">
                          <a:extLst>
                            <a:ext uri="{FF2B5EF4-FFF2-40B4-BE49-F238E27FC236}">
                              <a16:creationId xmlns:a16="http://schemas.microsoft.com/office/drawing/2014/main" id="{3303D6FA-FA45-43DD-9241-A4ECA234AE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3000" y="2667000"/>
                          <a:ext cx="2730500" cy="936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899" name="Rectangle 27">
            <a:extLst>
              <a:ext uri="{FF2B5EF4-FFF2-40B4-BE49-F238E27FC236}">
                <a16:creationId xmlns:a16="http://schemas.microsoft.com/office/drawing/2014/main" id="{1E515388-BE4C-42AB-B2BF-1C8E067C0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7835" name="Object 26">
            <a:extLst>
              <a:ext uri="{FF2B5EF4-FFF2-40B4-BE49-F238E27FC236}">
                <a16:creationId xmlns:a16="http://schemas.microsoft.com/office/drawing/2014/main" id="{C1492F8E-4B32-40D7-B60C-CA5F1705BE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3657600"/>
          <a:ext cx="82391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7" name="Equation" r:id="rId21" imgW="4203700" imgH="508000" progId="Equation.DSMT4">
                  <p:embed/>
                </p:oleObj>
              </mc:Choice>
              <mc:Fallback>
                <p:oleObj name="Equation" r:id="rId21" imgW="4203700" imgH="508000" progId="Equation.DSMT4">
                  <p:embed/>
                  <p:pic>
                    <p:nvPicPr>
                      <p:cNvPr id="77835" name="Object 26">
                        <a:extLst>
                          <a:ext uri="{FF2B5EF4-FFF2-40B4-BE49-F238E27FC236}">
                            <a16:creationId xmlns:a16="http://schemas.microsoft.com/office/drawing/2014/main" id="{C1492F8E-4B32-40D7-B60C-CA5F1705BE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657600"/>
                        <a:ext cx="8239125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900" name="Rectangle 29">
            <a:extLst>
              <a:ext uri="{FF2B5EF4-FFF2-40B4-BE49-F238E27FC236}">
                <a16:creationId xmlns:a16="http://schemas.microsoft.com/office/drawing/2014/main" id="{3C49C0BA-86AF-4D2B-AC76-3F5854C40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7836" name="Object 28">
            <a:extLst>
              <a:ext uri="{FF2B5EF4-FFF2-40B4-BE49-F238E27FC236}">
                <a16:creationId xmlns:a16="http://schemas.microsoft.com/office/drawing/2014/main" id="{0D7DD481-EFB4-45B7-95C8-8B0E6BE4F5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4876800"/>
          <a:ext cx="18240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8" name="Equation" r:id="rId23" imgW="723586" imgH="253890" progId="Equation.DSMT4">
                  <p:embed/>
                </p:oleObj>
              </mc:Choice>
              <mc:Fallback>
                <p:oleObj name="Equation" r:id="rId23" imgW="723586" imgH="253890" progId="Equation.DSMT4">
                  <p:embed/>
                  <p:pic>
                    <p:nvPicPr>
                      <p:cNvPr id="77836" name="Object 28">
                        <a:extLst>
                          <a:ext uri="{FF2B5EF4-FFF2-40B4-BE49-F238E27FC236}">
                            <a16:creationId xmlns:a16="http://schemas.microsoft.com/office/drawing/2014/main" id="{0D7DD481-EFB4-45B7-95C8-8B0E6BE4F5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876800"/>
                        <a:ext cx="1824038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/>
              <a:t>六、作业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1681336" y="1600200"/>
            <a:ext cx="5122912" cy="2620888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>
                <a:latin typeface="+mn-ea"/>
              </a:rPr>
              <a:t>作业</a:t>
            </a:r>
            <a:r>
              <a:rPr lang="en-US" altLang="zh-CN" sz="2800" dirty="0">
                <a:latin typeface="+mn-ea"/>
              </a:rPr>
              <a:t>2.19   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>
                <a:latin typeface="+mn-ea"/>
              </a:rPr>
              <a:t>作业</a:t>
            </a:r>
            <a:r>
              <a:rPr lang="en-US" altLang="zh-CN" sz="2800" dirty="0">
                <a:latin typeface="+mn-ea"/>
              </a:rPr>
              <a:t>2.24   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>
                <a:latin typeface="+mn-ea"/>
              </a:rPr>
              <a:t>作业</a:t>
            </a:r>
            <a:r>
              <a:rPr lang="en-US" altLang="zh-CN" sz="2800" dirty="0">
                <a:latin typeface="+mn-ea"/>
              </a:rPr>
              <a:t>2.25  </a:t>
            </a:r>
            <a:r>
              <a:rPr lang="en-US" altLang="zh-CN" sz="2800" dirty="0"/>
              <a:t> 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/>
              <a:t>预习</a:t>
            </a:r>
            <a:r>
              <a:rPr lang="en-US" altLang="zh-CN" sz="2800" dirty="0"/>
              <a:t>3.1-3.3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/>
              <a:t>观看视频</a:t>
            </a:r>
            <a:r>
              <a:rPr lang="en-US" altLang="zh-CN" sz="2800" dirty="0"/>
              <a:t>3.1-3.3 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76851" y="2556694"/>
            <a:ext cx="3204430" cy="4278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</TotalTime>
  <Words>1958</Words>
  <Application>Microsoft Office PowerPoint</Application>
  <PresentationFormat>全屏显示(4:3)</PresentationFormat>
  <Paragraphs>349</Paragraphs>
  <Slides>50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50</vt:i4>
      </vt:variant>
    </vt:vector>
  </HeadingPairs>
  <TitlesOfParts>
    <vt:vector size="67" baseType="lpstr">
      <vt:lpstr>黑体</vt:lpstr>
      <vt:lpstr>楷体_GB2312</vt:lpstr>
      <vt:lpstr>宋体</vt:lpstr>
      <vt:lpstr>微软雅黑</vt:lpstr>
      <vt:lpstr>Arial</vt:lpstr>
      <vt:lpstr>Calibri</vt:lpstr>
      <vt:lpstr>Symbol</vt:lpstr>
      <vt:lpstr>Times New Roman</vt:lpstr>
      <vt:lpstr>Verdana</vt:lpstr>
      <vt:lpstr>Wingdings</vt:lpstr>
      <vt:lpstr>1_Office 主题</vt:lpstr>
      <vt:lpstr>Equation</vt:lpstr>
      <vt:lpstr>文档</vt:lpstr>
      <vt:lpstr>金山 WPS 文字</vt:lpstr>
      <vt:lpstr>MathType 5.0 Equation</vt:lpstr>
      <vt:lpstr>Microsoft 公式 3.0</vt:lpstr>
      <vt:lpstr>公式</vt:lpstr>
      <vt:lpstr>第十讲  特征值与特征向量</vt:lpstr>
      <vt:lpstr>第十一讲  矩阵方程  矩阵数字特征的关系</vt:lpstr>
      <vt:lpstr>二、矩阵数字特征之间的关系</vt:lpstr>
      <vt:lpstr>二、矩阵数字特征之间的关系</vt:lpstr>
      <vt:lpstr>二、矩阵数字特征之间的关系</vt:lpstr>
      <vt:lpstr>二、矩阵数字特征之间的关系</vt:lpstr>
      <vt:lpstr>二、矩阵数字特征之间的关系</vt:lpstr>
      <vt:lpstr>三、数字特征相同的一类矩阵——相似矩阵</vt:lpstr>
      <vt:lpstr>三、数字特征相同的一类矩阵——相似矩阵</vt:lpstr>
      <vt:lpstr>PowerPoint 演示文稿</vt:lpstr>
      <vt:lpstr>PowerPoint 演示文稿</vt:lpstr>
      <vt:lpstr>三、数字特征相同的一类矩阵——相似矩阵</vt:lpstr>
      <vt:lpstr>三、数字特征相同的一类矩阵——相似矩阵</vt:lpstr>
      <vt:lpstr>三、数字特征相同的一类矩阵——相似矩阵</vt:lpstr>
      <vt:lpstr>三、数字特征相同的一类矩阵——相似矩阵</vt:lpstr>
      <vt:lpstr>PowerPoint 演示文稿</vt:lpstr>
      <vt:lpstr>PowerPoint 演示文稿</vt:lpstr>
      <vt:lpstr>三、数字特征相同的一类矩阵——相似矩阵</vt:lpstr>
      <vt:lpstr>三、数字特征相同的一类矩阵——相似矩阵</vt:lpstr>
      <vt:lpstr>三、数字特征相同的一类矩阵——相似矩阵</vt:lpstr>
      <vt:lpstr>三、数字特征相同的一类矩阵——相似矩阵</vt:lpstr>
      <vt:lpstr>PowerPoint 演示文稿</vt:lpstr>
      <vt:lpstr>三、数字特征相同的一类矩阵——相似矩阵</vt:lpstr>
      <vt:lpstr>三、数字特征相同的一类矩阵——相似矩阵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六、作业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特征值与特征向量</dc:title>
  <dc:creator>Administrator</dc:creator>
  <cp:lastModifiedBy>Administrator</cp:lastModifiedBy>
  <cp:revision>148</cp:revision>
  <dcterms:created xsi:type="dcterms:W3CDTF">2020-12-08T11:04:00Z</dcterms:created>
  <dcterms:modified xsi:type="dcterms:W3CDTF">2025-02-28T15:00:31Z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