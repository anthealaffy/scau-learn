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9"/>
  </p:notesMasterIdLst>
  <p:sldIdLst>
    <p:sldId id="256" r:id="rId2"/>
    <p:sldId id="261" r:id="rId3"/>
    <p:sldId id="262" r:id="rId4"/>
    <p:sldId id="290" r:id="rId5"/>
    <p:sldId id="284" r:id="rId6"/>
    <p:sldId id="291" r:id="rId7"/>
    <p:sldId id="272" r:id="rId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76725" autoAdjust="0"/>
  </p:normalViewPr>
  <p:slideViewPr>
    <p:cSldViewPr>
      <p:cViewPr varScale="1">
        <p:scale>
          <a:sx n="107" d="100"/>
          <a:sy n="107" d="100"/>
        </p:scale>
        <p:origin x="78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4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3.wmf"/><Relationship Id="rId4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4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208F89-9C62-40E6-A4B7-5241B108DCB9}" type="datetimeFigureOut">
              <a:rPr lang="zh-CN" altLang="en-US" smtClean="0"/>
              <a:t>2022/2/18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307C1D-A20E-4502-A38E-1928A7EE2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244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307C1D-A20E-4502-A38E-1928A7EE265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4353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588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452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190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919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2022/2/18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640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663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2022/2/18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9314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33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7581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0076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5132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2022/2/18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651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5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9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9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5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3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0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11560" y="1245736"/>
            <a:ext cx="7772400" cy="1470025"/>
          </a:xfrm>
        </p:spPr>
        <p:txBody>
          <a:bodyPr>
            <a:normAutofit/>
          </a:bodyPr>
          <a:lstStyle/>
          <a:p>
            <a:r>
              <a:rPr lang="zh-CN" altLang="en-US" sz="4800" dirty="0"/>
              <a:t>线性方程组及其解空间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35696" y="2420888"/>
            <a:ext cx="6400800" cy="3312368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800" b="1" dirty="0" smtClean="0">
                <a:solidFill>
                  <a:schemeClr val="tx1"/>
                </a:solidFill>
              </a:rPr>
              <a:t>4.5  </a:t>
            </a:r>
            <a:r>
              <a:rPr lang="zh-CN" altLang="en-US" sz="2800" b="1" dirty="0">
                <a:solidFill>
                  <a:schemeClr val="tx1"/>
                </a:solidFill>
              </a:rPr>
              <a:t>特征向量的解法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endParaRPr lang="zh-CN" altLang="en-US" sz="2400" dirty="0"/>
          </a:p>
        </p:txBody>
      </p:sp>
      <p:pic>
        <p:nvPicPr>
          <p:cNvPr id="4" name="Picture 2" descr="scau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131" y="67811"/>
            <a:ext cx="5472112" cy="117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直角三角形 4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直角三角形 5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2"/>
          <p:cNvSpPr txBox="1"/>
          <p:nvPr/>
        </p:nvSpPr>
        <p:spPr>
          <a:xfrm>
            <a:off x="187604" y="1340768"/>
            <a:ext cx="8712968" cy="475252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altLang="zh-CN" sz="2400" dirty="0"/>
              <a:t>   </a:t>
            </a:r>
            <a:r>
              <a:rPr lang="zh-CN" altLang="en-US" sz="2400" dirty="0"/>
              <a:t>求矩阵的特征值与特征向量的</a:t>
            </a:r>
            <a:r>
              <a:rPr lang="zh-CN" altLang="en-US" sz="2600" b="1" dirty="0">
                <a:solidFill>
                  <a:srgbClr val="FF0000"/>
                </a:solidFill>
              </a:rPr>
              <a:t>步骤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marL="0" indent="0">
              <a:lnSpc>
                <a:spcPct val="160000"/>
              </a:lnSpc>
              <a:buNone/>
            </a:pPr>
            <a:r>
              <a:rPr lang="zh-CN" altLang="en-US" sz="2400" dirty="0"/>
              <a:t>   </a:t>
            </a:r>
            <a:r>
              <a:rPr lang="zh-CN" altLang="zh-CN" sz="2400" dirty="0"/>
              <a:t>（</a:t>
            </a:r>
            <a:r>
              <a:rPr lang="en-US" altLang="zh-CN" sz="2400" dirty="0"/>
              <a:t>1</a:t>
            </a:r>
            <a:r>
              <a:rPr lang="zh-CN" altLang="zh-CN" sz="2400" dirty="0"/>
              <a:t>）求矩阵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400" dirty="0"/>
              <a:t>的特征方程</a:t>
            </a:r>
            <a:r>
              <a:rPr lang="en-US" altLang="zh-CN" sz="2400" dirty="0"/>
              <a:t> </a:t>
            </a:r>
            <a:r>
              <a:rPr lang="zh-CN" altLang="en-US" sz="2400" dirty="0"/>
              <a:t>                 </a:t>
            </a:r>
            <a:r>
              <a:rPr lang="en-US" altLang="zh-CN" sz="2400" dirty="0"/>
              <a:t>;</a:t>
            </a:r>
            <a:r>
              <a:rPr lang="zh-CN" altLang="en-US" sz="2400" dirty="0"/>
              <a:t>              </a:t>
            </a:r>
            <a:endParaRPr lang="zh-CN" altLang="zh-CN" sz="2400" dirty="0"/>
          </a:p>
          <a:p>
            <a:pPr marL="0" indent="0">
              <a:lnSpc>
                <a:spcPct val="160000"/>
              </a:lnSpc>
              <a:buNone/>
            </a:pPr>
            <a:r>
              <a:rPr lang="zh-CN" altLang="en-US" sz="2400" dirty="0"/>
              <a:t>   </a:t>
            </a:r>
            <a:r>
              <a:rPr lang="zh-CN" altLang="zh-CN" sz="2400" dirty="0"/>
              <a:t>（</a:t>
            </a:r>
            <a:r>
              <a:rPr lang="en-US" altLang="zh-CN" sz="2400" dirty="0"/>
              <a:t>2</a:t>
            </a:r>
            <a:r>
              <a:rPr lang="zh-CN" altLang="zh-CN" sz="2400" dirty="0"/>
              <a:t>）求特征方程的全部根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aseline="-25000" dirty="0"/>
              <a:t>2 </a:t>
            </a:r>
            <a:r>
              <a:rPr lang="zh-CN" altLang="en-US" sz="2400" dirty="0"/>
              <a:t>，</a:t>
            </a:r>
            <a:r>
              <a:rPr lang="en-US" altLang="zh-CN" sz="2400" dirty="0"/>
              <a:t>...</a:t>
            </a:r>
            <a:r>
              <a:rPr lang="zh-CN" altLang="en-US" sz="2400" dirty="0"/>
              <a:t>，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/>
              <a:t> </a:t>
            </a:r>
            <a:r>
              <a:rPr lang="zh-CN" altLang="zh-CN" sz="2400" dirty="0"/>
              <a:t>，即为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400" dirty="0"/>
              <a:t>的全部特征值；</a:t>
            </a:r>
            <a:r>
              <a:rPr lang="en-US" altLang="zh-CN" sz="2400" dirty="0"/>
              <a:t>    </a:t>
            </a:r>
            <a:endParaRPr lang="zh-CN" altLang="zh-CN" sz="2400" dirty="0"/>
          </a:p>
          <a:p>
            <a:pPr marL="0" indent="0">
              <a:lnSpc>
                <a:spcPct val="160000"/>
              </a:lnSpc>
              <a:buNone/>
            </a:pPr>
            <a:r>
              <a:rPr lang="zh-CN" altLang="en-US" sz="2400" dirty="0"/>
              <a:t>   </a:t>
            </a:r>
            <a:r>
              <a:rPr lang="zh-CN" altLang="zh-CN" sz="2400" dirty="0"/>
              <a:t>（</a:t>
            </a:r>
            <a:r>
              <a:rPr lang="en-US" altLang="zh-CN" sz="2400" dirty="0"/>
              <a:t>3</a:t>
            </a:r>
            <a:r>
              <a:rPr lang="zh-CN" altLang="zh-CN" sz="2400" dirty="0"/>
              <a:t>）对每个特征值</a:t>
            </a:r>
            <a:r>
              <a:rPr lang="en-US" altLang="zh-CN" sz="2400" dirty="0"/>
              <a:t> </a:t>
            </a:r>
            <a:r>
              <a:rPr lang="en-US" altLang="zh-CN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i=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...n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600" dirty="0"/>
              <a:t>,</a:t>
            </a:r>
            <a:r>
              <a:rPr lang="zh-CN" altLang="en-US" sz="2600" dirty="0"/>
              <a:t> </a:t>
            </a:r>
            <a:r>
              <a:rPr lang="zh-CN" altLang="en-US" sz="2400" dirty="0"/>
              <a:t>求</a:t>
            </a:r>
            <a:r>
              <a:rPr lang="zh-CN" altLang="zh-CN" sz="2400" dirty="0"/>
              <a:t>齐次线性方程组</a:t>
            </a:r>
            <a:r>
              <a:rPr lang="en-US" altLang="zh-CN" sz="2400" dirty="0"/>
              <a:t>(</a:t>
            </a:r>
            <a:r>
              <a:rPr lang="en-US" altLang="zh-CN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6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cs typeface="Times New Roman" panose="02020603050405020304" pitchFamily="18" charset="0"/>
              </a:rPr>
              <a:t>-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dirty="0"/>
              <a:t>)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/>
              <a:t>=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dirty="0"/>
              <a:t> </a:t>
            </a:r>
            <a:r>
              <a:rPr lang="zh-CN" altLang="zh-CN" sz="2400" dirty="0"/>
              <a:t>的非零解，即为对应于特征值</a:t>
            </a:r>
            <a:r>
              <a:rPr lang="en-US" altLang="zh-CN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6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i=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...n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600" dirty="0"/>
              <a:t> </a:t>
            </a:r>
            <a:r>
              <a:rPr lang="zh-CN" altLang="zh-CN" sz="2400" dirty="0"/>
              <a:t>的特征向量。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dirty="0"/>
              <a:t>   </a:t>
            </a:r>
          </a:p>
        </p:txBody>
      </p:sp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384621" y="116632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/>
              <a:t>六、特征向量的解法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3779912" y="2132856"/>
          <a:ext cx="1656184" cy="4487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3" imgW="17983200" imgH="4876800" progId="Equation.DSMT4">
                  <p:embed/>
                </p:oleObj>
              </mc:Choice>
              <mc:Fallback>
                <p:oleObj name="Equation" r:id="rId3" imgW="17983200" imgH="4876800" progId="Equation.DSMT4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912" y="2132856"/>
                        <a:ext cx="1656184" cy="4487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直角三角形 4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直角三角形 5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446856" y="231949"/>
            <a:ext cx="8517632" cy="1454150"/>
            <a:chOff x="467544" y="159941"/>
            <a:chExt cx="8059738" cy="1454150"/>
          </a:xfrm>
        </p:grpSpPr>
        <p:sp>
          <p:nvSpPr>
            <p:cNvPr id="13" name="内容占位符 2"/>
            <p:cNvSpPr txBox="1"/>
            <p:nvPr/>
          </p:nvSpPr>
          <p:spPr>
            <a:xfrm>
              <a:off x="467544" y="620688"/>
              <a:ext cx="8059738" cy="53265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sz="2400" b="1" dirty="0"/>
                <a:t>例</a:t>
              </a:r>
              <a:r>
                <a:rPr lang="en-US" altLang="zh-CN" sz="2400" b="1" dirty="0"/>
                <a:t>5</a:t>
              </a:r>
              <a:r>
                <a:rPr lang="en-US" altLang="zh-CN" sz="2400" dirty="0"/>
                <a:t>   </a:t>
              </a:r>
              <a:r>
                <a:rPr lang="zh-CN" altLang="en-US" sz="2400" dirty="0"/>
                <a:t>设矩阵阵                     ，求</a:t>
              </a: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zh-CN" sz="2400" dirty="0"/>
                <a:t>的特征值</a:t>
              </a:r>
              <a:r>
                <a:rPr lang="zh-CN" altLang="en-US" sz="2400" dirty="0"/>
                <a:t>与特征向量</a:t>
              </a:r>
              <a:r>
                <a:rPr lang="en-US" altLang="zh-CN" sz="2400" dirty="0"/>
                <a:t>.</a:t>
              </a:r>
              <a:endParaRPr lang="zh-CN" altLang="en-US" sz="2400" dirty="0"/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/>
          </p:nvGraphicFramePr>
          <p:xfrm>
            <a:off x="2461583" y="159941"/>
            <a:ext cx="2160588" cy="1454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0" name="Equation" r:id="rId3" imgW="25298400" imgH="17068800" progId="Equation.DSMT4">
                    <p:embed/>
                  </p:oleObj>
                </mc:Choice>
                <mc:Fallback>
                  <p:oleObj name="Equation" r:id="rId3" imgW="25298400" imgH="17068800" progId="Equation.DSMT4">
                    <p:embed/>
                    <p:pic>
                      <p:nvPicPr>
                        <p:cNvPr id="0" name="图片 68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1583" y="159941"/>
                          <a:ext cx="2160588" cy="1454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内容占位符 2"/>
          <p:cNvSpPr txBox="1"/>
          <p:nvPr/>
        </p:nvSpPr>
        <p:spPr>
          <a:xfrm>
            <a:off x="467544" y="1816224"/>
            <a:ext cx="648072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/>
              <a:t>解</a:t>
            </a:r>
          </a:p>
        </p:txBody>
      </p:sp>
      <p:sp>
        <p:nvSpPr>
          <p:cNvPr id="17" name="内容占位符 2"/>
          <p:cNvSpPr txBox="1"/>
          <p:nvPr/>
        </p:nvSpPr>
        <p:spPr>
          <a:xfrm>
            <a:off x="1093101" y="1816224"/>
            <a:ext cx="3744416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400" dirty="0"/>
              <a:t>的特征</a:t>
            </a:r>
            <a:r>
              <a:rPr lang="zh-CN" altLang="en-US" sz="2400" dirty="0"/>
              <a:t>多项式为：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122114" y="2398071"/>
          <a:ext cx="6035675" cy="145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5" imgW="70713600" imgH="17068800" progId="Equation.DSMT4">
                  <p:embed/>
                </p:oleObj>
              </mc:Choice>
              <mc:Fallback>
                <p:oleObj name="Equation" r:id="rId5" imgW="70713600" imgH="17068800" progId="Equation.DSMT4">
                  <p:embed/>
                  <p:pic>
                    <p:nvPicPr>
                      <p:cNvPr id="0" name="图片 68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2114" y="2398071"/>
                        <a:ext cx="6035675" cy="1455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内容占位符 2"/>
          <p:cNvSpPr txBox="1"/>
          <p:nvPr/>
        </p:nvSpPr>
        <p:spPr>
          <a:xfrm>
            <a:off x="1093100" y="3974779"/>
            <a:ext cx="6791268" cy="678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400" dirty="0"/>
              <a:t>的</a:t>
            </a:r>
            <a:r>
              <a:rPr lang="zh-CN" altLang="en-US" sz="2400" dirty="0"/>
              <a:t>所有</a:t>
            </a:r>
            <a:r>
              <a:rPr lang="zh-CN" altLang="zh-CN" sz="2400" dirty="0"/>
              <a:t>特征值</a:t>
            </a:r>
            <a:r>
              <a:rPr lang="zh-CN" altLang="en-US" sz="2400" dirty="0"/>
              <a:t>为：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aseline="-25000" dirty="0"/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=-1</a:t>
            </a:r>
            <a:r>
              <a:rPr lang="zh-CN" altLang="en-US" sz="2400" dirty="0"/>
              <a:t>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</a:t>
            </a:r>
            <a:r>
              <a:rPr lang="en-US" altLang="zh-CN" sz="2400" baseline="-25000" dirty="0"/>
              <a:t> </a:t>
            </a:r>
            <a:endParaRPr lang="zh-CN" altLang="en-US" sz="2400" dirty="0"/>
          </a:p>
        </p:txBody>
      </p:sp>
      <p:grpSp>
        <p:nvGrpSpPr>
          <p:cNvPr id="2" name="组合 1"/>
          <p:cNvGrpSpPr/>
          <p:nvPr/>
        </p:nvGrpSpPr>
        <p:grpSpPr>
          <a:xfrm>
            <a:off x="1115135" y="6075317"/>
            <a:ext cx="7632848" cy="532656"/>
            <a:chOff x="7308304" y="5834186"/>
            <a:chExt cx="3168352" cy="532656"/>
          </a:xfrm>
        </p:grpSpPr>
        <p:sp>
          <p:nvSpPr>
            <p:cNvPr id="26" name="内容占位符 2"/>
            <p:cNvSpPr txBox="1"/>
            <p:nvPr/>
          </p:nvSpPr>
          <p:spPr>
            <a:xfrm>
              <a:off x="7308304" y="5834186"/>
              <a:ext cx="3168352" cy="53265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sz="2400" dirty="0"/>
                <a:t>所以对于</a:t>
              </a:r>
              <a:r>
                <a:rPr lang="zh-CN" altLang="zh-CN" sz="2400" dirty="0"/>
                <a:t>特征值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altLang="zh-CN" sz="2400" baseline="-25000" dirty="0"/>
                <a:t>1</a:t>
              </a: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=-1</a:t>
              </a:r>
              <a:r>
                <a: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的全部特征向量为   </a:t>
              </a:r>
              <a:r>
                <a:rPr lang="zh-CN" altLang="en-US" sz="2400" dirty="0"/>
                <a:t>              </a:t>
              </a:r>
              <a:r>
                <a:rPr lang="en-US" altLang="zh-CN" sz="2400" dirty="0"/>
                <a:t>.</a:t>
              </a:r>
              <a:endParaRPr lang="zh-CN" altLang="en-US" sz="2400" dirty="0"/>
            </a:p>
          </p:txBody>
        </p:sp>
        <p:graphicFrame>
          <p:nvGraphicFramePr>
            <p:cNvPr id="27" name="对象 26"/>
            <p:cNvGraphicFramePr>
              <a:graphicFrameLocks noChangeAspect="1"/>
            </p:cNvGraphicFramePr>
            <p:nvPr/>
          </p:nvGraphicFramePr>
          <p:xfrm>
            <a:off x="9520372" y="5834186"/>
            <a:ext cx="753853" cy="468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" name="Equation" r:id="rId7" imgW="17983200" imgH="5486400" progId="Equation.DSMT4">
                    <p:embed/>
                  </p:oleObj>
                </mc:Choice>
                <mc:Fallback>
                  <p:oleObj name="Equation" r:id="rId7" imgW="17983200" imgH="5486400" progId="Equation.DSMT4">
                    <p:embed/>
                    <p:pic>
                      <p:nvPicPr>
                        <p:cNvPr id="0" name="图片 68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20372" y="5834186"/>
                          <a:ext cx="753853" cy="468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内容占位符 2"/>
          <p:cNvSpPr txBox="1"/>
          <p:nvPr/>
        </p:nvSpPr>
        <p:spPr>
          <a:xfrm>
            <a:off x="1115616" y="4653136"/>
            <a:ext cx="7848872" cy="1080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/>
              <a:t>对于</a:t>
            </a:r>
            <a:r>
              <a:rPr lang="zh-CN" altLang="zh-CN" sz="2400" dirty="0"/>
              <a:t>特征值</a:t>
            </a:r>
            <a:r>
              <a:rPr lang="zh-CN" altLang="en-US" sz="2400" dirty="0"/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aseline="-25000" dirty="0"/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=-1</a:t>
            </a:r>
            <a:r>
              <a:rPr lang="zh-CN" altLang="en-US" sz="2400" dirty="0"/>
              <a:t>，解方程组</a:t>
            </a:r>
            <a:r>
              <a:rPr lang="en-US" altLang="zh-CN" sz="2400" dirty="0"/>
              <a:t>(-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cs typeface="Times New Roman" panose="02020603050405020304" pitchFamily="18" charset="0"/>
              </a:rPr>
              <a:t>-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dirty="0"/>
              <a:t>)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/>
              <a:t>=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zh-CN" sz="2400" dirty="0"/>
              <a:t>得线性无关的特征向量</a:t>
            </a:r>
            <a:endParaRPr lang="zh-CN" altLang="en-US" sz="2400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4283969" y="5267024"/>
          <a:ext cx="2232247" cy="6283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9" imgW="23774400" imgH="6705600" progId="Equation.DSMT4">
                  <p:embed/>
                </p:oleObj>
              </mc:Choice>
              <mc:Fallback>
                <p:oleObj name="Equation" r:id="rId9" imgW="23774400" imgH="6705600" progId="Equation.DSMT4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969" y="5267024"/>
                        <a:ext cx="2232247" cy="6283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直角三角形 14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直角三角形 17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1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446856" y="498277"/>
            <a:ext cx="8517632" cy="1454150"/>
            <a:chOff x="467544" y="159941"/>
            <a:chExt cx="8059738" cy="1454150"/>
          </a:xfrm>
        </p:grpSpPr>
        <p:sp>
          <p:nvSpPr>
            <p:cNvPr id="13" name="内容占位符 2"/>
            <p:cNvSpPr txBox="1"/>
            <p:nvPr/>
          </p:nvSpPr>
          <p:spPr>
            <a:xfrm>
              <a:off x="467544" y="620688"/>
              <a:ext cx="8059738" cy="53265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sz="2400" b="1" dirty="0"/>
                <a:t>例</a:t>
              </a:r>
              <a:r>
                <a:rPr lang="en-US" altLang="zh-CN" sz="2400" b="1" dirty="0"/>
                <a:t>5</a:t>
              </a:r>
              <a:r>
                <a:rPr lang="en-US" altLang="zh-CN" sz="2400" dirty="0"/>
                <a:t>   </a:t>
              </a:r>
              <a:r>
                <a:rPr lang="zh-CN" altLang="en-US" sz="2400" dirty="0"/>
                <a:t>设矩阵阵                     ，求</a:t>
              </a: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zh-CN" sz="2400" dirty="0"/>
                <a:t>的特征值</a:t>
              </a:r>
              <a:r>
                <a:rPr lang="zh-CN" altLang="en-US" sz="2400" dirty="0"/>
                <a:t>与特征向量</a:t>
              </a:r>
              <a:r>
                <a:rPr lang="en-US" altLang="zh-CN" sz="2400" dirty="0"/>
                <a:t>.</a:t>
              </a:r>
              <a:endParaRPr lang="zh-CN" altLang="en-US" sz="2400" dirty="0"/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/>
          </p:nvGraphicFramePr>
          <p:xfrm>
            <a:off x="2461583" y="159941"/>
            <a:ext cx="2160588" cy="1454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4" name="Equation" r:id="rId3" imgW="25298400" imgH="17068800" progId="Equation.DSMT4">
                    <p:embed/>
                  </p:oleObj>
                </mc:Choice>
                <mc:Fallback>
                  <p:oleObj name="Equation" r:id="rId3" imgW="25298400" imgH="17068800" progId="Equation.DSMT4">
                    <p:embed/>
                    <p:pic>
                      <p:nvPicPr>
                        <p:cNvPr id="0" name="图片 257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1583" y="159941"/>
                          <a:ext cx="2160588" cy="1454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内容占位符 2"/>
          <p:cNvSpPr txBox="1"/>
          <p:nvPr/>
        </p:nvSpPr>
        <p:spPr>
          <a:xfrm>
            <a:off x="523675" y="2132856"/>
            <a:ext cx="648072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/>
              <a:t>解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331640" y="3436296"/>
            <a:ext cx="7926774" cy="1159888"/>
            <a:chOff x="7308304" y="5834186"/>
            <a:chExt cx="3168352" cy="545907"/>
          </a:xfrm>
        </p:grpSpPr>
        <p:sp>
          <p:nvSpPr>
            <p:cNvPr id="26" name="内容占位符 2"/>
            <p:cNvSpPr txBox="1"/>
            <p:nvPr/>
          </p:nvSpPr>
          <p:spPr>
            <a:xfrm>
              <a:off x="7308304" y="5834186"/>
              <a:ext cx="3168352" cy="53265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sz="2400" dirty="0"/>
                <a:t>所以对于</a:t>
              </a:r>
              <a:r>
                <a:rPr lang="zh-CN" altLang="zh-CN" sz="2400" dirty="0"/>
                <a:t>特征值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=2</a:t>
              </a:r>
              <a:r>
                <a: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的全部特征向量为：</a:t>
              </a:r>
              <a:endPara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None/>
              </a:pPr>
              <a:r>
                <a:rPr lang="zh-CN" altLang="en-US" sz="2400" dirty="0"/>
                <a:t>                                    </a:t>
              </a:r>
            </a:p>
          </p:txBody>
        </p:sp>
        <p:graphicFrame>
          <p:nvGraphicFramePr>
            <p:cNvPr id="27" name="对象 26"/>
            <p:cNvGraphicFramePr>
              <a:graphicFrameLocks noChangeAspect="1"/>
            </p:cNvGraphicFramePr>
            <p:nvPr/>
          </p:nvGraphicFramePr>
          <p:xfrm>
            <a:off x="7893520" y="6102895"/>
            <a:ext cx="740494" cy="277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5" name="Equation" r:id="rId5" imgW="17068800" imgH="5486400" progId="Equation.DSMT4">
                    <p:embed/>
                  </p:oleObj>
                </mc:Choice>
                <mc:Fallback>
                  <p:oleObj name="Equation" r:id="rId5" imgW="17068800" imgH="5486400" progId="Equation.DSMT4">
                    <p:embed/>
                    <p:pic>
                      <p:nvPicPr>
                        <p:cNvPr id="0" name="图片 257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93520" y="6102895"/>
                          <a:ext cx="740494" cy="277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内容占位符 2"/>
          <p:cNvSpPr txBox="1"/>
          <p:nvPr/>
        </p:nvSpPr>
        <p:spPr>
          <a:xfrm>
            <a:off x="1171747" y="2067915"/>
            <a:ext cx="7848872" cy="1080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/>
              <a:t>对于</a:t>
            </a:r>
            <a:r>
              <a:rPr lang="zh-CN" altLang="zh-CN" sz="2400" dirty="0"/>
              <a:t>特征值</a:t>
            </a:r>
            <a:r>
              <a:rPr lang="zh-CN" altLang="en-US" sz="2400" dirty="0"/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</a:t>
            </a:r>
            <a:r>
              <a:rPr lang="en-US" altLang="zh-CN" sz="2400" baseline="-25000" dirty="0"/>
              <a:t> </a:t>
            </a:r>
            <a:r>
              <a:rPr lang="zh-CN" altLang="en-US" sz="2400" dirty="0"/>
              <a:t>，解方程组</a:t>
            </a:r>
            <a:r>
              <a:rPr lang="en-US" altLang="zh-CN" sz="2400" dirty="0"/>
              <a:t>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cs typeface="Times New Roman" panose="02020603050405020304" pitchFamily="18" charset="0"/>
              </a:rPr>
              <a:t>-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dirty="0"/>
              <a:t>)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/>
              <a:t>=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zh-CN" sz="2400" dirty="0"/>
              <a:t>得线性无关的特征向量</a:t>
            </a:r>
            <a:endParaRPr lang="zh-CN" altLang="en-US" sz="2400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4355976" y="2643216"/>
          <a:ext cx="4494956" cy="6494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7" imgW="51511200" imgH="6705600" progId="Equation.DSMT4">
                  <p:embed/>
                </p:oleObj>
              </mc:Choice>
              <mc:Fallback>
                <p:oleObj name="Equation" r:id="rId7" imgW="51511200" imgH="6705600" progId="Equation.DSMT4">
                  <p:embed/>
                  <p:pic>
                    <p:nvPicPr>
                      <p:cNvPr id="0" name="图片 257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976" y="2643216"/>
                        <a:ext cx="4494956" cy="6494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/>
          <p:cNvGrpSpPr/>
          <p:nvPr/>
        </p:nvGrpSpPr>
        <p:grpSpPr>
          <a:xfrm>
            <a:off x="4576223" y="4039852"/>
            <a:ext cx="3168352" cy="532656"/>
            <a:chOff x="7308304" y="5834186"/>
            <a:chExt cx="3168352" cy="532656"/>
          </a:xfrm>
        </p:grpSpPr>
        <p:sp>
          <p:nvSpPr>
            <p:cNvPr id="18" name="内容占位符 2"/>
            <p:cNvSpPr txBox="1"/>
            <p:nvPr/>
          </p:nvSpPr>
          <p:spPr>
            <a:xfrm>
              <a:off x="7308304" y="5834186"/>
              <a:ext cx="3168352" cy="53265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zh-CN" altLang="en-US" sz="2400" dirty="0"/>
                <a:t>其中      不全为零</a:t>
              </a:r>
              <a:r>
                <a:rPr lang="en-US" altLang="zh-CN" sz="2400" dirty="0"/>
                <a:t>.</a:t>
              </a:r>
              <a:endParaRPr lang="zh-CN" altLang="en-US" sz="2400" dirty="0"/>
            </a:p>
          </p:txBody>
        </p:sp>
        <p:graphicFrame>
          <p:nvGraphicFramePr>
            <p:cNvPr id="19" name="对象 18"/>
            <p:cNvGraphicFramePr>
              <a:graphicFrameLocks noChangeAspect="1"/>
            </p:cNvGraphicFramePr>
            <p:nvPr/>
          </p:nvGraphicFramePr>
          <p:xfrm>
            <a:off x="7956376" y="5841007"/>
            <a:ext cx="728662" cy="468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Equation" r:id="rId9" imgW="8534400" imgH="5486400" progId="Equation.DSMT4">
                    <p:embed/>
                  </p:oleObj>
                </mc:Choice>
                <mc:Fallback>
                  <p:oleObj name="Equation" r:id="rId9" imgW="8534400" imgH="5486400" progId="Equation.DSMT4">
                    <p:embed/>
                    <p:pic>
                      <p:nvPicPr>
                        <p:cNvPr id="0" name="图片 257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56376" y="5841007"/>
                          <a:ext cx="728662" cy="468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直角三角形 13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直角三角形 16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446856" y="246063"/>
            <a:ext cx="8229600" cy="1454150"/>
            <a:chOff x="467544" y="174055"/>
            <a:chExt cx="8229600" cy="1454150"/>
          </a:xfrm>
        </p:grpSpPr>
        <p:sp>
          <p:nvSpPr>
            <p:cNvPr id="13" name="内容占位符 2"/>
            <p:cNvSpPr txBox="1"/>
            <p:nvPr/>
          </p:nvSpPr>
          <p:spPr>
            <a:xfrm>
              <a:off x="467544" y="620688"/>
              <a:ext cx="8229600" cy="53265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zh-CN" altLang="en-US" sz="2400" b="1" dirty="0"/>
                <a:t>例</a:t>
              </a:r>
              <a:r>
                <a:rPr lang="en-US" altLang="zh-CN" sz="2400" b="1" dirty="0"/>
                <a:t>6</a:t>
              </a:r>
              <a:r>
                <a:rPr lang="en-US" altLang="zh-CN" sz="2400" dirty="0"/>
                <a:t>   </a:t>
              </a:r>
              <a:r>
                <a:rPr lang="zh-CN" altLang="en-US" sz="2400" dirty="0"/>
                <a:t>求矩阵                     的特征值与特征向量</a:t>
              </a:r>
              <a:r>
                <a:rPr lang="en-US" altLang="zh-CN" sz="2400" dirty="0"/>
                <a:t>.</a:t>
              </a:r>
              <a:endParaRPr lang="zh-CN" altLang="en-US" sz="2400" dirty="0"/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/>
          </p:nvGraphicFramePr>
          <p:xfrm>
            <a:off x="2367013" y="174055"/>
            <a:ext cx="2160588" cy="1454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8" name="Equation" r:id="rId3" imgW="25298400" imgH="17068800" progId="Equation.DSMT4">
                    <p:embed/>
                  </p:oleObj>
                </mc:Choice>
                <mc:Fallback>
                  <p:oleObj name="Equation" r:id="rId3" imgW="25298400" imgH="17068800" progId="Equation.DSMT4">
                    <p:embed/>
                    <p:pic>
                      <p:nvPicPr>
                        <p:cNvPr id="0" name="图片 207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7013" y="174055"/>
                          <a:ext cx="2160588" cy="1454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内容占位符 2"/>
          <p:cNvSpPr txBox="1"/>
          <p:nvPr/>
        </p:nvSpPr>
        <p:spPr>
          <a:xfrm>
            <a:off x="467544" y="1816224"/>
            <a:ext cx="648072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/>
              <a:t>解</a:t>
            </a:r>
          </a:p>
        </p:txBody>
      </p:sp>
      <p:sp>
        <p:nvSpPr>
          <p:cNvPr id="23" name="内容占位符 2"/>
          <p:cNvSpPr txBox="1"/>
          <p:nvPr/>
        </p:nvSpPr>
        <p:spPr>
          <a:xfrm>
            <a:off x="1093101" y="1816224"/>
            <a:ext cx="3744416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400" dirty="0"/>
              <a:t>的特征</a:t>
            </a:r>
            <a:r>
              <a:rPr lang="zh-CN" altLang="en-US" sz="2400" dirty="0"/>
              <a:t>多项式为：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147763" y="2398713"/>
          <a:ext cx="5983287" cy="1455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5" imgW="70104000" imgH="17068800" progId="Equation.DSMT4">
                  <p:embed/>
                </p:oleObj>
              </mc:Choice>
              <mc:Fallback>
                <p:oleObj name="Equation" r:id="rId5" imgW="70104000" imgH="17068800" progId="Equation.DSMT4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7763" y="2398713"/>
                        <a:ext cx="5983287" cy="1455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内容占位符 2"/>
          <p:cNvSpPr txBox="1"/>
          <p:nvPr/>
        </p:nvSpPr>
        <p:spPr>
          <a:xfrm>
            <a:off x="1093100" y="3974779"/>
            <a:ext cx="6791268" cy="678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/>
              <a:t>所以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400" dirty="0"/>
              <a:t>的</a:t>
            </a:r>
            <a:r>
              <a:rPr lang="zh-CN" altLang="en-US" sz="2400" dirty="0"/>
              <a:t>所有</a:t>
            </a:r>
            <a:r>
              <a:rPr lang="zh-CN" altLang="zh-CN" sz="2400" dirty="0"/>
              <a:t>特征值</a:t>
            </a:r>
            <a:r>
              <a:rPr lang="zh-CN" altLang="en-US" sz="2400" dirty="0"/>
              <a:t>为：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aseline="-25000" dirty="0"/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</a:t>
            </a:r>
            <a:r>
              <a:rPr lang="zh-CN" altLang="en-US" sz="2400" dirty="0"/>
              <a:t>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en-US" altLang="zh-CN" sz="2400" baseline="-25000" dirty="0"/>
              <a:t> </a:t>
            </a:r>
            <a:endParaRPr lang="zh-CN" altLang="en-US" sz="2400" dirty="0"/>
          </a:p>
        </p:txBody>
      </p:sp>
      <p:sp>
        <p:nvSpPr>
          <p:cNvPr id="29" name="内容占位符 2"/>
          <p:cNvSpPr txBox="1"/>
          <p:nvPr/>
        </p:nvSpPr>
        <p:spPr>
          <a:xfrm>
            <a:off x="1115616" y="4653136"/>
            <a:ext cx="7848872" cy="1080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/>
              <a:t>对于</a:t>
            </a:r>
            <a:r>
              <a:rPr lang="zh-CN" altLang="zh-CN" sz="2400" dirty="0"/>
              <a:t>特征值</a:t>
            </a:r>
            <a:r>
              <a:rPr lang="zh-CN" altLang="en-US" sz="2400" dirty="0"/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aseline="-25000" dirty="0"/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</a:t>
            </a:r>
            <a:r>
              <a:rPr lang="zh-CN" altLang="en-US" sz="2400" dirty="0"/>
              <a:t>，解方程组</a:t>
            </a:r>
            <a:r>
              <a:rPr lang="en-US" altLang="zh-CN" sz="2400" dirty="0"/>
              <a:t>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cs typeface="Times New Roman" panose="02020603050405020304" pitchFamily="18" charset="0"/>
              </a:rPr>
              <a:t>-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dirty="0"/>
              <a:t>)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/>
              <a:t>=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zh-CN" sz="2400" dirty="0"/>
              <a:t>得线性无关的特征向量</a:t>
            </a:r>
            <a:endParaRPr lang="zh-CN" altLang="en-US" sz="2400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270375" y="5267325"/>
          <a:ext cx="22606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7" imgW="24079200" imgH="6705600" progId="Equation.DSMT4">
                  <p:embed/>
                </p:oleObj>
              </mc:Choice>
              <mc:Fallback>
                <p:oleObj name="Equation" r:id="rId7" imgW="24079200" imgH="67056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0375" y="5267325"/>
                        <a:ext cx="22606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组合 29"/>
          <p:cNvGrpSpPr/>
          <p:nvPr/>
        </p:nvGrpSpPr>
        <p:grpSpPr>
          <a:xfrm>
            <a:off x="1137218" y="6075317"/>
            <a:ext cx="7632848" cy="532656"/>
            <a:chOff x="7308304" y="5834186"/>
            <a:chExt cx="3168352" cy="532656"/>
          </a:xfrm>
        </p:grpSpPr>
        <p:sp>
          <p:nvSpPr>
            <p:cNvPr id="31" name="内容占位符 2"/>
            <p:cNvSpPr txBox="1"/>
            <p:nvPr/>
          </p:nvSpPr>
          <p:spPr>
            <a:xfrm>
              <a:off x="7308304" y="5834186"/>
              <a:ext cx="3168352" cy="53265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sz="2400" dirty="0"/>
                <a:t>所以对于</a:t>
              </a:r>
              <a:r>
                <a:rPr lang="zh-CN" altLang="zh-CN" sz="2400" dirty="0"/>
                <a:t>特征值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altLang="zh-CN" sz="2400" baseline="-25000" dirty="0"/>
                <a:t>1</a:t>
              </a: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=2</a:t>
              </a:r>
              <a:r>
                <a: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的全部特征向量为  </a:t>
              </a:r>
              <a:r>
                <a:rPr lang="zh-CN" altLang="en-US" sz="2400" dirty="0"/>
                <a:t>              </a:t>
              </a:r>
              <a:r>
                <a:rPr lang="en-US" altLang="zh-CN" sz="2400" dirty="0"/>
                <a:t>.</a:t>
              </a:r>
              <a:endParaRPr lang="zh-CN" altLang="en-US" sz="2400" dirty="0"/>
            </a:p>
          </p:txBody>
        </p:sp>
        <p:graphicFrame>
          <p:nvGraphicFramePr>
            <p:cNvPr id="32" name="对象 31"/>
            <p:cNvGraphicFramePr>
              <a:graphicFrameLocks noChangeAspect="1"/>
            </p:cNvGraphicFramePr>
            <p:nvPr/>
          </p:nvGraphicFramePr>
          <p:xfrm>
            <a:off x="9460239" y="5856457"/>
            <a:ext cx="753853" cy="468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1" name="Equation" r:id="rId9" imgW="17983200" imgH="5486400" progId="Equation.DSMT4">
                    <p:embed/>
                  </p:oleObj>
                </mc:Choice>
                <mc:Fallback>
                  <p:oleObj name="Equation" r:id="rId9" imgW="17983200" imgH="5486400" progId="Equation.DSMT4">
                    <p:embed/>
                    <p:pic>
                      <p:nvPicPr>
                        <p:cNvPr id="0" name="图片 207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60239" y="5856457"/>
                          <a:ext cx="753853" cy="468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直角三角形 13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直角三角形 14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/>
      <p:bldP spid="28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446856" y="246063"/>
            <a:ext cx="8229600" cy="1454150"/>
            <a:chOff x="467544" y="174055"/>
            <a:chExt cx="8229600" cy="1454150"/>
          </a:xfrm>
        </p:grpSpPr>
        <p:sp>
          <p:nvSpPr>
            <p:cNvPr id="13" name="内容占位符 2"/>
            <p:cNvSpPr txBox="1"/>
            <p:nvPr/>
          </p:nvSpPr>
          <p:spPr>
            <a:xfrm>
              <a:off x="467544" y="620688"/>
              <a:ext cx="8229600" cy="53265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zh-CN" altLang="en-US" sz="2400" b="1" dirty="0"/>
                <a:t>例</a:t>
              </a:r>
              <a:r>
                <a:rPr lang="en-US" altLang="zh-CN" sz="2400" b="1" dirty="0"/>
                <a:t>6</a:t>
              </a:r>
              <a:r>
                <a:rPr lang="en-US" altLang="zh-CN" sz="2400" dirty="0"/>
                <a:t>   </a:t>
              </a:r>
              <a:r>
                <a:rPr lang="zh-CN" altLang="en-US" sz="2400" dirty="0"/>
                <a:t>求矩阵                     的特征值与特征向量</a:t>
              </a:r>
              <a:r>
                <a:rPr lang="en-US" altLang="zh-CN" sz="2400" dirty="0"/>
                <a:t>.</a:t>
              </a:r>
              <a:endParaRPr lang="zh-CN" altLang="en-US" sz="2400" dirty="0"/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/>
          </p:nvGraphicFramePr>
          <p:xfrm>
            <a:off x="2367013" y="174055"/>
            <a:ext cx="2160588" cy="1454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2" name="Equation" r:id="rId3" imgW="25298400" imgH="17068800" progId="Equation.DSMT4">
                    <p:embed/>
                  </p:oleObj>
                </mc:Choice>
                <mc:Fallback>
                  <p:oleObj name="Equation" r:id="rId3" imgW="25298400" imgH="17068800" progId="Equation.DSMT4">
                    <p:embed/>
                    <p:pic>
                      <p:nvPicPr>
                        <p:cNvPr id="0" name="图片 267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7013" y="174055"/>
                          <a:ext cx="2160588" cy="1454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内容占位符 2"/>
          <p:cNvSpPr txBox="1"/>
          <p:nvPr/>
        </p:nvSpPr>
        <p:spPr>
          <a:xfrm>
            <a:off x="489146" y="1988840"/>
            <a:ext cx="648072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/>
              <a:t>解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427984" y="2498564"/>
          <a:ext cx="268922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5" imgW="28651200" imgH="6705600" progId="Equation.DSMT4">
                  <p:embed/>
                </p:oleObj>
              </mc:Choice>
              <mc:Fallback>
                <p:oleObj name="Equation" r:id="rId5" imgW="28651200" imgH="6705600" progId="Equation.DSMT4">
                  <p:embed/>
                  <p:pic>
                    <p:nvPicPr>
                      <p:cNvPr id="0" name="图片 267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4" y="2498564"/>
                        <a:ext cx="268922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内容占位符 2"/>
          <p:cNvSpPr txBox="1"/>
          <p:nvPr/>
        </p:nvSpPr>
        <p:spPr>
          <a:xfrm>
            <a:off x="1282915" y="1844824"/>
            <a:ext cx="7848872" cy="1080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/>
              <a:t>对于</a:t>
            </a:r>
            <a:r>
              <a:rPr lang="zh-CN" altLang="zh-CN" sz="2400" dirty="0"/>
              <a:t>特征值</a:t>
            </a:r>
            <a:r>
              <a:rPr lang="zh-CN" altLang="en-US" sz="2400" dirty="0"/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en-US" altLang="zh-CN" sz="2400" baseline="-25000" dirty="0"/>
              <a:t> </a:t>
            </a:r>
            <a:r>
              <a:rPr lang="zh-CN" altLang="en-US" sz="2400" dirty="0"/>
              <a:t>，解方程组</a:t>
            </a:r>
            <a:r>
              <a:rPr lang="en-US" altLang="zh-CN" sz="2400" dirty="0"/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cs typeface="Times New Roman" panose="02020603050405020304" pitchFamily="18" charset="0"/>
              </a:rPr>
              <a:t>-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dirty="0"/>
              <a:t>)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/>
              <a:t>=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zh-CN" sz="2400" dirty="0"/>
              <a:t>得线性无关的特征向量</a:t>
            </a:r>
            <a:r>
              <a:rPr lang="zh-CN" altLang="en-US" sz="2400" dirty="0"/>
              <a:t>                         ，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1362072" y="3140970"/>
            <a:ext cx="7926774" cy="1203742"/>
            <a:chOff x="7308304" y="5800295"/>
            <a:chExt cx="3168352" cy="566547"/>
          </a:xfrm>
        </p:grpSpPr>
        <p:sp>
          <p:nvSpPr>
            <p:cNvPr id="17" name="内容占位符 2"/>
            <p:cNvSpPr txBox="1"/>
            <p:nvPr/>
          </p:nvSpPr>
          <p:spPr>
            <a:xfrm>
              <a:off x="7308304" y="5834186"/>
              <a:ext cx="3168352" cy="53265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sz="2400" dirty="0"/>
                <a:t>所以对于</a:t>
              </a:r>
              <a:r>
                <a:rPr lang="zh-CN" altLang="zh-CN" sz="2400" dirty="0"/>
                <a:t>特征值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=1</a:t>
              </a:r>
              <a:r>
                <a: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的全部特征向量为                          。</a:t>
              </a:r>
              <a:endPara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None/>
              </a:pPr>
              <a:r>
                <a:rPr lang="zh-CN" altLang="en-US" sz="2400" dirty="0"/>
                <a:t>                                    </a:t>
              </a:r>
            </a:p>
          </p:txBody>
        </p:sp>
        <p:graphicFrame>
          <p:nvGraphicFramePr>
            <p:cNvPr id="18" name="对象 17"/>
            <p:cNvGraphicFramePr>
              <a:graphicFrameLocks noChangeAspect="1"/>
            </p:cNvGraphicFramePr>
            <p:nvPr/>
          </p:nvGraphicFramePr>
          <p:xfrm>
            <a:off x="9541119" y="5800295"/>
            <a:ext cx="819810" cy="277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4" name="Equation" r:id="rId7" imgW="18897600" imgH="5486400" progId="Equation.DSMT4">
                    <p:embed/>
                  </p:oleObj>
                </mc:Choice>
                <mc:Fallback>
                  <p:oleObj name="Equation" r:id="rId7" imgW="18897600" imgH="5486400" progId="Equation.DSMT4">
                    <p:embed/>
                    <p:pic>
                      <p:nvPicPr>
                        <p:cNvPr id="0" name="图片 2670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41119" y="5800295"/>
                          <a:ext cx="819810" cy="277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矩形 18"/>
          <p:cNvSpPr/>
          <p:nvPr/>
        </p:nvSpPr>
        <p:spPr>
          <a:xfrm>
            <a:off x="421692" y="4005064"/>
            <a:ext cx="8640960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定义</a:t>
            </a:r>
            <a:r>
              <a:rPr lang="en-US" altLang="zh-CN" sz="2400" b="1" dirty="0"/>
              <a:t>4.5.1</a:t>
            </a:r>
            <a:r>
              <a:rPr lang="zh-CN" altLang="en-US" sz="2400" b="1" dirty="0"/>
              <a:t>   </a:t>
            </a:r>
            <a:r>
              <a:rPr lang="zh-CN" altLang="zh-CN" sz="2400" dirty="0"/>
              <a:t>对矩阵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400" dirty="0"/>
              <a:t>，属于特征值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0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400" dirty="0"/>
              <a:t>的所有特征向量组成一个子空间称为属于特征值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0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400" dirty="0"/>
              <a:t>的</a:t>
            </a:r>
            <a:r>
              <a:rPr lang="zh-CN" altLang="zh-CN" sz="2400" b="1" dirty="0">
                <a:solidFill>
                  <a:srgbClr val="0000FF"/>
                </a:solidFill>
              </a:rPr>
              <a:t>特征子空间</a:t>
            </a:r>
            <a:r>
              <a:rPr lang="zh-CN" altLang="zh-CN" sz="2400" dirty="0"/>
              <a:t>。</a:t>
            </a:r>
            <a:endParaRPr lang="en-US" altLang="zh-CN" sz="2400" b="1" dirty="0">
              <a:solidFill>
                <a:srgbClr val="0000FF"/>
              </a:solidFill>
            </a:endParaRPr>
          </a:p>
        </p:txBody>
      </p:sp>
      <p:sp>
        <p:nvSpPr>
          <p:cNvPr id="12" name="直角三角形 11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直角三角形 19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4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/>
              <a:t>七、</a:t>
            </a:r>
            <a:r>
              <a:rPr lang="zh-CN" altLang="en-US" sz="3600" dirty="0"/>
              <a:t>作业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1681336" y="1600200"/>
            <a:ext cx="5122912" cy="34849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3600" dirty="0">
                <a:solidFill>
                  <a:srgbClr val="0000FF"/>
                </a:solidFill>
              </a:rPr>
              <a:t>P95 </a:t>
            </a:r>
            <a:r>
              <a:rPr lang="zh-CN" altLang="en-US" sz="3600" dirty="0">
                <a:solidFill>
                  <a:srgbClr val="0000FF"/>
                </a:solidFill>
              </a:rPr>
              <a:t>作业</a:t>
            </a:r>
            <a:r>
              <a:rPr lang="en-US" altLang="zh-CN" sz="3600" dirty="0">
                <a:solidFill>
                  <a:srgbClr val="0000FF"/>
                </a:solidFill>
              </a:rPr>
              <a:t>4.1  3</a:t>
            </a:r>
          </a:p>
          <a:p>
            <a:pPr marL="0" indent="0">
              <a:buNone/>
            </a:pPr>
            <a:r>
              <a:rPr lang="en-US" altLang="zh-CN" sz="3600" dirty="0">
                <a:solidFill>
                  <a:srgbClr val="0000FF"/>
                </a:solidFill>
              </a:rPr>
              <a:t>P97 </a:t>
            </a:r>
            <a:r>
              <a:rPr lang="zh-CN" altLang="en-US" sz="3600" dirty="0">
                <a:solidFill>
                  <a:srgbClr val="0000FF"/>
                </a:solidFill>
              </a:rPr>
              <a:t>作业</a:t>
            </a:r>
            <a:r>
              <a:rPr lang="en-US" altLang="zh-CN" sz="3600" dirty="0">
                <a:solidFill>
                  <a:srgbClr val="0000FF"/>
                </a:solidFill>
              </a:rPr>
              <a:t>4.2  3</a:t>
            </a:r>
          </a:p>
          <a:p>
            <a:pPr marL="0" indent="0">
              <a:buNone/>
            </a:pPr>
            <a:r>
              <a:rPr lang="en-US" altLang="zh-CN" sz="3600" dirty="0">
                <a:solidFill>
                  <a:srgbClr val="0000FF"/>
                </a:solidFill>
              </a:rPr>
              <a:t>P100 </a:t>
            </a:r>
            <a:r>
              <a:rPr lang="zh-CN" altLang="en-US" sz="3600" dirty="0">
                <a:solidFill>
                  <a:srgbClr val="0000FF"/>
                </a:solidFill>
              </a:rPr>
              <a:t>作业</a:t>
            </a:r>
            <a:r>
              <a:rPr lang="en-US" altLang="zh-CN" sz="3600" dirty="0">
                <a:solidFill>
                  <a:srgbClr val="0000FF"/>
                </a:solidFill>
              </a:rPr>
              <a:t>4.3  2</a:t>
            </a:r>
          </a:p>
          <a:p>
            <a:pPr marL="0" indent="0">
              <a:buNone/>
            </a:pPr>
            <a:r>
              <a:rPr lang="en-US" altLang="zh-CN" sz="3600" dirty="0">
                <a:solidFill>
                  <a:srgbClr val="0000FF"/>
                </a:solidFill>
              </a:rPr>
              <a:t>P102 </a:t>
            </a:r>
            <a:r>
              <a:rPr lang="zh-CN" altLang="en-US" sz="3600" dirty="0">
                <a:solidFill>
                  <a:srgbClr val="0000FF"/>
                </a:solidFill>
              </a:rPr>
              <a:t>作业</a:t>
            </a:r>
            <a:r>
              <a:rPr lang="en-US" altLang="zh-CN" sz="3600" dirty="0">
                <a:solidFill>
                  <a:srgbClr val="0000FF"/>
                </a:solidFill>
              </a:rPr>
              <a:t>4.4  2</a:t>
            </a:r>
          </a:p>
          <a:p>
            <a:pPr marL="0" indent="0">
              <a:buNone/>
            </a:pPr>
            <a:r>
              <a:rPr lang="en-US" altLang="zh-CN" sz="3600" dirty="0">
                <a:solidFill>
                  <a:srgbClr val="0000FF"/>
                </a:solidFill>
              </a:rPr>
              <a:t>P104 </a:t>
            </a:r>
            <a:r>
              <a:rPr lang="zh-CN" altLang="en-US" sz="3600" dirty="0">
                <a:solidFill>
                  <a:srgbClr val="0000FF"/>
                </a:solidFill>
              </a:rPr>
              <a:t>作业</a:t>
            </a:r>
            <a:r>
              <a:rPr lang="en-US" altLang="zh-CN" sz="3600" dirty="0">
                <a:solidFill>
                  <a:srgbClr val="0000FF"/>
                </a:solidFill>
              </a:rPr>
              <a:t>4.5  1</a:t>
            </a:r>
          </a:p>
          <a:p>
            <a:pPr marL="0" indent="0">
              <a:buNone/>
            </a:pPr>
            <a:r>
              <a:rPr lang="zh-CN" altLang="en-US" sz="3600" dirty="0">
                <a:solidFill>
                  <a:srgbClr val="0000FF"/>
                </a:solidFill>
              </a:rPr>
              <a:t>预习</a:t>
            </a:r>
            <a:r>
              <a:rPr lang="en-US" altLang="zh-CN" sz="3600" dirty="0">
                <a:solidFill>
                  <a:srgbClr val="0000FF"/>
                </a:solidFill>
              </a:rPr>
              <a:t>4.6-4.9</a:t>
            </a:r>
          </a:p>
          <a:p>
            <a:pPr marL="0" indent="0">
              <a:buNone/>
            </a:pPr>
            <a:r>
              <a:rPr lang="zh-CN" altLang="en-US" sz="3600" dirty="0">
                <a:solidFill>
                  <a:srgbClr val="0000FF"/>
                </a:solidFill>
              </a:rPr>
              <a:t>观看视频</a:t>
            </a:r>
            <a:r>
              <a:rPr lang="en-US" altLang="zh-CN" sz="3600" dirty="0">
                <a:solidFill>
                  <a:srgbClr val="0000FF"/>
                </a:solidFill>
              </a:rPr>
              <a:t>4.6-4.9</a:t>
            </a:r>
            <a:endParaRPr lang="zh-CN" altLang="en-US" sz="3600" dirty="0">
              <a:solidFill>
                <a:srgbClr val="0000FF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076851" y="2556694"/>
            <a:ext cx="3204430" cy="4278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332</Words>
  <Application>Microsoft Office PowerPoint</Application>
  <PresentationFormat>全屏显示(4:3)</PresentationFormat>
  <Paragraphs>46</Paragraphs>
  <Slides>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宋体</vt:lpstr>
      <vt:lpstr>微软雅黑</vt:lpstr>
      <vt:lpstr>Arial</vt:lpstr>
      <vt:lpstr>Calibri</vt:lpstr>
      <vt:lpstr>Times New Roman</vt:lpstr>
      <vt:lpstr>Verdana</vt:lpstr>
      <vt:lpstr>1_Office 主题</vt:lpstr>
      <vt:lpstr>Equation</vt:lpstr>
      <vt:lpstr>线性方程组及其解空间</vt:lpstr>
      <vt:lpstr>六、特征向量的解法</vt:lpstr>
      <vt:lpstr>PowerPoint 演示文稿</vt:lpstr>
      <vt:lpstr>PowerPoint 演示文稿</vt:lpstr>
      <vt:lpstr>PowerPoint 演示文稿</vt:lpstr>
      <vt:lpstr>PowerPoint 演示文稿</vt:lpstr>
      <vt:lpstr>七、作业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特征值与特征向量</dc:title>
  <dc:creator>Administrator</dc:creator>
  <cp:lastModifiedBy>TPHY</cp:lastModifiedBy>
  <cp:revision>149</cp:revision>
  <dcterms:created xsi:type="dcterms:W3CDTF">2020-12-08T11:04:00Z</dcterms:created>
  <dcterms:modified xsi:type="dcterms:W3CDTF">2022-02-18T06:34:34Z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2052-11.1.0.10228</vt:lpwstr>
  </property>
</Properties>
</file>