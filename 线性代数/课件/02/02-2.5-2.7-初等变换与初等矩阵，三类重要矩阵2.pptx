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7" r:id="rId2"/>
    <p:sldId id="308" r:id="rId3"/>
    <p:sldId id="331" r:id="rId4"/>
    <p:sldId id="334" r:id="rId5"/>
    <p:sldId id="333" r:id="rId6"/>
    <p:sldId id="263" r:id="rId7"/>
    <p:sldId id="264" r:id="rId8"/>
    <p:sldId id="265" r:id="rId9"/>
    <p:sldId id="266" r:id="rId10"/>
    <p:sldId id="335" r:id="rId11"/>
    <p:sldId id="336" r:id="rId12"/>
    <p:sldId id="293" r:id="rId13"/>
    <p:sldId id="267" r:id="rId14"/>
    <p:sldId id="339" r:id="rId15"/>
    <p:sldId id="341" r:id="rId16"/>
    <p:sldId id="342" r:id="rId17"/>
    <p:sldId id="345" r:id="rId18"/>
    <p:sldId id="346" r:id="rId19"/>
    <p:sldId id="347" r:id="rId20"/>
    <p:sldId id="348" r:id="rId21"/>
    <p:sldId id="343" r:id="rId22"/>
    <p:sldId id="344" r:id="rId23"/>
    <p:sldId id="31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3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31.wmf"/><Relationship Id="rId1" Type="http://schemas.openxmlformats.org/officeDocument/2006/relationships/image" Target="../media/image41.wmf"/><Relationship Id="rId4" Type="http://schemas.openxmlformats.org/officeDocument/2006/relationships/image" Target="../media/image4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364B9-F9AB-49BF-A431-09880F18FD0C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37248-CFCC-4868-8F3D-C5B9E034F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04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A8401-FAB7-48AA-9BCC-21C40F1BA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118571-B0EF-411F-A33B-B29C587FF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1E0CE-5EC4-4D95-A118-46761614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17FED-1478-4EFE-A220-2C39BEA0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04586-5D0E-4738-A40B-99D2BE75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3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438A1-3D0E-4EB0-8A9A-68231486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C5670-BDB6-47FF-BEF0-8823750A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6933DF-CA20-4E97-9F8E-8E5FC949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29032-FE81-4D36-B132-4360BCA7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C2692-5BD7-4935-A976-97B2A298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40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E7E62-C1F2-4FDF-85CC-37DDF92C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108AB2-9E91-45D9-8200-84AFAE428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AF3B9-6392-4009-8983-3154FCB9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5E109-B0C8-430A-A8CF-B87E3680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F8EB7-1945-43A8-B08F-9FABD8E9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48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03F84-0DD9-4DB7-917C-F17FAE93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4F056-89F4-492E-A13E-474A82801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47E15D-B083-49C8-9CFB-8C2A002EF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0A354A-59DA-4077-92FE-6F9766D4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36FA9A-EE9B-468F-9293-61842BBD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2C1B9C-6930-4C6B-AD2D-5C7AF00F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05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039FE-F982-424A-B59B-875ADFAE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F3D170-5A75-4EB1-8CA4-7A77DACFA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95F58E-69C7-428A-80E0-BE843018C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63B5D2-633B-4672-9C15-0AA79648E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EB8D3C-3F4E-4AF7-BED0-DD123118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8537A2-2B32-4B8B-B56D-D2B20219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2D5256-91D9-434F-B0BD-3B908A5F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0787F4-4251-4BA6-BCF7-A6A8DF8D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25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97B3B-6F75-4CE3-B380-E067812D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CE08EC-4E44-4F66-8AAF-E6263417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906890-FC0C-4E83-A9D7-DD4F20B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82EB0D-7802-45D6-ABB2-453F077A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86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6AEFEF-293D-49AC-81A7-C33167A4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0CFF1C-86BD-4071-AFAC-13ACD22B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BABA-902B-4926-BD42-F07F34CE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03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A28AA-5463-4E55-A780-D393EBE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12C6F-F8D9-40F8-95C5-D962DB9E4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4DC2A0-8362-40F4-A90B-046E2C82B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F2902-2D05-4268-B4C1-40BA4F7E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89F084-DC46-40E8-B125-7187CB12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CBCF82-924B-4049-951B-25D91F99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58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9D423-1946-43D8-A649-6470D5F4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5DF2FB-8F3D-4C07-AE4F-FA5B528AB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1F2D07-29BC-4FEC-81DE-37D2C3B14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0D4B86-7682-48A2-84C5-5B88CA6D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D559E8-1545-43AC-9EB7-3020F98C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224869-28E7-4AC3-93B8-C0B695B4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4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38EDE-1CB3-4AFB-AE09-25C12E61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EB8837-20DC-44FE-A6CF-76B6672CF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1C535-4AC5-4DE4-975F-274DED96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07E09-CE81-4882-B3E8-6614F496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A204A-089C-44AD-ABEC-5FD4A96F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28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54559E-D12C-4EFD-B642-88A2CFD03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C47226-22B5-4E8C-A8C3-EA8B01E45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F7635-5C82-4DDF-8FF0-21E4D0B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E17B40-1535-4B81-96B4-3FE19797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4BCE4-D790-4937-95B3-1112946B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55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2A8A9-D57D-4B69-B87B-F08DB393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3F5D9-32D3-41A1-A4F0-C6C980199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781C3-1350-47CF-9D86-BFB0F798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76ECF-09CB-423E-ABFA-59FEE2920281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4ED35-39C8-4B74-ACB9-36141A7DA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2586C-3F6E-4B4F-9CB5-61B652471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3852E-E805-4D3A-A333-CF071E6A5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62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9.bin"/><Relationship Id="rId7" Type="http://schemas.openxmlformats.org/officeDocument/2006/relationships/package" Target="NULL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8.wmf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13.wmf"/><Relationship Id="rId9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3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slide" Target="slide9.xml"/><Relationship Id="rId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31.wmf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36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9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3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46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49120" y="145416"/>
            <a:ext cx="8167370" cy="204533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533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第五讲  初等变换与初等矩阵，三类重要矩阵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75205" y="2480946"/>
            <a:ext cx="6932930" cy="302323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矩阵的初等变换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初等矩阵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dirty="0">
                <a:sym typeface="+mn-ea"/>
              </a:rPr>
              <a:t> </a:t>
            </a:r>
            <a:endParaRPr lang="zh-CN" altLang="en-US"/>
          </a:p>
          <a:p>
            <a:pPr algn="l">
              <a:lnSpc>
                <a:spcPct val="150000"/>
              </a:lnSpc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500" y="-317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矩阵的初等变换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1981200" y="850265"/>
            <a:ext cx="8229600" cy="737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线性方程组的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同解变换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09471" y="1382395"/>
            <a:ext cx="762698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对于线性方程组，可以做如下的三种变换：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（1）互换两个方程的位置；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（2）把某一个方程两边同乘以一个非零常数c；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（3）将某一个方程加上另一个方程的k倍。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这三种变换都称为线性方程组的同解变换。</a:t>
            </a: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上述的变换是可逆的；如何定义可逆变换？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30755" y="4797426"/>
            <a:ext cx="719709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一个方程组经过某一同解变换后变为另一个方程组，</a:t>
            </a:r>
          </a:p>
          <a:p>
            <a:pPr marL="469900" indent="-469900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新方程组与原方程组同解。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此性质在矩阵中如何体现呢？ 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01520" y="77470"/>
            <a:ext cx="5427980" cy="90297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矩阵的初等变换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1762760" y="744220"/>
            <a:ext cx="8229600" cy="737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  <a:sym typeface="+mn-ea"/>
              </a:rPr>
              <a:t>矩阵的</a:t>
            </a:r>
            <a:r>
              <a:rPr lang="zh-CN" altLang="en-US" sz="24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+mn-ea"/>
              </a:rPr>
              <a:t>初等变换（观看</a:t>
            </a:r>
            <a:r>
              <a:rPr lang="en-US" altLang="zh-CN" sz="24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+mn-ea"/>
              </a:rPr>
              <a:t>P38</a:t>
            </a:r>
            <a:r>
              <a:rPr lang="zh-CN" altLang="en-US" sz="24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+mn-ea"/>
              </a:rPr>
              <a:t>动画：矩阵的初等行变换）</a:t>
            </a:r>
          </a:p>
        </p:txBody>
      </p:sp>
      <p:sp>
        <p:nvSpPr>
          <p:cNvPr id="5122" name="文本框 5121"/>
          <p:cNvSpPr txBox="1"/>
          <p:nvPr/>
        </p:nvSpPr>
        <p:spPr>
          <a:xfrm>
            <a:off x="2169796" y="2202816"/>
            <a:ext cx="2124075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初等行变换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     </a:t>
            </a:r>
            <a:r>
              <a:rPr lang="en-US" altLang="zh-CN" sz="2800">
                <a:latin typeface="Arial" panose="020B0604020202020204" pitchFamily="34" charset="0"/>
              </a:rPr>
              <a:t>row</a:t>
            </a:r>
          </a:p>
        </p:txBody>
      </p:sp>
      <p:sp>
        <p:nvSpPr>
          <p:cNvPr id="5123" name="文本框 5122"/>
          <p:cNvSpPr txBox="1"/>
          <p:nvPr/>
        </p:nvSpPr>
        <p:spPr>
          <a:xfrm>
            <a:off x="2169796" y="5011103"/>
            <a:ext cx="2124075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初等列变换</a:t>
            </a:r>
          </a:p>
          <a:p>
            <a:pPr>
              <a:spcBef>
                <a:spcPct val="50000"/>
              </a:spcBef>
            </a:pPr>
            <a:r>
              <a:rPr lang="zh-CN" altLang="en-US" sz="2800">
                <a:latin typeface="Arial" panose="020B0604020202020204" pitchFamily="34" charset="0"/>
              </a:rPr>
              <a:t>  </a:t>
            </a:r>
            <a:r>
              <a:rPr lang="en-US" altLang="zh-CN" sz="2800">
                <a:latin typeface="Arial" panose="020B0604020202020204" pitchFamily="34" charset="0"/>
              </a:rPr>
              <a:t>column</a:t>
            </a:r>
          </a:p>
        </p:txBody>
      </p:sp>
      <p:graphicFrame>
        <p:nvGraphicFramePr>
          <p:cNvPr id="5124" name="对象 5123"/>
          <p:cNvGraphicFramePr/>
          <p:nvPr/>
        </p:nvGraphicFramePr>
        <p:xfrm>
          <a:off x="4220845" y="1194754"/>
          <a:ext cx="1398588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" r:id="rId3" imgW="177800" imgH="253365" progId="Equation.DSMT4">
                  <p:embed/>
                </p:oleObj>
              </mc:Choice>
              <mc:Fallback>
                <p:oleObj r:id="rId3" imgW="177800" imgH="253365" progId="Equation.DSMT4">
                  <p:embed/>
                  <p:pic>
                    <p:nvPicPr>
                      <p:cNvPr id="5124" name="对象 5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0845" y="1194754"/>
                        <a:ext cx="1398588" cy="257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对象 5124"/>
          <p:cNvGraphicFramePr/>
          <p:nvPr/>
        </p:nvGraphicFramePr>
        <p:xfrm>
          <a:off x="4293870" y="4074479"/>
          <a:ext cx="1398588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r:id="rId5" imgW="177800" imgH="253365" progId="Equation.DSMT4">
                  <p:embed/>
                </p:oleObj>
              </mc:Choice>
              <mc:Fallback>
                <p:oleObj r:id="rId5" imgW="177800" imgH="253365" progId="Equation.DSMT4">
                  <p:embed/>
                  <p:pic>
                    <p:nvPicPr>
                      <p:cNvPr id="5125" name="对象 5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93870" y="4074479"/>
                        <a:ext cx="1398588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文本框 5125"/>
          <p:cNvSpPr txBox="1"/>
          <p:nvPr/>
        </p:nvSpPr>
        <p:spPr>
          <a:xfrm>
            <a:off x="5013009" y="1482090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交换</a:t>
            </a:r>
            <a:r>
              <a:rPr lang="en-US" altLang="zh-CN" sz="2400" dirty="0">
                <a:latin typeface="Arial" panose="020B0604020202020204" pitchFamily="34" charset="0"/>
              </a:rPr>
              <a:t>i, j</a:t>
            </a:r>
            <a:r>
              <a:rPr lang="zh-CN" altLang="en-US" sz="2400" dirty="0">
                <a:latin typeface="Arial" panose="020B0604020202020204" pitchFamily="34" charset="0"/>
              </a:rPr>
              <a:t>两行</a:t>
            </a:r>
          </a:p>
        </p:txBody>
      </p:sp>
      <p:sp>
        <p:nvSpPr>
          <p:cNvPr id="5127" name="文本框 5126"/>
          <p:cNvSpPr txBox="1"/>
          <p:nvPr/>
        </p:nvSpPr>
        <p:spPr>
          <a:xfrm>
            <a:off x="4941570" y="2274253"/>
            <a:ext cx="1728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数乘第 </a:t>
            </a:r>
            <a:r>
              <a:rPr lang="en-US" altLang="zh-CN" sz="2400" dirty="0">
                <a:latin typeface="Arial" panose="020B0604020202020204" pitchFamily="34" charset="0"/>
              </a:rPr>
              <a:t>i </a:t>
            </a:r>
            <a:r>
              <a:rPr lang="zh-CN" altLang="en-US" sz="2400" dirty="0">
                <a:latin typeface="Arial" panose="020B0604020202020204" pitchFamily="34" charset="0"/>
              </a:rPr>
              <a:t>行</a:t>
            </a:r>
          </a:p>
        </p:txBody>
      </p:sp>
      <p:sp>
        <p:nvSpPr>
          <p:cNvPr id="5128" name="文本框 5127"/>
          <p:cNvSpPr txBox="1"/>
          <p:nvPr/>
        </p:nvSpPr>
        <p:spPr>
          <a:xfrm>
            <a:off x="4941570" y="2994979"/>
            <a:ext cx="1728788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数乘第 </a:t>
            </a:r>
            <a:r>
              <a:rPr lang="en-US" altLang="zh-CN" sz="2400" dirty="0">
                <a:latin typeface="Arial" panose="020B0604020202020204" pitchFamily="34" charset="0"/>
              </a:rPr>
              <a:t>i</a:t>
            </a:r>
            <a:r>
              <a:rPr lang="zh-CN" altLang="en-US" sz="2400" dirty="0">
                <a:latin typeface="Arial" panose="020B0604020202020204" pitchFamily="34" charset="0"/>
              </a:rPr>
              <a:t>行加到第 </a:t>
            </a:r>
            <a:r>
              <a:rPr lang="en-US" altLang="zh-CN" sz="2400">
                <a:latin typeface="Arial" panose="020B0604020202020204" pitchFamily="34" charset="0"/>
              </a:rPr>
              <a:t>j </a:t>
            </a:r>
            <a:r>
              <a:rPr lang="zh-CN" altLang="en-US" sz="2400">
                <a:latin typeface="Arial" panose="020B0604020202020204" pitchFamily="34" charset="0"/>
              </a:rPr>
              <a:t>行</a:t>
            </a:r>
          </a:p>
        </p:txBody>
      </p:sp>
      <p:graphicFrame>
        <p:nvGraphicFramePr>
          <p:cNvPr id="5129" name="对象 5128"/>
          <p:cNvGraphicFramePr/>
          <p:nvPr/>
        </p:nvGraphicFramePr>
        <p:xfrm>
          <a:off x="7678421" y="1409701"/>
          <a:ext cx="1236663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r:id="rId6" imgW="457200" imgH="241300" progId="Equation.DSMT4">
                  <p:embed/>
                </p:oleObj>
              </mc:Choice>
              <mc:Fallback>
                <p:oleObj r:id="rId6" imgW="457200" imgH="241300" progId="Equation.DSMT4">
                  <p:embed/>
                  <p:pic>
                    <p:nvPicPr>
                      <p:cNvPr id="5129" name="对象 51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78421" y="1409701"/>
                        <a:ext cx="1236663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对象 5129"/>
          <p:cNvGraphicFramePr/>
          <p:nvPr/>
        </p:nvGraphicFramePr>
        <p:xfrm>
          <a:off x="7821295" y="2346644"/>
          <a:ext cx="85883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r:id="rId8" imgW="317500" imgH="228600" progId="Equation.DSMT4">
                  <p:embed/>
                </p:oleObj>
              </mc:Choice>
              <mc:Fallback>
                <p:oleObj r:id="rId8" imgW="317500" imgH="228600" progId="Equation.DSMT4">
                  <p:embed/>
                  <p:pic>
                    <p:nvPicPr>
                      <p:cNvPr id="5130" name="对象 512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21295" y="2346644"/>
                        <a:ext cx="858838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对象 5130"/>
          <p:cNvGraphicFramePr/>
          <p:nvPr/>
        </p:nvGraphicFramePr>
        <p:xfrm>
          <a:off x="7678420" y="3139441"/>
          <a:ext cx="11699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r:id="rId10" imgW="431800" imgH="241300" progId="Equation.DSMT4">
                  <p:embed/>
                </p:oleObj>
              </mc:Choice>
              <mc:Fallback>
                <p:oleObj r:id="rId10" imgW="431800" imgH="241300" progId="Equation.DSMT4">
                  <p:embed/>
                  <p:pic>
                    <p:nvPicPr>
                      <p:cNvPr id="5131" name="对象 513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78420" y="3139441"/>
                        <a:ext cx="1169988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文本框 5131"/>
          <p:cNvSpPr txBox="1"/>
          <p:nvPr/>
        </p:nvSpPr>
        <p:spPr>
          <a:xfrm>
            <a:off x="4941571" y="4363403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交换</a:t>
            </a:r>
            <a:r>
              <a:rPr lang="en-US" altLang="zh-CN" sz="2400" dirty="0">
                <a:latin typeface="Arial" panose="020B0604020202020204" pitchFamily="34" charset="0"/>
              </a:rPr>
              <a:t>i, j</a:t>
            </a:r>
            <a:r>
              <a:rPr lang="zh-CN" altLang="en-US" sz="2400" dirty="0">
                <a:latin typeface="Arial" panose="020B0604020202020204" pitchFamily="34" charset="0"/>
              </a:rPr>
              <a:t>两列</a:t>
            </a:r>
          </a:p>
        </p:txBody>
      </p:sp>
      <p:sp>
        <p:nvSpPr>
          <p:cNvPr id="5133" name="文本框 5132"/>
          <p:cNvSpPr txBox="1"/>
          <p:nvPr/>
        </p:nvSpPr>
        <p:spPr>
          <a:xfrm>
            <a:off x="4941570" y="5155565"/>
            <a:ext cx="1728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数乘第 </a:t>
            </a:r>
            <a:r>
              <a:rPr lang="en-US" altLang="zh-CN" sz="2400" dirty="0">
                <a:latin typeface="Arial" panose="020B0604020202020204" pitchFamily="34" charset="0"/>
              </a:rPr>
              <a:t>i </a:t>
            </a:r>
            <a:r>
              <a:rPr lang="zh-CN" altLang="en-US" sz="2400" dirty="0">
                <a:latin typeface="Arial" panose="020B0604020202020204" pitchFamily="34" charset="0"/>
              </a:rPr>
              <a:t>列</a:t>
            </a:r>
          </a:p>
        </p:txBody>
      </p:sp>
      <p:sp>
        <p:nvSpPr>
          <p:cNvPr id="5134" name="文本框 5133"/>
          <p:cNvSpPr txBox="1"/>
          <p:nvPr/>
        </p:nvSpPr>
        <p:spPr>
          <a:xfrm>
            <a:off x="5013009" y="5803266"/>
            <a:ext cx="1728787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Arial" panose="020B0604020202020204" pitchFamily="34" charset="0"/>
              </a:rPr>
              <a:t>数乘第 </a:t>
            </a:r>
            <a:r>
              <a:rPr lang="en-US" altLang="zh-CN" sz="2400" dirty="0">
                <a:latin typeface="Arial" panose="020B0604020202020204" pitchFamily="34" charset="0"/>
              </a:rPr>
              <a:t>i </a:t>
            </a:r>
            <a:r>
              <a:rPr lang="zh-CN" altLang="en-US" sz="2400" dirty="0">
                <a:latin typeface="Arial" panose="020B0604020202020204" pitchFamily="34" charset="0"/>
              </a:rPr>
              <a:t>列加到第 </a:t>
            </a:r>
            <a:r>
              <a:rPr lang="en-US" altLang="zh-CN" sz="2400" dirty="0">
                <a:latin typeface="Arial" panose="020B0604020202020204" pitchFamily="34" charset="0"/>
              </a:rPr>
              <a:t>j </a:t>
            </a:r>
            <a:r>
              <a:rPr lang="zh-CN" altLang="en-US" sz="2400" dirty="0">
                <a:latin typeface="Arial" panose="020B0604020202020204" pitchFamily="34" charset="0"/>
              </a:rPr>
              <a:t>列</a:t>
            </a:r>
          </a:p>
        </p:txBody>
      </p:sp>
      <p:graphicFrame>
        <p:nvGraphicFramePr>
          <p:cNvPr id="5135" name="对象 5134"/>
          <p:cNvGraphicFramePr/>
          <p:nvPr/>
        </p:nvGraphicFramePr>
        <p:xfrm>
          <a:off x="7678420" y="4291013"/>
          <a:ext cx="13398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r:id="rId12" imgW="495300" imgH="241300" progId="Equation.DSMT4">
                  <p:embed/>
                </p:oleObj>
              </mc:Choice>
              <mc:Fallback>
                <p:oleObj r:id="rId12" imgW="495300" imgH="241300" progId="Equation.DSMT4">
                  <p:embed/>
                  <p:pic>
                    <p:nvPicPr>
                      <p:cNvPr id="5135" name="对象 513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78420" y="4291013"/>
                        <a:ext cx="1339850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6" name="对象 5135"/>
          <p:cNvGraphicFramePr/>
          <p:nvPr/>
        </p:nvGraphicFramePr>
        <p:xfrm>
          <a:off x="7894320" y="5010785"/>
          <a:ext cx="9271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r:id="rId14" imgW="342900" imgH="228600" progId="Equation.DSMT4">
                  <p:embed/>
                </p:oleObj>
              </mc:Choice>
              <mc:Fallback>
                <p:oleObj r:id="rId14" imgW="342900" imgH="228600" progId="Equation.DSMT4">
                  <p:embed/>
                  <p:pic>
                    <p:nvPicPr>
                      <p:cNvPr id="5136" name="对象 51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894320" y="5010785"/>
                        <a:ext cx="927100" cy="617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7" name="对象 5136"/>
          <p:cNvGraphicFramePr/>
          <p:nvPr/>
        </p:nvGraphicFramePr>
        <p:xfrm>
          <a:off x="7821296" y="5803266"/>
          <a:ext cx="127317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r:id="rId16" imgW="469900" imgH="241300" progId="Equation.DSMT4">
                  <p:embed/>
                </p:oleObj>
              </mc:Choice>
              <mc:Fallback>
                <p:oleObj r:id="rId16" imgW="469900" imgH="241300" progId="Equation.DSMT4">
                  <p:embed/>
                  <p:pic>
                    <p:nvPicPr>
                      <p:cNvPr id="5137" name="对象 513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821296" y="5803266"/>
                        <a:ext cx="1273175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122" grpId="0"/>
      <p:bldP spid="5123" grpId="0"/>
      <p:bldP spid="5126" grpId="0"/>
      <p:bldP spid="5127" grpId="0"/>
      <p:bldP spid="5128" grpId="0"/>
      <p:bldP spid="5132" grpId="0"/>
      <p:bldP spid="5133" grpId="0"/>
      <p:bldP spid="51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8665" y="0"/>
            <a:ext cx="5427980" cy="764704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矩阵的初等变换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1775460" y="694690"/>
            <a:ext cx="4861560" cy="737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</a:t>
            </a:r>
            <a:r>
              <a:rPr lang="zh-CN" altLang="en-US" sz="2400" b="1" dirty="0">
                <a:solidFill>
                  <a:srgbClr val="CC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初等变换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75460" y="1432560"/>
            <a:ext cx="8670290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用初等行变换求解方程组 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  方程组的增广矩阵                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对增广矩阵做初等行变换：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得到原方程组的解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18380" y="2322830"/>
          <a:ext cx="1631950" cy="82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r:id="rId3" imgW="1282700" imgH="647700" progId="Equation.KSEE3">
                  <p:embed/>
                </p:oleObj>
              </mc:Choice>
              <mc:Fallback>
                <p:oleObj r:id="rId3" imgW="1282700" imgH="647700" progId="Equation.KSEE3">
                  <p:embed/>
                  <p:pic>
                    <p:nvPicPr>
                      <p:cNvPr id="12" name="对象 1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8380" y="2322830"/>
                        <a:ext cx="1631950" cy="824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15355" y="1214755"/>
          <a:ext cx="164338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r:id="rId5" imgW="1155700" imgH="647700" progId="Equation.KSEE3">
                  <p:embed/>
                </p:oleObj>
              </mc:Choice>
              <mc:Fallback>
                <p:oleObj r:id="rId5" imgW="1155700" imgH="647700" progId="Equation.KSEE3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5355" y="1214755"/>
                        <a:ext cx="1643380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/>
          <p:nvPr/>
        </p:nvGraphicFramePr>
        <p:xfrm>
          <a:off x="2261236" y="3147061"/>
          <a:ext cx="527875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r:id="rId7" imgW="4523105" imgH="714375" progId="Office12.wps.Document.8">
                  <p:embed/>
                </p:oleObj>
              </mc:Choice>
              <mc:Fallback>
                <p:oleObj r:id="rId7" imgW="4523105" imgH="714375" progId="Office12.wps.Document.8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1236" y="3147061"/>
                        <a:ext cx="5278755" cy="793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54856" y="5068571"/>
          <a:ext cx="68008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r:id="rId9" imgW="508000" imgH="647700" progId="Equation.KSEE3">
                  <p:embed/>
                </p:oleObj>
              </mc:Choice>
              <mc:Fallback>
                <p:oleObj r:id="rId9" imgW="508000" imgH="647700" progId="Equation.KSEE3">
                  <p:embed/>
                  <p:pic>
                    <p:nvPicPr>
                      <p:cNvPr id="23" name="对象 2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54856" y="5068571"/>
                        <a:ext cx="680085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991996" y="6101081"/>
            <a:ext cx="64801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：可以用矩阵的初等变换求解方程组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47294AD8-0B95-4D77-B824-32A69D4728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008224"/>
              </p:ext>
            </p:extLst>
          </p:nvPr>
        </p:nvGraphicFramePr>
        <p:xfrm>
          <a:off x="2343788" y="4037330"/>
          <a:ext cx="3228070" cy="76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Equation" r:id="rId11" imgW="2997000" imgH="711000" progId="Equation.DSMT4">
                  <p:embed/>
                </p:oleObj>
              </mc:Choice>
              <mc:Fallback>
                <p:oleObj name="Equation" r:id="rId11" imgW="2997000" imgH="711000" progId="Equation.DSMT4">
                  <p:embed/>
                  <p:pic>
                    <p:nvPicPr>
                      <p:cNvPr id="31755" name="Object 11">
                        <a:extLst>
                          <a:ext uri="{FF2B5EF4-FFF2-40B4-BE49-F238E27FC236}">
                            <a16:creationId xmlns:a16="http://schemas.microsoft.com/office/drawing/2014/main" id="{5432699E-21D5-4167-A156-F78E30EBA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788" y="4037330"/>
                        <a:ext cx="3228070" cy="769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500" y="0"/>
            <a:ext cx="8229600" cy="96266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初等矩阵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7" name="文本占位符 6146"/>
          <p:cNvSpPr>
            <a:spLocks noGrp="1"/>
          </p:cNvSpPr>
          <p:nvPr>
            <p:ph type="body" idx="1"/>
          </p:nvPr>
        </p:nvSpPr>
        <p:spPr>
          <a:xfrm>
            <a:off x="1577975" y="902335"/>
            <a:ext cx="8872220" cy="5703570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2.6.1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由单位阵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经过一次初等变换得到的矩阵称为</a:t>
            </a: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初等矩阵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。初等矩阵有三种类型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中的第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i,j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行，得到的矩阵记为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2400" i="1" baseline="-30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对调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中的第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i,j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列，得到的矩阵记为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i="1" baseline="-30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用不为零的数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中的第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行，得到的矩阵记为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en-US" altLang="zh-CN" sz="2400" b="1" i="1" baseline="-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);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用不为零的数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中的第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列，得到的矩阵记为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="1" i="1" baseline="-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marL="609600" indent="-60960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 以数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中的第i行加到第j 行上去，得到的 矩阵记为R</a:t>
            </a:r>
            <a:r>
              <a:rPr lang="zh-CN" altLang="en-US" sz="2400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)；以数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乘以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中的第i列加到第j 列上去，得到的矩阵记为C</a:t>
            </a:r>
            <a:r>
              <a:rPr lang="zh-CN" altLang="en-US" sz="2400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初等矩阵的具体形式见书P40。</a:t>
            </a:r>
          </a:p>
          <a:p>
            <a:pPr marL="609600" indent="-609600"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：初等变换对应初等矩阵，初等变换的逆变换对应什么？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1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1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1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10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Text Box 2">
            <a:extLst>
              <a:ext uri="{FF2B5EF4-FFF2-40B4-BE49-F238E27FC236}">
                <a16:creationId xmlns:a16="http://schemas.microsoft.com/office/drawing/2014/main" id="{FD4C00E6-A6A7-45C7-92E7-7C4CEB3D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525" y="41275"/>
            <a:ext cx="1131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1.2.2:</a:t>
            </a:r>
          </a:p>
        </p:txBody>
      </p:sp>
      <p:sp>
        <p:nvSpPr>
          <p:cNvPr id="6154" name="Text Box 3">
            <a:extLst>
              <a:ext uri="{FF2B5EF4-FFF2-40B4-BE49-F238E27FC236}">
                <a16:creationId xmlns:a16="http://schemas.microsoft.com/office/drawing/2014/main" id="{D2513713-BA04-4E5A-B945-6191DD120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611189"/>
            <a:ext cx="789511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定义 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1.9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由单位矩阵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经过一次初等变换得到的矩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阵称为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初等矩阵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55" name="Text Box 4">
            <a:extLst>
              <a:ext uri="{FF2B5EF4-FFF2-40B4-BE49-F238E27FC236}">
                <a16:creationId xmlns:a16="http://schemas.microsoft.com/office/drawing/2014/main" id="{B59A7AB6-8F58-4116-8449-395FC3936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628776"/>
            <a:ext cx="814678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初等矩阵有三种类型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kumimoji="1" lang="en-US" altLang="zh-CN" sz="2800" b="1">
                <a:latin typeface="Times New Roman" panose="02020603050405020304" pitchFamily="18" charset="0"/>
              </a:rPr>
              <a:t>    (1)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对调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中第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i, j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得到的矩阵记为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 R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2800" b="1">
                <a:latin typeface="Times New Roman" panose="02020603050405020304" pitchFamily="18" charset="0"/>
              </a:rPr>
              <a:t>;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对调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的第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i, j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列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得到的矩阵记为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 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故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6156" name="Text Box 5">
            <a:extLst>
              <a:ext uri="{FF2B5EF4-FFF2-40B4-BE49-F238E27FC236}">
                <a16:creationId xmlns:a16="http://schemas.microsoft.com/office/drawing/2014/main" id="{0C581BEB-05D2-4540-9AF5-53E4A3DE2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738" y="31559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6146" name="Object 6">
            <a:extLst>
              <a:ext uri="{FF2B5EF4-FFF2-40B4-BE49-F238E27FC236}">
                <a16:creationId xmlns:a16="http://schemas.microsoft.com/office/drawing/2014/main" id="{92A24BAB-2A4B-4B7A-8C88-DEC70730D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6214" y="3425825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Equation" r:id="rId3" imgW="177480" imgH="190440" progId="Equation.3">
                  <p:embed/>
                </p:oleObj>
              </mc:Choice>
              <mc:Fallback>
                <p:oleObj name="Equation" r:id="rId3" imgW="177480" imgH="190440" progId="Equation.3">
                  <p:embed/>
                  <p:pic>
                    <p:nvPicPr>
                      <p:cNvPr id="6146" name="Object 6">
                        <a:extLst>
                          <a:ext uri="{FF2B5EF4-FFF2-40B4-BE49-F238E27FC236}">
                            <a16:creationId xmlns:a16="http://schemas.microsoft.com/office/drawing/2014/main" id="{92A24BAB-2A4B-4B7A-8C88-DEC70730D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4" y="3425825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Text Box 7">
            <a:extLst>
              <a:ext uri="{FF2B5EF4-FFF2-40B4-BE49-F238E27FC236}">
                <a16:creationId xmlns:a16="http://schemas.microsoft.com/office/drawing/2014/main" id="{63B12B14-746D-4243-9E76-4F36B5901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38830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6147" name="Object 8">
            <a:extLst>
              <a:ext uri="{FF2B5EF4-FFF2-40B4-BE49-F238E27FC236}">
                <a16:creationId xmlns:a16="http://schemas.microsoft.com/office/drawing/2014/main" id="{47BD2A58-F431-4659-880A-9E1A2471C8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4738" y="4146550"/>
          <a:ext cx="533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Equation" r:id="rId5" imgW="177480" imgH="88560" progId="Equation.3">
                  <p:embed/>
                </p:oleObj>
              </mc:Choice>
              <mc:Fallback>
                <p:oleObj name="Equation" r:id="rId5" imgW="177480" imgH="88560" progId="Equation.3">
                  <p:embed/>
                  <p:pic>
                    <p:nvPicPr>
                      <p:cNvPr id="6147" name="Object 8">
                        <a:extLst>
                          <a:ext uri="{FF2B5EF4-FFF2-40B4-BE49-F238E27FC236}">
                            <a16:creationId xmlns:a16="http://schemas.microsoft.com/office/drawing/2014/main" id="{47BD2A58-F431-4659-880A-9E1A2471C8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4146550"/>
                        <a:ext cx="5334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Text Box 9">
            <a:extLst>
              <a:ext uri="{FF2B5EF4-FFF2-40B4-BE49-F238E27FC236}">
                <a16:creationId xmlns:a16="http://schemas.microsoft.com/office/drawing/2014/main" id="{7E9D6793-B298-43D9-A456-4E7048803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99415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 1</a:t>
            </a:r>
          </a:p>
        </p:txBody>
      </p:sp>
      <p:graphicFrame>
        <p:nvGraphicFramePr>
          <p:cNvPr id="6148" name="Object 10">
            <a:extLst>
              <a:ext uri="{FF2B5EF4-FFF2-40B4-BE49-F238E27FC236}">
                <a16:creationId xmlns:a16="http://schemas.microsoft.com/office/drawing/2014/main" id="{F88B9ADC-9A68-4C84-8D60-F2A23843BC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6739" y="4527550"/>
          <a:ext cx="212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Equation" r:id="rId7" imgW="75960" imgH="190440" progId="Equation.3">
                  <p:embed/>
                </p:oleObj>
              </mc:Choice>
              <mc:Fallback>
                <p:oleObj name="Equation" r:id="rId7" imgW="75960" imgH="190440" progId="Equation.3">
                  <p:embed/>
                  <p:pic>
                    <p:nvPicPr>
                      <p:cNvPr id="6148" name="Object 10">
                        <a:extLst>
                          <a:ext uri="{FF2B5EF4-FFF2-40B4-BE49-F238E27FC236}">
                            <a16:creationId xmlns:a16="http://schemas.microsoft.com/office/drawing/2014/main" id="{F88B9ADC-9A68-4C84-8D60-F2A23843BC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9" y="4527550"/>
                        <a:ext cx="212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Text Box 11">
            <a:extLst>
              <a:ext uri="{FF2B5EF4-FFF2-40B4-BE49-F238E27FC236}">
                <a16:creationId xmlns:a16="http://schemas.microsoft.com/office/drawing/2014/main" id="{7F2A4A12-2146-413F-AEB1-0244EBC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538" y="513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160" name="Text Box 12">
            <a:extLst>
              <a:ext uri="{FF2B5EF4-FFF2-40B4-BE49-F238E27FC236}">
                <a16:creationId xmlns:a16="http://schemas.microsoft.com/office/drawing/2014/main" id="{59DF09C4-17EF-4BDF-B42C-A43AC73FF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738" y="4908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6149" name="Object 13">
            <a:extLst>
              <a:ext uri="{FF2B5EF4-FFF2-40B4-BE49-F238E27FC236}">
                <a16:creationId xmlns:a16="http://schemas.microsoft.com/office/drawing/2014/main" id="{09453C0F-BBF0-4FEE-8A04-3E03924FC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6139" y="437515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Equation" r:id="rId9" imgW="177480" imgH="190440" progId="Equation.3">
                  <p:embed/>
                </p:oleObj>
              </mc:Choice>
              <mc:Fallback>
                <p:oleObj name="Equation" r:id="rId9" imgW="177480" imgH="190440" progId="Equation.3">
                  <p:embed/>
                  <p:pic>
                    <p:nvPicPr>
                      <p:cNvPr id="6149" name="Object 13">
                        <a:extLst>
                          <a:ext uri="{FF2B5EF4-FFF2-40B4-BE49-F238E27FC236}">
                            <a16:creationId xmlns:a16="http://schemas.microsoft.com/office/drawing/2014/main" id="{09453C0F-BBF0-4FEE-8A04-3E03924FC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39" y="437515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4">
            <a:extLst>
              <a:ext uri="{FF2B5EF4-FFF2-40B4-BE49-F238E27FC236}">
                <a16:creationId xmlns:a16="http://schemas.microsoft.com/office/drawing/2014/main" id="{805DD1A6-0404-41A8-AABF-4481F0C997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8014" y="536575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Equation" r:id="rId11" imgW="177480" imgH="190440" progId="Equation.3">
                  <p:embed/>
                </p:oleObj>
              </mc:Choice>
              <mc:Fallback>
                <p:oleObj name="Equation" r:id="rId11" imgW="177480" imgH="190440" progId="Equation.3">
                  <p:embed/>
                  <p:pic>
                    <p:nvPicPr>
                      <p:cNvPr id="6150" name="Object 14">
                        <a:extLst>
                          <a:ext uri="{FF2B5EF4-FFF2-40B4-BE49-F238E27FC236}">
                            <a16:creationId xmlns:a16="http://schemas.microsoft.com/office/drawing/2014/main" id="{805DD1A6-0404-41A8-AABF-4481F0C997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014" y="536575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Text Box 15">
            <a:extLst>
              <a:ext uri="{FF2B5EF4-FFF2-40B4-BE49-F238E27FC236}">
                <a16:creationId xmlns:a16="http://schemas.microsoft.com/office/drawing/2014/main" id="{511F62EC-7094-438C-AFE7-0F648240E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063" y="5670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6151" name="Object 16">
            <a:extLst>
              <a:ext uri="{FF2B5EF4-FFF2-40B4-BE49-F238E27FC236}">
                <a16:creationId xmlns:a16="http://schemas.microsoft.com/office/drawing/2014/main" id="{6BABA5D9-4B08-41DE-A0C1-F8595FAD3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3739" y="4451350"/>
          <a:ext cx="212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Equation" r:id="rId12" imgW="75960" imgH="190440" progId="Equation.3">
                  <p:embed/>
                </p:oleObj>
              </mc:Choice>
              <mc:Fallback>
                <p:oleObj name="Equation" r:id="rId12" imgW="75960" imgH="190440" progId="Equation.3">
                  <p:embed/>
                  <p:pic>
                    <p:nvPicPr>
                      <p:cNvPr id="6151" name="Object 16">
                        <a:extLst>
                          <a:ext uri="{FF2B5EF4-FFF2-40B4-BE49-F238E27FC236}">
                            <a16:creationId xmlns:a16="http://schemas.microsoft.com/office/drawing/2014/main" id="{6BABA5D9-4B08-41DE-A0C1-F8595FAD3E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9" y="4451350"/>
                        <a:ext cx="212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2" name="Text Box 17">
            <a:extLst>
              <a:ext uri="{FF2B5EF4-FFF2-40B4-BE49-F238E27FC236}">
                <a16:creationId xmlns:a16="http://schemas.microsoft.com/office/drawing/2014/main" id="{EED0DE4C-1BD2-4F38-9520-0DC67EEB9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52546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6152" name="Object 18">
            <a:extLst>
              <a:ext uri="{FF2B5EF4-FFF2-40B4-BE49-F238E27FC236}">
                <a16:creationId xmlns:a16="http://schemas.microsoft.com/office/drawing/2014/main" id="{E7D1D995-1A87-41DE-8D9C-28C59C048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938" y="5365750"/>
          <a:ext cx="533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Equation" r:id="rId14" imgW="177480" imgH="88560" progId="Equation.3">
                  <p:embed/>
                </p:oleObj>
              </mc:Choice>
              <mc:Fallback>
                <p:oleObj name="Equation" r:id="rId14" imgW="177480" imgH="88560" progId="Equation.3">
                  <p:embed/>
                  <p:pic>
                    <p:nvPicPr>
                      <p:cNvPr id="6152" name="Object 18">
                        <a:extLst>
                          <a:ext uri="{FF2B5EF4-FFF2-40B4-BE49-F238E27FC236}">
                            <a16:creationId xmlns:a16="http://schemas.microsoft.com/office/drawing/2014/main" id="{E7D1D995-1A87-41DE-8D9C-28C59C048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5365750"/>
                        <a:ext cx="5334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3" name="Line 19">
            <a:extLst>
              <a:ext uri="{FF2B5EF4-FFF2-40B4-BE49-F238E27FC236}">
                <a16:creationId xmlns:a16="http://schemas.microsoft.com/office/drawing/2014/main" id="{88D0464C-161E-4E25-BB57-486B359F4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4938" y="315595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4" name="Text Box 20">
            <a:extLst>
              <a:ext uri="{FF2B5EF4-FFF2-40B4-BE49-F238E27FC236}">
                <a16:creationId xmlns:a16="http://schemas.microsoft.com/office/drawing/2014/main" id="{B4E10391-85A1-4EA1-B970-970C571B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539" y="391795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6165" name="Text Box 21">
            <a:extLst>
              <a:ext uri="{FF2B5EF4-FFF2-40B4-BE49-F238E27FC236}">
                <a16:creationId xmlns:a16="http://schemas.microsoft.com/office/drawing/2014/main" id="{101FEF01-C64F-4466-8FE2-EC26778E3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538" y="513715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6166" name="Text Box 22">
            <a:extLst>
              <a:ext uri="{FF2B5EF4-FFF2-40B4-BE49-F238E27FC236}">
                <a16:creationId xmlns:a16="http://schemas.microsoft.com/office/drawing/2014/main" id="{1B6458D6-3DC0-4967-B7F4-C14ADB73F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594042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6167" name="Text Box 23">
            <a:extLst>
              <a:ext uri="{FF2B5EF4-FFF2-40B4-BE49-F238E27FC236}">
                <a16:creationId xmlns:a16="http://schemas.microsoft.com/office/drawing/2014/main" id="{FA20B791-5E3E-4E1C-9873-71E6766AF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2613" y="594042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6168" name="Line 24">
            <a:extLst>
              <a:ext uri="{FF2B5EF4-FFF2-40B4-BE49-F238E27FC236}">
                <a16:creationId xmlns:a16="http://schemas.microsoft.com/office/drawing/2014/main" id="{F8C2E22A-4349-488F-87B1-983AADA26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6338" y="31416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9" name="Line 25">
            <a:extLst>
              <a:ext uri="{FF2B5EF4-FFF2-40B4-BE49-F238E27FC236}">
                <a16:creationId xmlns:a16="http://schemas.microsoft.com/office/drawing/2014/main" id="{14F524D0-AE8E-4D16-AF80-5A9EBBE80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6338" y="61277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0" name="Line 26">
            <a:extLst>
              <a:ext uri="{FF2B5EF4-FFF2-40B4-BE49-F238E27FC236}">
                <a16:creationId xmlns:a16="http://schemas.microsoft.com/office/drawing/2014/main" id="{BAB64AE3-4E95-4B1E-ACC4-A978E7D6F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5538" y="315595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1" name="Line 27">
            <a:extLst>
              <a:ext uri="{FF2B5EF4-FFF2-40B4-BE49-F238E27FC236}">
                <a16:creationId xmlns:a16="http://schemas.microsoft.com/office/drawing/2014/main" id="{77879285-575F-404B-970C-13120188E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5538" y="61277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2" name="Line 28">
            <a:extLst>
              <a:ext uri="{FF2B5EF4-FFF2-40B4-BE49-F238E27FC236}">
                <a16:creationId xmlns:a16="http://schemas.microsoft.com/office/drawing/2014/main" id="{DBDF04F0-5220-4D11-8ED9-091BF72D0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5538" y="31559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3" name="Rectangle 29">
            <a:extLst>
              <a:ext uri="{FF2B5EF4-FFF2-40B4-BE49-F238E27FC236}">
                <a16:creationId xmlns:a16="http://schemas.microsoft.com/office/drawing/2014/main" id="{2C1D06E5-9600-418B-900E-CD200157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414655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ij</a:t>
            </a:r>
          </a:p>
        </p:txBody>
      </p:sp>
      <p:sp>
        <p:nvSpPr>
          <p:cNvPr id="6174" name="Rectangle 30">
            <a:extLst>
              <a:ext uri="{FF2B5EF4-FFF2-40B4-BE49-F238E27FC236}">
                <a16:creationId xmlns:a16="http://schemas.microsoft.com/office/drawing/2014/main" id="{860F164A-BC56-48B6-B385-C60E8313C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9" y="4222750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ij</a:t>
            </a:r>
          </a:p>
        </p:txBody>
      </p:sp>
      <p:sp>
        <p:nvSpPr>
          <p:cNvPr id="6175" name="Text Box 31">
            <a:extLst>
              <a:ext uri="{FF2B5EF4-FFF2-40B4-BE49-F238E27FC236}">
                <a16:creationId xmlns:a16="http://schemas.microsoft.com/office/drawing/2014/main" id="{B3E1AF1A-0D12-44B8-9EEB-A2BE8E779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938" y="4222751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6176" name="Text Box 32">
            <a:extLst>
              <a:ext uri="{FF2B5EF4-FFF2-40B4-BE49-F238E27FC236}">
                <a16:creationId xmlns:a16="http://schemas.microsoft.com/office/drawing/2014/main" id="{302CC53D-8B8F-4343-809D-CA42B6BC3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4187826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6177" name="Rectangle 33">
            <a:extLst>
              <a:ext uri="{FF2B5EF4-FFF2-40B4-BE49-F238E27FC236}">
                <a16:creationId xmlns:a16="http://schemas.microsoft.com/office/drawing/2014/main" id="{80E3CE45-704A-40B9-B82A-2202983407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32175" y="0"/>
            <a:ext cx="2209800" cy="685800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初等矩阵</a:t>
            </a:r>
            <a:endParaRPr lang="zh-CN" altLang="en-US" b="1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2">
            <a:extLst>
              <a:ext uri="{FF2B5EF4-FFF2-40B4-BE49-F238E27FC236}">
                <a16:creationId xmlns:a16="http://schemas.microsoft.com/office/drawing/2014/main" id="{85755DE9-4218-449E-BC90-6BDA04695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609600"/>
            <a:ext cx="83915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arenBoth" startAt="2"/>
            </a:pPr>
            <a:r>
              <a:rPr kumimoji="1" lang="zh-CN" altLang="en-US" sz="2800" b="1">
                <a:latin typeface="Times New Roman" panose="02020603050405020304" pitchFamily="18" charset="0"/>
              </a:rPr>
              <a:t>用不为零的数</a:t>
            </a:r>
            <a:r>
              <a:rPr kumimoji="1" lang="en-US" altLang="zh-CN" sz="2800" b="1">
                <a:latin typeface="Times New Roman" panose="02020603050405020304" pitchFamily="18" charset="0"/>
              </a:rPr>
              <a:t>λ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乘以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中的第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得到的矩阵记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R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(λ);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用不为零的数</a:t>
            </a:r>
            <a:r>
              <a:rPr kumimoji="1" lang="en-US" altLang="zh-CN" sz="2800" b="1">
                <a:latin typeface="Times New Roman" panose="02020603050405020304" pitchFamily="18" charset="0"/>
              </a:rPr>
              <a:t>λ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乘以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中的第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列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得到的矩阵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记为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(λ).</a:t>
            </a:r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134EDACA-E0B8-4FED-B32B-9C13019EC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2057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A0CD8ED8-D378-44FF-9FE4-6A969F624E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7676" y="236220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3" imgW="177480" imgH="190440" progId="Equation.3">
                  <p:embed/>
                </p:oleObj>
              </mc:Choice>
              <mc:Fallback>
                <p:oleObj name="Equation" r:id="rId3" imgW="177480" imgH="190440" progId="Equation.3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A0CD8ED8-D378-44FF-9FE4-6A969F624E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676" y="236220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5">
            <a:extLst>
              <a:ext uri="{FF2B5EF4-FFF2-40B4-BE49-F238E27FC236}">
                <a16:creationId xmlns:a16="http://schemas.microsoft.com/office/drawing/2014/main" id="{36E3C27F-5B82-45F3-90C7-D338520D4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2936875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 1</a:t>
            </a:r>
          </a:p>
        </p:txBody>
      </p:sp>
      <p:sp>
        <p:nvSpPr>
          <p:cNvPr id="7175" name="Text Box 6">
            <a:extLst>
              <a:ext uri="{FF2B5EF4-FFF2-40B4-BE49-F238E27FC236}">
                <a16:creationId xmlns:a16="http://schemas.microsoft.com/office/drawing/2014/main" id="{066B8CEC-615F-46D3-910A-B28AAF7E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5" y="3810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7171" name="Object 7">
            <a:extLst>
              <a:ext uri="{FF2B5EF4-FFF2-40B4-BE49-F238E27FC236}">
                <a16:creationId xmlns:a16="http://schemas.microsoft.com/office/drawing/2014/main" id="{02B072FC-2B7D-4A4C-84A5-CA1BF94E6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1551" y="426720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5" imgW="177480" imgH="190440" progId="Equation.3">
                  <p:embed/>
                </p:oleObj>
              </mc:Choice>
              <mc:Fallback>
                <p:oleObj name="Equation" r:id="rId5" imgW="177480" imgH="190440" progId="Equation.3">
                  <p:embed/>
                  <p:pic>
                    <p:nvPicPr>
                      <p:cNvPr id="7171" name="Object 7">
                        <a:extLst>
                          <a:ext uri="{FF2B5EF4-FFF2-40B4-BE49-F238E27FC236}">
                            <a16:creationId xmlns:a16="http://schemas.microsoft.com/office/drawing/2014/main" id="{02B072FC-2B7D-4A4C-84A5-CA1BF94E6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1" y="426720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Text Box 8">
            <a:extLst>
              <a:ext uri="{FF2B5EF4-FFF2-40B4-BE49-F238E27FC236}">
                <a16:creationId xmlns:a16="http://schemas.microsoft.com/office/drawing/2014/main" id="{E489BE47-2765-421C-947A-C5C9577E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600" y="4572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B49FC117-4D0C-48AF-861D-62E086A60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8475" y="20574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6F86942E-5F21-42F2-942A-94D0B3372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875" y="20431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67A43D7F-0B5B-44E0-834C-114AF2270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875" y="502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962FE9D9-EF3C-484D-9772-DF819F804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075" y="20574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B8CA460B-35A7-41AE-9D9D-274FD3555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075" y="5029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60F3BC8B-C598-4EBA-8758-CA8B48EB4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075" y="2057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02E07265-BE05-4D8E-A0A4-B39E6CE41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9718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(λ)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AAC67625-434C-430C-A38C-523C6616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048000"/>
            <a:ext cx="952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(λ)</a:t>
            </a:r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2F0CC6DB-F1E7-42AE-A3FD-7DD0F3B05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75" y="3048001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E8B05FAA-E896-4ABB-B66F-1C970D27D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3048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7187" name="Text Box 19">
            <a:extLst>
              <a:ext uri="{FF2B5EF4-FFF2-40B4-BE49-F238E27FC236}">
                <a16:creationId xmlns:a16="http://schemas.microsoft.com/office/drawing/2014/main" id="{4B20D284-21A6-4C98-A563-F74B95092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429001"/>
            <a:ext cx="3353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λ</a:t>
            </a:r>
          </a:p>
        </p:txBody>
      </p:sp>
      <p:sp>
        <p:nvSpPr>
          <p:cNvPr id="7188" name="Text Box 20">
            <a:extLst>
              <a:ext uri="{FF2B5EF4-FFF2-40B4-BE49-F238E27FC236}">
                <a16:creationId xmlns:a16="http://schemas.microsoft.com/office/drawing/2014/main" id="{D8EF88FC-9D51-4E2F-A0E9-CE267EE89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2400" y="50704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7189" name="Text Box 21">
            <a:extLst>
              <a:ext uri="{FF2B5EF4-FFF2-40B4-BE49-F238E27FC236}">
                <a16:creationId xmlns:a16="http://schemas.microsoft.com/office/drawing/2014/main" id="{A78605CC-7B84-4B4F-ADE8-25955805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0" y="331787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Text Box 2">
            <a:extLst>
              <a:ext uri="{FF2B5EF4-FFF2-40B4-BE49-F238E27FC236}">
                <a16:creationId xmlns:a16="http://schemas.microsoft.com/office/drawing/2014/main" id="{19551E1E-F142-494B-9ADA-49FC10854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685800"/>
            <a:ext cx="76930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arenBoth" startAt="3"/>
            </a:pPr>
            <a:r>
              <a:rPr kumimoji="1" lang="zh-CN" altLang="en-US" sz="2800" b="1">
                <a:latin typeface="Times New Roman" panose="02020603050405020304" pitchFamily="18" charset="0"/>
              </a:rPr>
              <a:t>以数</a:t>
            </a:r>
            <a:r>
              <a:rPr kumimoji="1" lang="en-US" altLang="zh-CN" sz="2800" b="1">
                <a:latin typeface="Times New Roman" panose="02020603050405020304" pitchFamily="18" charset="0"/>
              </a:rPr>
              <a:t>λ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乘以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行加到第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上去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的矩阵，记为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R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(λ);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以数</a:t>
            </a:r>
            <a:r>
              <a:rPr kumimoji="1" lang="en-US" altLang="zh-CN" sz="2800" b="1">
                <a:latin typeface="Times New Roman" panose="02020603050405020304" pitchFamily="18" charset="0"/>
              </a:rPr>
              <a:t>λ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乘以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中的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列加到</a:t>
            </a:r>
          </a:p>
          <a:p>
            <a:pPr eaLnBrk="1" hangingPunct="1"/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上去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得到的矩阵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记为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ji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(λ),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8200" name="Text Box 3">
            <a:extLst>
              <a:ext uri="{FF2B5EF4-FFF2-40B4-BE49-F238E27FC236}">
                <a16:creationId xmlns:a16="http://schemas.microsoft.com/office/drawing/2014/main" id="{78304279-71FD-4EE3-B49E-568B9874C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2241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6666503E-AF29-4694-A553-28B01DE8B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1" y="254635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" name="Equation" r:id="rId3" imgW="177480" imgH="190440" progId="Equation.3">
                  <p:embed/>
                </p:oleObj>
              </mc:Choice>
              <mc:Fallback>
                <p:oleObj name="Equation" r:id="rId3" imgW="177480" imgH="190440" progId="Equation.3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6666503E-AF29-4694-A553-28B01DE8B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1" y="254635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5">
            <a:extLst>
              <a:ext uri="{FF2B5EF4-FFF2-40B4-BE49-F238E27FC236}">
                <a16:creationId xmlns:a16="http://schemas.microsoft.com/office/drawing/2014/main" id="{6F09E4F5-60BF-4D4A-B60B-C4D2A6B48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210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202" name="Text Box 6">
            <a:extLst>
              <a:ext uri="{FF2B5EF4-FFF2-40B4-BE49-F238E27FC236}">
                <a16:creationId xmlns:a16="http://schemas.microsoft.com/office/drawing/2014/main" id="{E0924D8B-D7C6-4946-BB61-695603E7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475" y="4146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8195" name="Object 7">
            <a:extLst>
              <a:ext uri="{FF2B5EF4-FFF2-40B4-BE49-F238E27FC236}">
                <a16:creationId xmlns:a16="http://schemas.microsoft.com/office/drawing/2014/main" id="{6C998EDF-BCFA-49A4-A078-F8C8C7747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9751" y="361315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" name="Equation" r:id="rId5" imgW="177480" imgH="190440" progId="Equation.3">
                  <p:embed/>
                </p:oleObj>
              </mc:Choice>
              <mc:Fallback>
                <p:oleObj name="Equation" r:id="rId5" imgW="177480" imgH="190440" progId="Equation.3">
                  <p:embed/>
                  <p:pic>
                    <p:nvPicPr>
                      <p:cNvPr id="8195" name="Object 7">
                        <a:extLst>
                          <a:ext uri="{FF2B5EF4-FFF2-40B4-BE49-F238E27FC236}">
                            <a16:creationId xmlns:a16="http://schemas.microsoft.com/office/drawing/2014/main" id="{6C998EDF-BCFA-49A4-A078-F8C8C77479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1" y="361315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8">
            <a:extLst>
              <a:ext uri="{FF2B5EF4-FFF2-40B4-BE49-F238E27FC236}">
                <a16:creationId xmlns:a16="http://schemas.microsoft.com/office/drawing/2014/main" id="{FE3C6D94-CBA8-4776-BC12-F104B6ABEC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3026" y="4451350"/>
          <a:ext cx="568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quation" r:id="rId7" imgW="177480" imgH="190440" progId="Equation.3">
                  <p:embed/>
                </p:oleObj>
              </mc:Choice>
              <mc:Fallback>
                <p:oleObj name="Equation" r:id="rId7" imgW="177480" imgH="190440" progId="Equation.3">
                  <p:embed/>
                  <p:pic>
                    <p:nvPicPr>
                      <p:cNvPr id="8196" name="Object 8">
                        <a:extLst>
                          <a:ext uri="{FF2B5EF4-FFF2-40B4-BE49-F238E27FC236}">
                            <a16:creationId xmlns:a16="http://schemas.microsoft.com/office/drawing/2014/main" id="{FE3C6D94-CBA8-4776-BC12-F104B6ABE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3026" y="4451350"/>
                        <a:ext cx="568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9">
            <a:extLst>
              <a:ext uri="{FF2B5EF4-FFF2-40B4-BE49-F238E27FC236}">
                <a16:creationId xmlns:a16="http://schemas.microsoft.com/office/drawing/2014/main" id="{04254231-7BAA-4F9E-8E6B-A0D6F4BA4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075" y="4756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8197" name="Object 10">
            <a:extLst>
              <a:ext uri="{FF2B5EF4-FFF2-40B4-BE49-F238E27FC236}">
                <a16:creationId xmlns:a16="http://schemas.microsoft.com/office/drawing/2014/main" id="{3E5C8454-05B4-44AB-9A5C-9B6472E0D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8751" y="3536950"/>
          <a:ext cx="212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Equation" r:id="rId8" imgW="75960" imgH="190440" progId="Equation.3">
                  <p:embed/>
                </p:oleObj>
              </mc:Choice>
              <mc:Fallback>
                <p:oleObj name="Equation" r:id="rId8" imgW="75960" imgH="190440" progId="Equation.3">
                  <p:embed/>
                  <p:pic>
                    <p:nvPicPr>
                      <p:cNvPr id="8197" name="Object 10">
                        <a:extLst>
                          <a:ext uri="{FF2B5EF4-FFF2-40B4-BE49-F238E27FC236}">
                            <a16:creationId xmlns:a16="http://schemas.microsoft.com/office/drawing/2014/main" id="{3E5C8454-05B4-44AB-9A5C-9B6472E0D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1" y="3536950"/>
                        <a:ext cx="212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11">
            <a:extLst>
              <a:ext uri="{FF2B5EF4-FFF2-40B4-BE49-F238E27FC236}">
                <a16:creationId xmlns:a16="http://schemas.microsoft.com/office/drawing/2014/main" id="{0471C3BD-A827-4C3D-BC34-C5EA45AB4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50" y="4146551"/>
            <a:ext cx="3353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λ</a:t>
            </a:r>
          </a:p>
        </p:txBody>
      </p:sp>
      <p:graphicFrame>
        <p:nvGraphicFramePr>
          <p:cNvPr id="8198" name="Object 12">
            <a:extLst>
              <a:ext uri="{FF2B5EF4-FFF2-40B4-BE49-F238E27FC236}">
                <a16:creationId xmlns:a16="http://schemas.microsoft.com/office/drawing/2014/main" id="{CB193D67-7EDC-4983-8352-493AE73DA4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9750" y="4298950"/>
          <a:ext cx="533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name="Equation" r:id="rId10" imgW="177480" imgH="88560" progId="Equation.3">
                  <p:embed/>
                </p:oleObj>
              </mc:Choice>
              <mc:Fallback>
                <p:oleObj name="Equation" r:id="rId10" imgW="177480" imgH="88560" progId="Equation.3">
                  <p:embed/>
                  <p:pic>
                    <p:nvPicPr>
                      <p:cNvPr id="8198" name="Object 12">
                        <a:extLst>
                          <a:ext uri="{FF2B5EF4-FFF2-40B4-BE49-F238E27FC236}">
                            <a16:creationId xmlns:a16="http://schemas.microsoft.com/office/drawing/2014/main" id="{CB193D67-7EDC-4983-8352-493AE73DA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4298950"/>
                        <a:ext cx="5334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Line 13">
            <a:extLst>
              <a:ext uri="{FF2B5EF4-FFF2-40B4-BE49-F238E27FC236}">
                <a16:creationId xmlns:a16="http://schemas.microsoft.com/office/drawing/2014/main" id="{7764EA4F-5BEF-4237-9F41-415034184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9950" y="224155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90C70CE6-5FF6-4037-B367-C793A2953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1350" y="22272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926DD9E4-26E1-4599-91EA-9EBF9087E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1350" y="52133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33844D31-88A0-4234-99BB-A59CFAA9C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0550" y="224155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5C3D796B-FF61-49BE-A576-97864E9CC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0550" y="52133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" name="Line 18">
            <a:extLst>
              <a:ext uri="{FF2B5EF4-FFF2-40B4-BE49-F238E27FC236}">
                <a16:creationId xmlns:a16="http://schemas.microsoft.com/office/drawing/2014/main" id="{036A952E-A011-42EC-A6F0-FAB18932D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0550" y="22415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1E3DDA9E-8A86-441C-AF92-A01372C47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3079750"/>
            <a:ext cx="1243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(λ)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96BA6FD1-C005-4A51-BD27-D83CCF769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315595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ji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(λ)</a:t>
            </a:r>
          </a:p>
        </p:txBody>
      </p:sp>
      <p:sp>
        <p:nvSpPr>
          <p:cNvPr id="8213" name="Text Box 21">
            <a:extLst>
              <a:ext uri="{FF2B5EF4-FFF2-40B4-BE49-F238E27FC236}">
                <a16:creationId xmlns:a16="http://schemas.microsoft.com/office/drawing/2014/main" id="{6C5FB670-60D4-48D8-87CE-9FC553AB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3155951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8214" name="Text Box 22">
            <a:extLst>
              <a:ext uri="{FF2B5EF4-FFF2-40B4-BE49-F238E27FC236}">
                <a16:creationId xmlns:a16="http://schemas.microsoft.com/office/drawing/2014/main" id="{3891635B-B229-469A-AC89-B59761CD5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155951"/>
            <a:ext cx="3593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8215" name="Text Box 23">
            <a:extLst>
              <a:ext uri="{FF2B5EF4-FFF2-40B4-BE49-F238E27FC236}">
                <a16:creationId xmlns:a16="http://schemas.microsoft.com/office/drawing/2014/main" id="{339C2364-5936-421A-9377-C69ADE67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304482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8216" name="Text Box 24">
            <a:extLst>
              <a:ext uri="{FF2B5EF4-FFF2-40B4-BE49-F238E27FC236}">
                <a16:creationId xmlns:a16="http://schemas.microsoft.com/office/drawing/2014/main" id="{59DF11B2-681E-4876-9227-872395F78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418782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8217" name="Text Box 25">
            <a:extLst>
              <a:ext uri="{FF2B5EF4-FFF2-40B4-BE49-F238E27FC236}">
                <a16:creationId xmlns:a16="http://schemas.microsoft.com/office/drawing/2014/main" id="{57F0A11B-553E-44B0-AA2C-ECA3CE49C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563562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0D452576-BBA6-4D50-AAA9-CA0B05C47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563562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imes New Roman" panose="02020603050405020304" pitchFamily="18" charset="0"/>
              </a:rPr>
              <a:t>j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5B84B5A4-9DB1-4463-93D1-285259E0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549276"/>
            <a:ext cx="7487947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初等矩阵是可逆的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并且其逆矩阵也是同一类型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的初等矩阵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易验证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buFontTx/>
              <a:buAutoNum type="arabicParenR"/>
            </a:pPr>
            <a:r>
              <a:rPr kumimoji="1" lang="en-US" altLang="zh-CN" sz="3200" b="1">
                <a:latin typeface="Times New Roman" panose="02020603050405020304" pitchFamily="18" charset="0"/>
              </a:rPr>
              <a:t>  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3200" b="1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3200" b="1">
                <a:latin typeface="Times New Roman" panose="02020603050405020304" pitchFamily="18" charset="0"/>
              </a:rPr>
              <a:t>=R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ij</a:t>
            </a:r>
            <a:r>
              <a:rPr kumimoji="1" lang="zh-CN" altLang="en-US" sz="32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buFontTx/>
              <a:buAutoNum type="arabicParenR"/>
            </a:pPr>
            <a:r>
              <a:rPr kumimoji="1" lang="zh-CN" altLang="en-US" sz="3200" b="1">
                <a:latin typeface="Times New Roman" panose="02020603050405020304" pitchFamily="18" charset="0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(λ))</a:t>
            </a:r>
            <a:r>
              <a:rPr kumimoji="1" lang="en-US" altLang="zh-CN" sz="3200" b="1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3200" b="1">
                <a:latin typeface="Times New Roman" panose="02020603050405020304" pitchFamily="18" charset="0"/>
              </a:rPr>
              <a:t>=R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(1/ λ)</a:t>
            </a:r>
            <a:r>
              <a:rPr kumimoji="1" lang="zh-CN" altLang="en-US" sz="32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buFontTx/>
              <a:buAutoNum type="arabicParenR"/>
            </a:pPr>
            <a:r>
              <a:rPr kumimoji="1" lang="zh-CN" altLang="en-US" sz="3200" b="1">
                <a:latin typeface="Times New Roman" panose="02020603050405020304" pitchFamily="18" charset="0"/>
              </a:rPr>
              <a:t> 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(λ))</a:t>
            </a:r>
            <a:r>
              <a:rPr kumimoji="1" lang="en-US" altLang="zh-CN" sz="3200" b="1" baseline="30000">
                <a:latin typeface="Times New Roman" panose="02020603050405020304" pitchFamily="18" charset="0"/>
              </a:rPr>
              <a:t>-1</a:t>
            </a:r>
            <a:r>
              <a:rPr kumimoji="1" lang="en-US" altLang="zh-CN" sz="3200" b="1">
                <a:latin typeface="Times New Roman" panose="02020603050405020304" pitchFamily="18" charset="0"/>
              </a:rPr>
              <a:t>= R</a:t>
            </a:r>
            <a:r>
              <a:rPr kumimoji="1" lang="en-US" altLang="zh-CN" sz="3200" b="1" baseline="-25000">
                <a:latin typeface="Times New Roman" panose="02020603050405020304" pitchFamily="18" charset="0"/>
              </a:rPr>
              <a:t>ij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(-λ).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A43F8E7B-C6CA-4481-9D0D-F8FEF7747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3063876"/>
            <a:ext cx="830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定理 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1.2</a:t>
            </a:r>
            <a:r>
              <a:rPr kumimoji="1" lang="en-US" altLang="zh-CN" sz="2800" b="1">
                <a:latin typeface="Tahoma" panose="020B0604030504040204" pitchFamily="34" charset="0"/>
              </a:rPr>
              <a:t> 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有限个初等矩阵的乘积必可逆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0B8B7B7E-9806-4AC0-83B3-0F2DC040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902075"/>
            <a:ext cx="8769350" cy="1809750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用初等矩阵左乘某矩阵，其结果等于对该矩阵作相应</a:t>
            </a:r>
          </a:p>
          <a:p>
            <a:pPr eaLnBrk="1" hangingPunct="1"/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的初等行变换。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用初等矩阵右乘某矩阵，其结果等于对该矩阵作相应</a:t>
            </a:r>
          </a:p>
          <a:p>
            <a:pPr eaLnBrk="1" hangingPunct="1"/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的初等列变换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en-US" altLang="zh-CN" sz="28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初等矩阵与初等变换的关系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左行右列</a:t>
            </a:r>
            <a:r>
              <a:rPr lang="en-US" altLang="zh-CN" sz="28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C6E4BD38-625F-410D-ABD7-7DF7966C1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5805488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ahoma" panose="020B0604030504040204" pitchFamily="34" charset="0"/>
                <a:hlinkClick r:id="" action="ppaction://noaction"/>
              </a:rPr>
              <a:t>Example</a:t>
            </a:r>
            <a:endParaRPr kumimoji="1" lang="en-US" altLang="zh-CN" sz="24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2" grpId="0" animBg="1"/>
      <p:bldP spid="276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4500" y="0"/>
            <a:ext cx="8229600" cy="96266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初等矩阵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1186" y="1780540"/>
            <a:ext cx="7257415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猜一猜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如果一对初等变换为互逆变换，那么由它们分别对应的初等矩阵有什么关系？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24685" y="3034031"/>
            <a:ext cx="70078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定理2.6.1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对矩阵实施一次初等行变换，等于用相应的初等矩阵左乘该矩阵，对矩阵实施一次初等列变换，等于用相应的初等矩阵右乘该矩阵。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14500" y="1115061"/>
            <a:ext cx="82892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609600" indent="-609600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初等变换对应初等矩阵，初等变换的逆变换对应什么？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28508" y="4883785"/>
          <a:ext cx="305943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r:id="rId3" imgW="2082800" imgH="647700" progId="Equation.KSEE3">
                  <p:embed/>
                </p:oleObj>
              </mc:Choice>
              <mc:Fallback>
                <p:oleObj r:id="rId3" imgW="2082800" imgH="647700" progId="Equation.KSEE3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8508" y="4883785"/>
                        <a:ext cx="3059430" cy="951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77143" y="4883785"/>
          <a:ext cx="350774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r:id="rId5" imgW="2387600" imgH="647700" progId="Equation.KSEE3">
                  <p:embed/>
                </p:oleObj>
              </mc:Choice>
              <mc:Fallback>
                <p:oleObj r:id="rId5" imgW="2387600" imgH="647700" progId="Equation.KSEE3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7143" y="4883785"/>
                        <a:ext cx="3507740" cy="951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89456" y="5835015"/>
          <a:ext cx="3115945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r:id="rId7" imgW="2120900" imgH="647700" progId="Equation.KSEE3">
                  <p:embed/>
                </p:oleObj>
              </mc:Choice>
              <mc:Fallback>
                <p:oleObj r:id="rId7" imgW="2120900" imgH="647700" progId="Equation.KSEE3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89456" y="5835015"/>
                        <a:ext cx="3115945" cy="951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49838" y="5835015"/>
          <a:ext cx="3657600" cy="951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r:id="rId9" imgW="2489200" imgH="647700" progId="Equation.KSEE3">
                  <p:embed/>
                </p:oleObj>
              </mc:Choice>
              <mc:Fallback>
                <p:oleObj r:id="rId9" imgW="2489200" imgH="647700" progId="Equation.KSEE3">
                  <p:embed/>
                  <p:pic>
                    <p:nvPicPr>
                      <p:cNvPr id="15" name="对象 1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49838" y="5835015"/>
                        <a:ext cx="3657600" cy="951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057401" y="2693036"/>
            <a:ext cx="2267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36116" y="3551556"/>
            <a:ext cx="82708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因为矩阵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可以通过矩阵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的第二行乘以    得到，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由定理2.6.1得	</a:t>
            </a: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613141" y="3680460"/>
          <a:ext cx="24193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r:id="rId3" imgW="139700" imgH="368300" progId="Equation.KSEE3">
                  <p:embed/>
                </p:oleObj>
              </mc:Choice>
              <mc:Fallback>
                <p:oleObj r:id="rId3" imgW="139700" imgH="368300" progId="Equation.KSEE3">
                  <p:embed/>
                  <p:pic>
                    <p:nvPicPr>
                      <p:cNvPr id="12" name="对象 1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13141" y="3680460"/>
                        <a:ext cx="241935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804036" y="5508625"/>
            <a:ext cx="798385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</a:t>
            </a:r>
            <a:r>
              <a:rPr lang="en-US" altLang="zh-CN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（2）能否通过其它初等矩阵得到？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初等矩阵把初等变换中的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转换成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等号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，有什么意义？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62506" y="570231"/>
            <a:ext cx="736917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2.6.2 设        </a:t>
            </a:r>
          </a:p>
          <a:p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;   （2）若                      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</a:p>
          <a:p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56075" y="438150"/>
          <a:ext cx="139858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9" r:id="rId5" imgW="876300" imgH="647700" progId="Equation.KSEE3">
                  <p:embed/>
                </p:oleObj>
              </mc:Choice>
              <mc:Fallback>
                <p:oleObj r:id="rId5" imgW="876300" imgH="647700" progId="Equation.KSEE3">
                  <p:embed/>
                  <p:pic>
                    <p:nvPicPr>
                      <p:cNvPr id="1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075" y="438150"/>
                        <a:ext cx="1398588" cy="103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70250" y="1927226"/>
          <a:ext cx="52832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" r:id="rId7" imgW="304800" imgH="203200" progId="Equation.KSEE3">
                  <p:embed/>
                </p:oleObj>
              </mc:Choice>
              <mc:Fallback>
                <p:oleObj r:id="rId7" imgW="304800" imgH="203200" progId="Equation.KSEE3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0250" y="1927226"/>
                        <a:ext cx="528320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B0AB3056-DCFF-48CD-B90C-E74712757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776469"/>
              </p:ext>
            </p:extLst>
          </p:nvPr>
        </p:nvGraphicFramePr>
        <p:xfrm>
          <a:off x="3534410" y="2565972"/>
          <a:ext cx="3856291" cy="1050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Equation" r:id="rId9" imgW="2628720" imgH="711000" progId="Equation.DSMT4">
                  <p:embed/>
                </p:oleObj>
              </mc:Choice>
              <mc:Fallback>
                <p:oleObj name="Equation" r:id="rId9" imgW="2628720" imgH="711000" progId="Equation.DSMT4">
                  <p:embed/>
                  <p:pic>
                    <p:nvPicPr>
                      <p:cNvPr id="31755" name="Object 11">
                        <a:extLst>
                          <a:ext uri="{FF2B5EF4-FFF2-40B4-BE49-F238E27FC236}">
                            <a16:creationId xmlns:a16="http://schemas.microsoft.com/office/drawing/2014/main" id="{5432699E-21D5-4167-A156-F78E30EBA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4410" y="2565972"/>
                        <a:ext cx="3856291" cy="10504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C1435ED4-13E0-470D-A122-93074D18A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030680"/>
              </p:ext>
            </p:extLst>
          </p:nvPr>
        </p:nvGraphicFramePr>
        <p:xfrm>
          <a:off x="4156075" y="4266945"/>
          <a:ext cx="4057256" cy="124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" name="Equation" r:id="rId11" imgW="2920680" imgH="888840" progId="Equation.DSMT4">
                  <p:embed/>
                </p:oleObj>
              </mc:Choice>
              <mc:Fallback>
                <p:oleObj name="Equation" r:id="rId11" imgW="2920680" imgH="88884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B0AB3056-DCFF-48CD-B90C-E74712757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266945"/>
                        <a:ext cx="4057256" cy="1241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A9ED9808-DA92-48C3-9478-550BF4BC7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314028"/>
              </p:ext>
            </p:extLst>
          </p:nvPr>
        </p:nvGraphicFramePr>
        <p:xfrm>
          <a:off x="5396864" y="1636708"/>
          <a:ext cx="1773179" cy="97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Equation" r:id="rId13" imgW="1307880" imgH="711000" progId="Equation.DSMT4">
                  <p:embed/>
                </p:oleObj>
              </mc:Choice>
              <mc:Fallback>
                <p:oleObj name="Equation" r:id="rId13" imgW="1307880" imgH="711000" progId="Equation.DSMT4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B0AB3056-DCFF-48CD-B90C-E74712757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864" y="1636708"/>
                        <a:ext cx="1773179" cy="970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D24E41BA-8A0F-4A2D-BB6A-EE7899675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517147"/>
              </p:ext>
            </p:extLst>
          </p:nvPr>
        </p:nvGraphicFramePr>
        <p:xfrm>
          <a:off x="9033708" y="4266945"/>
          <a:ext cx="2170113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name="Equation" r:id="rId15" imgW="1562040" imgH="888840" progId="Equation.DSMT4">
                  <p:embed/>
                </p:oleObj>
              </mc:Choice>
              <mc:Fallback>
                <p:oleObj name="Equation" r:id="rId15" imgW="1562040" imgH="888840" progId="Equation.DSMT4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C1435ED4-13E0-470D-A122-93074D18A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3708" y="4266945"/>
                        <a:ext cx="2170113" cy="1243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DCB446CD-7D3B-4D64-B24E-0F28BC887C5D}"/>
              </a:ext>
            </a:extLst>
          </p:cNvPr>
          <p:cNvSpPr txBox="1"/>
          <p:nvPr/>
        </p:nvSpPr>
        <p:spPr>
          <a:xfrm>
            <a:off x="8613141" y="4703119"/>
            <a:ext cx="55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即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47F60DE0-88DB-4FC7-BA20-814344CD8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025" y="176213"/>
          <a:ext cx="8032750" cy="597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3" imgW="3543120" imgH="2120760" progId="Equation.DSMT4">
                  <p:embed/>
                </p:oleObj>
              </mc:Choice>
              <mc:Fallback>
                <p:oleObj name="Equation" r:id="rId3" imgW="3543120" imgH="2120760" progId="Equation.DSMT4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47F60DE0-88DB-4FC7-BA20-814344CD8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176213"/>
                        <a:ext cx="8032750" cy="597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>
            <a:extLst>
              <a:ext uri="{FF2B5EF4-FFF2-40B4-BE49-F238E27FC236}">
                <a16:creationId xmlns:a16="http://schemas.microsoft.com/office/drawing/2014/main" id="{924CA75C-F3C5-4BF0-93F2-C04074698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5" y="6129338"/>
            <a:ext cx="1017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latin typeface="Tahoma" panose="020B0604030504040204" pitchFamily="34" charset="0"/>
                <a:hlinkClick r:id="rId5" action="ppaction://hlinksldjump"/>
              </a:rPr>
              <a:t>BACK</a:t>
            </a:r>
            <a:endParaRPr kumimoji="1" lang="en-US" altLang="zh-CN" sz="24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20A6C3C-3444-414D-ABA3-EEDF38166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678114"/>
            <a:ext cx="81534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定理 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1.2</a:t>
            </a:r>
            <a:r>
              <a:rPr kumimoji="1" lang="en-US" altLang="zh-CN" sz="2800" b="1">
                <a:latin typeface="Tahoma" panose="020B0604030504040204" pitchFamily="34" charset="0"/>
              </a:rPr>
              <a:t> 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可逆矩阵经过有限次初等变换得到的矩阵仍然是可逆阵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.  (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  <a:hlinkClick r:id="" action="ppaction://noaction"/>
              </a:rPr>
              <a:t>证明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定理 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1.3</a:t>
            </a:r>
            <a:r>
              <a:rPr kumimoji="1" lang="en-US" altLang="zh-CN" sz="2800" b="1">
                <a:latin typeface="Tahoma" panose="020B0604030504040204" pitchFamily="34" charset="0"/>
              </a:rPr>
              <a:t> 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可逆矩阵可以经过有限次初等行变换化为单位阵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.</a:t>
            </a:r>
            <a:r>
              <a:rPr kumimoji="1" lang="en-US" altLang="zh-CN" sz="2000" b="1">
                <a:solidFill>
                  <a:srgbClr val="3333FF"/>
                </a:solidFill>
                <a:latin typeface="Tahoma" panose="020B0604030504040204" pitchFamily="34" charset="0"/>
              </a:rPr>
              <a:t>(P</a:t>
            </a:r>
            <a:r>
              <a:rPr kumimoji="1" lang="en-US" altLang="zh-CN" sz="2000" b="1" baseline="-25000">
                <a:solidFill>
                  <a:srgbClr val="3333FF"/>
                </a:solidFill>
                <a:latin typeface="Tahoma" panose="020B0604030504040204" pitchFamily="34" charset="0"/>
              </a:rPr>
              <a:t>14</a:t>
            </a:r>
            <a:r>
              <a:rPr kumimoji="1" lang="en-US" altLang="zh-CN" sz="2000" b="1">
                <a:solidFill>
                  <a:srgbClr val="3333FF"/>
                </a:solidFill>
                <a:latin typeface="Tahoma" panose="020B0604030504040204" pitchFamily="34" charset="0"/>
              </a:rPr>
              <a:t>) 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  <a:hlinkClick r:id="" action="ppaction://noaction"/>
              </a:rPr>
              <a:t>(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  <a:hlinkClick r:id="" action="ppaction://noaction"/>
              </a:rPr>
              <a:t>证明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  <a:hlinkClick r:id="" action="ppaction://noaction"/>
              </a:rPr>
              <a:t>)</a:t>
            </a:r>
            <a:endParaRPr kumimoji="1" lang="en-US" altLang="zh-CN" sz="2800" b="1">
              <a:solidFill>
                <a:srgbClr val="3333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定理 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1.4</a:t>
            </a:r>
            <a:r>
              <a:rPr kumimoji="1" lang="en-US" altLang="zh-CN" sz="2800" b="1">
                <a:latin typeface="Tahoma" panose="020B0604030504040204" pitchFamily="34" charset="0"/>
              </a:rPr>
              <a:t> 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方阵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为可逆阵的充分必要条件是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可以表示为有限个初等矩阵的乘积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.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（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  <a:hlinkClick r:id="" action="ppaction://noaction"/>
              </a:rPr>
              <a:t>证明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）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B1CEE71-B498-43E7-82A0-023F1E4E1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0714"/>
            <a:ext cx="8001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ahoma" panose="020B0604030504040204" pitchFamily="34" charset="0"/>
              </a:rPr>
              <a:t>一般地</a:t>
            </a:r>
            <a:r>
              <a:rPr kumimoji="1" lang="en-US" altLang="zh-CN" sz="2800" b="1">
                <a:latin typeface="Tahoma" panose="020B0604030504040204" pitchFamily="34" charset="0"/>
              </a:rPr>
              <a:t>,</a:t>
            </a:r>
            <a:r>
              <a:rPr kumimoji="1" lang="zh-CN" altLang="en-US" sz="2800" b="1">
                <a:latin typeface="Tahoma" panose="020B0604030504040204" pitchFamily="34" charset="0"/>
              </a:rPr>
              <a:t>矩阵</a:t>
            </a:r>
            <a:r>
              <a:rPr kumimoji="1" lang="en-US" altLang="zh-CN" sz="2800" b="1">
                <a:latin typeface="Tahoma" panose="020B0604030504040204" pitchFamily="34" charset="0"/>
              </a:rPr>
              <a:t>A</a:t>
            </a:r>
            <a:r>
              <a:rPr kumimoji="1" lang="zh-CN" altLang="en-US" sz="2800" b="1">
                <a:latin typeface="Tahoma" panose="020B0604030504040204" pitchFamily="34" charset="0"/>
              </a:rPr>
              <a:t>经过有限次初等变换后得到</a:t>
            </a:r>
            <a:r>
              <a:rPr kumimoji="1" lang="en-US" altLang="zh-CN" sz="2800" b="1">
                <a:latin typeface="Tahoma" panose="020B0604030504040204" pitchFamily="34" charset="0"/>
              </a:rPr>
              <a:t>B,</a:t>
            </a:r>
            <a:r>
              <a:rPr kumimoji="1" lang="zh-CN" altLang="en-US" sz="2800" b="1">
                <a:latin typeface="Tahoma" panose="020B0604030504040204" pitchFamily="34" charset="0"/>
              </a:rPr>
              <a:t>可以记为</a:t>
            </a:r>
            <a:r>
              <a:rPr kumimoji="1" lang="en-US" altLang="zh-CN" sz="2800" b="1">
                <a:latin typeface="Tahoma" panose="020B0604030504040204" pitchFamily="34" charset="0"/>
              </a:rPr>
              <a:t>B=PAQ, </a:t>
            </a:r>
            <a:r>
              <a:rPr kumimoji="1" lang="zh-CN" altLang="en-US" sz="2800" b="1">
                <a:latin typeface="Tahoma" panose="020B0604030504040204" pitchFamily="34" charset="0"/>
              </a:rPr>
              <a:t>其中</a:t>
            </a:r>
            <a:r>
              <a:rPr kumimoji="1" lang="en-US" altLang="zh-CN" sz="2800" b="1"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latin typeface="Tahoma" panose="020B0604030504040204" pitchFamily="34" charset="0"/>
              </a:rPr>
              <a:t>是有限次初等行变换所对应的初等矩阵的乘积</a:t>
            </a:r>
            <a:r>
              <a:rPr kumimoji="1" lang="en-US" altLang="zh-CN" sz="2800" b="1">
                <a:latin typeface="Tahoma" panose="020B0604030504040204" pitchFamily="34" charset="0"/>
              </a:rPr>
              <a:t>, Q</a:t>
            </a:r>
            <a:r>
              <a:rPr kumimoji="1" lang="zh-CN" altLang="en-US" sz="2800" b="1">
                <a:latin typeface="Tahoma" panose="020B0604030504040204" pitchFamily="34" charset="0"/>
              </a:rPr>
              <a:t>是有限次初等列变换所对应的初等矩阵的乘积</a:t>
            </a:r>
            <a:r>
              <a:rPr kumimoji="1" lang="en-US" altLang="zh-CN" sz="2800" b="1">
                <a:latin typeface="Tahoma" panose="020B0604030504040204" pitchFamily="34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731010" y="59056"/>
            <a:ext cx="8229600" cy="8261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sz="3600" dirty="0">
                <a:sym typeface="+mn-ea"/>
              </a:rPr>
              <a:t> 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15466" y="1012190"/>
            <a:ext cx="709104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题1</a:t>
            </a:r>
            <a:r>
              <a:rPr lang="en-US" altLang="zh-CN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为什么要化简矩阵？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化简到什么矩阵最简单？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731009" y="2277110"/>
            <a:ext cx="7853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用简单矩阵研究复杂矩阵的性质！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研究矩阵的三类数字特征（行列式，秩，特征值）！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91666" y="3733801"/>
            <a:ext cx="87763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三种重要矩阵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行阶梯形矩阵；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最简行阶梯型矩阵；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等价标准形。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731010" y="59056"/>
            <a:ext cx="8229600" cy="8261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sz="3600" dirty="0">
                <a:sym typeface="+mn-ea"/>
              </a:rPr>
              <a:t> 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29485" y="3985896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行阶梯形矩阵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918336" y="885190"/>
            <a:ext cx="83559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定义2.7.1  设矩阵      满足：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每行第一个非零元前面零元素的个数随着行数的增加严格递增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如果某行元素全为零，则该行下方各行元素都为零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则称矩阵      是</a:t>
            </a:r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行阶梯形矩阵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69436" y="1097281"/>
          <a:ext cx="550545" cy="400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r:id="rId4" imgW="279400" imgH="203200" progId="Equation.KSEE3">
                  <p:embed/>
                </p:oleObj>
              </mc:Choice>
              <mc:Fallback>
                <p:oleObj r:id="rId4" imgW="279400" imgH="203200" progId="Equation.KSEE3">
                  <p:embed/>
                  <p:pic>
                    <p:nvPicPr>
                      <p:cNvPr id="16" name="对象 1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69436" y="1097281"/>
                        <a:ext cx="550545" cy="400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44851" y="3295651"/>
          <a:ext cx="52768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r:id="rId6" imgW="279400" imgH="203200" progId="Equation.KSEE3">
                  <p:embed/>
                </p:oleObj>
              </mc:Choice>
              <mc:Fallback>
                <p:oleObj r:id="rId6" imgW="279400" imgH="203200" progId="Equation.KSEE3">
                  <p:embed/>
                  <p:pic>
                    <p:nvPicPr>
                      <p:cNvPr id="18" name="对象 1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44851" y="3295651"/>
                        <a:ext cx="527685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24F34CE2-AAC7-4E49-852E-434F62A9C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71857"/>
              </p:ext>
            </p:extLst>
          </p:nvPr>
        </p:nvGraphicFramePr>
        <p:xfrm>
          <a:off x="2175107" y="4663886"/>
          <a:ext cx="2194329" cy="176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Equation" r:id="rId7" imgW="1143000" imgH="914400" progId="Equation.DSMT4">
                  <p:embed/>
                </p:oleObj>
              </mc:Choice>
              <mc:Fallback>
                <p:oleObj name="Equation" r:id="rId7" imgW="1143000" imgH="914400" progId="Equation.DSMT4">
                  <p:embed/>
                  <p:pic>
                    <p:nvPicPr>
                      <p:cNvPr id="31755" name="Object 11">
                        <a:extLst>
                          <a:ext uri="{FF2B5EF4-FFF2-40B4-BE49-F238E27FC236}">
                            <a16:creationId xmlns:a16="http://schemas.microsoft.com/office/drawing/2014/main" id="{5432699E-21D5-4167-A156-F78E30EBA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07" y="4663886"/>
                        <a:ext cx="2194329" cy="1763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BC2EE40-D5DE-4F9A-BFB7-1AB09CF5E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457512"/>
              </p:ext>
            </p:extLst>
          </p:nvPr>
        </p:nvGraphicFramePr>
        <p:xfrm>
          <a:off x="5347544" y="4663885"/>
          <a:ext cx="2194329" cy="176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Equation" r:id="rId9" imgW="1143000" imgH="914400" progId="Equation.DSMT4">
                  <p:embed/>
                </p:oleObj>
              </mc:Choice>
              <mc:Fallback>
                <p:oleObj name="Equation" r:id="rId9" imgW="1143000" imgH="91440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24F34CE2-AAC7-4E49-852E-434F62A9C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7544" y="4663885"/>
                        <a:ext cx="2194329" cy="1763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662430" y="1"/>
            <a:ext cx="8229600" cy="8261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sz="3600" dirty="0">
                <a:sym typeface="+mn-ea"/>
              </a:rPr>
              <a:t> 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84656" y="1002031"/>
            <a:ext cx="91890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定义2.7.2  设矩阵       满足：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      是行阶梯形矩阵；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       中每行第一非零元为1，且所在的列的其他元素都为零，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则称此矩阵是</a:t>
            </a: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行最简形矩阵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32381" y="1711961"/>
          <a:ext cx="55435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r:id="rId4" imgW="279400" imgH="203200" progId="Equation.KSEE3">
                  <p:embed/>
                </p:oleObj>
              </mc:Choice>
              <mc:Fallback>
                <p:oleObj r:id="rId4" imgW="279400" imgH="203200" progId="Equation.KSEE3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32381" y="1711961"/>
                        <a:ext cx="55435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96516" y="2303146"/>
          <a:ext cx="55435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r:id="rId6" imgW="279400" imgH="203200" progId="Equation.KSEE3">
                  <p:embed/>
                </p:oleObj>
              </mc:Choice>
              <mc:Fallback>
                <p:oleObj r:id="rId6" imgW="279400" imgH="203200" progId="Equation.KSEE3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6516" y="2303146"/>
                        <a:ext cx="55435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38956" y="1174751"/>
          <a:ext cx="55435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r:id="rId7" imgW="279400" imgH="203200" progId="Equation.KSEE3">
                  <p:embed/>
                </p:oleObj>
              </mc:Choice>
              <mc:Fallback>
                <p:oleObj r:id="rId7" imgW="279400" imgH="203200" progId="Equation.KSEE3">
                  <p:embed/>
                  <p:pic>
                    <p:nvPicPr>
                      <p:cNvPr id="1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8956" y="1174751"/>
                        <a:ext cx="55435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8E6063C2-466A-4B13-B98C-4F9A8B9B8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813307"/>
              </p:ext>
            </p:extLst>
          </p:nvPr>
        </p:nvGraphicFramePr>
        <p:xfrm>
          <a:off x="1989571" y="3824987"/>
          <a:ext cx="2194329" cy="176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Equation" r:id="rId8" imgW="1143000" imgH="914400" progId="Equation.DSMT4">
                  <p:embed/>
                </p:oleObj>
              </mc:Choice>
              <mc:Fallback>
                <p:oleObj name="Equation" r:id="rId8" imgW="1143000" imgH="91440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24F34CE2-AAC7-4E49-852E-434F62A9C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571" y="3824987"/>
                        <a:ext cx="2194329" cy="1763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615E0F92-6443-4443-94C7-C4F072ACA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35244"/>
              </p:ext>
            </p:extLst>
          </p:nvPr>
        </p:nvGraphicFramePr>
        <p:xfrm>
          <a:off x="5631791" y="3824987"/>
          <a:ext cx="2194329" cy="176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Equation" r:id="rId10" imgW="1143000" imgH="914400" progId="Equation.DSMT4">
                  <p:embed/>
                </p:oleObj>
              </mc:Choice>
              <mc:Fallback>
                <p:oleObj name="Equation" r:id="rId10" imgW="1143000" imgH="91440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8E6063C2-466A-4B13-B98C-4F9A8B9B89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1791" y="3824987"/>
                        <a:ext cx="2194329" cy="1763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23CAE8F-31F5-4E4A-B399-D67B5D72CA8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5365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153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FD8B6E-8263-4F40-A763-44933E498A62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498989"/>
              </p:ext>
            </p:extLst>
          </p:nvPr>
        </p:nvGraphicFramePr>
        <p:xfrm>
          <a:off x="1212850" y="1174750"/>
          <a:ext cx="6815138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" imgW="3009600" imgH="1168200" progId="Equation.DSMT4">
                  <p:embed/>
                </p:oleObj>
              </mc:Choice>
              <mc:Fallback>
                <p:oleObj name="Equation" r:id="rId3" imgW="3009600" imgH="1168200" progId="Equation.DSMT4">
                  <p:embed/>
                  <p:pic>
                    <p:nvPicPr>
                      <p:cNvPr id="63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1174750"/>
                        <a:ext cx="6815138" cy="264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227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CEF75-420F-4005-9FC6-01BF1147313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6388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163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3DC58F-E124-45BA-A2AF-C8E49E82E14D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51057"/>
              </p:ext>
            </p:extLst>
          </p:nvPr>
        </p:nvGraphicFramePr>
        <p:xfrm>
          <a:off x="1808163" y="260350"/>
          <a:ext cx="6919912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3" imgW="3949560" imgH="2006280" progId="Equation.DSMT4">
                  <p:embed/>
                </p:oleObj>
              </mc:Choice>
              <mc:Fallback>
                <p:oleObj name="Equation" r:id="rId3" imgW="3949560" imgH="2006280" progId="Equation.DSMT4">
                  <p:embed/>
                  <p:pic>
                    <p:nvPicPr>
                      <p:cNvPr id="808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260350"/>
                        <a:ext cx="6919912" cy="351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7303" y="260350"/>
            <a:ext cx="96179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54383" y="3906960"/>
            <a:ext cx="737369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现在已经将化为了行阶梯型矩阵，下面继续用初等行变换化为行最简型矩阵</a:t>
            </a:r>
          </a:p>
        </p:txBody>
      </p:sp>
    </p:spTree>
    <p:extLst>
      <p:ext uri="{BB962C8B-B14F-4D97-AF65-F5344CB8AC3E}">
        <p14:creationId xmlns:p14="http://schemas.microsoft.com/office/powerpoint/2010/main" val="203729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F57114-CA60-4EC6-919A-4F8A4493B77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13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174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2C36D0-9448-4CBC-8DCD-0CD5A03799BE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graphicFrame>
        <p:nvGraphicFramePr>
          <p:cNvPr id="839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033617"/>
              </p:ext>
            </p:extLst>
          </p:nvPr>
        </p:nvGraphicFramePr>
        <p:xfrm>
          <a:off x="1727200" y="260350"/>
          <a:ext cx="59309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3" imgW="3733560" imgH="1066680" progId="Equation.DSMT4">
                  <p:embed/>
                </p:oleObj>
              </mc:Choice>
              <mc:Fallback>
                <p:oleObj name="Equation" r:id="rId3" imgW="3733560" imgH="1066680" progId="Equation.DSMT4">
                  <p:embed/>
                  <p:pic>
                    <p:nvPicPr>
                      <p:cNvPr id="839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60350"/>
                        <a:ext cx="59309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963013"/>
              </p:ext>
            </p:extLst>
          </p:nvPr>
        </p:nvGraphicFramePr>
        <p:xfrm>
          <a:off x="1820007" y="2170112"/>
          <a:ext cx="338455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5" imgW="1739880" imgH="914400" progId="Equation.DSMT4">
                  <p:embed/>
                </p:oleObj>
              </mc:Choice>
              <mc:Fallback>
                <p:oleObj name="Equation" r:id="rId5" imgW="1739880" imgH="914400" progId="Equation.DSMT4">
                  <p:embed/>
                  <p:pic>
                    <p:nvPicPr>
                      <p:cNvPr id="829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007" y="2170112"/>
                        <a:ext cx="338455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033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CEF75-420F-4005-9FC6-01BF1147313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6388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Spring 2010, 17ppt</a:t>
            </a:r>
          </a:p>
        </p:txBody>
      </p:sp>
      <p:sp>
        <p:nvSpPr>
          <p:cNvPr id="163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3DC58F-E124-45BA-A2AF-C8E49E82E14D}" type="slidenum">
              <a:rPr lang="en-US" altLang="zh-CN"/>
              <a:pPr eaLnBrk="1" hangingPunct="1"/>
              <a:t>20</a:t>
            </a:fld>
            <a:endParaRPr lang="en-US" altLang="zh-CN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9786" y="105549"/>
            <a:ext cx="84843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用初等行变换将矩阵化为行最简型矩阵的基本方法：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769125-90A5-48F8-B2C7-CCAC47959BAB}"/>
              </a:ext>
            </a:extLst>
          </p:cNvPr>
          <p:cNvSpPr/>
          <p:nvPr/>
        </p:nvSpPr>
        <p:spPr>
          <a:xfrm>
            <a:off x="239786" y="608942"/>
            <a:ext cx="10893490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(1)</a:t>
            </a:r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FF0000"/>
                </a:solidFill>
              </a:rPr>
              <a:t>初等行变换</a:t>
            </a:r>
            <a:r>
              <a:rPr lang="zh-CN" altLang="en-US" sz="2800" b="1" dirty="0"/>
              <a:t>，先</a:t>
            </a:r>
            <a:r>
              <a:rPr lang="zh-CN" altLang="en-US" sz="2800" b="1" dirty="0">
                <a:solidFill>
                  <a:srgbClr val="FF0000"/>
                </a:solidFill>
              </a:rPr>
              <a:t>把第一列化为行阶梯型矩阵的第一列</a:t>
            </a:r>
            <a:r>
              <a:rPr lang="zh-CN" altLang="en-US" sz="2800" b="1" dirty="0"/>
              <a:t>，再</a:t>
            </a:r>
            <a:r>
              <a:rPr lang="zh-CN" altLang="en-US" sz="2800" b="1" dirty="0">
                <a:solidFill>
                  <a:srgbClr val="FF0000"/>
                </a:solidFill>
              </a:rPr>
              <a:t>把第二列化为行阶梯型矩阵的第二列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...</a:t>
            </a:r>
            <a:r>
              <a:rPr lang="zh-CN" altLang="en-US" sz="2800" b="1" dirty="0"/>
              <a:t>；得到</a:t>
            </a:r>
            <a:r>
              <a:rPr lang="zh-CN" altLang="en-US" sz="2800" b="1" dirty="0">
                <a:solidFill>
                  <a:srgbClr val="FF0000"/>
                </a:solidFill>
              </a:rPr>
              <a:t>行阶梯型矩阵</a:t>
            </a:r>
            <a:r>
              <a:rPr lang="zh-CN" altLang="en-US" sz="2800" b="1" dirty="0"/>
              <a:t>；</a:t>
            </a:r>
            <a:endParaRPr lang="en-US" altLang="zh-CN" sz="28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DD2217-791F-4236-85ED-2D494138A67B}"/>
              </a:ext>
            </a:extLst>
          </p:cNvPr>
          <p:cNvSpPr/>
          <p:nvPr/>
        </p:nvSpPr>
        <p:spPr>
          <a:xfrm>
            <a:off x="332791" y="1928278"/>
            <a:ext cx="11021009" cy="1319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(2)</a:t>
            </a:r>
            <a:r>
              <a:rPr lang="zh-CN" altLang="en-US" sz="2800" b="1" dirty="0"/>
              <a:t> 在得到的行阶梯型矩阵中，每个非零行向量乘以适当的倍数，可以得到</a:t>
            </a:r>
            <a:r>
              <a:rPr lang="zh-CN" altLang="en-US" sz="2800" b="1" dirty="0">
                <a:solidFill>
                  <a:srgbClr val="FF0000"/>
                </a:solidFill>
              </a:rPr>
              <a:t>每个非零行向量第一个非零元素为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的行阶梯型矩阵</a:t>
            </a:r>
            <a:r>
              <a:rPr lang="zh-CN" altLang="en-US" sz="2800" b="1" dirty="0"/>
              <a:t>；</a:t>
            </a:r>
            <a:endParaRPr lang="en-US" altLang="zh-CN" sz="28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FC3BC0-DAA8-4BB4-B942-230103D9C85B}"/>
              </a:ext>
            </a:extLst>
          </p:cNvPr>
          <p:cNvSpPr/>
          <p:nvPr/>
        </p:nvSpPr>
        <p:spPr>
          <a:xfrm>
            <a:off x="332791" y="3097462"/>
            <a:ext cx="11276045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(3)</a:t>
            </a:r>
            <a:r>
              <a:rPr lang="zh-CN" altLang="en-US" sz="2800" b="1" dirty="0"/>
              <a:t> 将</a:t>
            </a:r>
            <a:r>
              <a:rPr lang="zh-CN" altLang="en-US" sz="2800" b="1" dirty="0">
                <a:solidFill>
                  <a:srgbClr val="FF0000"/>
                </a:solidFill>
              </a:rPr>
              <a:t>最后一行非零行向量分别乘以适当倍数</a:t>
            </a:r>
            <a:r>
              <a:rPr lang="zh-CN" altLang="en-US" sz="2800" b="1" dirty="0"/>
              <a:t>，分别</a:t>
            </a:r>
            <a:r>
              <a:rPr lang="zh-CN" altLang="en-US" sz="2800" b="1" dirty="0">
                <a:solidFill>
                  <a:srgbClr val="FF0000"/>
                </a:solidFill>
              </a:rPr>
              <a:t>加到其上面每一行</a:t>
            </a:r>
            <a:r>
              <a:rPr lang="zh-CN" altLang="en-US" sz="2800" b="1" dirty="0"/>
              <a:t>，将</a:t>
            </a:r>
            <a:r>
              <a:rPr lang="zh-CN" altLang="en-US" sz="2800" b="1" dirty="0">
                <a:solidFill>
                  <a:srgbClr val="FF0000"/>
                </a:solidFill>
              </a:rPr>
              <a:t>最后一个非零行向量中第一个非零元素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所在列的上面每个元素化为零</a:t>
            </a:r>
            <a:r>
              <a:rPr lang="zh-CN" altLang="en-US" sz="2800" b="1" dirty="0"/>
              <a:t>；将</a:t>
            </a:r>
            <a:r>
              <a:rPr lang="zh-CN" altLang="en-US" sz="2800" b="1" dirty="0">
                <a:solidFill>
                  <a:srgbClr val="FF0000"/>
                </a:solidFill>
              </a:rPr>
              <a:t>倒数第二行非零行向量分别乘以适当倍数</a:t>
            </a:r>
            <a:r>
              <a:rPr lang="zh-CN" altLang="en-US" sz="2800" b="1" dirty="0"/>
              <a:t>，分别</a:t>
            </a:r>
            <a:r>
              <a:rPr lang="zh-CN" altLang="en-US" sz="2800" b="1" dirty="0">
                <a:solidFill>
                  <a:srgbClr val="FF0000"/>
                </a:solidFill>
              </a:rPr>
              <a:t>加到其上面每一行</a:t>
            </a:r>
            <a:r>
              <a:rPr lang="zh-CN" altLang="en-US" sz="2800" b="1" dirty="0"/>
              <a:t>，将</a:t>
            </a:r>
            <a:r>
              <a:rPr lang="zh-CN" altLang="en-US" sz="2800" b="1" dirty="0">
                <a:solidFill>
                  <a:srgbClr val="FF0000"/>
                </a:solidFill>
              </a:rPr>
              <a:t>倒数第二个非零行向量中第一个非零元素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所在列的上面每个元素化为零</a:t>
            </a:r>
            <a:r>
              <a:rPr lang="zh-CN" altLang="en-US" sz="2800" b="1" dirty="0"/>
              <a:t>；</a:t>
            </a:r>
            <a:r>
              <a:rPr lang="en-US" altLang="zh-CN" sz="2800" b="1" dirty="0"/>
              <a:t>…</a:t>
            </a:r>
            <a:r>
              <a:rPr lang="zh-CN" altLang="en-US" sz="2800" b="1" dirty="0"/>
              <a:t>；得到</a:t>
            </a:r>
            <a:r>
              <a:rPr lang="zh-CN" altLang="en-US" sz="2800" b="1" dirty="0">
                <a:solidFill>
                  <a:srgbClr val="FF0000"/>
                </a:solidFill>
              </a:rPr>
              <a:t>行最简型矩阵</a:t>
            </a:r>
            <a:r>
              <a:rPr lang="en-US" altLang="zh-CN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41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731010" y="59056"/>
            <a:ext cx="8229600" cy="8261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sz="3600" dirty="0">
                <a:sym typeface="+mn-ea"/>
              </a:rPr>
              <a:t> 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9751" y="1136650"/>
            <a:ext cx="7480935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定义2.7.3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对矩阵</a:t>
            </a:r>
            <a:r>
              <a:rPr lang="en-US" altLang="zh-CN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施行有限次初等变换得到矩阵</a:t>
            </a:r>
            <a:r>
              <a:rPr lang="en-US" altLang="zh-CN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，则称矩阵</a:t>
            </a:r>
            <a:r>
              <a:rPr lang="en-US" altLang="zh-CN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与矩阵</a:t>
            </a:r>
            <a:r>
              <a:rPr lang="en-US" altLang="zh-CN" sz="2400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等价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，记作          。</a:t>
            </a: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72200" y="1865630"/>
          <a:ext cx="90297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r:id="rId4" imgW="381000" imgH="152400" progId="Equation.KSEE3">
                  <p:embed/>
                </p:oleObj>
              </mc:Choice>
              <mc:Fallback>
                <p:oleObj r:id="rId4" imgW="381000" imgH="152400" progId="Equation.KSEE3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72200" y="1865630"/>
                        <a:ext cx="902970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938656" y="2844165"/>
            <a:ext cx="810069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定义2.7.4 矩阵      的等价标准形为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记作              。</a:t>
            </a:r>
          </a:p>
          <a:p>
            <a:pPr>
              <a:lnSpc>
                <a:spcPct val="150000"/>
              </a:lnSpc>
            </a:pP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定理2.7.1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每一个矩阵都有唯一的等价标准形。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43046" y="2987676"/>
          <a:ext cx="550545" cy="400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r:id="rId6" imgW="279400" imgH="203200" progId="Equation.KSEE3">
                  <p:embed/>
                </p:oleObj>
              </mc:Choice>
              <mc:Fallback>
                <p:oleObj r:id="rId6" imgW="279400" imgH="203200" progId="Equation.KSEE3">
                  <p:embed/>
                  <p:pic>
                    <p:nvPicPr>
                      <p:cNvPr id="1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43046" y="2987676"/>
                        <a:ext cx="550545" cy="400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794500" y="2120265"/>
          <a:ext cx="2957830" cy="232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r:id="rId8" imgW="1892300" imgH="1485900" progId="Equation.KSEE3">
                  <p:embed/>
                </p:oleObj>
              </mc:Choice>
              <mc:Fallback>
                <p:oleObj r:id="rId8" imgW="1892300" imgH="1485900" progId="Equation.KSEE3">
                  <p:embed/>
                  <p:pic>
                    <p:nvPicPr>
                      <p:cNvPr id="12" name="对象 1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94500" y="2120265"/>
                        <a:ext cx="2957830" cy="2322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09229" y="4092575"/>
          <a:ext cx="117411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r:id="rId10" imgW="495300" imgH="203200" progId="Equation.KSEE3">
                  <p:embed/>
                </p:oleObj>
              </mc:Choice>
              <mc:Fallback>
                <p:oleObj r:id="rId10" imgW="495300" imgH="203200" progId="Equation.KSEE3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09229" y="4092575"/>
                        <a:ext cx="117411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2070735" y="5963921"/>
            <a:ext cx="5980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：单位矩阵与标准形的关系？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731010" y="59055"/>
            <a:ext cx="8229600" cy="61214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矩阵的化简与三种重要矩阵</a:t>
            </a:r>
            <a:r>
              <a:rPr lang="zh-CN" altLang="en-US" sz="3600" dirty="0">
                <a:sym typeface="+mn-ea"/>
              </a:rPr>
              <a:t> 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32281" y="756286"/>
            <a:ext cx="86417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例2.7.2  用初等变换方法求矩阵的等价标准形 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679576" y="1320166"/>
            <a:ext cx="68281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利用初等行变换先将矩阵化简为行最简形矩阵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24051" y="4042411"/>
            <a:ext cx="70211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接下来用初等列变换进一步化简为等价标准形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751330" y="5664200"/>
            <a:ext cx="8503920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 矩阵的化简对于判断向量的线性关系，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解线性方程组以及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研究矩阵的数字特征等问题起着极为重要的作用。</a:t>
            </a: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616F3679-DB61-4341-8454-F50059D52D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264150"/>
              </p:ext>
            </p:extLst>
          </p:nvPr>
        </p:nvGraphicFramePr>
        <p:xfrm>
          <a:off x="8405098" y="290519"/>
          <a:ext cx="1898605" cy="1135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Equation" r:id="rId4" imgW="1536480" imgH="914400" progId="Equation.DSMT4">
                  <p:embed/>
                </p:oleObj>
              </mc:Choice>
              <mc:Fallback>
                <p:oleObj name="Equation" r:id="rId4" imgW="1536480" imgH="914400" progId="Equation.DSMT4">
                  <p:embed/>
                  <p:pic>
                    <p:nvPicPr>
                      <p:cNvPr id="31755" name="Object 11">
                        <a:extLst>
                          <a:ext uri="{FF2B5EF4-FFF2-40B4-BE49-F238E27FC236}">
                            <a16:creationId xmlns:a16="http://schemas.microsoft.com/office/drawing/2014/main" id="{5432699E-21D5-4167-A156-F78E30EBA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098" y="290519"/>
                        <a:ext cx="1898605" cy="11350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6106AC9D-8FB2-4D28-8863-6BB8892CE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09569"/>
              </p:ext>
            </p:extLst>
          </p:nvPr>
        </p:nvGraphicFramePr>
        <p:xfrm>
          <a:off x="2061252" y="1865632"/>
          <a:ext cx="8069496" cy="105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Equation" r:id="rId6" imgW="7048440" imgH="914400" progId="Equation.DSMT4">
                  <p:embed/>
                </p:oleObj>
              </mc:Choice>
              <mc:Fallback>
                <p:oleObj name="Equation" r:id="rId6" imgW="7048440" imgH="91440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616F3679-DB61-4341-8454-F50059D52D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252" y="1865632"/>
                        <a:ext cx="8069496" cy="1052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B528B933-B751-4F6E-B17F-1628AC3D84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066572"/>
              </p:ext>
            </p:extLst>
          </p:nvPr>
        </p:nvGraphicFramePr>
        <p:xfrm>
          <a:off x="1639322" y="2988890"/>
          <a:ext cx="9741998" cy="103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0" name="Equation" r:id="rId8" imgW="8623080" imgH="914400" progId="Equation.DSMT4">
                  <p:embed/>
                </p:oleObj>
              </mc:Choice>
              <mc:Fallback>
                <p:oleObj name="Equation" r:id="rId8" imgW="8623080" imgH="91440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6106AC9D-8FB2-4D28-8863-6BB8892CE8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322" y="2988890"/>
                        <a:ext cx="9741998" cy="10385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D1116B9F-4FBF-450B-8FE8-A215E669D5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8707"/>
              </p:ext>
            </p:extLst>
          </p:nvPr>
        </p:nvGraphicFramePr>
        <p:xfrm>
          <a:off x="2061251" y="4517724"/>
          <a:ext cx="7762379" cy="114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10" imgW="6222960" imgH="914400" progId="Equation.DSMT4">
                  <p:embed/>
                </p:oleObj>
              </mc:Choice>
              <mc:Fallback>
                <p:oleObj name="Equation" r:id="rId10" imgW="6222960" imgH="91440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B528B933-B751-4F6E-B17F-1628AC3D84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251" y="4517724"/>
                        <a:ext cx="7762379" cy="11464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/>
              <a:t>六、作业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205336" y="1600200"/>
            <a:ext cx="5122912" cy="26208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>
                <a:solidFill>
                  <a:srgbClr val="0000FF"/>
                </a:solidFill>
              </a:rPr>
              <a:t>P39 </a:t>
            </a:r>
            <a:r>
              <a:rPr lang="zh-CN" altLang="en-US" sz="3600">
                <a:solidFill>
                  <a:srgbClr val="0000FF"/>
                </a:solidFill>
              </a:rPr>
              <a:t>作业</a:t>
            </a:r>
            <a:r>
              <a:rPr lang="en-US" altLang="zh-CN" sz="3600">
                <a:solidFill>
                  <a:srgbClr val="0000FF"/>
                </a:solidFill>
              </a:rPr>
              <a:t>2.5  1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>
                <a:solidFill>
                  <a:srgbClr val="0000FF"/>
                </a:solidFill>
              </a:rPr>
              <a:t>P42 </a:t>
            </a:r>
            <a:r>
              <a:rPr lang="zh-CN" altLang="en-US" sz="3600">
                <a:solidFill>
                  <a:srgbClr val="0000FF"/>
                </a:solidFill>
              </a:rPr>
              <a:t>作业</a:t>
            </a:r>
            <a:r>
              <a:rPr lang="en-US" altLang="zh-CN" sz="3600">
                <a:solidFill>
                  <a:srgbClr val="0000FF"/>
                </a:solidFill>
              </a:rPr>
              <a:t>2.6  3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>
                <a:solidFill>
                  <a:srgbClr val="0000FF"/>
                </a:solidFill>
              </a:rPr>
              <a:t>P44 </a:t>
            </a:r>
            <a:r>
              <a:rPr lang="zh-CN" altLang="en-US" sz="3600">
                <a:solidFill>
                  <a:srgbClr val="0000FF"/>
                </a:solidFill>
              </a:rPr>
              <a:t>作业</a:t>
            </a:r>
            <a:r>
              <a:rPr lang="en-US" altLang="zh-CN" sz="3600">
                <a:solidFill>
                  <a:srgbClr val="0000FF"/>
                </a:solidFill>
              </a:rPr>
              <a:t>2.7  1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1734</Words>
  <Application>Microsoft Office PowerPoint</Application>
  <PresentationFormat>宽屏</PresentationFormat>
  <Paragraphs>190</Paragraphs>
  <Slides>23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等线</vt:lpstr>
      <vt:lpstr>等线 Light</vt:lpstr>
      <vt:lpstr>黑体</vt:lpstr>
      <vt:lpstr>楷体_GB2312</vt:lpstr>
      <vt:lpstr>隶书</vt:lpstr>
      <vt:lpstr>宋体</vt:lpstr>
      <vt:lpstr>微软雅黑</vt:lpstr>
      <vt:lpstr>Arial</vt:lpstr>
      <vt:lpstr>Symbol</vt:lpstr>
      <vt:lpstr>Tahoma</vt:lpstr>
      <vt:lpstr>Times New Roman</vt:lpstr>
      <vt:lpstr>Wingdings</vt:lpstr>
      <vt:lpstr>Office 主题​​</vt:lpstr>
      <vt:lpstr>MathType 5.0 Equation</vt:lpstr>
      <vt:lpstr>WPS 公式 3.0</vt:lpstr>
      <vt:lpstr>Office12.wps.Document.8</vt:lpstr>
      <vt:lpstr>Equation</vt:lpstr>
      <vt:lpstr>第五讲  初等变换与初等矩阵，三类重要矩阵</vt:lpstr>
      <vt:lpstr>一、矩阵的初等变换</vt:lpstr>
      <vt:lpstr>一、矩阵的初等变换</vt:lpstr>
      <vt:lpstr>一、矩阵的初等变换</vt:lpstr>
      <vt:lpstr>二、初等矩阵</vt:lpstr>
      <vt:lpstr>初等矩阵</vt:lpstr>
      <vt:lpstr>PowerPoint 演示文稿</vt:lpstr>
      <vt:lpstr>PowerPoint 演示文稿</vt:lpstr>
      <vt:lpstr>PowerPoint 演示文稿</vt:lpstr>
      <vt:lpstr>二、初等矩阵</vt:lpstr>
      <vt:lpstr>PowerPoint 演示文稿</vt:lpstr>
      <vt:lpstr>PowerPoint 演示文稿</vt:lpstr>
      <vt:lpstr>PowerPoint 演示文稿</vt:lpstr>
      <vt:lpstr>三、矩阵的化简与三种重要矩阵 </vt:lpstr>
      <vt:lpstr>三、矩阵的化简与三种重要矩阵 </vt:lpstr>
      <vt:lpstr>三、矩阵的化简与三种重要矩阵 </vt:lpstr>
      <vt:lpstr>PowerPoint 演示文稿</vt:lpstr>
      <vt:lpstr>PowerPoint 演示文稿</vt:lpstr>
      <vt:lpstr>PowerPoint 演示文稿</vt:lpstr>
      <vt:lpstr>PowerPoint 演示文稿</vt:lpstr>
      <vt:lpstr>三、矩阵的化简与三种重要矩阵 </vt:lpstr>
      <vt:lpstr>三、矩阵的化简与三种重要矩阵 </vt:lpstr>
      <vt:lpstr>六、作业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彭</dc:creator>
  <cp:lastModifiedBy>Administrator</cp:lastModifiedBy>
  <cp:revision>24</cp:revision>
  <dcterms:created xsi:type="dcterms:W3CDTF">2021-01-07T02:46:32Z</dcterms:created>
  <dcterms:modified xsi:type="dcterms:W3CDTF">2025-02-28T09:58:06Z</dcterms:modified>
</cp:coreProperties>
</file>