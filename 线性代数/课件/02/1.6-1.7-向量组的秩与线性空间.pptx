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7"/>
  </p:notesMasterIdLst>
  <p:sldIdLst>
    <p:sldId id="256" r:id="rId2"/>
    <p:sldId id="258" r:id="rId3"/>
    <p:sldId id="276" r:id="rId4"/>
    <p:sldId id="277" r:id="rId5"/>
    <p:sldId id="278" r:id="rId6"/>
    <p:sldId id="279" r:id="rId7"/>
    <p:sldId id="280" r:id="rId8"/>
    <p:sldId id="316" r:id="rId9"/>
    <p:sldId id="323" r:id="rId10"/>
    <p:sldId id="317" r:id="rId11"/>
    <p:sldId id="320" r:id="rId12"/>
    <p:sldId id="321" r:id="rId13"/>
    <p:sldId id="322" r:id="rId14"/>
    <p:sldId id="281" r:id="rId15"/>
    <p:sldId id="282" r:id="rId16"/>
    <p:sldId id="283" r:id="rId17"/>
    <p:sldId id="284" r:id="rId18"/>
    <p:sldId id="264" r:id="rId19"/>
    <p:sldId id="285" r:id="rId20"/>
    <p:sldId id="286" r:id="rId21"/>
    <p:sldId id="287" r:id="rId22"/>
    <p:sldId id="288" r:id="rId23"/>
    <p:sldId id="289" r:id="rId24"/>
    <p:sldId id="290" r:id="rId25"/>
    <p:sldId id="272" r:id="rId2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25" autoAdjust="0"/>
  </p:normalViewPr>
  <p:slideViewPr>
    <p:cSldViewPr>
      <p:cViewPr varScale="1">
        <p:scale>
          <a:sx n="66" d="100"/>
          <a:sy n="66" d="100"/>
        </p:scale>
        <p:origin x="19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28.w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54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12" Type="http://schemas.openxmlformats.org/officeDocument/2006/relationships/image" Target="../media/image53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52.wmf"/><Relationship Id="rId5" Type="http://schemas.openxmlformats.org/officeDocument/2006/relationships/image" Target="../media/image46.wmf"/><Relationship Id="rId10" Type="http://schemas.openxmlformats.org/officeDocument/2006/relationships/image" Target="../media/image5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Relationship Id="rId14" Type="http://schemas.openxmlformats.org/officeDocument/2006/relationships/image" Target="../media/image5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11" Type="http://schemas.openxmlformats.org/officeDocument/2006/relationships/image" Target="../media/image66.wmf"/><Relationship Id="rId5" Type="http://schemas.openxmlformats.org/officeDocument/2006/relationships/image" Target="../media/image60.wmf"/><Relationship Id="rId10" Type="http://schemas.openxmlformats.org/officeDocument/2006/relationships/image" Target="../media/image65.wmf"/><Relationship Id="rId4" Type="http://schemas.openxmlformats.org/officeDocument/2006/relationships/image" Target="../media/image59.wmf"/><Relationship Id="rId9" Type="http://schemas.openxmlformats.org/officeDocument/2006/relationships/image" Target="../media/image6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4" Type="http://schemas.openxmlformats.org/officeDocument/2006/relationships/image" Target="../media/image7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4" Type="http://schemas.openxmlformats.org/officeDocument/2006/relationships/image" Target="../media/image7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7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7" Type="http://schemas.openxmlformats.org/officeDocument/2006/relationships/image" Target="../media/image84.wmf"/><Relationship Id="rId2" Type="http://schemas.openxmlformats.org/officeDocument/2006/relationships/image" Target="../media/image79.wmf"/><Relationship Id="rId1" Type="http://schemas.openxmlformats.org/officeDocument/2006/relationships/image" Target="../media/image2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image" Target="../media/image92.wmf"/><Relationship Id="rId7" Type="http://schemas.openxmlformats.org/officeDocument/2006/relationships/image" Target="../media/image96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9" Type="http://schemas.openxmlformats.org/officeDocument/2006/relationships/image" Target="../media/image9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0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484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13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00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15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42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74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4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12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0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05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49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37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73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16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2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3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3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3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52.bin"/><Relationship Id="rId18" Type="http://schemas.openxmlformats.org/officeDocument/2006/relationships/image" Target="../media/image49.wmf"/><Relationship Id="rId26" Type="http://schemas.openxmlformats.org/officeDocument/2006/relationships/image" Target="../media/image53.wmf"/><Relationship Id="rId3" Type="http://schemas.openxmlformats.org/officeDocument/2006/relationships/oleObject" Target="../embeddings/oleObject47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29" Type="http://schemas.openxmlformats.org/officeDocument/2006/relationships/oleObject" Target="../embeddings/oleObject60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52.w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28" Type="http://schemas.openxmlformats.org/officeDocument/2006/relationships/image" Target="../media/image54.wmf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55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Relationship Id="rId27" Type="http://schemas.openxmlformats.org/officeDocument/2006/relationships/oleObject" Target="../embeddings/oleObject59.bin"/><Relationship Id="rId30" Type="http://schemas.openxmlformats.org/officeDocument/2006/relationships/image" Target="../media/image5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66.bin"/><Relationship Id="rId18" Type="http://schemas.openxmlformats.org/officeDocument/2006/relationships/image" Target="../media/image63.wmf"/><Relationship Id="rId3" Type="http://schemas.openxmlformats.org/officeDocument/2006/relationships/oleObject" Target="../embeddings/oleObject61.bin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2.wmf"/><Relationship Id="rId20" Type="http://schemas.openxmlformats.org/officeDocument/2006/relationships/image" Target="../media/image6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5.bin"/><Relationship Id="rId24" Type="http://schemas.openxmlformats.org/officeDocument/2006/relationships/image" Target="../media/image66.wmf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23" Type="http://schemas.openxmlformats.org/officeDocument/2006/relationships/oleObject" Target="../embeddings/oleObject71.bin"/><Relationship Id="rId10" Type="http://schemas.openxmlformats.org/officeDocument/2006/relationships/image" Target="../media/image59.wmf"/><Relationship Id="rId19" Type="http://schemas.openxmlformats.org/officeDocument/2006/relationships/oleObject" Target="../embeddings/oleObject69.bin"/><Relationship Id="rId4" Type="http://schemas.openxmlformats.org/officeDocument/2006/relationships/image" Target="../media/image56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1.wmf"/><Relationship Id="rId22" Type="http://schemas.openxmlformats.org/officeDocument/2006/relationships/image" Target="../media/image6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7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7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78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85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91.bin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4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10" Type="http://schemas.openxmlformats.org/officeDocument/2006/relationships/image" Target="../media/image81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83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97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94.wmf"/><Relationship Id="rId17" Type="http://schemas.openxmlformats.org/officeDocument/2006/relationships/oleObject" Target="../embeddings/oleObject10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6.wmf"/><Relationship Id="rId20" Type="http://schemas.openxmlformats.org/officeDocument/2006/relationships/image" Target="../media/image98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4.bin"/><Relationship Id="rId10" Type="http://schemas.openxmlformats.org/officeDocument/2006/relationships/image" Target="../media/image93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95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8966" y="1452990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en-US" sz="4800" b="1" dirty="0"/>
              <a:t>第二讲  向量与线性空间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123728" y="2996952"/>
            <a:ext cx="6400800" cy="256713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600" b="1" dirty="0">
                <a:solidFill>
                  <a:schemeClr val="tx1"/>
                </a:solidFill>
              </a:rPr>
              <a:t>1.6</a:t>
            </a:r>
            <a:r>
              <a:rPr lang="en-US" altLang="zh-CN" sz="36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3600" b="1" dirty="0">
                <a:solidFill>
                  <a:schemeClr val="tx1"/>
                </a:solidFill>
                <a:latin typeface="+mn-ea"/>
              </a:rPr>
              <a:t>向量组的秩</a:t>
            </a:r>
            <a:endParaRPr lang="en-US" altLang="zh-CN" sz="3600" b="1" dirty="0">
              <a:solidFill>
                <a:schemeClr val="tx1"/>
              </a:solidFill>
              <a:latin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3600" b="1" dirty="0">
                <a:solidFill>
                  <a:schemeClr val="tx1"/>
                </a:solidFill>
              </a:rPr>
              <a:t>1.7 </a:t>
            </a:r>
            <a:r>
              <a:rPr lang="zh-CN" altLang="en-US" sz="3600" b="1" dirty="0">
                <a:solidFill>
                  <a:schemeClr val="tx1"/>
                </a:solidFill>
              </a:rPr>
              <a:t>线性空间</a:t>
            </a:r>
            <a:endParaRPr lang="en-US" altLang="zh-CN" sz="3600" b="1" dirty="0">
              <a:solidFill>
                <a:schemeClr val="tx1"/>
              </a:solidFill>
            </a:endParaRPr>
          </a:p>
        </p:txBody>
      </p:sp>
      <p:pic>
        <p:nvPicPr>
          <p:cNvPr id="4" name="Picture 2" descr="scau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一、向量组的秩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35283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 b="1" dirty="0"/>
              <a:t>定义</a:t>
            </a:r>
            <a:r>
              <a:rPr lang="en-US" altLang="zh-CN" sz="2600" b="1" dirty="0"/>
              <a:t>1.6.1</a:t>
            </a:r>
            <a:r>
              <a:rPr lang="en-US" altLang="zh-CN" sz="2600" dirty="0"/>
              <a:t>   </a:t>
            </a:r>
            <a:r>
              <a:rPr lang="zh-CN" altLang="en-US" sz="2600" dirty="0"/>
              <a:t>设有向量组 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600" dirty="0"/>
              <a:t>，如果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(1)</a:t>
            </a:r>
            <a:r>
              <a:rPr lang="zh-CN" altLang="en-US" sz="2400" dirty="0"/>
              <a:t>存在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个向量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(2)</a:t>
            </a:r>
            <a:r>
              <a:rPr lang="en-US" altLang="zh-CN" sz="2400" i="1" dirty="0"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中任意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r+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个向量（如果有的话）都线性相关。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563888" y="2060848"/>
          <a:ext cx="19510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22860000" imgH="5486400" progId="Equation.DSMT4">
                  <p:embed/>
                </p:oleObj>
              </mc:Choice>
              <mc:Fallback>
                <p:oleObj name="Equation" r:id="rId3" imgW="22860000" imgH="54864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3888" y="2060848"/>
                        <a:ext cx="195103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259632" y="3573016"/>
          <a:ext cx="19510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5" imgW="22860000" imgH="5486400" progId="Equation.DSMT4">
                  <p:embed/>
                </p:oleObj>
              </mc:Choice>
              <mc:Fallback>
                <p:oleObj name="Equation" r:id="rId5" imgW="22860000" imgH="5486400" progId="Equation.DSMT4">
                  <p:embed/>
                  <p:pic>
                    <p:nvPicPr>
                      <p:cNvPr id="0" name="图片 102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632" y="3573016"/>
                        <a:ext cx="1951038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08104" y="2060848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线性无关；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429000"/>
            <a:ext cx="93554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                                  是向量组</a:t>
            </a:r>
            <a:r>
              <a:rPr lang="en-US" altLang="zh-CN" sz="2400" i="1" dirty="0">
                <a:latin typeface="+mn-ea"/>
                <a:cs typeface="Times New Roman" panose="02020603050405020304" pitchFamily="18" charset="0"/>
              </a:rPr>
              <a:t>T 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的一个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极大无关组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，简称极大</a:t>
            </a:r>
            <a:endParaRPr lang="en-US" altLang="zh-CN" sz="2400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无关组。其中，数</a:t>
            </a:r>
            <a:r>
              <a:rPr lang="en-US" altLang="zh-CN" sz="2400" i="1" dirty="0">
                <a:latin typeface="+mn-ea"/>
                <a:cs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称为向量组</a:t>
            </a:r>
            <a:r>
              <a:rPr lang="en-US" altLang="zh-CN" sz="2400" i="1" dirty="0">
                <a:latin typeface="+mn-ea"/>
                <a:cs typeface="Times New Roman" panose="02020603050405020304" pitchFamily="18" charset="0"/>
              </a:rPr>
              <a:t>T 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</a:rPr>
              <a:t>秩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，记为</a:t>
            </a:r>
            <a:r>
              <a:rPr lang="en-US" altLang="zh-CN" sz="2400" i="1" dirty="0">
                <a:latin typeface="+mn-ea"/>
                <a:cs typeface="Times New Roman" panose="02020603050405020304" pitchFamily="18" charset="0"/>
              </a:rPr>
              <a:t>rank(T)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，简称为</a:t>
            </a:r>
            <a:r>
              <a:rPr lang="en-US" altLang="zh-CN" sz="2400" i="1" dirty="0">
                <a:latin typeface="+mn-ea"/>
                <a:cs typeface="Times New Roman" panose="02020603050405020304" pitchFamily="18" charset="0"/>
              </a:rPr>
              <a:t>r (T)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357301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则称</a:t>
            </a:r>
          </a:p>
        </p:txBody>
      </p:sp>
      <p:sp>
        <p:nvSpPr>
          <p:cNvPr id="13" name="直角三角形 12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直角三角形 13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0" y="548680"/>
            <a:ext cx="8784976" cy="180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1.6.1</a:t>
            </a:r>
            <a:r>
              <a:rPr lang="en-US" altLang="zh-CN" sz="2400" dirty="0"/>
              <a:t>   </a:t>
            </a:r>
            <a:r>
              <a:rPr lang="zh-CN" altLang="en-US" sz="2400" dirty="0"/>
              <a:t>试求三维向量组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03225" y="1268413"/>
          <a:ext cx="871378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Equation" r:id="rId3" imgW="101803200" imgH="6096000" progId="Equation.DSMT4">
                  <p:embed/>
                </p:oleObj>
              </mc:Choice>
              <mc:Fallback>
                <p:oleObj name="Equation" r:id="rId3" imgW="101803200" imgH="60960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225" y="1268413"/>
                        <a:ext cx="8713788" cy="522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323528" y="5229200"/>
            <a:ext cx="8229600" cy="1296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小结：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向量组的极大无关组不唯一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而极大无关组所含向量的个数唯一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即秩唯一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sp>
        <p:nvSpPr>
          <p:cNvPr id="7" name="内容占位符 2"/>
          <p:cNvSpPr txBox="1"/>
          <p:nvPr/>
        </p:nvSpPr>
        <p:spPr>
          <a:xfrm>
            <a:off x="179512" y="1916832"/>
            <a:ext cx="82296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dirty="0"/>
              <a:t>的一个极大无关组及其秩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95536" y="2780928"/>
            <a:ext cx="7920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解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3568" y="3429000"/>
          <a:ext cx="38973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Equation" r:id="rId5" imgW="45720000" imgH="4876800" progId="Equation.DSMT4">
                  <p:embed/>
                </p:oleObj>
              </mc:Choice>
              <mc:Fallback>
                <p:oleObj name="Equation" r:id="rId5" imgW="45720000" imgH="4876800" progId="Equation.DSMT4">
                  <p:embed/>
                  <p:pic>
                    <p:nvPicPr>
                      <p:cNvPr id="0" name="图片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3429000"/>
                        <a:ext cx="3897312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39552" y="4005064"/>
          <a:ext cx="236537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7" imgW="27736800" imgH="4876800" progId="Equation.DSMT4">
                  <p:embed/>
                </p:oleObj>
              </mc:Choice>
              <mc:Fallback>
                <p:oleObj name="Equation" r:id="rId7" imgW="27736800" imgH="4876800" progId="Equation.DSMT4">
                  <p:embed/>
                  <p:pic>
                    <p:nvPicPr>
                      <p:cNvPr id="0" name="图片 20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552" y="4005064"/>
                        <a:ext cx="2365375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11560" y="4653136"/>
          <a:ext cx="45132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Equation" r:id="rId9" imgW="52730400" imgH="4876800" progId="Equation.DSMT4">
                  <p:embed/>
                </p:oleObj>
              </mc:Choice>
              <mc:Fallback>
                <p:oleObj name="Equation" r:id="rId9" imgW="52730400" imgH="4876800" progId="Equation.DSMT4">
                  <p:embed/>
                  <p:pic>
                    <p:nvPicPr>
                      <p:cNvPr id="0" name="图片 20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1560" y="4653136"/>
                        <a:ext cx="4513263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572000" y="3429000"/>
          <a:ext cx="43402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11" imgW="50901600" imgH="5486400" progId="Equation.DSMT4">
                  <p:embed/>
                </p:oleObj>
              </mc:Choice>
              <mc:Fallback>
                <p:oleObj name="Equation" r:id="rId11" imgW="50901600" imgH="5486400" progId="Equation.DSMT4">
                  <p:embed/>
                  <p:pic>
                    <p:nvPicPr>
                      <p:cNvPr id="0" name="图片 20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2000" y="3429000"/>
                        <a:ext cx="434022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/>
        </p:nvGraphicFramePr>
        <p:xfrm>
          <a:off x="2915816" y="4005064"/>
          <a:ext cx="24796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Equation" r:id="rId13" imgW="28956000" imgH="4876800" progId="Equation.DSMT4">
                  <p:embed/>
                </p:oleObj>
              </mc:Choice>
              <mc:Fallback>
                <p:oleObj name="Equation" r:id="rId13" imgW="28956000" imgH="4876800" progId="Equation.DSMT4">
                  <p:embed/>
                  <p:pic>
                    <p:nvPicPr>
                      <p:cNvPr id="0" name="图片 20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15816" y="4005064"/>
                        <a:ext cx="2479675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9"/>
          <p:cNvGraphicFramePr>
            <a:graphicFrameLocks noChangeAspect="1"/>
          </p:cNvGraphicFramePr>
          <p:nvPr/>
        </p:nvGraphicFramePr>
        <p:xfrm>
          <a:off x="5436096" y="4005064"/>
          <a:ext cx="34591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15" imgW="40538400" imgH="5486400" progId="Equation.DSMT4">
                  <p:embed/>
                </p:oleObj>
              </mc:Choice>
              <mc:Fallback>
                <p:oleObj name="Equation" r:id="rId15" imgW="40538400" imgH="5486400" progId="Equation.DSMT4">
                  <p:embed/>
                  <p:pic>
                    <p:nvPicPr>
                      <p:cNvPr id="0" name="图片 205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36096" y="4005064"/>
                        <a:ext cx="3459163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897106"/>
              </p:ext>
            </p:extLst>
          </p:nvPr>
        </p:nvGraphicFramePr>
        <p:xfrm>
          <a:off x="1039124" y="2780929"/>
          <a:ext cx="8134257" cy="457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Equation" r:id="rId17" imgW="4063680" imgH="228600" progId="Equation.DSMT4">
                  <p:embed/>
                </p:oleObj>
              </mc:Choice>
              <mc:Fallback>
                <p:oleObj name="Equation" r:id="rId17" imgW="4063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39124" y="2780929"/>
                        <a:ext cx="8134257" cy="4575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692696"/>
            <a:ext cx="8229600" cy="259228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1.6.2</a:t>
            </a:r>
            <a:r>
              <a:rPr lang="en-US" altLang="zh-CN" sz="2400" dirty="0"/>
              <a:t>  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向量组的线性表示</a:t>
            </a:r>
            <a:r>
              <a:rPr lang="en-US" altLang="zh-CN" sz="2400" b="1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     如果向量组                   中的每个向量都可以由向量组                   线性表示，则称向量组                  可以由向量组                   </a:t>
            </a:r>
            <a:r>
              <a:rPr lang="zh-CN" alt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线性表示。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27584" y="1988840"/>
          <a:ext cx="19462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3" imgW="22860000" imgH="5486400" progId="Equation.DSMT4">
                  <p:embed/>
                </p:oleObj>
              </mc:Choice>
              <mc:Fallback>
                <p:oleObj name="Equation" r:id="rId3" imgW="22860000" imgH="54864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584" y="1988840"/>
                        <a:ext cx="1946275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868144" y="1988840"/>
          <a:ext cx="18970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Equation" r:id="rId5" imgW="22250400" imgH="5486400" progId="Equation.DSMT4">
                  <p:embed/>
                </p:oleObj>
              </mc:Choice>
              <mc:Fallback>
                <p:oleObj name="Equation" r:id="rId5" imgW="22250400" imgH="54864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68144" y="1988840"/>
                        <a:ext cx="1897063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63688" y="2564904"/>
          <a:ext cx="19510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Equation" r:id="rId7" imgW="22860000" imgH="5486400" progId="Equation.DSMT4">
                  <p:embed/>
                </p:oleObj>
              </mc:Choice>
              <mc:Fallback>
                <p:oleObj name="Equation" r:id="rId7" imgW="22860000" imgH="54864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63688" y="2564904"/>
                        <a:ext cx="1951038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467544" y="3501008"/>
            <a:ext cx="8229600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1.6.3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向量组的等价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如果向量组                   和向量组                   可以互相线性表示，则称这两个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向量组等价。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/>
        </p:nvGraphicFramePr>
        <p:xfrm>
          <a:off x="5868144" y="4221088"/>
          <a:ext cx="195103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9" imgW="22860000" imgH="5486400" progId="Equation.DSMT4">
                  <p:embed/>
                </p:oleObj>
              </mc:Choice>
              <mc:Fallback>
                <p:oleObj name="Equation" r:id="rId9" imgW="22860000" imgH="54864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8144" y="4221088"/>
                        <a:ext cx="1951037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523867"/>
              </p:ext>
            </p:extLst>
          </p:nvPr>
        </p:nvGraphicFramePr>
        <p:xfrm>
          <a:off x="2608530" y="4221088"/>
          <a:ext cx="1984006" cy="489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11" imgW="927000" imgH="228600" progId="Equation.DSMT4">
                  <p:embed/>
                </p:oleObj>
              </mc:Choice>
              <mc:Fallback>
                <p:oleObj name="Equation" r:id="rId11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08530" y="4221088"/>
                        <a:ext cx="1984006" cy="489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999384"/>
              </p:ext>
            </p:extLst>
          </p:nvPr>
        </p:nvGraphicFramePr>
        <p:xfrm>
          <a:off x="2631506" y="1363715"/>
          <a:ext cx="1984006" cy="489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13" imgW="927000" imgH="228600" progId="Equation.DSMT4">
                  <p:embed/>
                </p:oleObj>
              </mc:Choice>
              <mc:Fallback>
                <p:oleObj name="Equation" r:id="rId13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31506" y="1363715"/>
                        <a:ext cx="1984006" cy="489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692696"/>
            <a:ext cx="8229600" cy="259228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引理</a:t>
            </a:r>
            <a:r>
              <a:rPr lang="en-US" altLang="zh-CN" sz="2400" b="1" dirty="0"/>
              <a:t>1.6.1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     设向量组                   可以由向量组                   线性表示，如果       ，则                  </a:t>
            </a:r>
            <a:r>
              <a:rPr lang="zh-CN" alt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线性相关。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56176" y="1484784"/>
          <a:ext cx="19462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3" imgW="22860000" imgH="5486400" progId="Equation.DSMT4">
                  <p:embed/>
                </p:oleObj>
              </mc:Choice>
              <mc:Fallback>
                <p:oleObj name="Equation" r:id="rId3" imgW="22860000" imgH="54864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56176" y="1484784"/>
                        <a:ext cx="1946275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07904" y="1988840"/>
          <a:ext cx="18970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5" imgW="22250400" imgH="5486400" progId="Equation.DSMT4">
                  <p:embed/>
                </p:oleObj>
              </mc:Choice>
              <mc:Fallback>
                <p:oleObj name="Equation" r:id="rId5" imgW="22250400" imgH="5486400" progId="Equation.DSMT4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7904" y="1988840"/>
                        <a:ext cx="1897063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467544" y="3501008"/>
            <a:ext cx="8229600" cy="1944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引理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1.6.2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     两个等价的向量组的秩相等。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411760" y="2060848"/>
          <a:ext cx="679450" cy="359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7" imgW="7924800" imgH="3352800" progId="Equation.DSMT4">
                  <p:embed/>
                </p:oleObj>
              </mc:Choice>
              <mc:Fallback>
                <p:oleObj name="Equation" r:id="rId7" imgW="7924800" imgH="3352800" progId="Equation.DSMT4">
                  <p:embed/>
                  <p:pic>
                    <p:nvPicPr>
                      <p:cNvPr id="0" name="图片 4099"/>
                      <p:cNvPicPr preferRelativeResize="0"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1760" y="2060848"/>
                        <a:ext cx="679450" cy="35934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512931"/>
              </p:ext>
            </p:extLst>
          </p:nvPr>
        </p:nvGraphicFramePr>
        <p:xfrm>
          <a:off x="2285188" y="1346523"/>
          <a:ext cx="1984006" cy="489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9" imgW="927000" imgH="228600" progId="Equation.DSMT4">
                  <p:embed/>
                </p:oleObj>
              </mc:Choice>
              <mc:Fallback>
                <p:oleObj name="Equation" r:id="rId9" imgW="927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85188" y="1346523"/>
                        <a:ext cx="1984006" cy="489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04664"/>
            <a:ext cx="8229600" cy="21602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定理</a:t>
            </a:r>
            <a:r>
              <a:rPr lang="en-US" altLang="zh-CN" sz="2400" b="1" dirty="0"/>
              <a:t>1.6.1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     设有向量组</a:t>
            </a:r>
            <a:r>
              <a:rPr lang="en-US" altLang="zh-CN" sz="2400" i="1" dirty="0"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cs typeface="Times New Roman" panose="02020603050405020304" pitchFamily="18" charset="0"/>
              </a:rPr>
              <a:t>如果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cs typeface="Times New Roman" panose="02020603050405020304" pitchFamily="18" charset="0"/>
              </a:rPr>
              <a:t>）在</a:t>
            </a:r>
            <a:r>
              <a:rPr lang="en-US" altLang="zh-CN" sz="2400" i="1" dirty="0">
                <a:cs typeface="Times New Roman" panose="02020603050405020304" pitchFamily="18" charset="0"/>
              </a:rPr>
              <a:t>T</a:t>
            </a:r>
            <a:r>
              <a:rPr lang="zh-CN" altLang="en-US" sz="2400" dirty="0">
                <a:cs typeface="Times New Roman" panose="02020603050405020304" pitchFamily="18" charset="0"/>
              </a:rPr>
              <a:t>中</a:t>
            </a:r>
            <a:r>
              <a:rPr lang="en-US" altLang="zh-CN" sz="2400" i="1" dirty="0"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cs typeface="Times New Roman" panose="02020603050405020304" pitchFamily="18" charset="0"/>
              </a:rPr>
              <a:t>个向量                     线性无关；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i="1" dirty="0"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59832" y="1772816"/>
          <a:ext cx="19462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3" imgW="22860000" imgH="5486400" progId="Equation.DSMT4">
                  <p:embed/>
                </p:oleObj>
              </mc:Choice>
              <mc:Fallback>
                <p:oleObj name="Equation" r:id="rId3" imgW="22860000" imgH="54864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832" y="1772816"/>
                        <a:ext cx="1946275" cy="466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7"/>
          <p:cNvGraphicFramePr>
            <a:graphicFrameLocks noChangeAspect="1"/>
          </p:cNvGraphicFramePr>
          <p:nvPr/>
        </p:nvGraphicFramePr>
        <p:xfrm>
          <a:off x="6084168" y="2492896"/>
          <a:ext cx="19510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5" imgW="22860000" imgH="5486400" progId="Equation.DSMT4">
                  <p:embed/>
                </p:oleObj>
              </mc:Choice>
              <mc:Fallback>
                <p:oleObj name="Equation" r:id="rId5" imgW="22860000" imgH="54864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4168" y="2492896"/>
                        <a:ext cx="1951038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1043608" y="3861048"/>
          <a:ext cx="19494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7" imgW="22860000" imgH="5486400" progId="Equation.DSMT4">
                  <p:embed/>
                </p:oleObj>
              </mc:Choice>
              <mc:Fallback>
                <p:oleObj name="Equation" r:id="rId7" imgW="22860000" imgH="54864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43608" y="3861048"/>
                        <a:ext cx="194945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251520" y="2348880"/>
            <a:ext cx="8229600" cy="1368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中任意一个向量都是可以由向量组                     线性表示，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251520" y="3717032"/>
            <a:ext cx="8229600" cy="1107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则称                   是向量组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的一个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Times New Roman" panose="02020603050405020304" pitchFamily="18" charset="0"/>
              </a:rPr>
              <a:t>极大无关组。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build="p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359024" y="620688"/>
            <a:ext cx="8461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1.6.2</a:t>
            </a:r>
            <a:r>
              <a:rPr lang="en-US" altLang="zh-CN" sz="2400" dirty="0"/>
              <a:t>  </a:t>
            </a:r>
            <a:r>
              <a:rPr lang="zh-CN" altLang="en-US" sz="2400" dirty="0"/>
              <a:t>设向量组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39552" y="1268760"/>
          <a:ext cx="8323262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3" imgW="97231200" imgH="6705600" progId="Equation.DSMT4">
                  <p:embed/>
                </p:oleObj>
              </mc:Choice>
              <mc:Fallback>
                <p:oleObj name="Equation" r:id="rId3" imgW="97231200" imgH="6705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9552" y="1268760"/>
                        <a:ext cx="8323262" cy="573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051720" y="1988840"/>
          <a:ext cx="2132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5" imgW="24993600" imgH="5486400" progId="Equation.DSMT4">
                  <p:embed/>
                </p:oleObj>
              </mc:Choice>
              <mc:Fallback>
                <p:oleObj name="Equation" r:id="rId5" imgW="24993600" imgH="54864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51720" y="1988840"/>
                        <a:ext cx="2132013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359024" y="1268760"/>
            <a:ext cx="8784976" cy="1800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600" dirty="0"/>
              <a:t>求该向量组                     的秩和一个极大无关组，并将其余向量用该极大线性无关组表示 。                                                  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179512" y="1052736"/>
            <a:ext cx="8784976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CN" altLang="en-US" sz="2400" dirty="0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683568" y="3212976"/>
            <a:ext cx="7920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解</a:t>
            </a:r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827584" y="3212976"/>
          <a:ext cx="52038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7" imgW="60960000" imgH="4876800" progId="Equation.DSMT4">
                  <p:embed/>
                </p:oleObj>
              </mc:Choice>
              <mc:Fallback>
                <p:oleObj name="Equation" r:id="rId7" imgW="60960000" imgH="48768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584" y="3212976"/>
                        <a:ext cx="5203825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683568" y="3861048"/>
          <a:ext cx="268763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9" imgW="31394400" imgH="4876800" progId="Equation.DSMT4">
                  <p:embed/>
                </p:oleObj>
              </mc:Choice>
              <mc:Fallback>
                <p:oleObj name="Equation" r:id="rId9" imgW="31394400" imgH="48768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3568" y="3861048"/>
                        <a:ext cx="2687637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3479800" y="3860800"/>
          <a:ext cx="25304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11" imgW="29565600" imgH="4876800" progId="Equation.DSMT4">
                  <p:embed/>
                </p:oleObj>
              </mc:Choice>
              <mc:Fallback>
                <p:oleObj name="Equation" r:id="rId11" imgW="29565600" imgH="48768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79800" y="3860800"/>
                        <a:ext cx="2530475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6012160" y="3861048"/>
          <a:ext cx="25733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Equation" r:id="rId13" imgW="30175200" imgH="5486400" progId="Equation.DSMT4">
                  <p:embed/>
                </p:oleObj>
              </mc:Choice>
              <mc:Fallback>
                <p:oleObj name="Equation" r:id="rId13" imgW="30175200" imgH="54864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12160" y="3861048"/>
                        <a:ext cx="2573338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>
          <a:off x="646113" y="4581525"/>
          <a:ext cx="42878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15" imgW="50292000" imgH="5486400" progId="Equation.DSMT4">
                  <p:embed/>
                </p:oleObj>
              </mc:Choice>
              <mc:Fallback>
                <p:oleObj name="Equation" r:id="rId15" imgW="50292000" imgH="54864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6113" y="4581525"/>
                        <a:ext cx="428783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84827"/>
              </p:ext>
            </p:extLst>
          </p:nvPr>
        </p:nvGraphicFramePr>
        <p:xfrm>
          <a:off x="6208373" y="3212976"/>
          <a:ext cx="2016224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17" imgW="1066680" imgH="228600" progId="Equation.DSMT4">
                  <p:embed/>
                </p:oleObj>
              </mc:Choice>
              <mc:Fallback>
                <p:oleObj name="Equation" r:id="rId17" imgW="1066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08373" y="3212976"/>
                        <a:ext cx="2016224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日期占位符 1">
            <a:extLst>
              <a:ext uri="{FF2B5EF4-FFF2-40B4-BE49-F238E27FC236}">
                <a16:creationId xmlns:a16="http://schemas.microsoft.com/office/drawing/2014/main" id="{A59B13B5-3E3C-4174-8670-47F1B6DA051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D557D3F-E6D9-4433-B1FB-B65CADAB5358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7654" name="页脚占位符 2">
            <a:extLst>
              <a:ext uri="{FF2B5EF4-FFF2-40B4-BE49-F238E27FC236}">
                <a16:creationId xmlns:a16="http://schemas.microsoft.com/office/drawing/2014/main" id="{8268F3A2-FD77-4A48-ADE1-2C69E764F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7655" name="灯片编号占位符 3">
            <a:extLst>
              <a:ext uri="{FF2B5EF4-FFF2-40B4-BE49-F238E27FC236}">
                <a16:creationId xmlns:a16="http://schemas.microsoft.com/office/drawing/2014/main" id="{BA80C3A8-A3D3-4C8D-B8B5-A9EA0FC6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A656AD-DC9E-4D50-B93F-2F6B6389906D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7656" name="Rectangle 2">
            <a:extLst>
              <a:ext uri="{FF2B5EF4-FFF2-40B4-BE49-F238E27FC236}">
                <a16:creationId xmlns:a16="http://schemas.microsoft.com/office/drawing/2014/main" id="{0750D81B-7630-4C68-A76C-A15089E54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4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》2007</a:t>
            </a:r>
            <a:r>
              <a:rPr lang="zh-CN" altLang="en-US" b="1"/>
              <a:t>学年第二学期，试卷</a:t>
            </a:r>
          </a:p>
        </p:txBody>
      </p:sp>
      <p:sp>
        <p:nvSpPr>
          <p:cNvPr id="27657" name="Rectangle 4">
            <a:extLst>
              <a:ext uri="{FF2B5EF4-FFF2-40B4-BE49-F238E27FC236}">
                <a16:creationId xmlns:a16="http://schemas.microsoft.com/office/drawing/2014/main" id="{C5124D1E-D4D6-4099-B1F0-93AD4F59C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27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三</a:t>
            </a:r>
            <a:r>
              <a:rPr lang="en-US" altLang="zh-CN"/>
              <a:t>﹑</a:t>
            </a:r>
            <a:r>
              <a:rPr lang="zh-CN" altLang="en-US"/>
              <a:t>计算题</a:t>
            </a:r>
          </a:p>
        </p:txBody>
      </p:sp>
      <p:sp>
        <p:nvSpPr>
          <p:cNvPr id="27658" name="Rectangle 5">
            <a:extLst>
              <a:ext uri="{FF2B5EF4-FFF2-40B4-BE49-F238E27FC236}">
                <a16:creationId xmlns:a16="http://schemas.microsoft.com/office/drawing/2014/main" id="{5F5B3211-5DBE-4645-BC3A-D52321F60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9" name="Rectangle 6">
            <a:extLst>
              <a:ext uri="{FF2B5EF4-FFF2-40B4-BE49-F238E27FC236}">
                <a16:creationId xmlns:a16="http://schemas.microsoft.com/office/drawing/2014/main" id="{A9D495CC-7597-45B0-9F6F-2AAD72893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0" name="Rectangle 8">
            <a:extLst>
              <a:ext uri="{FF2B5EF4-FFF2-40B4-BE49-F238E27FC236}">
                <a16:creationId xmlns:a16="http://schemas.microsoft.com/office/drawing/2014/main" id="{0F13D97B-D15C-4B30-BD94-501FB31A8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0988" y="4718050"/>
            <a:ext cx="260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/>
          </a:p>
        </p:txBody>
      </p:sp>
      <p:sp>
        <p:nvSpPr>
          <p:cNvPr id="27661" name="Rectangle 9">
            <a:extLst>
              <a:ext uri="{FF2B5EF4-FFF2-40B4-BE49-F238E27FC236}">
                <a16:creationId xmlns:a16="http://schemas.microsoft.com/office/drawing/2014/main" id="{8E80CA67-BC28-486A-9B49-5884CECD8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2" name="Rectangle 10">
            <a:extLst>
              <a:ext uri="{FF2B5EF4-FFF2-40B4-BE49-F238E27FC236}">
                <a16:creationId xmlns:a16="http://schemas.microsoft.com/office/drawing/2014/main" id="{4F99D776-2489-4AF2-B72D-8FA1FD97B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3" name="Rectangle 11">
            <a:extLst>
              <a:ext uri="{FF2B5EF4-FFF2-40B4-BE49-F238E27FC236}">
                <a16:creationId xmlns:a16="http://schemas.microsoft.com/office/drawing/2014/main" id="{5E49AE13-B7FB-45F0-85DB-B82FEE7A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11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4" name="Rectangle 14">
            <a:extLst>
              <a:ext uri="{FF2B5EF4-FFF2-40B4-BE49-F238E27FC236}">
                <a16:creationId xmlns:a16="http://schemas.microsoft.com/office/drawing/2014/main" id="{C3A97666-3E8F-4458-B231-7E060AD17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81075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求向量组</a:t>
            </a:r>
            <a:endParaRPr lang="zh-CN" altLang="en-US" sz="2400"/>
          </a:p>
        </p:txBody>
      </p:sp>
      <p:graphicFrame>
        <p:nvGraphicFramePr>
          <p:cNvPr id="27650" name="Object 13">
            <a:extLst>
              <a:ext uri="{FF2B5EF4-FFF2-40B4-BE49-F238E27FC236}">
                <a16:creationId xmlns:a16="http://schemas.microsoft.com/office/drawing/2014/main" id="{D40F7C3E-57FC-4621-BECE-522995B270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052513"/>
          <a:ext cx="6913562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3" imgW="4064000" imgH="228600" progId="Equation.DSMT4">
                  <p:embed/>
                </p:oleObj>
              </mc:Choice>
              <mc:Fallback>
                <p:oleObj name="Equation" r:id="rId3" imgW="4064000" imgH="228600" progId="Equation.DSMT4">
                  <p:embed/>
                  <p:pic>
                    <p:nvPicPr>
                      <p:cNvPr id="27650" name="Object 13">
                        <a:extLst>
                          <a:ext uri="{FF2B5EF4-FFF2-40B4-BE49-F238E27FC236}">
                            <a16:creationId xmlns:a16="http://schemas.microsoft.com/office/drawing/2014/main" id="{D40F7C3E-57FC-4621-BECE-522995B270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052513"/>
                        <a:ext cx="6913562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Rectangle 15">
            <a:extLst>
              <a:ext uri="{FF2B5EF4-FFF2-40B4-BE49-F238E27FC236}">
                <a16:creationId xmlns:a16="http://schemas.microsoft.com/office/drawing/2014/main" id="{C823ED81-1331-415C-B030-A07A87680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484313"/>
            <a:ext cx="330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的一个最大无关组和秩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/>
          </a:p>
        </p:txBody>
      </p:sp>
      <p:sp>
        <p:nvSpPr>
          <p:cNvPr id="34834" name="Rectangle 16">
            <a:extLst>
              <a:ext uri="{FF2B5EF4-FFF2-40B4-BE49-F238E27FC236}">
                <a16:creationId xmlns:a16="http://schemas.microsoft.com/office/drawing/2014/main" id="{4002FBB9-F07A-44EE-929C-E885140C1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074863"/>
            <a:ext cx="86582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/>
              <a:t>解：把它们按列排成矩阵</a:t>
            </a:r>
            <a:r>
              <a:rPr lang="en-US" altLang="zh-CN" sz="2200"/>
              <a:t>A</a:t>
            </a:r>
            <a:r>
              <a:rPr lang="zh-CN" altLang="en-US" sz="2200"/>
              <a:t>，并对</a:t>
            </a:r>
            <a:r>
              <a:rPr lang="en-US" altLang="zh-CN" sz="2200"/>
              <a:t>A</a:t>
            </a:r>
            <a:r>
              <a:rPr lang="zh-CN" altLang="en-US" sz="2200"/>
              <a:t>实施初等行变化化为行最简型矩阵</a:t>
            </a:r>
          </a:p>
        </p:txBody>
      </p:sp>
      <p:sp>
        <p:nvSpPr>
          <p:cNvPr id="27667" name="Rectangle 18">
            <a:extLst>
              <a:ext uri="{FF2B5EF4-FFF2-40B4-BE49-F238E27FC236}">
                <a16:creationId xmlns:a16="http://schemas.microsoft.com/office/drawing/2014/main" id="{C1E16A43-CF5A-4948-859D-41AF7E97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00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4819" name="Object 17">
            <a:extLst>
              <a:ext uri="{FF2B5EF4-FFF2-40B4-BE49-F238E27FC236}">
                <a16:creationId xmlns:a16="http://schemas.microsoft.com/office/drawing/2014/main" id="{2214E3D9-E9C9-4229-84D7-34BB269C89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636838"/>
          <a:ext cx="8642350" cy="261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5" imgW="6134040" imgH="1854000" progId="Equation.DSMT4">
                  <p:embed/>
                </p:oleObj>
              </mc:Choice>
              <mc:Fallback>
                <p:oleObj name="Equation" r:id="rId5" imgW="6134040" imgH="1854000" progId="Equation.DSMT4">
                  <p:embed/>
                  <p:pic>
                    <p:nvPicPr>
                      <p:cNvPr id="34819" name="Object 17">
                        <a:extLst>
                          <a:ext uri="{FF2B5EF4-FFF2-40B4-BE49-F238E27FC236}">
                            <a16:creationId xmlns:a16="http://schemas.microsoft.com/office/drawing/2014/main" id="{2214E3D9-E9C9-4229-84D7-34BB269C89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36838"/>
                        <a:ext cx="8642350" cy="2617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6" name="Rectangle 20">
            <a:extLst>
              <a:ext uri="{FF2B5EF4-FFF2-40B4-BE49-F238E27FC236}">
                <a16:creationId xmlns:a16="http://schemas.microsoft.com/office/drawing/2014/main" id="{35BF1AFE-4E04-4B95-9A1E-2ACC8E627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373688"/>
            <a:ext cx="86344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实施初等行变化化为行最简型矩阵后，非零行向量个数为，</a:t>
            </a:r>
          </a:p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endParaRPr lang="zh-CN" altLang="en-US" sz="2400"/>
          </a:p>
        </p:txBody>
      </p:sp>
      <p:graphicFrame>
        <p:nvGraphicFramePr>
          <p:cNvPr id="27652" name="Object 19">
            <a:extLst>
              <a:ext uri="{FF2B5EF4-FFF2-40B4-BE49-F238E27FC236}">
                <a16:creationId xmlns:a16="http://schemas.microsoft.com/office/drawing/2014/main" id="{1098B5B0-4B47-47DF-A846-5673EF1635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5805488"/>
          <a:ext cx="1152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Equation" r:id="rId7" imgW="647419" imgH="253890" progId="Equation.DSMT4">
                  <p:embed/>
                </p:oleObj>
              </mc:Choice>
              <mc:Fallback>
                <p:oleObj name="Equation" r:id="rId7" imgW="647419" imgH="253890" progId="Equation.DSMT4">
                  <p:embed/>
                  <p:pic>
                    <p:nvPicPr>
                      <p:cNvPr id="27652" name="Object 19">
                        <a:extLst>
                          <a:ext uri="{FF2B5EF4-FFF2-40B4-BE49-F238E27FC236}">
                            <a16:creationId xmlns:a16="http://schemas.microsoft.com/office/drawing/2014/main" id="{1098B5B0-4B47-47DF-A846-5673EF1635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805488"/>
                        <a:ext cx="115252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9" name="Rectangle 21">
            <a:extLst>
              <a:ext uri="{FF2B5EF4-FFF2-40B4-BE49-F238E27FC236}">
                <a16:creationId xmlns:a16="http://schemas.microsoft.com/office/drawing/2014/main" id="{C3921694-D0E8-48CF-B0A4-11C703322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565525"/>
            <a:ext cx="215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00"/>
              <a:t> 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4" grpId="0"/>
      <p:bldP spid="348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913F72-DF15-41AB-A320-158BF0A33209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6867" name="页脚占位符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17ppt</a:t>
            </a: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27B097-DB6F-45C5-9B74-213E78CDBB7E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468313" y="692150"/>
            <a:ext cx="7773987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注意：</a:t>
            </a:r>
          </a:p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组向量按列的形式组成一个矩阵，对这个矩阵</a:t>
            </a: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进行初等行变换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得到一个新的矩阵，则新矩阵与</a:t>
            </a: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原矩阵的秩相同，并且新矩阵的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组列向量与</a:t>
            </a:r>
          </a:p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原矩阵的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组列向量具有相同的线性关系。</a:t>
            </a:r>
          </a:p>
        </p:txBody>
      </p:sp>
    </p:spTree>
    <p:extLst>
      <p:ext uri="{BB962C8B-B14F-4D97-AF65-F5344CB8AC3E}">
        <p14:creationId xmlns:p14="http://schemas.microsoft.com/office/powerpoint/2010/main" val="277590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日期占位符 1">
            <a:extLst>
              <a:ext uri="{FF2B5EF4-FFF2-40B4-BE49-F238E27FC236}">
                <a16:creationId xmlns:a16="http://schemas.microsoft.com/office/drawing/2014/main" id="{20AB6081-0893-4448-A65E-0C0282214D0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A70746-D2AD-4632-9047-AD34018A991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28679" name="页脚占位符 2">
            <a:extLst>
              <a:ext uri="{FF2B5EF4-FFF2-40B4-BE49-F238E27FC236}">
                <a16:creationId xmlns:a16="http://schemas.microsoft.com/office/drawing/2014/main" id="{A57D141F-1EE7-48D7-98F3-CF6FEAB3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28680" name="灯片编号占位符 3">
            <a:extLst>
              <a:ext uri="{FF2B5EF4-FFF2-40B4-BE49-F238E27FC236}">
                <a16:creationId xmlns:a16="http://schemas.microsoft.com/office/drawing/2014/main" id="{7A5C77FD-D417-4760-A139-3813FD88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1D6498-83D6-41D2-B720-239DFB736C55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8681" name="Rectangle 2">
            <a:extLst>
              <a:ext uri="{FF2B5EF4-FFF2-40B4-BE49-F238E27FC236}">
                <a16:creationId xmlns:a16="http://schemas.microsoft.com/office/drawing/2014/main" id="{7BE9D7C8-7AF7-4049-B34E-CF649E590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8913"/>
            <a:ext cx="4144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《</a:t>
            </a:r>
            <a:r>
              <a:rPr lang="zh-CN" altLang="en-US" b="1"/>
              <a:t>线性代数</a:t>
            </a:r>
            <a:r>
              <a:rPr lang="en-US" altLang="zh-CN" b="1"/>
              <a:t>》2007</a:t>
            </a:r>
            <a:r>
              <a:rPr lang="zh-CN" altLang="en-US" b="1"/>
              <a:t>学年第二学期，试卷</a:t>
            </a:r>
          </a:p>
        </p:txBody>
      </p:sp>
      <p:sp>
        <p:nvSpPr>
          <p:cNvPr id="28682" name="Rectangle 3">
            <a:extLst>
              <a:ext uri="{FF2B5EF4-FFF2-40B4-BE49-F238E27FC236}">
                <a16:creationId xmlns:a16="http://schemas.microsoft.com/office/drawing/2014/main" id="{EDBF338E-80E9-4EBA-8567-19E3D99B0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3725"/>
            <a:ext cx="1327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三</a:t>
            </a:r>
            <a:r>
              <a:rPr lang="en-US" altLang="zh-CN"/>
              <a:t>﹑</a:t>
            </a:r>
            <a:r>
              <a:rPr lang="zh-CN" altLang="en-US"/>
              <a:t>计算题</a:t>
            </a:r>
          </a:p>
        </p:txBody>
      </p:sp>
      <p:sp>
        <p:nvSpPr>
          <p:cNvPr id="28683" name="Rectangle 4">
            <a:extLst>
              <a:ext uri="{FF2B5EF4-FFF2-40B4-BE49-F238E27FC236}">
                <a16:creationId xmlns:a16="http://schemas.microsoft.com/office/drawing/2014/main" id="{1BFA6D1C-260B-4243-8F42-E06C550FD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360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4" name="Rectangle 5">
            <a:extLst>
              <a:ext uri="{FF2B5EF4-FFF2-40B4-BE49-F238E27FC236}">
                <a16:creationId xmlns:a16="http://schemas.microsoft.com/office/drawing/2014/main" id="{816E1B03-774E-49AD-B99F-2457E5015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52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5" name="Rectangle 7">
            <a:extLst>
              <a:ext uri="{FF2B5EF4-FFF2-40B4-BE49-F238E27FC236}">
                <a16:creationId xmlns:a16="http://schemas.microsoft.com/office/drawing/2014/main" id="{853075CD-9553-4716-AC2F-41383E77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589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6" name="Rectangle 8">
            <a:extLst>
              <a:ext uri="{FF2B5EF4-FFF2-40B4-BE49-F238E27FC236}">
                <a16:creationId xmlns:a16="http://schemas.microsoft.com/office/drawing/2014/main" id="{7546916C-DD53-4450-8250-9278E54F6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1870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7" name="Rectangle 9">
            <a:extLst>
              <a:ext uri="{FF2B5EF4-FFF2-40B4-BE49-F238E27FC236}">
                <a16:creationId xmlns:a16="http://schemas.microsoft.com/office/drawing/2014/main" id="{EDE20620-736B-4916-95D8-3D3F3A3AA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18700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88" name="Rectangle 10">
            <a:extLst>
              <a:ext uri="{FF2B5EF4-FFF2-40B4-BE49-F238E27FC236}">
                <a16:creationId xmlns:a16="http://schemas.microsoft.com/office/drawing/2014/main" id="{688D4E79-95AA-4FEB-B423-D4E4D00F5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81075"/>
            <a:ext cx="163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求向量组</a:t>
            </a:r>
            <a:endParaRPr lang="zh-CN" altLang="en-US" sz="2400"/>
          </a:p>
        </p:txBody>
      </p:sp>
      <p:graphicFrame>
        <p:nvGraphicFramePr>
          <p:cNvPr id="28674" name="Object 11">
            <a:extLst>
              <a:ext uri="{FF2B5EF4-FFF2-40B4-BE49-F238E27FC236}">
                <a16:creationId xmlns:a16="http://schemas.microsoft.com/office/drawing/2014/main" id="{2669E7B2-E266-46E5-BBE7-6299053A27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052513"/>
          <a:ext cx="6913562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3" imgW="4064000" imgH="228600" progId="Equation.DSMT4">
                  <p:embed/>
                </p:oleObj>
              </mc:Choice>
              <mc:Fallback>
                <p:oleObj name="Equation" r:id="rId3" imgW="4064000" imgH="228600" progId="Equation.DSMT4">
                  <p:embed/>
                  <p:pic>
                    <p:nvPicPr>
                      <p:cNvPr id="28674" name="Object 11">
                        <a:extLst>
                          <a:ext uri="{FF2B5EF4-FFF2-40B4-BE49-F238E27FC236}">
                            <a16:creationId xmlns:a16="http://schemas.microsoft.com/office/drawing/2014/main" id="{2669E7B2-E266-46E5-BBE7-6299053A27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052513"/>
                        <a:ext cx="6913562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9" name="Rectangle 12">
            <a:extLst>
              <a:ext uri="{FF2B5EF4-FFF2-40B4-BE49-F238E27FC236}">
                <a16:creationId xmlns:a16="http://schemas.microsoft.com/office/drawing/2014/main" id="{F00756F2-A5AE-4F6D-BFD0-7127F8982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484313"/>
            <a:ext cx="330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的一个最大无关组和秩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/>
          </a:p>
        </p:txBody>
      </p:sp>
      <p:sp>
        <p:nvSpPr>
          <p:cNvPr id="28690" name="Rectangle 14">
            <a:extLst>
              <a:ext uri="{FF2B5EF4-FFF2-40B4-BE49-F238E27FC236}">
                <a16:creationId xmlns:a16="http://schemas.microsoft.com/office/drawing/2014/main" id="{A82FA83B-9D35-46F7-9DE0-2F250933D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7892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91" name="Rectangle 20">
            <a:extLst>
              <a:ext uri="{FF2B5EF4-FFF2-40B4-BE49-F238E27FC236}">
                <a16:creationId xmlns:a16="http://schemas.microsoft.com/office/drawing/2014/main" id="{F6115AF4-D355-421E-B74D-CAF9E37CD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2607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5843" name="Object 19">
            <a:extLst>
              <a:ext uri="{FF2B5EF4-FFF2-40B4-BE49-F238E27FC236}">
                <a16:creationId xmlns:a16="http://schemas.microsoft.com/office/drawing/2014/main" id="{83DC7726-562D-450F-85E9-5EA80C73A2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363" y="2349500"/>
          <a:ext cx="6408737" cy="149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5" imgW="3911600" imgH="914400" progId="Equation.DSMT4">
                  <p:embed/>
                </p:oleObj>
              </mc:Choice>
              <mc:Fallback>
                <p:oleObj name="Equation" r:id="rId5" imgW="3911600" imgH="914400" progId="Equation.DSMT4">
                  <p:embed/>
                  <p:pic>
                    <p:nvPicPr>
                      <p:cNvPr id="35843" name="Object 19">
                        <a:extLst>
                          <a:ext uri="{FF2B5EF4-FFF2-40B4-BE49-F238E27FC236}">
                            <a16:creationId xmlns:a16="http://schemas.microsoft.com/office/drawing/2014/main" id="{83DC7726-562D-450F-85E9-5EA80C73A2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3" y="2349500"/>
                        <a:ext cx="6408737" cy="1497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23">
            <a:extLst>
              <a:ext uri="{FF2B5EF4-FFF2-40B4-BE49-F238E27FC236}">
                <a16:creationId xmlns:a16="http://schemas.microsoft.com/office/drawing/2014/main" id="{11AACA1E-2B7F-496F-ACCE-64320E773CE8}"/>
              </a:ext>
            </a:extLst>
          </p:cNvPr>
          <p:cNvGrpSpPr>
            <a:grpSpLocks/>
          </p:cNvGrpSpPr>
          <p:nvPr/>
        </p:nvGrpSpPr>
        <p:grpSpPr bwMode="auto">
          <a:xfrm>
            <a:off x="0" y="3933825"/>
            <a:ext cx="9144000" cy="468313"/>
            <a:chOff x="0" y="3933056"/>
            <a:chExt cx="9144000" cy="469082"/>
          </a:xfrm>
        </p:grpSpPr>
        <p:sp>
          <p:nvSpPr>
            <p:cNvPr id="28695" name="Rectangle 22">
              <a:extLst>
                <a:ext uri="{FF2B5EF4-FFF2-40B4-BE49-F238E27FC236}">
                  <a16:creationId xmlns:a16="http://schemas.microsoft.com/office/drawing/2014/main" id="{6D7DBD6F-FDBD-4F89-A906-65F35BBC0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33825"/>
              <a:ext cx="5441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由向量组与矩阵秩的关系和定理</a:t>
              </a:r>
              <a:r>
                <a:rPr lang="en-US" altLang="zh-CN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2.6</a:t>
              </a:r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知：</a:t>
              </a:r>
              <a:endParaRPr lang="zh-CN" altLang="en-US" sz="2400"/>
            </a:p>
          </p:txBody>
        </p:sp>
        <p:graphicFrame>
          <p:nvGraphicFramePr>
            <p:cNvPr id="28677" name="Object 21">
              <a:extLst>
                <a:ext uri="{FF2B5EF4-FFF2-40B4-BE49-F238E27FC236}">
                  <a16:creationId xmlns:a16="http://schemas.microsoft.com/office/drawing/2014/main" id="{25F95B06-548D-46BB-B193-2E34AED60D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56213" y="4005263"/>
            <a:ext cx="1008062" cy="396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4" name="Equation" r:id="rId7" imgW="583947" imgH="228501" progId="Equation.DSMT4">
                    <p:embed/>
                  </p:oleObj>
                </mc:Choice>
                <mc:Fallback>
                  <p:oleObj name="Equation" r:id="rId7" imgW="583947" imgH="228501" progId="Equation.DSMT4">
                    <p:embed/>
                    <p:pic>
                      <p:nvPicPr>
                        <p:cNvPr id="28677" name="Object 21">
                          <a:extLst>
                            <a:ext uri="{FF2B5EF4-FFF2-40B4-BE49-F238E27FC236}">
                              <a16:creationId xmlns:a16="http://schemas.microsoft.com/office/drawing/2014/main" id="{25F95B06-548D-46BB-B193-2E34AED60D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6213" y="4005263"/>
                          <a:ext cx="1008062" cy="396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6" name="Rectangle 23">
              <a:extLst>
                <a:ext uri="{FF2B5EF4-FFF2-40B4-BE49-F238E27FC236}">
                  <a16:creationId xmlns:a16="http://schemas.microsoft.com/office/drawing/2014/main" id="{1D10AAFD-5C6A-4128-B977-77B2ACF80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6650" y="3933056"/>
              <a:ext cx="2927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为一个最大无关组。</a:t>
              </a:r>
              <a:endParaRPr lang="zh-CN" altLang="en-US" sz="2400"/>
            </a:p>
          </p:txBody>
        </p:sp>
      </p:grpSp>
      <p:sp>
        <p:nvSpPr>
          <p:cNvPr id="35862" name="Rectangle 24">
            <a:extLst>
              <a:ext uri="{FF2B5EF4-FFF2-40B4-BE49-F238E27FC236}">
                <a16:creationId xmlns:a16="http://schemas.microsoft.com/office/drawing/2014/main" id="{45A28741-737D-4FF6-BA9A-E2865C5CC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4510088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并且有 </a:t>
            </a:r>
          </a:p>
        </p:txBody>
      </p:sp>
      <p:sp>
        <p:nvSpPr>
          <p:cNvPr id="28694" name="Rectangle 26">
            <a:extLst>
              <a:ext uri="{FF2B5EF4-FFF2-40B4-BE49-F238E27FC236}">
                <a16:creationId xmlns:a16="http://schemas.microsoft.com/office/drawing/2014/main" id="{C77D7554-805A-4D80-B3D0-1488B3D4D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3603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5845" name="Object 25">
            <a:extLst>
              <a:ext uri="{FF2B5EF4-FFF2-40B4-BE49-F238E27FC236}">
                <a16:creationId xmlns:a16="http://schemas.microsoft.com/office/drawing/2014/main" id="{F0AD264F-6969-405A-85E2-63DD3E1606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3963" y="4581525"/>
          <a:ext cx="280828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9" imgW="1397000" imgH="228600" progId="Equation.DSMT4">
                  <p:embed/>
                </p:oleObj>
              </mc:Choice>
              <mc:Fallback>
                <p:oleObj name="Equation" r:id="rId9" imgW="1397000" imgH="228600" progId="Equation.DSMT4">
                  <p:embed/>
                  <p:pic>
                    <p:nvPicPr>
                      <p:cNvPr id="35845" name="Object 25">
                        <a:extLst>
                          <a:ext uri="{FF2B5EF4-FFF2-40B4-BE49-F238E27FC236}">
                            <a16:creationId xmlns:a16="http://schemas.microsoft.com/office/drawing/2014/main" id="{F0AD264F-6969-405A-85E2-63DD3E1606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4581525"/>
                        <a:ext cx="2808287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日期占位符 1">
            <a:extLst>
              <a:ext uri="{FF2B5EF4-FFF2-40B4-BE49-F238E27FC236}">
                <a16:creationId xmlns:a16="http://schemas.microsoft.com/office/drawing/2014/main" id="{C71870D5-4BBB-48CF-9DB8-234106E26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A988401-BBA4-4451-844E-CC1AF56D4295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0725" name="页脚占位符 2">
            <a:extLst>
              <a:ext uri="{FF2B5EF4-FFF2-40B4-BE49-F238E27FC236}">
                <a16:creationId xmlns:a16="http://schemas.microsoft.com/office/drawing/2014/main" id="{85C1D479-6EF7-49BC-8AD2-58719C9E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17ppt</a:t>
            </a:r>
          </a:p>
        </p:txBody>
      </p:sp>
      <p:sp>
        <p:nvSpPr>
          <p:cNvPr id="30726" name="灯片编号占位符 3">
            <a:extLst>
              <a:ext uri="{FF2B5EF4-FFF2-40B4-BE49-F238E27FC236}">
                <a16:creationId xmlns:a16="http://schemas.microsoft.com/office/drawing/2014/main" id="{6B166D05-8523-4AA1-AE61-7C1F3EA0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1984FA-148C-4427-86C2-437F37709575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71683" name="Text Box 3">
            <a:extLst>
              <a:ext uri="{FF2B5EF4-FFF2-40B4-BE49-F238E27FC236}">
                <a16:creationId xmlns:a16="http://schemas.microsoft.com/office/drawing/2014/main" id="{7FFF834C-B29F-4940-9643-8DAFB933F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58850"/>
            <a:ext cx="181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设矩阵</a:t>
            </a:r>
          </a:p>
        </p:txBody>
      </p:sp>
      <p:graphicFrame>
        <p:nvGraphicFramePr>
          <p:cNvPr id="71684" name="Object 4">
            <a:extLst>
              <a:ext uri="{FF2B5EF4-FFF2-40B4-BE49-F238E27FC236}">
                <a16:creationId xmlns:a16="http://schemas.microsoft.com/office/drawing/2014/main" id="{D0CFDD5E-86DB-4EE1-8F0C-6A0F814B07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2638" y="246063"/>
          <a:ext cx="3511550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3" imgW="1701720" imgH="914400" progId="Equation.DSMT4">
                  <p:embed/>
                </p:oleObj>
              </mc:Choice>
              <mc:Fallback>
                <p:oleObj name="Equation" r:id="rId3" imgW="1701720" imgH="914400" progId="Equation.DSMT4">
                  <p:embed/>
                  <p:pic>
                    <p:nvPicPr>
                      <p:cNvPr id="71684" name="Object 4">
                        <a:extLst>
                          <a:ext uri="{FF2B5EF4-FFF2-40B4-BE49-F238E27FC236}">
                            <a16:creationId xmlns:a16="http://schemas.microsoft.com/office/drawing/2014/main" id="{D0CFDD5E-86DB-4EE1-8F0C-6A0F814B07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246063"/>
                        <a:ext cx="3511550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5">
            <a:extLst>
              <a:ext uri="{FF2B5EF4-FFF2-40B4-BE49-F238E27FC236}">
                <a16:creationId xmlns:a16="http://schemas.microsoft.com/office/drawing/2014/main" id="{1FB286DF-A3F3-4A0C-B879-31E47A6A4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09800"/>
            <a:ext cx="8305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求矩阵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的列向量组的一个最大无关组，并把不属于最大无关组的列向量用最大无关组线性表示。</a:t>
            </a:r>
          </a:p>
        </p:txBody>
      </p:sp>
      <p:sp>
        <p:nvSpPr>
          <p:cNvPr id="71686" name="Text Box 6">
            <a:extLst>
              <a:ext uri="{FF2B5EF4-FFF2-40B4-BE49-F238E27FC236}">
                <a16:creationId xmlns:a16="http://schemas.microsoft.com/office/drawing/2014/main" id="{A78817B3-6F24-46C6-82DC-44351A061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324485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</a:p>
        </p:txBody>
      </p:sp>
      <p:sp>
        <p:nvSpPr>
          <p:cNvPr id="71687" name="Text Box 7">
            <a:extLst>
              <a:ext uri="{FF2B5EF4-FFF2-40B4-BE49-F238E27FC236}">
                <a16:creationId xmlns:a16="http://schemas.microsoft.com/office/drawing/2014/main" id="{BC871D46-A889-4D4D-A28C-27645232A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50" y="3267075"/>
            <a:ext cx="6581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施行初等行变换变为行阶梯形矩阵。</a:t>
            </a:r>
          </a:p>
        </p:txBody>
      </p:sp>
      <p:graphicFrame>
        <p:nvGraphicFramePr>
          <p:cNvPr id="71688" name="Object 8">
            <a:extLst>
              <a:ext uri="{FF2B5EF4-FFF2-40B4-BE49-F238E27FC236}">
                <a16:creationId xmlns:a16="http://schemas.microsoft.com/office/drawing/2014/main" id="{A86DFBC5-75C3-4A7A-80E3-ADE6F18189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0513" y="3822700"/>
          <a:ext cx="4010025" cy="188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5" imgW="1942920" imgH="914400" progId="Equation.DSMT4">
                  <p:embed/>
                </p:oleObj>
              </mc:Choice>
              <mc:Fallback>
                <p:oleObj name="Equation" r:id="rId5" imgW="1942920" imgH="914400" progId="Equation.DSMT4">
                  <p:embed/>
                  <p:pic>
                    <p:nvPicPr>
                      <p:cNvPr id="71688" name="Object 8">
                        <a:extLst>
                          <a:ext uri="{FF2B5EF4-FFF2-40B4-BE49-F238E27FC236}">
                            <a16:creationId xmlns:a16="http://schemas.microsoft.com/office/drawing/2014/main" id="{A86DFBC5-75C3-4A7A-80E3-ADE6F18189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3822700"/>
                        <a:ext cx="4010025" cy="188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autoUpdateAnimBg="0" advAuto="0"/>
      <p:bldP spid="71685" grpId="0" build="p" autoUpdateAnimBg="0" advAuto="0"/>
      <p:bldP spid="71686" grpId="0" build="p" autoUpdateAnimBg="0"/>
      <p:bldP spid="71687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日期占位符 1">
            <a:extLst>
              <a:ext uri="{FF2B5EF4-FFF2-40B4-BE49-F238E27FC236}">
                <a16:creationId xmlns:a16="http://schemas.microsoft.com/office/drawing/2014/main" id="{96758716-C0D9-4A75-A8E1-1668E44C1C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CD72E9-0936-4255-9661-514155538708}" type="datetime3">
              <a:rPr lang="zh-CN" altLang="en-US" smtClean="0"/>
              <a:pPr eaLnBrk="1" hangingPunct="1"/>
              <a:t>2025年2月28日星期五</a:t>
            </a:fld>
            <a:endParaRPr lang="en-US" altLang="zh-CN"/>
          </a:p>
        </p:txBody>
      </p:sp>
      <p:sp>
        <p:nvSpPr>
          <p:cNvPr id="31750" name="页脚占位符 2">
            <a:extLst>
              <a:ext uri="{FF2B5EF4-FFF2-40B4-BE49-F238E27FC236}">
                <a16:creationId xmlns:a16="http://schemas.microsoft.com/office/drawing/2014/main" id="{1F9F8731-2F15-4821-825A-06C902C0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Spring 2010, 17ppt</a:t>
            </a:r>
          </a:p>
        </p:txBody>
      </p:sp>
      <p:sp>
        <p:nvSpPr>
          <p:cNvPr id="31751" name="灯片编号占位符 3">
            <a:extLst>
              <a:ext uri="{FF2B5EF4-FFF2-40B4-BE49-F238E27FC236}">
                <a16:creationId xmlns:a16="http://schemas.microsoft.com/office/drawing/2014/main" id="{579F7546-BF74-4CCF-A2A4-57717648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106018-9782-4E30-932F-F68914EE1055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72706" name="Text Box 2">
            <a:extLst>
              <a:ext uri="{FF2B5EF4-FFF2-40B4-BE49-F238E27FC236}">
                <a16:creationId xmlns:a16="http://schemas.microsoft.com/office/drawing/2014/main" id="{A405AF50-3DFD-4C44-9716-E5792B78C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2617788"/>
            <a:ext cx="82454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而三个非零行向量的非零首元在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三列，</a:t>
            </a:r>
          </a:p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为列向量组的一个最大无关组。</a:t>
            </a:r>
          </a:p>
        </p:txBody>
      </p:sp>
      <p:graphicFrame>
        <p:nvGraphicFramePr>
          <p:cNvPr id="72707" name="Object 3">
            <a:extLst>
              <a:ext uri="{FF2B5EF4-FFF2-40B4-BE49-F238E27FC236}">
                <a16:creationId xmlns:a16="http://schemas.microsoft.com/office/drawing/2014/main" id="{44F09208-BB82-4ADA-8D6A-AA884183BD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3849688"/>
          <a:ext cx="3981450" cy="195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3" imgW="1866600" imgH="914400" progId="Equation.DSMT4">
                  <p:embed/>
                </p:oleObj>
              </mc:Choice>
              <mc:Fallback>
                <p:oleObj name="Equation" r:id="rId3" imgW="1866600" imgH="914400" progId="Equation.DSMT4">
                  <p:embed/>
                  <p:pic>
                    <p:nvPicPr>
                      <p:cNvPr id="72707" name="Object 3">
                        <a:extLst>
                          <a:ext uri="{FF2B5EF4-FFF2-40B4-BE49-F238E27FC236}">
                            <a16:creationId xmlns:a16="http://schemas.microsoft.com/office/drawing/2014/main" id="{44F09208-BB82-4ADA-8D6A-AA884183BD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849688"/>
                        <a:ext cx="3981450" cy="195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4">
            <a:extLst>
              <a:ext uri="{FF2B5EF4-FFF2-40B4-BE49-F238E27FC236}">
                <a16:creationId xmlns:a16="http://schemas.microsoft.com/office/drawing/2014/main" id="{8A60AA3F-05A9-49FF-AD6C-E574F0E22C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088" y="5803900"/>
          <a:ext cx="52546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5" imgW="2298600" imgH="228600" progId="Equation.DSMT4">
                  <p:embed/>
                </p:oleObj>
              </mc:Choice>
              <mc:Fallback>
                <p:oleObj name="Equation" r:id="rId5" imgW="2298600" imgH="228600" progId="Equation.DSMT4">
                  <p:embed/>
                  <p:pic>
                    <p:nvPicPr>
                      <p:cNvPr id="72708" name="Object 4">
                        <a:extLst>
                          <a:ext uri="{FF2B5EF4-FFF2-40B4-BE49-F238E27FC236}">
                            <a16:creationId xmlns:a16="http://schemas.microsoft.com/office/drawing/2014/main" id="{8A60AA3F-05A9-49FF-AD6C-E574F0E22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8" y="5803900"/>
                        <a:ext cx="52546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Rectangle 5">
            <a:extLst>
              <a:ext uri="{FF2B5EF4-FFF2-40B4-BE49-F238E27FC236}">
                <a16:creationId xmlns:a16="http://schemas.microsoft.com/office/drawing/2014/main" id="{4C3E6EC0-CDD7-4523-8BA8-019BA60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160588"/>
            <a:ext cx="1900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知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) = 3,</a:t>
            </a:r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id="{24194921-8C40-4B43-876F-8D2409AC1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160588"/>
            <a:ext cx="6076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故列向量组的最大无关组含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个向量。</a:t>
            </a:r>
          </a:p>
        </p:txBody>
      </p:sp>
      <p:sp>
        <p:nvSpPr>
          <p:cNvPr id="72711" name="Rectangle 7">
            <a:extLst>
              <a:ext uri="{FF2B5EF4-FFF2-40B4-BE49-F238E27FC236}">
                <a16:creationId xmlns:a16="http://schemas.microsoft.com/office/drawing/2014/main" id="{FCBCCB2F-D346-4E03-B818-16A01C2B1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455988"/>
            <a:ext cx="1612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这是因为</a:t>
            </a:r>
          </a:p>
        </p:txBody>
      </p:sp>
      <p:graphicFrame>
        <p:nvGraphicFramePr>
          <p:cNvPr id="72712" name="Object 8">
            <a:extLst>
              <a:ext uri="{FF2B5EF4-FFF2-40B4-BE49-F238E27FC236}">
                <a16:creationId xmlns:a16="http://schemas.microsoft.com/office/drawing/2014/main" id="{AC659008-59F7-4A6B-B6F0-6CF292826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1700" y="115888"/>
          <a:ext cx="3327400" cy="188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7" imgW="1612800" imgH="914400" progId="Equation.DSMT4">
                  <p:embed/>
                </p:oleObj>
              </mc:Choice>
              <mc:Fallback>
                <p:oleObj name="Equation" r:id="rId7" imgW="1612800" imgH="914400" progId="Equation.DSMT4">
                  <p:embed/>
                  <p:pic>
                    <p:nvPicPr>
                      <p:cNvPr id="72712" name="Object 8">
                        <a:extLst>
                          <a:ext uri="{FF2B5EF4-FFF2-40B4-BE49-F238E27FC236}">
                            <a16:creationId xmlns:a16="http://schemas.microsoft.com/office/drawing/2014/main" id="{AC659008-59F7-4A6B-B6F0-6CF292826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115888"/>
                        <a:ext cx="3327400" cy="188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7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build="p" autoUpdateAnimBg="0"/>
      <p:bldP spid="72709" grpId="0" build="p" autoUpdateAnimBg="0"/>
      <p:bldP spid="72710" grpId="0" build="p" autoUpdateAnimBg="0"/>
      <p:bldP spid="7271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>
            <a:extLst>
              <a:ext uri="{FF2B5EF4-FFF2-40B4-BE49-F238E27FC236}">
                <a16:creationId xmlns:a16="http://schemas.microsoft.com/office/drawing/2014/main" id="{AB317ED1-D3ED-4A96-AFA2-2A5F93242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71500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线性表示，</a:t>
            </a:r>
          </a:p>
        </p:txBody>
      </p:sp>
      <p:graphicFrame>
        <p:nvGraphicFramePr>
          <p:cNvPr id="73731" name="Object 3">
            <a:extLst>
              <a:ext uri="{FF2B5EF4-FFF2-40B4-BE49-F238E27FC236}">
                <a16:creationId xmlns:a16="http://schemas.microsoft.com/office/drawing/2014/main" id="{1F3A932D-7EF6-4351-9C67-6AAC798E86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8413" y="1711325"/>
          <a:ext cx="6491287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3" imgW="2831760" imgH="914400" progId="Equation.DSMT4">
                  <p:embed/>
                </p:oleObj>
              </mc:Choice>
              <mc:Fallback>
                <p:oleObj name="Equation" r:id="rId3" imgW="2831760" imgH="914400" progId="Equation.DSMT4">
                  <p:embed/>
                  <p:pic>
                    <p:nvPicPr>
                      <p:cNvPr id="73731" name="Object 3">
                        <a:extLst>
                          <a:ext uri="{FF2B5EF4-FFF2-40B4-BE49-F238E27FC236}">
                            <a16:creationId xmlns:a16="http://schemas.microsoft.com/office/drawing/2014/main" id="{1F3A932D-7EF6-4351-9C67-6AAC798E86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1711325"/>
                        <a:ext cx="6491287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600C385B-A5E3-44A7-92B2-C8ADA5F0C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3609975"/>
          <a:ext cx="3744912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5" imgW="1536480" imgH="457200" progId="Equation.DSMT4">
                  <p:embed/>
                </p:oleObj>
              </mc:Choice>
              <mc:Fallback>
                <p:oleObj name="Equation" r:id="rId5" imgW="1536480" imgH="457200" progId="Equation.DSMT4">
                  <p:embed/>
                  <p:pic>
                    <p:nvPicPr>
                      <p:cNvPr id="73732" name="Object 4">
                        <a:extLst>
                          <a:ext uri="{FF2B5EF4-FFF2-40B4-BE49-F238E27FC236}">
                            <a16:creationId xmlns:a16="http://schemas.microsoft.com/office/drawing/2014/main" id="{600C385B-A5E3-44A7-92B2-C8ADA5F0C8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609975"/>
                        <a:ext cx="3744912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6">
            <a:extLst>
              <a:ext uri="{FF2B5EF4-FFF2-40B4-BE49-F238E27FC236}">
                <a16:creationId xmlns:a16="http://schemas.microsoft.com/office/drawing/2014/main" id="{0A154E68-65C0-4C9D-90CB-5A76F6CB10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85788"/>
          <a:ext cx="31194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7" imgW="1295280" imgH="228600" progId="Equation.DSMT4">
                  <p:embed/>
                </p:oleObj>
              </mc:Choice>
              <mc:Fallback>
                <p:oleObj name="Equation" r:id="rId7" imgW="1295280" imgH="228600" progId="Equation.DSMT4">
                  <p:embed/>
                  <p:pic>
                    <p:nvPicPr>
                      <p:cNvPr id="73734" name="Object 6">
                        <a:extLst>
                          <a:ext uri="{FF2B5EF4-FFF2-40B4-BE49-F238E27FC236}">
                            <a16:creationId xmlns:a16="http://schemas.microsoft.com/office/drawing/2014/main" id="{0A154E68-65C0-4C9D-90CB-5A76F6CB10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85788"/>
                        <a:ext cx="311943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Rectangle 7">
            <a:extLst>
              <a:ext uri="{FF2B5EF4-FFF2-40B4-BE49-F238E27FC236}">
                <a16:creationId xmlns:a16="http://schemas.microsoft.com/office/drawing/2014/main" id="{418E7E89-0946-4188-B309-43486681F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163638"/>
            <a:ext cx="4527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把 </a:t>
            </a:r>
            <a:r>
              <a:rPr kumimoji="1" lang="en-US" altLang="zh-CN" sz="28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再变成行最简形矩阵。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7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 build="p" autoUpdateAnimBg="0" advAuto="0"/>
      <p:bldP spid="73735" grpId="0" build="p" autoUpdateAnimBg="0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二、数域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35283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 b="1" dirty="0"/>
              <a:t>定义</a:t>
            </a:r>
            <a:r>
              <a:rPr lang="en-US" altLang="zh-CN" sz="2600" b="1" dirty="0"/>
              <a:t>1.7.1</a:t>
            </a:r>
            <a:r>
              <a:rPr lang="en-US" altLang="zh-CN" sz="2600" dirty="0"/>
              <a:t>   </a:t>
            </a:r>
            <a:r>
              <a:rPr lang="zh-CN" altLang="en-US" sz="2600" dirty="0"/>
              <a:t>设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是由一些数组成的集合，如果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中任意两个数的和、差、积、商（除数不为零）仍然是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中的数，那么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就称为一个</a:t>
            </a:r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数域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400" dirty="0"/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三、线性空间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0405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1.7.2</a:t>
            </a:r>
            <a:r>
              <a:rPr lang="en-US" altLang="zh-CN" sz="2600" dirty="0"/>
              <a:t>   </a:t>
            </a:r>
            <a:r>
              <a:rPr lang="zh-CN" altLang="en-US" sz="2400" dirty="0"/>
              <a:t>设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是为一个非空集合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为实数域，如果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定义了一种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加法运算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：对任意元素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有唯一元素     与之对应，并称为    和    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又定义了一种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数乘运算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：对任意的一个数           与任意一个元素         ，总有唯一的元素         与之对应，称为    与    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积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，记作        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对任意的                      和任意的                 ，加法和数乘运算满足以下八条运算规律：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                     </a:t>
            </a:r>
            <a:endParaRPr lang="en-US" altLang="zh-CN" sz="240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508104" y="2204864"/>
          <a:ext cx="13065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Equation" r:id="rId3" imgW="15240000" imgH="4876800" progId="Equation.DSMT4">
                  <p:embed/>
                </p:oleObj>
              </mc:Choice>
              <mc:Fallback>
                <p:oleObj name="Equation" r:id="rId3" imgW="15240000" imgH="48768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08104" y="2204864"/>
                        <a:ext cx="1306513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316417" y="2204864"/>
          <a:ext cx="216024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name="Equation" r:id="rId5" imgW="3048000" imgH="3962400" progId="Equation.DSMT4">
                  <p:embed/>
                </p:oleObj>
              </mc:Choice>
              <mc:Fallback>
                <p:oleObj name="Equation" r:id="rId5" imgW="3048000" imgH="39624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16417" y="2204864"/>
                        <a:ext cx="216024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915816" y="2852936"/>
          <a:ext cx="3127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Equation" r:id="rId7" imgW="3657600" imgH="3352800" progId="Equation.DSMT4">
                  <p:embed/>
                </p:oleObj>
              </mc:Choice>
              <mc:Fallback>
                <p:oleObj name="Equation" r:id="rId7" imgW="3657600" imgH="33528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15816" y="2852936"/>
                        <a:ext cx="312738" cy="287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563888" y="2780928"/>
          <a:ext cx="3127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Equation" r:id="rId9" imgW="3657600" imgH="4876800" progId="Equation.DSMT4">
                  <p:embed/>
                </p:oleObj>
              </mc:Choice>
              <mc:Fallback>
                <p:oleObj name="Equation" r:id="rId9" imgW="3657600" imgH="48768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63888" y="2780928"/>
                        <a:ext cx="312738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364088" y="2780928"/>
          <a:ext cx="10683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Equation" r:id="rId11" imgW="12496800" imgH="4876800" progId="Equation.DSMT4">
                  <p:embed/>
                </p:oleObj>
              </mc:Choice>
              <mc:Fallback>
                <p:oleObj name="Equation" r:id="rId11" imgW="12496800" imgH="48768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64088" y="2780928"/>
                        <a:ext cx="1068388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51920" y="3284984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13" imgW="9448800" imgH="4267200" progId="Equation.DSMT4">
                  <p:embed/>
                </p:oleObj>
              </mc:Choice>
              <mc:Fallback>
                <p:oleObj name="Equation" r:id="rId13" imgW="9448800" imgH="42672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51920" y="3284984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04248" y="3284984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Equation" r:id="rId15" imgW="9448800" imgH="4267200" progId="Equation.DSMT4">
                  <p:embed/>
                </p:oleObj>
              </mc:Choice>
              <mc:Fallback>
                <p:oleObj name="Equation" r:id="rId15" imgW="9448800" imgH="42672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04248" y="3284984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051720" y="3861048"/>
          <a:ext cx="7810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17" imgW="9144000" imgH="4267200" progId="Equation.DSMT4">
                  <p:embed/>
                </p:oleObj>
              </mc:Choice>
              <mc:Fallback>
                <p:oleObj name="Equation" r:id="rId17" imgW="9144000" imgH="42672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51720" y="3861048"/>
                        <a:ext cx="7810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860032" y="3861048"/>
          <a:ext cx="2841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quation" r:id="rId19" imgW="3352800" imgH="4267200" progId="Equation.DSMT4">
                  <p:embed/>
                </p:oleObj>
              </mc:Choice>
              <mc:Fallback>
                <p:oleObj name="Equation" r:id="rId19" imgW="3352800" imgH="42672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60032" y="3861048"/>
                        <a:ext cx="284163" cy="361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436096" y="3933056"/>
          <a:ext cx="3127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quation" r:id="rId21" imgW="3657600" imgH="3352800" progId="Equation.DSMT4">
                  <p:embed/>
                </p:oleObj>
              </mc:Choice>
              <mc:Fallback>
                <p:oleObj name="Equation" r:id="rId21" imgW="3657600" imgH="3352800" progId="Equation.DSMT4">
                  <p:embed/>
                  <p:pic>
                    <p:nvPicPr>
                      <p:cNvPr id="0" name="图片 717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436096" y="3933056"/>
                        <a:ext cx="312738" cy="287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236296" y="3861048"/>
          <a:ext cx="985838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Equation" r:id="rId23" imgW="11582400" imgH="4267200" progId="Equation.DSMT4">
                  <p:embed/>
                </p:oleObj>
              </mc:Choice>
              <mc:Fallback>
                <p:oleObj name="Equation" r:id="rId23" imgW="11582400" imgH="4267200" progId="Equation.DSMT4">
                  <p:embed/>
                  <p:pic>
                    <p:nvPicPr>
                      <p:cNvPr id="0" name="图片 717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236296" y="3861048"/>
                        <a:ext cx="985838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10102"/>
              </p:ext>
            </p:extLst>
          </p:nvPr>
        </p:nvGraphicFramePr>
        <p:xfrm>
          <a:off x="1306513" y="5661025"/>
          <a:ext cx="15668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tion" r:id="rId25" imgW="18288000" imgH="4876800" progId="Equation.DSMT4">
                  <p:embed/>
                </p:oleObj>
              </mc:Choice>
              <mc:Fallback>
                <p:oleObj name="Equation" r:id="rId25" imgW="18288000" imgH="4876800" progId="Equation.DSMT4">
                  <p:embed/>
                  <p:pic>
                    <p:nvPicPr>
                      <p:cNvPr id="0" name="图片 717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306513" y="5661025"/>
                        <a:ext cx="1566862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直角三角形 1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B81F53A-1C71-418D-AD71-759128AF0C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02426"/>
              </p:ext>
            </p:extLst>
          </p:nvPr>
        </p:nvGraphicFramePr>
        <p:xfrm>
          <a:off x="2233065" y="4434929"/>
          <a:ext cx="1618855" cy="507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name="Equation" r:id="rId27" imgW="647640" imgH="203040" progId="Equation.DSMT4">
                  <p:embed/>
                </p:oleObj>
              </mc:Choice>
              <mc:Fallback>
                <p:oleObj name="Equation" r:id="rId27" imgW="6476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233065" y="4434929"/>
                        <a:ext cx="1618855" cy="5078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9A5B6946-D004-4D38-AE1E-51F8ABCFFF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004704"/>
              </p:ext>
            </p:extLst>
          </p:nvPr>
        </p:nvGraphicFramePr>
        <p:xfrm>
          <a:off x="5097959" y="4432825"/>
          <a:ext cx="1301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name="Equation" r:id="rId29" imgW="520560" imgH="203040" progId="Equation.DSMT4">
                  <p:embed/>
                </p:oleObj>
              </mc:Choice>
              <mc:Fallback>
                <p:oleObj name="Equation" r:id="rId29" imgW="520560" imgH="20304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0B81F53A-1C71-418D-AD71-759128AF0C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097959" y="4432825"/>
                        <a:ext cx="130175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260648"/>
            <a:ext cx="8229600" cy="482453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(2)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(3) </a:t>
            </a:r>
            <a:r>
              <a:rPr lang="zh-CN" altLang="en-US" sz="2400" dirty="0"/>
              <a:t>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中存在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零元素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，对任何          ，都有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(4) </a:t>
            </a:r>
            <a:r>
              <a:rPr lang="zh-CN" altLang="en-US" sz="2400" dirty="0"/>
              <a:t>对任何       ，都有    的负元素        ，使得         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(5)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i="1" dirty="0"/>
              <a:t>(6)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(7)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(8)  </a:t>
            </a: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400" dirty="0"/>
          </a:p>
        </p:txBody>
      </p:sp>
      <p:sp>
        <p:nvSpPr>
          <p:cNvPr id="11" name="内容占位符 2"/>
          <p:cNvSpPr txBox="1"/>
          <p:nvPr/>
        </p:nvSpPr>
        <p:spPr>
          <a:xfrm>
            <a:off x="179512" y="4941168"/>
            <a:ext cx="8229600" cy="146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则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称为实数域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线性空间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（或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向量空间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中的元素也称为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27584" y="404664"/>
          <a:ext cx="292258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Equation" r:id="rId3" imgW="34137600" imgH="6096000" progId="Equation.DSMT4">
                  <p:embed/>
                </p:oleObj>
              </mc:Choice>
              <mc:Fallback>
                <p:oleObj name="Equation" r:id="rId3" imgW="34137600" imgH="60960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584" y="404664"/>
                        <a:ext cx="2922588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4572000" y="1052736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Equation" r:id="rId5" imgW="9448800" imgH="4267200" progId="Equation.DSMT4">
                  <p:embed/>
                </p:oleObj>
              </mc:Choice>
              <mc:Fallback>
                <p:oleObj name="Equation" r:id="rId5" imgW="9448800" imgH="42672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0" y="1052736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372200" y="1052736"/>
          <a:ext cx="11271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Equation" r:id="rId7" imgW="13106400" imgH="4572000" progId="Equation.DSMT4">
                  <p:embed/>
                </p:oleObj>
              </mc:Choice>
              <mc:Fallback>
                <p:oleObj name="Equation" r:id="rId7" imgW="13106400" imgH="45720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72200" y="1052736"/>
                        <a:ext cx="1127125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1835696" y="1700808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Equation" r:id="rId9" imgW="9448800" imgH="4267200" progId="Equation.DSMT4">
                  <p:embed/>
                </p:oleObj>
              </mc:Choice>
              <mc:Fallback>
                <p:oleObj name="Equation" r:id="rId9" imgW="9448800" imgH="42672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35696" y="1700808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63888" y="1772816"/>
          <a:ext cx="312738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Equation" r:id="rId11" imgW="3657600" imgH="3352800" progId="Equation.DSMT4">
                  <p:embed/>
                </p:oleObj>
              </mc:Choice>
              <mc:Fallback>
                <p:oleObj name="Equation" r:id="rId11" imgW="3657600" imgH="33528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63888" y="1772816"/>
                        <a:ext cx="312738" cy="287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/>
        </p:nvGraphicFramePr>
        <p:xfrm>
          <a:off x="5220072" y="1628800"/>
          <a:ext cx="8318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Equation" r:id="rId13" imgW="9753600" imgH="4876800" progId="Equation.DSMT4">
                  <p:embed/>
                </p:oleObj>
              </mc:Choice>
              <mc:Fallback>
                <p:oleObj name="Equation" r:id="rId13" imgW="9753600" imgH="48768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20072" y="1628800"/>
                        <a:ext cx="831850" cy="415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948264" y="1700808"/>
          <a:ext cx="112236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Equation" r:id="rId15" imgW="13106400" imgH="4876800" progId="Equation.DSMT4">
                  <p:embed/>
                </p:oleObj>
              </mc:Choice>
              <mc:Fallback>
                <p:oleObj name="Equation" r:id="rId15" imgW="13106400" imgH="4876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48264" y="1700808"/>
                        <a:ext cx="1122363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99592" y="2276872"/>
          <a:ext cx="88423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Equation" r:id="rId17" imgW="10363200" imgH="4572000" progId="Equation.DSMT4">
                  <p:embed/>
                </p:oleObj>
              </mc:Choice>
              <mc:Fallback>
                <p:oleObj name="Equation" r:id="rId17" imgW="10363200" imgH="45720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9592" y="2276872"/>
                        <a:ext cx="884237" cy="388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99592" y="2852936"/>
          <a:ext cx="21669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name="Equation" r:id="rId19" imgW="25298400" imgH="6096000" progId="Equation.DSMT4">
                  <p:embed/>
                </p:oleObj>
              </mc:Choice>
              <mc:Fallback>
                <p:oleObj name="Equation" r:id="rId19" imgW="25298400" imgH="60960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9592" y="2852936"/>
                        <a:ext cx="2166938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899592" y="4149080"/>
          <a:ext cx="24257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Equation" r:id="rId21" imgW="28346400" imgH="6096000" progId="Equation.DSMT4">
                  <p:embed/>
                </p:oleObj>
              </mc:Choice>
              <mc:Fallback>
                <p:oleObj name="Equation" r:id="rId21" imgW="28346400" imgH="6096000" progId="Equation.DSMT4">
                  <p:embed/>
                  <p:pic>
                    <p:nvPicPr>
                      <p:cNvPr id="0" name="图片 820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99592" y="4149080"/>
                        <a:ext cx="2425700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直角三角形 1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角三角形 15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1C2BE0D-95CC-4EC2-948E-8ED4CA98C6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854199"/>
              </p:ext>
            </p:extLst>
          </p:nvPr>
        </p:nvGraphicFramePr>
        <p:xfrm>
          <a:off x="837290" y="3512140"/>
          <a:ext cx="2342619" cy="509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Equation" r:id="rId23" imgW="1168200" imgH="253800" progId="Equation.DSMT4">
                  <p:embed/>
                </p:oleObj>
              </mc:Choice>
              <mc:Fallback>
                <p:oleObj name="Equation" r:id="rId23" imgW="11682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37290" y="3512140"/>
                        <a:ext cx="2342619" cy="509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07504" y="1916832"/>
            <a:ext cx="8784976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1.7.3</a:t>
            </a:r>
            <a:r>
              <a:rPr lang="en-US" altLang="zh-CN" sz="2400" dirty="0"/>
              <a:t>  </a:t>
            </a:r>
            <a:r>
              <a:rPr lang="zh-CN" altLang="en-US" sz="2400" dirty="0"/>
              <a:t>集合                                     是不是线性空间？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282878"/>
              </p:ext>
            </p:extLst>
          </p:nvPr>
        </p:nvGraphicFramePr>
        <p:xfrm>
          <a:off x="2195736" y="1844824"/>
          <a:ext cx="391318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3" imgW="45720000" imgH="8534400" progId="Equation.DSMT4">
                  <p:embed/>
                </p:oleObj>
              </mc:Choice>
              <mc:Fallback>
                <p:oleObj name="Equation" r:id="rId3" imgW="45720000" imgH="85344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1844824"/>
                        <a:ext cx="3913188" cy="730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95536" y="2996952"/>
            <a:ext cx="79208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/>
              <a:t>解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989482"/>
              </p:ext>
            </p:extLst>
          </p:nvPr>
        </p:nvGraphicFramePr>
        <p:xfrm>
          <a:off x="899592" y="2996952"/>
          <a:ext cx="4141787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5" imgW="48463200" imgH="6705600" progId="Equation.DSMT4">
                  <p:embed/>
                </p:oleObj>
              </mc:Choice>
              <mc:Fallback>
                <p:oleObj name="Equation" r:id="rId5" imgW="48463200" imgH="67056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9592" y="2996952"/>
                        <a:ext cx="4141787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623660"/>
              </p:ext>
            </p:extLst>
          </p:nvPr>
        </p:nvGraphicFramePr>
        <p:xfrm>
          <a:off x="5148064" y="2996952"/>
          <a:ext cx="35290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7" imgW="38404800" imgH="6705600" progId="Equation.DSMT4">
                  <p:embed/>
                </p:oleObj>
              </mc:Choice>
              <mc:Fallback>
                <p:oleObj name="Equation" r:id="rId7" imgW="38404800" imgH="67056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8064" y="2996952"/>
                        <a:ext cx="3529013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838060"/>
              </p:ext>
            </p:extLst>
          </p:nvPr>
        </p:nvGraphicFramePr>
        <p:xfrm>
          <a:off x="1209105" y="3717528"/>
          <a:ext cx="35226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9" imgW="41148000" imgH="4876800" progId="Equation.DSMT4">
                  <p:embed/>
                </p:oleObj>
              </mc:Choice>
              <mc:Fallback>
                <p:oleObj name="Equation" r:id="rId9" imgW="41148000" imgH="48768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09105" y="3717528"/>
                        <a:ext cx="3522662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03A418AE-9AA5-499C-BC4F-90C859D119DD}"/>
              </a:ext>
            </a:extLst>
          </p:cNvPr>
          <p:cNvSpPr txBox="1"/>
          <p:nvPr/>
        </p:nvSpPr>
        <p:spPr>
          <a:xfrm>
            <a:off x="251520" y="605839"/>
            <a:ext cx="8229600" cy="765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注意：线性空间对加法和乘法运算是封闭的。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四、线性空间的性质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0610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线性空间有如下</a:t>
            </a:r>
            <a:r>
              <a:rPr lang="zh-CN" altLang="en-US" sz="2400" b="1" dirty="0">
                <a:solidFill>
                  <a:srgbClr val="0000FF"/>
                </a:solidFill>
              </a:rPr>
              <a:t>性质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(1) </a:t>
            </a:r>
            <a:r>
              <a:rPr lang="zh-CN" altLang="en-US" sz="2400" dirty="0"/>
              <a:t>零元素的唯一性；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(2) </a:t>
            </a:r>
            <a:r>
              <a:rPr lang="zh-CN" altLang="en-US" sz="2400" dirty="0"/>
              <a:t>任何元素的负元素唯一；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(3)                              </a:t>
            </a:r>
            <a:r>
              <a:rPr lang="zh-CN" altLang="en-US" sz="2400" dirty="0"/>
              <a:t>；</a:t>
            </a:r>
            <a:r>
              <a:rPr lang="en-US" altLang="zh-CN" sz="2400" dirty="0"/>
              <a:t>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(4) </a:t>
            </a:r>
            <a:r>
              <a:rPr lang="zh-CN" altLang="en-US" sz="2400" dirty="0"/>
              <a:t>如果          则       或       </a:t>
            </a:r>
            <a:r>
              <a:rPr lang="en-US" altLang="zh-CN" sz="2400" dirty="0"/>
              <a:t>.</a:t>
            </a:r>
            <a:r>
              <a:rPr lang="zh-CN" altLang="en-US" sz="2400" dirty="0"/>
              <a:t>         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15616" y="3356992"/>
          <a:ext cx="31305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3" imgW="36576000" imgH="6096000" progId="Equation.DSMT4">
                  <p:embed/>
                </p:oleObj>
              </mc:Choice>
              <mc:Fallback>
                <p:oleObj name="Equation" r:id="rId3" imgW="36576000" imgH="60960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3356992"/>
                        <a:ext cx="3130550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63688" y="4005064"/>
          <a:ext cx="91122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5" imgW="10668000" imgH="4267200" progId="Equation.DSMT4">
                  <p:embed/>
                </p:oleObj>
              </mc:Choice>
              <mc:Fallback>
                <p:oleObj name="Equation" r:id="rId5" imgW="10668000" imgH="42672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63688" y="4005064"/>
                        <a:ext cx="911225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131840" y="4005064"/>
          <a:ext cx="6223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7" imgW="7315200" imgH="4267200" progId="Equation.DSMT4">
                  <p:embed/>
                </p:oleObj>
              </mc:Choice>
              <mc:Fallback>
                <p:oleObj name="Equation" r:id="rId7" imgW="7315200" imgH="42672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1840" y="4005064"/>
                        <a:ext cx="622300" cy="361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283968" y="4005064"/>
          <a:ext cx="6477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9" imgW="7620000" imgH="4267200" progId="Equation.DSMT4">
                  <p:embed/>
                </p:oleObj>
              </mc:Choice>
              <mc:Fallback>
                <p:oleObj name="Equation" r:id="rId9" imgW="7620000" imgH="42672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83968" y="4005064"/>
                        <a:ext cx="647700" cy="361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直角三角形 9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五、线性子空间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18002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1.7.3</a:t>
            </a:r>
            <a:r>
              <a:rPr lang="en-US" altLang="zh-CN" sz="2600" dirty="0"/>
              <a:t>   </a:t>
            </a:r>
            <a:r>
              <a:rPr lang="zh-CN" altLang="en-US" sz="2400" dirty="0"/>
              <a:t>设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是一个线性空间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的一个子集，如果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547664" y="2276872"/>
          <a:ext cx="12779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3" imgW="14935200" imgH="4876800" progId="Equation.DSMT4">
                  <p:embed/>
                </p:oleObj>
              </mc:Choice>
              <mc:Fallback>
                <p:oleObj name="Equation" r:id="rId3" imgW="14935200" imgH="4876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2276872"/>
                        <a:ext cx="1277938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83968" y="2276872"/>
          <a:ext cx="29479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5" imgW="34442400" imgH="4876800" progId="Equation.DSMT4">
                  <p:embed/>
                </p:oleObj>
              </mc:Choice>
              <mc:Fallback>
                <p:oleObj name="Equation" r:id="rId5" imgW="34442400" imgH="4876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3968" y="2276872"/>
                        <a:ext cx="2947988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/>
          <p:nvPr/>
        </p:nvSpPr>
        <p:spPr>
          <a:xfrm>
            <a:off x="467544" y="2060848"/>
            <a:ext cx="8229600" cy="1368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对任意                     和任意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        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则称</a:t>
            </a: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539552" y="2780928"/>
            <a:ext cx="8229600" cy="12241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的一个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子空间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8" name="直角三角形 7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直角三角形 8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 uiExpand="1" build="p"/>
      <p:bldP spid="7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/>
              <a:t>六、线性空间的基和维数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340768"/>
            <a:ext cx="8964488" cy="453650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1.7.4</a:t>
            </a:r>
            <a:r>
              <a:rPr lang="en-US" altLang="zh-CN" sz="2600" dirty="0"/>
              <a:t>   </a:t>
            </a:r>
            <a:r>
              <a:rPr lang="zh-CN" altLang="en-US" sz="2400" dirty="0"/>
              <a:t>在线性空间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中，如果存在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个向量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zh-CN" altLang="en-US" sz="2600" dirty="0"/>
              <a:t>，</a:t>
            </a:r>
            <a:r>
              <a:rPr lang="zh-CN" altLang="en-US" sz="2400" dirty="0"/>
              <a:t>满足：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(1)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线性无关；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(2)  </a:t>
            </a:r>
            <a:r>
              <a:rPr lang="en-US" altLang="zh-CN" sz="2400" i="1" dirty="0"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中任意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个向量都可以由                            线性表示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则称                             是线性空间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cs typeface="Times New Roman" panose="02020603050405020304" pitchFamily="18" charset="0"/>
              </a:rPr>
              <a:t>的一个</a:t>
            </a:r>
            <a:r>
              <a:rPr lang="zh-CN" altLang="en-US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基</a:t>
            </a:r>
            <a:r>
              <a:rPr lang="zh-CN" altLang="en-US" sz="2400" dirty="0">
                <a:cs typeface="Times New Roman" panose="02020603050405020304" pitchFamily="18" charset="0"/>
              </a:rPr>
              <a:t>，数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称为线性空间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维数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dimV</a:t>
            </a:r>
            <a:r>
              <a:rPr lang="en-US" altLang="zh-CN" sz="2400" i="1" dirty="0">
                <a:cs typeface="Times New Roman" panose="02020603050405020304" pitchFamily="18" charset="0"/>
              </a:rPr>
              <a:t>=r.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804248" y="1556792"/>
          <a:ext cx="19510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3" imgW="22860000" imgH="5486400" progId="Equation.DSMT4">
                  <p:embed/>
                </p:oleObj>
              </mc:Choice>
              <mc:Fallback>
                <p:oleObj name="Equation" r:id="rId3" imgW="22860000" imgH="54864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04248" y="1556792"/>
                        <a:ext cx="195103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43608" y="2708920"/>
          <a:ext cx="19510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5" imgW="22860000" imgH="5486400" progId="Equation.DSMT4">
                  <p:embed/>
                </p:oleObj>
              </mc:Choice>
              <mc:Fallback>
                <p:oleObj name="Equation" r:id="rId5" imgW="22860000" imgH="54864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3608" y="2708920"/>
                        <a:ext cx="1951038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971600" y="4005064"/>
          <a:ext cx="19510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7" imgW="22860000" imgH="5486400" progId="Equation.DSMT4">
                  <p:embed/>
                </p:oleObj>
              </mc:Choice>
              <mc:Fallback>
                <p:oleObj name="Equation" r:id="rId7" imgW="22860000" imgH="54864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600" y="4005064"/>
                        <a:ext cx="1951038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4572000" y="3356992"/>
          <a:ext cx="19510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9" imgW="22860000" imgH="5486400" progId="Equation.DSMT4">
                  <p:embed/>
                </p:oleObj>
              </mc:Choice>
              <mc:Fallback>
                <p:oleObj name="Equation" r:id="rId9" imgW="22860000" imgH="54864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72000" y="3356992"/>
                        <a:ext cx="195103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187220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1.7.5</a:t>
            </a:r>
            <a:r>
              <a:rPr lang="en-US" altLang="zh-CN" sz="2600" dirty="0"/>
              <a:t>   </a:t>
            </a:r>
            <a:r>
              <a:rPr lang="zh-CN" altLang="en-US" sz="2400" dirty="0"/>
              <a:t>如果一个线性空间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中存在任意多个线性无关的向量，则称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无限维线性空间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467544" y="3356992"/>
            <a:ext cx="8229600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</a:t>
            </a:r>
            <a:r>
              <a:rPr lang="zh-CN" altLang="en-US" sz="2400" b="1" dirty="0"/>
              <a:t>理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1.7.1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若线性空间</a:t>
            </a:r>
            <a:r>
              <a:rPr kumimoji="0" lang="en-US" altLang="zh-CN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的维数</a:t>
            </a:r>
            <a:r>
              <a:rPr lang="en-US" altLang="zh-CN" sz="2400" i="1" dirty="0" err="1">
                <a:cs typeface="Times New Roman" panose="02020603050405020304" pitchFamily="18" charset="0"/>
              </a:rPr>
              <a:t>dimV</a:t>
            </a:r>
            <a:r>
              <a:rPr lang="en-US" altLang="zh-CN" sz="2400" i="1" dirty="0">
                <a:cs typeface="Times New Roman" panose="02020603050405020304" pitchFamily="18" charset="0"/>
              </a:rPr>
              <a:t>=r</a:t>
            </a:r>
            <a:r>
              <a:rPr lang="zh-CN" altLang="en-US" sz="2400" dirty="0">
                <a:cs typeface="Times New Roman" panose="02020603050405020304" pitchFamily="18" charset="0"/>
              </a:rPr>
              <a:t>，则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中任意</a:t>
            </a:r>
            <a:r>
              <a:rPr lang="en-US" altLang="zh-CN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线性无关的向量都是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21602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/>
              <a:t>定义</a:t>
            </a:r>
            <a:r>
              <a:rPr lang="en-US" altLang="zh-CN" sz="2600" b="1" dirty="0"/>
              <a:t>1.7.6</a:t>
            </a:r>
            <a:r>
              <a:rPr lang="en-US" altLang="zh-CN" sz="2600" dirty="0"/>
              <a:t>   </a:t>
            </a:r>
            <a:r>
              <a:rPr lang="zh-CN" altLang="en-US" sz="2400" dirty="0"/>
              <a:t>设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线性空间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的一个基，对于任意元素         ，有且仅有一组序数                            ，使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27784" y="980728"/>
          <a:ext cx="1951037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3" imgW="22860000" imgH="5486400" progId="Equation.DSMT4">
                  <p:embed/>
                </p:oleObj>
              </mc:Choice>
              <mc:Fallback>
                <p:oleObj name="Equation" r:id="rId3" imgW="22860000" imgH="54864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27784" y="980728"/>
                        <a:ext cx="1951037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644008" y="1628800"/>
          <a:ext cx="22891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5" imgW="26822400" imgH="5486400" progId="Equation.DSMT4">
                  <p:embed/>
                </p:oleObj>
              </mc:Choice>
              <mc:Fallback>
                <p:oleObj name="Equation" r:id="rId5" imgW="26822400" imgH="54864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44008" y="1628800"/>
                        <a:ext cx="228917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755576" y="3140968"/>
          <a:ext cx="2133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Equation" r:id="rId7" imgW="24993600" imgH="6705600" progId="Equation.DSMT4">
                  <p:embed/>
                </p:oleObj>
              </mc:Choice>
              <mc:Fallback>
                <p:oleObj name="Equation" r:id="rId7" imgW="24993600" imgH="67056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576" y="3140968"/>
                        <a:ext cx="2133600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2555776" y="2420888"/>
          <a:ext cx="28606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Equation" r:id="rId9" imgW="33528000" imgH="5486400" progId="Equation.DSMT4">
                  <p:embed/>
                </p:oleObj>
              </mc:Choice>
              <mc:Fallback>
                <p:oleObj name="Equation" r:id="rId9" imgW="33528000" imgH="54864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55776" y="2420888"/>
                        <a:ext cx="286067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87624" y="1628800"/>
          <a:ext cx="806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11" imgW="9448800" imgH="4267200" progId="Equation.DSMT4">
                  <p:embed/>
                </p:oleObj>
              </mc:Choice>
              <mc:Fallback>
                <p:oleObj name="Equation" r:id="rId11" imgW="9448800" imgH="42672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87624" y="1628800"/>
                        <a:ext cx="806450" cy="3635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563888" y="3284984"/>
          <a:ext cx="312738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Equation" r:id="rId13" imgW="3657600" imgH="3352800" progId="Equation.DSMT4">
                  <p:embed/>
                </p:oleObj>
              </mc:Choice>
              <mc:Fallback>
                <p:oleObj name="Equation" r:id="rId13" imgW="3657600" imgH="3352800" progId="Equation.DSMT4">
                  <p:embed/>
                  <p:pic>
                    <p:nvPicPr>
                      <p:cNvPr id="0" name="图片 1331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63888" y="3284984"/>
                        <a:ext cx="312738" cy="2873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4355976" y="3212976"/>
          <a:ext cx="19510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Equation" r:id="rId15" imgW="22860000" imgH="5486400" progId="Equation.DSMT4">
                  <p:embed/>
                </p:oleObj>
              </mc:Choice>
              <mc:Fallback>
                <p:oleObj name="Equation" r:id="rId15" imgW="22860000" imgH="54864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55976" y="3212976"/>
                        <a:ext cx="1951038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内容占位符 2"/>
          <p:cNvSpPr txBox="1"/>
          <p:nvPr/>
        </p:nvSpPr>
        <p:spPr>
          <a:xfrm>
            <a:off x="251520" y="3068960"/>
            <a:ext cx="864096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这个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基下的坐标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    </a:t>
            </a:r>
          </a:p>
        </p:txBody>
      </p:sp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三角形 1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79512" y="764704"/>
            <a:ext cx="8784976" cy="1728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1.7.4</a:t>
            </a:r>
            <a:r>
              <a:rPr lang="en-US" altLang="zh-CN" sz="2400" dirty="0"/>
              <a:t>  </a:t>
            </a:r>
            <a:r>
              <a:rPr lang="zh-CN" altLang="en-US" sz="2400" dirty="0"/>
              <a:t>设向量组</a:t>
            </a: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43050" y="1484313"/>
          <a:ext cx="60277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Equation" r:id="rId3" imgW="70408800" imgH="6705600" progId="Equation.DSMT4">
                  <p:embed/>
                </p:oleObj>
              </mc:Choice>
              <mc:Fallback>
                <p:oleObj name="Equation" r:id="rId3" imgW="70408800" imgH="67056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3050" y="1484313"/>
                        <a:ext cx="6027738" cy="573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627784" y="2348880"/>
          <a:ext cx="153511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Equation" r:id="rId5" imgW="17983200" imgH="5486400" progId="Equation.DSMT4">
                  <p:embed/>
                </p:oleObj>
              </mc:Choice>
              <mc:Fallback>
                <p:oleObj name="Equation" r:id="rId5" imgW="17983200" imgH="54864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7784" y="2348880"/>
                        <a:ext cx="1535113" cy="4683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40152" y="2348880"/>
          <a:ext cx="3921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Equation" r:id="rId7" imgW="4572000" imgH="4572000" progId="Equation.DSMT4">
                  <p:embed/>
                </p:oleObj>
              </mc:Choice>
              <mc:Fallback>
                <p:oleObj name="Equation" r:id="rId7" imgW="4572000" imgH="45720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40152" y="2348880"/>
                        <a:ext cx="392113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2195736" y="3284984"/>
          <a:ext cx="1508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Equation" r:id="rId9" imgW="17678400" imgH="6705600" progId="Equation.DSMT4">
                  <p:embed/>
                </p:oleObj>
              </mc:Choice>
              <mc:Fallback>
                <p:oleObj name="Equation" r:id="rId9" imgW="17678400" imgH="67056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95736" y="3284984"/>
                        <a:ext cx="1508125" cy="571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4427984" y="3284984"/>
          <a:ext cx="15335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Equation" r:id="rId11" imgW="17983200" imgH="5486400" progId="Equation.DSMT4">
                  <p:embed/>
                </p:oleObj>
              </mc:Choice>
              <mc:Fallback>
                <p:oleObj name="Equation" r:id="rId11" imgW="17983200" imgH="54864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27984" y="3284984"/>
                        <a:ext cx="1533525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内容占位符 2"/>
          <p:cNvSpPr txBox="1"/>
          <p:nvPr/>
        </p:nvSpPr>
        <p:spPr>
          <a:xfrm>
            <a:off x="359024" y="1484784"/>
            <a:ext cx="8784976" cy="15121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(1)  </a:t>
            </a:r>
            <a:r>
              <a:rPr lang="zh-CN" altLang="en-US" sz="2400" dirty="0"/>
              <a:t>证明向量组                是欧氏空间    的一组基；</a:t>
            </a:r>
            <a:endParaRPr lang="en-US" altLang="zh-CN" sz="2400" dirty="0"/>
          </a:p>
        </p:txBody>
      </p:sp>
      <p:sp>
        <p:nvSpPr>
          <p:cNvPr id="9" name="内容占位符 2"/>
          <p:cNvSpPr txBox="1"/>
          <p:nvPr/>
        </p:nvSpPr>
        <p:spPr>
          <a:xfrm>
            <a:off x="359024" y="1844824"/>
            <a:ext cx="8784976" cy="20162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cs typeface="Times New Roman" panose="02020603050405020304" pitchFamily="18" charset="0"/>
              </a:rPr>
              <a:t>(2)  </a:t>
            </a:r>
            <a:r>
              <a:rPr lang="zh-CN" altLang="en-US" sz="2400" dirty="0">
                <a:cs typeface="Times New Roman" panose="02020603050405020304" pitchFamily="18" charset="0"/>
              </a:rPr>
              <a:t>求向量                在基               下的坐标</a:t>
            </a:r>
            <a:r>
              <a:rPr lang="en-US" altLang="zh-CN" sz="2400" dirty="0">
                <a:cs typeface="Times New Roman" panose="02020603050405020304" pitchFamily="18" charset="0"/>
              </a:rPr>
              <a:t>.</a:t>
            </a:r>
            <a:endParaRPr lang="zh-CN" altLang="en-US" sz="2400" dirty="0"/>
          </a:p>
        </p:txBody>
      </p:sp>
      <p:sp>
        <p:nvSpPr>
          <p:cNvPr id="10" name="直角三角形 9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2"/>
          <p:cNvSpPr txBox="1"/>
          <p:nvPr/>
        </p:nvSpPr>
        <p:spPr>
          <a:xfrm>
            <a:off x="323528" y="260648"/>
            <a:ext cx="648072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b="1" dirty="0"/>
              <a:t>解</a:t>
            </a:r>
          </a:p>
        </p:txBody>
      </p:sp>
      <p:sp>
        <p:nvSpPr>
          <p:cNvPr id="21" name="内容占位符 2"/>
          <p:cNvSpPr txBox="1"/>
          <p:nvPr/>
        </p:nvSpPr>
        <p:spPr>
          <a:xfrm>
            <a:off x="251520" y="2276872"/>
            <a:ext cx="230425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解该方程组得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195736" y="692696"/>
          <a:ext cx="2727325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Equation" r:id="rId3" imgW="30175200" imgH="17068800" progId="Equation.DSMT4">
                  <p:embed/>
                </p:oleObj>
              </mc:Choice>
              <mc:Fallback>
                <p:oleObj name="Equation" r:id="rId3" imgW="30175200" imgH="17068800" progId="Equation.DSMT4">
                  <p:embed/>
                  <p:pic>
                    <p:nvPicPr>
                      <p:cNvPr id="0" name="图片 15360" descr="image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692696"/>
                        <a:ext cx="2727325" cy="1546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115616" y="260648"/>
          <a:ext cx="602773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Equation" r:id="rId5" imgW="70408800" imgH="6096000" progId="Equation.DSMT4">
                  <p:embed/>
                </p:oleObj>
              </mc:Choice>
              <mc:Fallback>
                <p:oleObj name="Equation" r:id="rId5" imgW="70408800" imgH="60960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5616" y="260648"/>
                        <a:ext cx="6027738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4" name="Object 10"/>
          <p:cNvGraphicFramePr>
            <a:graphicFrameLocks noChangeAspect="1"/>
          </p:cNvGraphicFramePr>
          <p:nvPr/>
        </p:nvGraphicFramePr>
        <p:xfrm>
          <a:off x="2195736" y="2348880"/>
          <a:ext cx="16383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7" imgW="19202400" imgH="5486400" progId="Equation.DSMT4">
                  <p:embed/>
                </p:oleObj>
              </mc:Choice>
              <mc:Fallback>
                <p:oleObj name="Equation" r:id="rId7" imgW="19202400" imgH="54864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5736" y="2348880"/>
                        <a:ext cx="1638300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843337" y="2348880"/>
          <a:ext cx="53006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Equation" r:id="rId9" imgW="62179200" imgH="5486400" progId="Equation.DSMT4">
                  <p:embed/>
                </p:oleObj>
              </mc:Choice>
              <mc:Fallback>
                <p:oleObj name="Equation" r:id="rId9" imgW="62179200" imgH="54864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43337" y="2348880"/>
                        <a:ext cx="5300663" cy="4683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7" name="Object 13"/>
          <p:cNvGraphicFramePr>
            <a:graphicFrameLocks noChangeAspect="1"/>
          </p:cNvGraphicFramePr>
          <p:nvPr/>
        </p:nvGraphicFramePr>
        <p:xfrm>
          <a:off x="1116013" y="3429000"/>
          <a:ext cx="61579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name="Equation" r:id="rId11" imgW="71932800" imgH="6096000" progId="Equation.DSMT4">
                  <p:embed/>
                </p:oleObj>
              </mc:Choice>
              <mc:Fallback>
                <p:oleObj name="Equation" r:id="rId11" imgW="71932800" imgH="60960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16013" y="3429000"/>
                        <a:ext cx="6157912" cy="522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4" descr="image9"/>
          <p:cNvGraphicFramePr>
            <a:graphicFrameLocks noChangeAspect="1"/>
          </p:cNvGraphicFramePr>
          <p:nvPr/>
        </p:nvGraphicFramePr>
        <p:xfrm>
          <a:off x="2339752" y="3933056"/>
          <a:ext cx="2727325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Equation" r:id="rId13" imgW="30175200" imgH="17068800" progId="Equation.DSMT4">
                  <p:embed/>
                </p:oleObj>
              </mc:Choice>
              <mc:Fallback>
                <p:oleObj name="Equation" r:id="rId13" imgW="30175200" imgH="17068800" progId="Equation.DSMT4">
                  <p:embed/>
                  <p:pic>
                    <p:nvPicPr>
                      <p:cNvPr id="0" name="图片 15366" descr="image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9752" y="3933056"/>
                        <a:ext cx="2727325" cy="1546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内容占位符 2"/>
          <p:cNvSpPr txBox="1"/>
          <p:nvPr/>
        </p:nvSpPr>
        <p:spPr>
          <a:xfrm>
            <a:off x="5292080" y="4149080"/>
            <a:ext cx="2304256" cy="532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解该方程组得</a:t>
            </a:r>
          </a:p>
        </p:txBody>
      </p:sp>
      <p:graphicFrame>
        <p:nvGraphicFramePr>
          <p:cNvPr id="57359" name="Object 15"/>
          <p:cNvGraphicFramePr>
            <a:graphicFrameLocks noChangeAspect="1"/>
          </p:cNvGraphicFramePr>
          <p:nvPr/>
        </p:nvGraphicFramePr>
        <p:xfrm>
          <a:off x="5436096" y="4653136"/>
          <a:ext cx="32226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Equation" r:id="rId15" imgW="37795200" imgH="9448800" progId="Equation.DSMT4">
                  <p:embed/>
                </p:oleObj>
              </mc:Choice>
              <mc:Fallback>
                <p:oleObj name="Equation" r:id="rId15" imgW="37795200" imgH="94488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436096" y="4653136"/>
                        <a:ext cx="3222625" cy="806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Object 16"/>
          <p:cNvGraphicFramePr>
            <a:graphicFrameLocks noChangeAspect="1"/>
          </p:cNvGraphicFramePr>
          <p:nvPr/>
        </p:nvGraphicFramePr>
        <p:xfrm>
          <a:off x="899592" y="5661248"/>
          <a:ext cx="61849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Equation" r:id="rId17" imgW="72542400" imgH="10363200" progId="Equation.DSMT4">
                  <p:embed/>
                </p:oleObj>
              </mc:Choice>
              <mc:Fallback>
                <p:oleObj name="Equation" r:id="rId17" imgW="72542400" imgH="10363200" progId="Equation.DSMT4">
                  <p:embed/>
                  <p:pic>
                    <p:nvPicPr>
                      <p:cNvPr id="0" name="图片 1536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9592" y="5661248"/>
                        <a:ext cx="6184900" cy="885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直角三角形 1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三角形 1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2B4DD708-7722-433F-990E-9564E5A8DB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196556"/>
              </p:ext>
            </p:extLst>
          </p:nvPr>
        </p:nvGraphicFramePr>
        <p:xfrm>
          <a:off x="454025" y="2894013"/>
          <a:ext cx="8232775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Equation" r:id="rId19" imgW="3759120" imgH="241200" progId="Equation.DSMT4">
                  <p:embed/>
                </p:oleObj>
              </mc:Choice>
              <mc:Fallback>
                <p:oleObj name="Equation" r:id="rId19" imgW="37591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4025" y="2894013"/>
                        <a:ext cx="8232775" cy="528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7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7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7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/>
              <a:t>七、作业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724744" y="1722792"/>
            <a:ext cx="7715200" cy="2620888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P15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1.6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3600" dirty="0">
                <a:solidFill>
                  <a:srgbClr val="0000FF"/>
                </a:solidFill>
              </a:rPr>
              <a:t>P19 </a:t>
            </a:r>
            <a:r>
              <a:rPr lang="zh-CN" altLang="en-US" sz="3600" dirty="0">
                <a:solidFill>
                  <a:srgbClr val="0000FF"/>
                </a:solidFill>
              </a:rPr>
              <a:t>作业</a:t>
            </a:r>
            <a:r>
              <a:rPr lang="en-US" altLang="zh-CN" sz="3600" dirty="0">
                <a:solidFill>
                  <a:srgbClr val="0000FF"/>
                </a:solidFill>
              </a:rPr>
              <a:t>1.7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dirty="0">
                <a:solidFill>
                  <a:srgbClr val="0000FF"/>
                </a:solidFill>
              </a:rPr>
              <a:t>预习</a:t>
            </a:r>
            <a:r>
              <a:rPr lang="en-US" altLang="zh-CN" sz="3600" dirty="0">
                <a:solidFill>
                  <a:srgbClr val="0000FF"/>
                </a:solidFill>
              </a:rPr>
              <a:t>1.8-1.10</a:t>
            </a:r>
            <a:r>
              <a:rPr lang="zh-CN" altLang="en-US" sz="3600" dirty="0">
                <a:solidFill>
                  <a:srgbClr val="0000FF"/>
                </a:solidFill>
              </a:rPr>
              <a:t>，</a:t>
            </a:r>
            <a:endParaRPr lang="en-US" altLang="zh-CN" sz="3600" dirty="0">
              <a:solidFill>
                <a:srgbClr val="0000FF"/>
              </a:solidFill>
            </a:endParaRP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600" dirty="0">
                <a:solidFill>
                  <a:srgbClr val="0000FF"/>
                </a:solidFill>
              </a:rPr>
              <a:t>观看视频</a:t>
            </a:r>
            <a:r>
              <a:rPr lang="en-US" altLang="zh-CN" sz="3600" dirty="0">
                <a:solidFill>
                  <a:srgbClr val="0000FF"/>
                </a:solidFill>
              </a:rPr>
              <a:t>1.8-1.10</a:t>
            </a:r>
            <a:endParaRPr lang="zh-CN" altLang="en-US" sz="3600" dirty="0">
              <a:solidFill>
                <a:srgbClr val="0000FF"/>
              </a:solidFill>
            </a:endParaRPr>
          </a:p>
        </p:txBody>
      </p:sp>
      <p:pic>
        <p:nvPicPr>
          <p:cNvPr id="4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613" y="2205317"/>
            <a:ext cx="3203575" cy="427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 uiExpand="1" build="p"/>
    </p:bldLst>
  </p:timing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1173</Words>
  <Application>Microsoft Office PowerPoint</Application>
  <PresentationFormat>全屏显示(4:3)</PresentationFormat>
  <Paragraphs>142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楷体_GB2312</vt:lpstr>
      <vt:lpstr>宋体</vt:lpstr>
      <vt:lpstr>微软雅黑</vt:lpstr>
      <vt:lpstr>Arial</vt:lpstr>
      <vt:lpstr>Calibri</vt:lpstr>
      <vt:lpstr>Times New Roman</vt:lpstr>
      <vt:lpstr>Verdana</vt:lpstr>
      <vt:lpstr>1_Office 主题</vt:lpstr>
      <vt:lpstr>Equation</vt:lpstr>
      <vt:lpstr>第二讲  向量与线性空间</vt:lpstr>
      <vt:lpstr>一、向量组的秩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二、数域</vt:lpstr>
      <vt:lpstr>三、线性空间</vt:lpstr>
      <vt:lpstr>PowerPoint 演示文稿</vt:lpstr>
      <vt:lpstr>PowerPoint 演示文稿</vt:lpstr>
      <vt:lpstr>四、线性空间的性质</vt:lpstr>
      <vt:lpstr>五、线性子空间</vt:lpstr>
      <vt:lpstr>六、线性空间的基和维数</vt:lpstr>
      <vt:lpstr>PowerPoint 演示文稿</vt:lpstr>
      <vt:lpstr>PowerPoint 演示文稿</vt:lpstr>
      <vt:lpstr>PowerPoint 演示文稿</vt:lpstr>
      <vt:lpstr>PowerPoint 演示文稿</vt:lpstr>
      <vt:lpstr>七、作业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Administrator</cp:lastModifiedBy>
  <cp:revision>142</cp:revision>
  <dcterms:created xsi:type="dcterms:W3CDTF">2020-12-08T11:04:00Z</dcterms:created>
  <dcterms:modified xsi:type="dcterms:W3CDTF">2025-02-28T10:08:51Z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