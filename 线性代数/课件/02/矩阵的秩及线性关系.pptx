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122D13A-8476-4E8D-BACB-B96A96DCB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EB61FDEB-4ACD-41C4-84B4-02DC20F1B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4208577-D4B6-43E4-A20E-E45C9EFD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AD21840-1207-4932-A84C-D8DD28B0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DC8A245-72F4-41C1-B972-917F5B37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70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E1A6F49-60FA-41D1-935F-AC382D12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EAA1A9C3-0404-4082-8B2A-84D44AA03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BD9BC5B-D239-45DA-B8A9-FE9AA208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C2AC0FF-0C0C-4B7D-B7B3-35A540E2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38E2E7FA-DF49-44F0-8B3F-4A6D9F16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1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9AB5B12-25CF-4A4B-94D9-42BA20C8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15BF51F3-01BA-4AFC-83BF-103034AA6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40B1D91-7516-4C82-9EFE-8FB1EB37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4706A39-B851-4E7B-BEA4-C7502CBD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EB4136AB-43B2-4506-8EFA-C160ABF10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682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40200C7-9A4B-4533-9933-5B6C2BA5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C07B101-54AC-46A4-AA00-FD1E89263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5CD48EFF-8104-49DC-A8D2-8F3EE5186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48C2E0F2-2B2E-402B-B3E9-C183C2D7E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7A80B5C5-A071-422C-B5B7-8E6E789A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53CBFA73-80ED-41D4-A929-7A4C03FD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92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CF4CE05-22D1-4DDF-9D0A-C618F011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C1D20782-768A-4D7E-8D8C-FBCF3938E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6D00E106-7EF7-4C9B-9AB1-AF8B62881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DDC36D3E-ED8D-4399-83F4-2544E7EAF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6CAD99C9-690C-4A65-BCD8-D933CC81C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8CB1680D-6EDB-4B58-935C-62863A0D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76913EAC-C443-4E22-9D2A-00553F68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F17CA965-52D0-4C65-9059-2960410B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40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6539274-1840-4291-AD2A-FEE32BA2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8A8EF9A3-C830-4725-8E44-852B97D7B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9BC810BE-8EBA-4670-99E0-64F8034C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CF3E997E-DD34-480F-B38B-A13AAAA4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7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EDC4C351-2F70-4E62-B359-A8401277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11E3F2F1-20D1-4EA5-8A7D-7AAEEF88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7873DD8E-56B8-4BE5-9D74-25339CBD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5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03177F7-81D5-41C6-A206-3850BA398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1A9DB00-D367-45CF-802E-024D974CB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4AF27417-F6B1-43AC-9BC5-DBFB45724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697AD0EE-10CA-4853-A326-F67468628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B895D7B5-6C12-451B-A549-2A610FD6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6FC87669-9031-4610-9A5C-D1CC5D23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09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A2AA4F8-E4DE-4C31-B1B6-783EF48C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798E3A57-800E-45B6-A6B4-C82A5069F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50A016A0-1F36-4F06-BDCB-C44D13656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E5D6BD17-B586-42AD-AC32-0E6043E20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E8B50EAE-CC1C-4029-B41C-63E2CF68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D7B9CACB-13C4-4624-AFDE-194DC029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40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28C2AB4-B1A6-4817-8647-CE842494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29181D37-3B6A-4C8A-93DE-89838D060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4560BCE5-82BE-4B31-9191-4ADB7D80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F52D041-A141-4169-A85D-97E82AD3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F4028CAF-A1C9-48D2-85BC-876CEBE8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93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5DEAC96A-6AB1-4E47-B659-B58D42031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AC7A4D43-35EA-4731-9607-CBD19FB88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58D96DD-4FA3-496F-A060-4D828A57D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6294B531-BCCB-4EEA-B0B5-B32BDBED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7B85B846-4F90-43E5-B605-2A2F0BD1A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67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50E6E9C7-E6B2-4F80-8242-CE75A9BD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5BBAB903-AB56-4C48-942E-D65F7F642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D8D0CC6-AD98-4241-9D67-1D4023FBB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E9084-05AC-4403-8176-48D810932991}" type="datetimeFigureOut">
              <a:rPr lang="zh-CN" altLang="en-US" smtClean="0"/>
              <a:t>2022/3/15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7DCAA411-0B4E-4DDE-A60F-8C8AF931E6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F695FC5-FC1B-4791-BC4A-8EEB319AB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98385-A413-4488-B81B-7CDCA0E89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32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日期占位符 1">
            <a:extLst>
              <a:ext uri="{FF2B5EF4-FFF2-40B4-BE49-F238E27FC236}">
                <a16:creationId xmlns:a16="http://schemas.microsoft.com/office/drawing/2014/main" xmlns="" id="{6B80813B-7CE1-4C35-970E-1C3C65F43F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189AAC-3384-495F-8DD7-358485067B45}" type="datetime3">
              <a:rPr lang="zh-CN" altLang="en-US" smtClean="0"/>
              <a:pPr eaLnBrk="1" hangingPunct="1"/>
              <a:t>2022年3月15日星期二</a:t>
            </a:fld>
            <a:endParaRPr lang="en-US" altLang="zh-CN"/>
          </a:p>
        </p:txBody>
      </p:sp>
      <p:sp>
        <p:nvSpPr>
          <p:cNvPr id="4102" name="页脚占位符 2">
            <a:extLst>
              <a:ext uri="{FF2B5EF4-FFF2-40B4-BE49-F238E27FC236}">
                <a16:creationId xmlns:a16="http://schemas.microsoft.com/office/drawing/2014/main" xmlns="" id="{51A2D630-5B20-425F-9B04-49FCF1EA8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17ppt</a:t>
            </a:r>
          </a:p>
        </p:txBody>
      </p:sp>
      <p:sp>
        <p:nvSpPr>
          <p:cNvPr id="4103" name="灯片编号占位符 3">
            <a:extLst>
              <a:ext uri="{FF2B5EF4-FFF2-40B4-BE49-F238E27FC236}">
                <a16:creationId xmlns:a16="http://schemas.microsoft.com/office/drawing/2014/main" xmlns="" id="{3DB906E7-6C9D-4602-8B11-A21D4C9F9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012EA9-BE47-463F-8A68-ACFB80C1BDA9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xmlns="" id="{C6718673-8E44-4200-B339-EE7101FBB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438" y="1049203"/>
            <a:ext cx="7921625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注意：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</a:rPr>
              <a:t>行列式的计算，可以采用行变换或者列变换的方法简化运算，但要保持前后相等</a:t>
            </a:r>
            <a:r>
              <a:rPr lang="zh-CN" altLang="en-US" sz="2800" b="1" dirty="0">
                <a:solidFill>
                  <a:srgbClr val="0000FF"/>
                </a:solidFill>
              </a:rPr>
              <a:t>；例如，交换两行的位置，就需要在行列式添一个负号；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</a:rPr>
              <a:t>对矩阵变换，我们一般只进行初等行变换</a:t>
            </a:r>
            <a:r>
              <a:rPr lang="zh-CN" altLang="en-US" sz="2800" b="1" dirty="0">
                <a:solidFill>
                  <a:srgbClr val="0000FF"/>
                </a:solidFill>
              </a:rPr>
              <a:t>，例如，求矩阵的秩，将矩阵化为行阶梯形，行最简形，求矩阵的逆，我们就只能采用初等行变化的方法。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日期占位符 1">
            <a:extLst>
              <a:ext uri="{FF2B5EF4-FFF2-40B4-BE49-F238E27FC236}">
                <a16:creationId xmlns:a16="http://schemas.microsoft.com/office/drawing/2014/main" xmlns="" id="{9663D99C-B0C1-4079-865B-14213D6D648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7A5021B-10BF-4138-8055-15B25F7ABFF1}" type="datetime3">
              <a:rPr lang="zh-CN" altLang="en-US" smtClean="0"/>
              <a:pPr eaLnBrk="1" hangingPunct="1"/>
              <a:t>2022年3月15日星期二</a:t>
            </a:fld>
            <a:endParaRPr lang="en-US" altLang="zh-CN"/>
          </a:p>
        </p:txBody>
      </p:sp>
      <p:sp>
        <p:nvSpPr>
          <p:cNvPr id="6148" name="页脚占位符 2">
            <a:extLst>
              <a:ext uri="{FF2B5EF4-FFF2-40B4-BE49-F238E27FC236}">
                <a16:creationId xmlns:a16="http://schemas.microsoft.com/office/drawing/2014/main" xmlns="" id="{4803985F-F9A4-4505-AE82-3057DABE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Spring 2010, 17ppt</a:t>
            </a:r>
          </a:p>
        </p:txBody>
      </p:sp>
      <p:sp>
        <p:nvSpPr>
          <p:cNvPr id="6149" name="灯片编号占位符 3">
            <a:extLst>
              <a:ext uri="{FF2B5EF4-FFF2-40B4-BE49-F238E27FC236}">
                <a16:creationId xmlns:a16="http://schemas.microsoft.com/office/drawing/2014/main" xmlns="" id="{03728FED-5A89-429B-B950-DC169D0E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F0C826-D97A-4F2F-A28E-1D1F03F681A6}" type="slidenum">
              <a:rPr lang="en-US" altLang="zh-CN"/>
              <a:pPr eaLnBrk="1" hangingPunct="1"/>
              <a:t>2</a:t>
            </a:fld>
            <a:endParaRPr lang="en-US" altLang="zh-CN" dirty="0"/>
          </a:p>
        </p:txBody>
      </p:sp>
      <p:sp>
        <p:nvSpPr>
          <p:cNvPr id="6150" name="Text Box 4">
            <a:extLst>
              <a:ext uri="{FF2B5EF4-FFF2-40B4-BE49-F238E27FC236}">
                <a16:creationId xmlns:a16="http://schemas.microsoft.com/office/drawing/2014/main" xmlns="" id="{CBDEFEE9-9AA7-430E-8FD8-02DDE854C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0882" y="2173560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xmlns="" id="{6548A3EF-6AEE-49E3-B553-A16AC84C4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231" y="1413358"/>
            <a:ext cx="7921625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推论</a:t>
            </a:r>
            <a:r>
              <a:rPr lang="en-US" altLang="zh-CN" sz="2800" b="1" dirty="0">
                <a:solidFill>
                  <a:srgbClr val="0000FF"/>
                </a:solidFill>
              </a:rPr>
              <a:t>2.1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任意</a:t>
            </a:r>
            <a:r>
              <a:rPr lang="en-US" altLang="zh-CN" sz="2800" b="1" dirty="0"/>
              <a:t>m(m&gt;n)</a:t>
            </a:r>
            <a:r>
              <a:rPr lang="zh-CN" altLang="en-US" sz="2800" b="1" dirty="0"/>
              <a:t>个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维向量线性相关</a:t>
            </a:r>
            <a:r>
              <a:rPr lang="en-US" altLang="zh-CN" sz="2800" b="1" dirty="0"/>
              <a:t>.</a:t>
            </a:r>
          </a:p>
          <a:p>
            <a:pPr eaLnBrk="1" hangingPunct="1"/>
            <a:r>
              <a:rPr lang="en-US" altLang="zh-CN" sz="2000" b="1" dirty="0"/>
              <a:t>                      </a:t>
            </a:r>
          </a:p>
          <a:p>
            <a:pPr eaLnBrk="1" hangingPunct="1"/>
            <a:r>
              <a:rPr lang="zh-CN" altLang="en-US" sz="2000" b="1" dirty="0"/>
              <a:t>（</a:t>
            </a:r>
            <a:r>
              <a:rPr lang="zh-CN" altLang="en-US" sz="2000" b="1" dirty="0">
                <a:solidFill>
                  <a:srgbClr val="0000FF"/>
                </a:solidFill>
              </a:rPr>
              <a:t>注：</a:t>
            </a:r>
            <a:r>
              <a:rPr lang="zh-CN" altLang="en-US" sz="2000" b="1" dirty="0"/>
              <a:t>由于没有</a:t>
            </a:r>
            <a:r>
              <a:rPr lang="en-US" altLang="zh-CN" sz="2000" b="1" dirty="0"/>
              <a:t>m</a:t>
            </a:r>
            <a:r>
              <a:rPr lang="zh-CN" altLang="en-US" sz="2000" b="1" dirty="0"/>
              <a:t>阶子式，故</a:t>
            </a:r>
            <a:r>
              <a:rPr lang="en-US" altLang="zh-CN" sz="2000" b="1" dirty="0"/>
              <a:t>R(A)&lt;m</a:t>
            </a:r>
            <a:r>
              <a:rPr lang="zh-CN" altLang="en-US" sz="2000" b="1" dirty="0"/>
              <a:t>）</a:t>
            </a:r>
          </a:p>
        </p:txBody>
      </p:sp>
      <p:graphicFrame>
        <p:nvGraphicFramePr>
          <p:cNvPr id="26631" name="Object 7">
            <a:extLst>
              <a:ext uri="{FF2B5EF4-FFF2-40B4-BE49-F238E27FC236}">
                <a16:creationId xmlns:a16="http://schemas.microsoft.com/office/drawing/2014/main" xmlns="" id="{2559BEBD-6A8D-451A-BDAF-FD3A14DF3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991541"/>
              </p:ext>
            </p:extLst>
          </p:nvPr>
        </p:nvGraphicFramePr>
        <p:xfrm>
          <a:off x="1223999" y="2721590"/>
          <a:ext cx="806608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3" imgW="3720960" imgH="431640" progId="Equation.DSMT4">
                  <p:embed/>
                </p:oleObj>
              </mc:Choice>
              <mc:Fallback>
                <p:oleObj name="Equation" r:id="rId3" imgW="3720960" imgH="431640" progId="Equation.DSMT4">
                  <p:embed/>
                  <p:pic>
                    <p:nvPicPr>
                      <p:cNvPr id="26631" name="Object 7">
                        <a:extLst>
                          <a:ext uri="{FF2B5EF4-FFF2-40B4-BE49-F238E27FC236}">
                            <a16:creationId xmlns:a16="http://schemas.microsoft.com/office/drawing/2014/main" xmlns="" id="{2559BEBD-6A8D-451A-BDAF-FD3A14DF3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99" y="2721590"/>
                        <a:ext cx="8066087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Text Box 8">
            <a:extLst>
              <a:ext uri="{FF2B5EF4-FFF2-40B4-BE49-F238E27FC236}">
                <a16:creationId xmlns:a16="http://schemas.microsoft.com/office/drawing/2014/main" xmlns="" id="{97BBBEE5-4465-4B74-80CC-56D3EEC90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399" y="3779746"/>
            <a:ext cx="82946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推论</a:t>
            </a:r>
            <a:r>
              <a:rPr lang="en-US" altLang="zh-CN" sz="2800" b="1" dirty="0">
                <a:solidFill>
                  <a:srgbClr val="0000FF"/>
                </a:solidFill>
              </a:rPr>
              <a:t>2.3</a:t>
            </a:r>
            <a:r>
              <a:rPr lang="en-US" altLang="zh-CN" sz="2800" b="1" dirty="0"/>
              <a:t>   n </a:t>
            </a:r>
            <a:r>
              <a:rPr lang="zh-CN" altLang="en-US" sz="2800" b="1" dirty="0"/>
              <a:t>个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维向量线性无关（相关）的充要条件</a:t>
            </a:r>
          </a:p>
          <a:p>
            <a:pPr eaLnBrk="1" hangingPunct="1"/>
            <a:r>
              <a:rPr lang="zh-CN" altLang="en-US" sz="2800" b="1" dirty="0"/>
              <a:t>是由它们组成的矩阵行列式不等于</a:t>
            </a:r>
            <a:r>
              <a:rPr lang="en-US" altLang="zh-CN" sz="2800" b="1" dirty="0"/>
              <a:t>0(</a:t>
            </a:r>
            <a:r>
              <a:rPr lang="zh-CN" altLang="en-US" sz="2800" b="1" dirty="0"/>
              <a:t>等于</a:t>
            </a:r>
            <a:r>
              <a:rPr lang="en-US" altLang="zh-CN" sz="2800" b="1" dirty="0"/>
              <a:t>0).</a:t>
            </a: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xmlns="" id="{CEAEB91B-F279-4EDF-B6A2-AEAF991016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338291"/>
              </p:ext>
            </p:extLst>
          </p:nvPr>
        </p:nvGraphicFramePr>
        <p:xfrm>
          <a:off x="1379358" y="239987"/>
          <a:ext cx="6967537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5" imgW="2895480" imgH="431640" progId="Equation.DSMT4">
                  <p:embed/>
                </p:oleObj>
              </mc:Choice>
              <mc:Fallback>
                <p:oleObj name="Equation" r:id="rId5" imgW="2895480" imgH="431640" progId="Equation.DSMT4">
                  <p:embed/>
                  <p:pic>
                    <p:nvPicPr>
                      <p:cNvPr id="24580" name="Object 4">
                        <a:extLst>
                          <a:ext uri="{FF2B5EF4-FFF2-40B4-BE49-F238E27FC236}">
                            <a16:creationId xmlns:a16="http://schemas.microsoft.com/office/drawing/2014/main" xmlns="" id="{E36B1A04-B2FC-42FE-A01B-F1E761EC7E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358" y="239987"/>
                        <a:ext cx="6967537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726307" y="4940584"/>
            <a:ext cx="7704856" cy="1200329"/>
            <a:chOff x="539552" y="548680"/>
            <a:chExt cx="7704856" cy="1200329"/>
          </a:xfrm>
        </p:grpSpPr>
        <p:sp>
          <p:nvSpPr>
            <p:cNvPr id="12" name="Text Box 2"/>
            <p:cNvSpPr txBox="1">
              <a:spLocks noChangeArrowheads="1"/>
            </p:cNvSpPr>
            <p:nvPr/>
          </p:nvSpPr>
          <p:spPr bwMode="auto">
            <a:xfrm>
              <a:off x="539552" y="548680"/>
              <a:ext cx="7704856" cy="1200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定理</a:t>
              </a:r>
              <a:r>
                <a:rPr lang="en-US" altLang="zh-CN" sz="2400" b="1" dirty="0">
                  <a:latin typeface="+mn-ea"/>
                </a:rPr>
                <a:t>2.18.1</a:t>
              </a:r>
              <a:r>
                <a:rPr lang="zh-CN" altLang="en-US" sz="2400" b="1" dirty="0">
                  <a:latin typeface="+mn-ea"/>
                </a:rPr>
                <a:t>   </a:t>
              </a:r>
              <a:r>
                <a:rPr lang="zh-CN" altLang="en-US" sz="2400" dirty="0">
                  <a:latin typeface="+mn-ea"/>
                </a:rPr>
                <a:t>设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>
                  <a:latin typeface="+mn-ea"/>
                </a:rPr>
                <a:t>为 </a:t>
              </a:r>
              <a:r>
                <a:rPr lang="zh-CN" altLang="en-US" sz="2400" dirty="0" smtClean="0">
                  <a:latin typeface="+mn-ea"/>
                </a:rPr>
                <a:t>           </a:t>
              </a:r>
              <a:r>
                <a:rPr lang="zh-CN" altLang="en-US" sz="2400" dirty="0">
                  <a:latin typeface="+mn-ea"/>
                </a:rPr>
                <a:t>矩阵，则矩阵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>
                  <a:latin typeface="+mn-ea"/>
                </a:rPr>
                <a:t>的秩等于它的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</a:rPr>
                <a:t>列向量组的秩</a:t>
              </a:r>
              <a:r>
                <a:rPr lang="en-US" altLang="zh-CN" sz="2400" dirty="0">
                  <a:latin typeface="+mn-ea"/>
                </a:rPr>
                <a:t>, 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3491880" y="836712"/>
            <a:ext cx="7112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name="Equation" r:id="rId7" imgW="17068800" imgH="5486400" progId="Equation.DSMT4">
                    <p:embed/>
                  </p:oleObj>
                </mc:Choice>
                <mc:Fallback>
                  <p:oleObj name="Equation" r:id="rId7" imgW="17068800" imgH="548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91880" y="836712"/>
                          <a:ext cx="7112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prstDash val="sysDash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/>
          <p:cNvSpPr/>
          <p:nvPr/>
        </p:nvSpPr>
        <p:spPr>
          <a:xfrm>
            <a:off x="3033813" y="5507655"/>
            <a:ext cx="33361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也等于它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</a:rPr>
              <a:t>行向量组的秩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  <p:bldP spid="26632" grpId="0"/>
      <p:bldP spid="1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182</Words>
  <Application>Microsoft Office PowerPoint</Application>
  <PresentationFormat>宽屏</PresentationFormat>
  <Paragraphs>16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 Light</vt:lpstr>
      <vt:lpstr>宋体</vt:lpstr>
      <vt:lpstr>微软雅黑</vt:lpstr>
      <vt:lpstr>Arial</vt:lpstr>
      <vt:lpstr>Times New Roman</vt:lpstr>
      <vt:lpstr>Office 主题​​</vt:lpstr>
      <vt:lpstr>Equation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PHY</dc:creator>
  <cp:lastModifiedBy>TPHY</cp:lastModifiedBy>
  <cp:revision>2</cp:revision>
  <dcterms:created xsi:type="dcterms:W3CDTF">2022-03-11T08:25:34Z</dcterms:created>
  <dcterms:modified xsi:type="dcterms:W3CDTF">2022-03-15T15:40:10Z</dcterms:modified>
</cp:coreProperties>
</file>