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76" r:id="rId3"/>
    <p:sldId id="277" r:id="rId4"/>
    <p:sldId id="278" r:id="rId5"/>
    <p:sldId id="279" r:id="rId6"/>
    <p:sldId id="280" r:id="rId7"/>
    <p:sldId id="284" r:id="rId8"/>
    <p:sldId id="285" r:id="rId9"/>
    <p:sldId id="282" r:id="rId10"/>
    <p:sldId id="287" r:id="rId11"/>
    <p:sldId id="286" r:id="rId12"/>
    <p:sldId id="281" r:id="rId13"/>
    <p:sldId id="289" r:id="rId14"/>
    <p:sldId id="288" r:id="rId15"/>
    <p:sldId id="291" r:id="rId16"/>
    <p:sldId id="290" r:id="rId17"/>
    <p:sldId id="293" r:id="rId18"/>
    <p:sldId id="294" r:id="rId19"/>
    <p:sldId id="295" r:id="rId20"/>
    <p:sldId id="296" r:id="rId21"/>
    <p:sldId id="263" r:id="rId22"/>
    <p:sldId id="328" r:id="rId23"/>
    <p:sldId id="283" r:id="rId24"/>
    <p:sldId id="329" r:id="rId25"/>
    <p:sldId id="330" r:id="rId26"/>
    <p:sldId id="297" r:id="rId27"/>
    <p:sldId id="304" r:id="rId28"/>
    <p:sldId id="307" r:id="rId29"/>
    <p:sldId id="300" r:id="rId30"/>
    <p:sldId id="309" r:id="rId31"/>
    <p:sldId id="310" r:id="rId32"/>
    <p:sldId id="331" r:id="rId33"/>
    <p:sldId id="332" r:id="rId34"/>
    <p:sldId id="308" r:id="rId35"/>
    <p:sldId id="313" r:id="rId36"/>
    <p:sldId id="333" r:id="rId37"/>
    <p:sldId id="334" r:id="rId38"/>
    <p:sldId id="335" r:id="rId39"/>
    <p:sldId id="336" r:id="rId40"/>
    <p:sldId id="337" r:id="rId41"/>
    <p:sldId id="327" r:id="rId4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874" autoAdjust="0"/>
  </p:normalViewPr>
  <p:slideViewPr>
    <p:cSldViewPr>
      <p:cViewPr varScale="1">
        <p:scale>
          <a:sx n="86" d="100"/>
          <a:sy n="86" d="100"/>
        </p:scale>
        <p:origin x="13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9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4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6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Relationship Id="rId9" Type="http://schemas.openxmlformats.org/officeDocument/2006/relationships/image" Target="../media/image6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image" Target="../media/image81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12" Type="http://schemas.openxmlformats.org/officeDocument/2006/relationships/image" Target="../media/image80.wmf"/><Relationship Id="rId17" Type="http://schemas.openxmlformats.org/officeDocument/2006/relationships/image" Target="../media/image85.wmf"/><Relationship Id="rId2" Type="http://schemas.openxmlformats.org/officeDocument/2006/relationships/image" Target="../media/image70.wmf"/><Relationship Id="rId16" Type="http://schemas.openxmlformats.org/officeDocument/2006/relationships/image" Target="../media/image84.wmf"/><Relationship Id="rId1" Type="http://schemas.openxmlformats.org/officeDocument/2006/relationships/image" Target="../media/image69.emf"/><Relationship Id="rId6" Type="http://schemas.openxmlformats.org/officeDocument/2006/relationships/image" Target="../media/image74.wmf"/><Relationship Id="rId11" Type="http://schemas.openxmlformats.org/officeDocument/2006/relationships/image" Target="../media/image79.wmf"/><Relationship Id="rId5" Type="http://schemas.openxmlformats.org/officeDocument/2006/relationships/image" Target="../media/image73.wmf"/><Relationship Id="rId15" Type="http://schemas.openxmlformats.org/officeDocument/2006/relationships/image" Target="../media/image83.wmf"/><Relationship Id="rId10" Type="http://schemas.openxmlformats.org/officeDocument/2006/relationships/image" Target="../media/image78.wmf"/><Relationship Id="rId4" Type="http://schemas.openxmlformats.org/officeDocument/2006/relationships/image" Target="../media/image72.wmf"/><Relationship Id="rId9" Type="http://schemas.openxmlformats.org/officeDocument/2006/relationships/image" Target="../media/image77.wmf"/><Relationship Id="rId14" Type="http://schemas.openxmlformats.org/officeDocument/2006/relationships/image" Target="../media/image82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88.wmf"/><Relationship Id="rId7" Type="http://schemas.openxmlformats.org/officeDocument/2006/relationships/image" Target="../media/image92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7" Type="http://schemas.openxmlformats.org/officeDocument/2006/relationships/image" Target="../media/image103.wmf"/><Relationship Id="rId2" Type="http://schemas.openxmlformats.org/officeDocument/2006/relationships/image" Target="../media/image98.wmf"/><Relationship Id="rId1" Type="http://schemas.openxmlformats.org/officeDocument/2006/relationships/image" Target="../media/image69.e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10" Type="http://schemas.openxmlformats.org/officeDocument/2006/relationships/image" Target="../media/image113.wmf"/><Relationship Id="rId4" Type="http://schemas.openxmlformats.org/officeDocument/2006/relationships/image" Target="../media/image107.wmf"/><Relationship Id="rId9" Type="http://schemas.openxmlformats.org/officeDocument/2006/relationships/image" Target="../media/image112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image" Target="../media/image115.wmf"/><Relationship Id="rId7" Type="http://schemas.openxmlformats.org/officeDocument/2006/relationships/image" Target="../media/image119.emf"/><Relationship Id="rId2" Type="http://schemas.openxmlformats.org/officeDocument/2006/relationships/image" Target="../media/image101.wmf"/><Relationship Id="rId1" Type="http://schemas.openxmlformats.org/officeDocument/2006/relationships/image" Target="../media/image114.wmf"/><Relationship Id="rId6" Type="http://schemas.openxmlformats.org/officeDocument/2006/relationships/image" Target="../media/image118.emf"/><Relationship Id="rId5" Type="http://schemas.openxmlformats.org/officeDocument/2006/relationships/image" Target="../media/image117.wmf"/><Relationship Id="rId10" Type="http://schemas.openxmlformats.org/officeDocument/2006/relationships/image" Target="../media/image121.wmf"/><Relationship Id="rId4" Type="http://schemas.openxmlformats.org/officeDocument/2006/relationships/image" Target="../media/image116.wmf"/><Relationship Id="rId9" Type="http://schemas.openxmlformats.org/officeDocument/2006/relationships/image" Target="../media/image106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image" Target="../media/image126.wmf"/><Relationship Id="rId7" Type="http://schemas.openxmlformats.org/officeDocument/2006/relationships/image" Target="../media/image130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10" Type="http://schemas.openxmlformats.org/officeDocument/2006/relationships/image" Target="../media/image133.wmf"/><Relationship Id="rId4" Type="http://schemas.openxmlformats.org/officeDocument/2006/relationships/image" Target="../media/image127.wmf"/><Relationship Id="rId9" Type="http://schemas.openxmlformats.org/officeDocument/2006/relationships/image" Target="../media/image132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wmf"/><Relationship Id="rId1" Type="http://schemas.openxmlformats.org/officeDocument/2006/relationships/image" Target="../media/image13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wmf"/><Relationship Id="rId1" Type="http://schemas.openxmlformats.org/officeDocument/2006/relationships/image" Target="../media/image141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3" Type="http://schemas.openxmlformats.org/officeDocument/2006/relationships/image" Target="../media/image145.wmf"/><Relationship Id="rId7" Type="http://schemas.openxmlformats.org/officeDocument/2006/relationships/image" Target="../media/image149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Relationship Id="rId9" Type="http://schemas.openxmlformats.org/officeDocument/2006/relationships/image" Target="../media/image151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6" Type="http://schemas.openxmlformats.org/officeDocument/2006/relationships/image" Target="../media/image157.wmf"/><Relationship Id="rId5" Type="http://schemas.openxmlformats.org/officeDocument/2006/relationships/image" Target="../media/image156.wmf"/><Relationship Id="rId4" Type="http://schemas.openxmlformats.org/officeDocument/2006/relationships/image" Target="../media/image155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wmf"/><Relationship Id="rId7" Type="http://schemas.openxmlformats.org/officeDocument/2006/relationships/image" Target="../media/image163.wmf"/><Relationship Id="rId2" Type="http://schemas.openxmlformats.org/officeDocument/2006/relationships/image" Target="../media/image154.wmf"/><Relationship Id="rId1" Type="http://schemas.openxmlformats.org/officeDocument/2006/relationships/image" Target="../media/image158.wmf"/><Relationship Id="rId6" Type="http://schemas.openxmlformats.org/officeDocument/2006/relationships/image" Target="../media/image162.wmf"/><Relationship Id="rId5" Type="http://schemas.openxmlformats.org/officeDocument/2006/relationships/image" Target="../media/image161.wmf"/><Relationship Id="rId4" Type="http://schemas.openxmlformats.org/officeDocument/2006/relationships/image" Target="../media/image160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wmf"/><Relationship Id="rId7" Type="http://schemas.openxmlformats.org/officeDocument/2006/relationships/image" Target="../media/image170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Relationship Id="rId6" Type="http://schemas.openxmlformats.org/officeDocument/2006/relationships/image" Target="../media/image169.wmf"/><Relationship Id="rId5" Type="http://schemas.openxmlformats.org/officeDocument/2006/relationships/image" Target="../media/image168.wmf"/><Relationship Id="rId4" Type="http://schemas.openxmlformats.org/officeDocument/2006/relationships/image" Target="../media/image167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13" Type="http://schemas.openxmlformats.org/officeDocument/2006/relationships/image" Target="../media/image182.wmf"/><Relationship Id="rId3" Type="http://schemas.openxmlformats.org/officeDocument/2006/relationships/image" Target="../media/image172.wmf"/><Relationship Id="rId7" Type="http://schemas.openxmlformats.org/officeDocument/2006/relationships/image" Target="../media/image176.wmf"/><Relationship Id="rId12" Type="http://schemas.openxmlformats.org/officeDocument/2006/relationships/image" Target="../media/image181.wmf"/><Relationship Id="rId2" Type="http://schemas.openxmlformats.org/officeDocument/2006/relationships/image" Target="../media/image154.wmf"/><Relationship Id="rId1" Type="http://schemas.openxmlformats.org/officeDocument/2006/relationships/image" Target="../media/image171.wmf"/><Relationship Id="rId6" Type="http://schemas.openxmlformats.org/officeDocument/2006/relationships/image" Target="../media/image175.wmf"/><Relationship Id="rId11" Type="http://schemas.openxmlformats.org/officeDocument/2006/relationships/image" Target="../media/image180.wmf"/><Relationship Id="rId5" Type="http://schemas.openxmlformats.org/officeDocument/2006/relationships/image" Target="../media/image174.wmf"/><Relationship Id="rId10" Type="http://schemas.openxmlformats.org/officeDocument/2006/relationships/image" Target="../media/image179.wmf"/><Relationship Id="rId4" Type="http://schemas.openxmlformats.org/officeDocument/2006/relationships/image" Target="../media/image173.wmf"/><Relationship Id="rId9" Type="http://schemas.openxmlformats.org/officeDocument/2006/relationships/image" Target="../media/image178.wmf"/><Relationship Id="rId14" Type="http://schemas.openxmlformats.org/officeDocument/2006/relationships/image" Target="../media/image183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3" Type="http://schemas.openxmlformats.org/officeDocument/2006/relationships/image" Target="../media/image186.wmf"/><Relationship Id="rId7" Type="http://schemas.openxmlformats.org/officeDocument/2006/relationships/image" Target="../media/image180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6" Type="http://schemas.openxmlformats.org/officeDocument/2006/relationships/image" Target="../media/image179.wmf"/><Relationship Id="rId5" Type="http://schemas.openxmlformats.org/officeDocument/2006/relationships/image" Target="../media/image174.wmf"/><Relationship Id="rId4" Type="http://schemas.openxmlformats.org/officeDocument/2006/relationships/image" Target="../media/image187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9.e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13" Type="http://schemas.openxmlformats.org/officeDocument/2006/relationships/image" Target="../media/image202.wmf"/><Relationship Id="rId3" Type="http://schemas.openxmlformats.org/officeDocument/2006/relationships/image" Target="../media/image192.wmf"/><Relationship Id="rId7" Type="http://schemas.openxmlformats.org/officeDocument/2006/relationships/image" Target="../media/image196.wmf"/><Relationship Id="rId12" Type="http://schemas.openxmlformats.org/officeDocument/2006/relationships/image" Target="../media/image201.emf"/><Relationship Id="rId2" Type="http://schemas.openxmlformats.org/officeDocument/2006/relationships/image" Target="../media/image191.wmf"/><Relationship Id="rId1" Type="http://schemas.openxmlformats.org/officeDocument/2006/relationships/image" Target="../media/image190.wmf"/><Relationship Id="rId6" Type="http://schemas.openxmlformats.org/officeDocument/2006/relationships/image" Target="../media/image195.wmf"/><Relationship Id="rId11" Type="http://schemas.openxmlformats.org/officeDocument/2006/relationships/image" Target="../media/image200.wmf"/><Relationship Id="rId5" Type="http://schemas.openxmlformats.org/officeDocument/2006/relationships/image" Target="../media/image194.wmf"/><Relationship Id="rId15" Type="http://schemas.openxmlformats.org/officeDocument/2006/relationships/image" Target="../media/image204.wmf"/><Relationship Id="rId10" Type="http://schemas.openxmlformats.org/officeDocument/2006/relationships/image" Target="../media/image199.wmf"/><Relationship Id="rId4" Type="http://schemas.openxmlformats.org/officeDocument/2006/relationships/image" Target="../media/image193.wmf"/><Relationship Id="rId9" Type="http://schemas.openxmlformats.org/officeDocument/2006/relationships/image" Target="../media/image198.wmf"/><Relationship Id="rId14" Type="http://schemas.openxmlformats.org/officeDocument/2006/relationships/image" Target="../media/image203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wmf"/><Relationship Id="rId1" Type="http://schemas.openxmlformats.org/officeDocument/2006/relationships/image" Target="../media/image205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wmf"/><Relationship Id="rId1" Type="http://schemas.openxmlformats.org/officeDocument/2006/relationships/image" Target="../media/image207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9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0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1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2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08F89-9C62-40E6-A4B7-5241B108DC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07C1D-A20E-4502-A38E-1928A7EE2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73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645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40DEF3A-8E98-44D7-B320-0C8336FC6E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019B20-4397-4951-A443-04BE0CA39033}" type="datetime3">
              <a:rPr lang="zh-CN" altLang="en-US"/>
              <a:pPr>
                <a:defRPr/>
              </a:pPr>
              <a:t>2025年2月28日星期五</a:t>
            </a:fld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D06C0D3-B95C-4B16-B58F-BA9BFA8277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(共17页)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23491FC5-6286-4A20-A9CC-39295F41F1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A124A2-B3B5-4A73-8697-6F74462C35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0735926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4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.wmf"/><Relationship Id="rId20" Type="http://schemas.openxmlformats.org/officeDocument/2006/relationships/image" Target="../media/image25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0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2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3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47.bin"/><Relationship Id="rId18" Type="http://schemas.openxmlformats.org/officeDocument/2006/relationships/image" Target="../media/image47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4.wmf"/><Relationship Id="rId17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6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4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55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4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62.wmf"/><Relationship Id="rId3" Type="http://schemas.openxmlformats.org/officeDocument/2006/relationships/oleObject" Target="../embeddings/oleObject57.bin"/><Relationship Id="rId21" Type="http://schemas.openxmlformats.org/officeDocument/2006/relationships/oleObject" Target="../embeddings/oleObject66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59.wmf"/><Relationship Id="rId17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1.wmf"/><Relationship Id="rId20" Type="http://schemas.openxmlformats.org/officeDocument/2006/relationships/image" Target="../media/image63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10" Type="http://schemas.openxmlformats.org/officeDocument/2006/relationships/image" Target="../media/image58.w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55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6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67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70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7.bin"/><Relationship Id="rId18" Type="http://schemas.openxmlformats.org/officeDocument/2006/relationships/oleObject" Target="../embeddings/oleObject80.bin"/><Relationship Id="rId26" Type="http://schemas.openxmlformats.org/officeDocument/2006/relationships/oleObject" Target="../embeddings/oleObject84.bin"/><Relationship Id="rId21" Type="http://schemas.openxmlformats.org/officeDocument/2006/relationships/image" Target="../media/image77.wmf"/><Relationship Id="rId34" Type="http://schemas.openxmlformats.org/officeDocument/2006/relationships/oleObject" Target="../embeddings/oleObject88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79.bin"/><Relationship Id="rId25" Type="http://schemas.openxmlformats.org/officeDocument/2006/relationships/image" Target="../media/image79.wmf"/><Relationship Id="rId33" Type="http://schemas.openxmlformats.org/officeDocument/2006/relationships/image" Target="../media/image8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5.wmf"/><Relationship Id="rId20" Type="http://schemas.openxmlformats.org/officeDocument/2006/relationships/oleObject" Target="../embeddings/oleObject81.bin"/><Relationship Id="rId29" Type="http://schemas.openxmlformats.org/officeDocument/2006/relationships/image" Target="../media/image81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76.bin"/><Relationship Id="rId24" Type="http://schemas.openxmlformats.org/officeDocument/2006/relationships/oleObject" Target="../embeddings/oleObject83.bin"/><Relationship Id="rId32" Type="http://schemas.openxmlformats.org/officeDocument/2006/relationships/oleObject" Target="../embeddings/oleObject87.bin"/><Relationship Id="rId37" Type="http://schemas.openxmlformats.org/officeDocument/2006/relationships/image" Target="../media/image85.wmf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78.bin"/><Relationship Id="rId23" Type="http://schemas.openxmlformats.org/officeDocument/2006/relationships/image" Target="../media/image78.wmf"/><Relationship Id="rId28" Type="http://schemas.openxmlformats.org/officeDocument/2006/relationships/oleObject" Target="../embeddings/oleObject85.bin"/><Relationship Id="rId36" Type="http://schemas.openxmlformats.org/officeDocument/2006/relationships/oleObject" Target="../embeddings/oleObject89.bin"/><Relationship Id="rId10" Type="http://schemas.openxmlformats.org/officeDocument/2006/relationships/image" Target="../media/image72.wmf"/><Relationship Id="rId19" Type="http://schemas.openxmlformats.org/officeDocument/2006/relationships/image" Target="../media/image76.wmf"/><Relationship Id="rId31" Type="http://schemas.openxmlformats.org/officeDocument/2006/relationships/image" Target="../media/image82.wmf"/><Relationship Id="rId4" Type="http://schemas.openxmlformats.org/officeDocument/2006/relationships/image" Target="../media/image69.e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74.wmf"/><Relationship Id="rId22" Type="http://schemas.openxmlformats.org/officeDocument/2006/relationships/oleObject" Target="../embeddings/oleObject82.bin"/><Relationship Id="rId27" Type="http://schemas.openxmlformats.org/officeDocument/2006/relationships/image" Target="../media/image80.wmf"/><Relationship Id="rId30" Type="http://schemas.openxmlformats.org/officeDocument/2006/relationships/oleObject" Target="../embeddings/oleObject86.bin"/><Relationship Id="rId35" Type="http://schemas.openxmlformats.org/officeDocument/2006/relationships/image" Target="../media/image84.wmf"/><Relationship Id="rId8" Type="http://schemas.openxmlformats.org/officeDocument/2006/relationships/image" Target="../media/image71.wmf"/><Relationship Id="rId3" Type="http://schemas.openxmlformats.org/officeDocument/2006/relationships/oleObject" Target="../embeddings/oleObject7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oleObject" Target="../embeddings/oleObject95.bin"/><Relationship Id="rId18" Type="http://schemas.openxmlformats.org/officeDocument/2006/relationships/image" Target="../media/image93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90.wmf"/><Relationship Id="rId17" Type="http://schemas.openxmlformats.org/officeDocument/2006/relationships/oleObject" Target="../embeddings/oleObject9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2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7.w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6.bin"/><Relationship Id="rId10" Type="http://schemas.openxmlformats.org/officeDocument/2006/relationships/image" Target="../media/image89.wmf"/><Relationship Id="rId4" Type="http://schemas.openxmlformats.org/officeDocument/2006/relationships/image" Target="../media/image86.w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9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oleObject" Target="../embeddings/oleObject103.bin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9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0" Type="http://schemas.openxmlformats.org/officeDocument/2006/relationships/image" Target="../media/image96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10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109.bin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0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3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10" Type="http://schemas.openxmlformats.org/officeDocument/2006/relationships/image" Target="../media/image100.wmf"/><Relationship Id="rId4" Type="http://schemas.openxmlformats.org/officeDocument/2006/relationships/image" Target="../media/image69.e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10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11.wmf"/><Relationship Id="rId3" Type="http://schemas.openxmlformats.org/officeDocument/2006/relationships/oleObject" Target="../embeddings/oleObject111.bin"/><Relationship Id="rId21" Type="http://schemas.openxmlformats.org/officeDocument/2006/relationships/oleObject" Target="../embeddings/oleObject120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0.wmf"/><Relationship Id="rId20" Type="http://schemas.openxmlformats.org/officeDocument/2006/relationships/image" Target="../media/image112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07.wmf"/><Relationship Id="rId19" Type="http://schemas.openxmlformats.org/officeDocument/2006/relationships/oleObject" Target="../embeddings/oleObject119.bin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09.wmf"/><Relationship Id="rId22" Type="http://schemas.openxmlformats.org/officeDocument/2006/relationships/image" Target="../media/image11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26.bin"/><Relationship Id="rId18" Type="http://schemas.openxmlformats.org/officeDocument/2006/relationships/image" Target="../media/image120.wmf"/><Relationship Id="rId3" Type="http://schemas.openxmlformats.org/officeDocument/2006/relationships/oleObject" Target="../embeddings/oleObject121.bin"/><Relationship Id="rId21" Type="http://schemas.openxmlformats.org/officeDocument/2006/relationships/oleObject" Target="../embeddings/oleObject130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17.wmf"/><Relationship Id="rId17" Type="http://schemas.openxmlformats.org/officeDocument/2006/relationships/oleObject" Target="../embeddings/oleObject12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9.emf"/><Relationship Id="rId20" Type="http://schemas.openxmlformats.org/officeDocument/2006/relationships/image" Target="../media/image106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5" Type="http://schemas.openxmlformats.org/officeDocument/2006/relationships/oleObject" Target="../embeddings/oleObject127.bin"/><Relationship Id="rId23" Type="http://schemas.openxmlformats.org/officeDocument/2006/relationships/image" Target="../media/image121.wmf"/><Relationship Id="rId10" Type="http://schemas.openxmlformats.org/officeDocument/2006/relationships/image" Target="../media/image116.wmf"/><Relationship Id="rId19" Type="http://schemas.openxmlformats.org/officeDocument/2006/relationships/oleObject" Target="../embeddings/oleObject129.bin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18.emf"/><Relationship Id="rId22" Type="http://schemas.openxmlformats.org/officeDocument/2006/relationships/oleObject" Target="../embeddings/oleObject13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133.bin"/><Relationship Id="rId4" Type="http://schemas.openxmlformats.org/officeDocument/2006/relationships/image" Target="../media/image12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oleObject" Target="../embeddings/oleObject139.bin"/><Relationship Id="rId18" Type="http://schemas.openxmlformats.org/officeDocument/2006/relationships/image" Target="../media/image131.wmf"/><Relationship Id="rId3" Type="http://schemas.openxmlformats.org/officeDocument/2006/relationships/oleObject" Target="../embeddings/oleObject134.bin"/><Relationship Id="rId21" Type="http://schemas.openxmlformats.org/officeDocument/2006/relationships/oleObject" Target="../embeddings/oleObject143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28.wmf"/><Relationship Id="rId17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0.wmf"/><Relationship Id="rId20" Type="http://schemas.openxmlformats.org/officeDocument/2006/relationships/image" Target="../media/image132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38.bin"/><Relationship Id="rId5" Type="http://schemas.openxmlformats.org/officeDocument/2006/relationships/oleObject" Target="../embeddings/oleObject135.bin"/><Relationship Id="rId15" Type="http://schemas.openxmlformats.org/officeDocument/2006/relationships/oleObject" Target="../embeddings/oleObject140.bin"/><Relationship Id="rId10" Type="http://schemas.openxmlformats.org/officeDocument/2006/relationships/image" Target="../media/image127.wmf"/><Relationship Id="rId19" Type="http://schemas.openxmlformats.org/officeDocument/2006/relationships/oleObject" Target="../embeddings/oleObject142.bin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37.bin"/><Relationship Id="rId14" Type="http://schemas.openxmlformats.org/officeDocument/2006/relationships/image" Target="../media/image129.wmf"/><Relationship Id="rId22" Type="http://schemas.openxmlformats.org/officeDocument/2006/relationships/image" Target="../media/image13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34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13" Type="http://schemas.openxmlformats.org/officeDocument/2006/relationships/oleObject" Target="../embeddings/oleObject151.bin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12" Type="http://schemas.openxmlformats.org/officeDocument/2006/relationships/image" Target="../media/image139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6.wmf"/><Relationship Id="rId11" Type="http://schemas.openxmlformats.org/officeDocument/2006/relationships/oleObject" Target="../embeddings/oleObject150.bin"/><Relationship Id="rId5" Type="http://schemas.openxmlformats.org/officeDocument/2006/relationships/oleObject" Target="../embeddings/oleObject147.bin"/><Relationship Id="rId10" Type="http://schemas.openxmlformats.org/officeDocument/2006/relationships/image" Target="../media/image138.wmf"/><Relationship Id="rId4" Type="http://schemas.openxmlformats.org/officeDocument/2006/relationships/image" Target="../media/image135.wmf"/><Relationship Id="rId9" Type="http://schemas.openxmlformats.org/officeDocument/2006/relationships/oleObject" Target="../embeddings/oleObject149.bin"/><Relationship Id="rId14" Type="http://schemas.openxmlformats.org/officeDocument/2006/relationships/image" Target="../media/image140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42.w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41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oleObject" Target="../embeddings/oleObject159.bin"/><Relationship Id="rId18" Type="http://schemas.openxmlformats.org/officeDocument/2006/relationships/image" Target="../media/image150.wmf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47.wmf"/><Relationship Id="rId17" Type="http://schemas.openxmlformats.org/officeDocument/2006/relationships/oleObject" Target="../embeddings/oleObject16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9.wmf"/><Relationship Id="rId20" Type="http://schemas.openxmlformats.org/officeDocument/2006/relationships/image" Target="../media/image151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44.wmf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5.bin"/><Relationship Id="rId15" Type="http://schemas.openxmlformats.org/officeDocument/2006/relationships/oleObject" Target="../embeddings/oleObject160.bin"/><Relationship Id="rId10" Type="http://schemas.openxmlformats.org/officeDocument/2006/relationships/image" Target="../media/image146.wmf"/><Relationship Id="rId19" Type="http://schemas.openxmlformats.org/officeDocument/2006/relationships/oleObject" Target="../embeddings/oleObject162.bin"/><Relationship Id="rId4" Type="http://schemas.openxmlformats.org/officeDocument/2006/relationships/image" Target="../media/image143.wmf"/><Relationship Id="rId9" Type="http://schemas.openxmlformats.org/officeDocument/2006/relationships/oleObject" Target="../embeddings/oleObject157.bin"/><Relationship Id="rId14" Type="http://schemas.openxmlformats.org/officeDocument/2006/relationships/image" Target="../media/image148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oleObject" Target="../embeddings/oleObject168.bin"/><Relationship Id="rId3" Type="http://schemas.openxmlformats.org/officeDocument/2006/relationships/oleObject" Target="../embeddings/oleObject163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15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53.wmf"/><Relationship Id="rId11" Type="http://schemas.openxmlformats.org/officeDocument/2006/relationships/oleObject" Target="../embeddings/oleObject167.bin"/><Relationship Id="rId5" Type="http://schemas.openxmlformats.org/officeDocument/2006/relationships/oleObject" Target="../embeddings/oleObject164.bin"/><Relationship Id="rId15" Type="http://schemas.openxmlformats.org/officeDocument/2006/relationships/image" Target="../media/image157.wmf"/><Relationship Id="rId10" Type="http://schemas.openxmlformats.org/officeDocument/2006/relationships/image" Target="../media/image155.wmf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66.bin"/><Relationship Id="rId14" Type="http://schemas.openxmlformats.org/officeDocument/2006/relationships/oleObject" Target="../embeddings/oleObject16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13" Type="http://schemas.openxmlformats.org/officeDocument/2006/relationships/oleObject" Target="../embeddings/oleObject175.bin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16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3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74.bin"/><Relationship Id="rId5" Type="http://schemas.openxmlformats.org/officeDocument/2006/relationships/oleObject" Target="../embeddings/oleObject171.bin"/><Relationship Id="rId15" Type="http://schemas.openxmlformats.org/officeDocument/2006/relationships/oleObject" Target="../embeddings/oleObject176.bin"/><Relationship Id="rId10" Type="http://schemas.openxmlformats.org/officeDocument/2006/relationships/image" Target="../media/image160.wmf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173.bin"/><Relationship Id="rId14" Type="http://schemas.openxmlformats.org/officeDocument/2006/relationships/image" Target="../media/image16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13" Type="http://schemas.openxmlformats.org/officeDocument/2006/relationships/oleObject" Target="../embeddings/oleObject182.bin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12" Type="http://schemas.openxmlformats.org/officeDocument/2006/relationships/image" Target="../media/image168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0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65.wmf"/><Relationship Id="rId11" Type="http://schemas.openxmlformats.org/officeDocument/2006/relationships/oleObject" Target="../embeddings/oleObject181.bin"/><Relationship Id="rId5" Type="http://schemas.openxmlformats.org/officeDocument/2006/relationships/oleObject" Target="../embeddings/oleObject178.bin"/><Relationship Id="rId15" Type="http://schemas.openxmlformats.org/officeDocument/2006/relationships/oleObject" Target="../embeddings/oleObject183.bin"/><Relationship Id="rId10" Type="http://schemas.openxmlformats.org/officeDocument/2006/relationships/image" Target="../media/image167.wmf"/><Relationship Id="rId4" Type="http://schemas.openxmlformats.org/officeDocument/2006/relationships/image" Target="../media/image164.wmf"/><Relationship Id="rId9" Type="http://schemas.openxmlformats.org/officeDocument/2006/relationships/oleObject" Target="../embeddings/oleObject180.bin"/><Relationship Id="rId14" Type="http://schemas.openxmlformats.org/officeDocument/2006/relationships/image" Target="../media/image16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13" Type="http://schemas.openxmlformats.org/officeDocument/2006/relationships/oleObject" Target="../embeddings/oleObject189.bin"/><Relationship Id="rId18" Type="http://schemas.openxmlformats.org/officeDocument/2006/relationships/image" Target="../media/image177.wmf"/><Relationship Id="rId26" Type="http://schemas.openxmlformats.org/officeDocument/2006/relationships/image" Target="../media/image181.wmf"/><Relationship Id="rId3" Type="http://schemas.openxmlformats.org/officeDocument/2006/relationships/oleObject" Target="../embeddings/oleObject184.bin"/><Relationship Id="rId21" Type="http://schemas.openxmlformats.org/officeDocument/2006/relationships/oleObject" Target="../embeddings/oleObject193.bin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174.wmf"/><Relationship Id="rId17" Type="http://schemas.openxmlformats.org/officeDocument/2006/relationships/oleObject" Target="../embeddings/oleObject191.bin"/><Relationship Id="rId25" Type="http://schemas.openxmlformats.org/officeDocument/2006/relationships/oleObject" Target="../embeddings/oleObject19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6.wmf"/><Relationship Id="rId20" Type="http://schemas.openxmlformats.org/officeDocument/2006/relationships/image" Target="../media/image178.wmf"/><Relationship Id="rId29" Type="http://schemas.openxmlformats.org/officeDocument/2006/relationships/oleObject" Target="../embeddings/oleObject197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88.bin"/><Relationship Id="rId24" Type="http://schemas.openxmlformats.org/officeDocument/2006/relationships/image" Target="../media/image180.wmf"/><Relationship Id="rId5" Type="http://schemas.openxmlformats.org/officeDocument/2006/relationships/oleObject" Target="../embeddings/oleObject185.bin"/><Relationship Id="rId15" Type="http://schemas.openxmlformats.org/officeDocument/2006/relationships/oleObject" Target="../embeddings/oleObject190.bin"/><Relationship Id="rId23" Type="http://schemas.openxmlformats.org/officeDocument/2006/relationships/oleObject" Target="../embeddings/oleObject194.bin"/><Relationship Id="rId28" Type="http://schemas.openxmlformats.org/officeDocument/2006/relationships/image" Target="../media/image182.wmf"/><Relationship Id="rId10" Type="http://schemas.openxmlformats.org/officeDocument/2006/relationships/image" Target="../media/image173.wmf"/><Relationship Id="rId19" Type="http://schemas.openxmlformats.org/officeDocument/2006/relationships/oleObject" Target="../embeddings/oleObject192.bin"/><Relationship Id="rId4" Type="http://schemas.openxmlformats.org/officeDocument/2006/relationships/image" Target="../media/image171.wmf"/><Relationship Id="rId9" Type="http://schemas.openxmlformats.org/officeDocument/2006/relationships/oleObject" Target="../embeddings/oleObject187.bin"/><Relationship Id="rId14" Type="http://schemas.openxmlformats.org/officeDocument/2006/relationships/image" Target="../media/image175.wmf"/><Relationship Id="rId22" Type="http://schemas.openxmlformats.org/officeDocument/2006/relationships/image" Target="../media/image179.wmf"/><Relationship Id="rId27" Type="http://schemas.openxmlformats.org/officeDocument/2006/relationships/oleObject" Target="../embeddings/oleObject196.bin"/><Relationship Id="rId30" Type="http://schemas.openxmlformats.org/officeDocument/2006/relationships/image" Target="../media/image18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13" Type="http://schemas.openxmlformats.org/officeDocument/2006/relationships/oleObject" Target="../embeddings/oleObject203.bin"/><Relationship Id="rId18" Type="http://schemas.openxmlformats.org/officeDocument/2006/relationships/image" Target="../media/image188.wmf"/><Relationship Id="rId3" Type="http://schemas.openxmlformats.org/officeDocument/2006/relationships/oleObject" Target="../embeddings/oleObject198.bin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174.wmf"/><Relationship Id="rId17" Type="http://schemas.openxmlformats.org/officeDocument/2006/relationships/oleObject" Target="../embeddings/oleObject20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0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85.wmf"/><Relationship Id="rId11" Type="http://schemas.openxmlformats.org/officeDocument/2006/relationships/oleObject" Target="../embeddings/oleObject202.bin"/><Relationship Id="rId5" Type="http://schemas.openxmlformats.org/officeDocument/2006/relationships/oleObject" Target="../embeddings/oleObject199.bin"/><Relationship Id="rId15" Type="http://schemas.openxmlformats.org/officeDocument/2006/relationships/oleObject" Target="../embeddings/oleObject204.bin"/><Relationship Id="rId10" Type="http://schemas.openxmlformats.org/officeDocument/2006/relationships/image" Target="../media/image187.wmf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201.bin"/><Relationship Id="rId14" Type="http://schemas.openxmlformats.org/officeDocument/2006/relationships/image" Target="../media/image179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189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oleObject" Target="../embeddings/oleObject212.bin"/><Relationship Id="rId18" Type="http://schemas.openxmlformats.org/officeDocument/2006/relationships/image" Target="../media/image197.wmf"/><Relationship Id="rId26" Type="http://schemas.openxmlformats.org/officeDocument/2006/relationships/image" Target="../media/image201.emf"/><Relationship Id="rId3" Type="http://schemas.openxmlformats.org/officeDocument/2006/relationships/oleObject" Target="../embeddings/oleObject207.bin"/><Relationship Id="rId21" Type="http://schemas.openxmlformats.org/officeDocument/2006/relationships/oleObject" Target="../embeddings/oleObject216.bin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194.wmf"/><Relationship Id="rId17" Type="http://schemas.openxmlformats.org/officeDocument/2006/relationships/oleObject" Target="../embeddings/oleObject214.bin"/><Relationship Id="rId25" Type="http://schemas.openxmlformats.org/officeDocument/2006/relationships/oleObject" Target="../embeddings/oleObject2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6.wmf"/><Relationship Id="rId20" Type="http://schemas.openxmlformats.org/officeDocument/2006/relationships/image" Target="../media/image198.wmf"/><Relationship Id="rId29" Type="http://schemas.openxmlformats.org/officeDocument/2006/relationships/oleObject" Target="../embeddings/oleObject220.bin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91.wmf"/><Relationship Id="rId11" Type="http://schemas.openxmlformats.org/officeDocument/2006/relationships/oleObject" Target="../embeddings/oleObject211.bin"/><Relationship Id="rId24" Type="http://schemas.openxmlformats.org/officeDocument/2006/relationships/image" Target="../media/image200.wmf"/><Relationship Id="rId32" Type="http://schemas.openxmlformats.org/officeDocument/2006/relationships/image" Target="../media/image204.wmf"/><Relationship Id="rId5" Type="http://schemas.openxmlformats.org/officeDocument/2006/relationships/oleObject" Target="../embeddings/oleObject208.bin"/><Relationship Id="rId15" Type="http://schemas.openxmlformats.org/officeDocument/2006/relationships/oleObject" Target="../embeddings/oleObject213.bin"/><Relationship Id="rId23" Type="http://schemas.openxmlformats.org/officeDocument/2006/relationships/oleObject" Target="../embeddings/oleObject217.bin"/><Relationship Id="rId28" Type="http://schemas.openxmlformats.org/officeDocument/2006/relationships/image" Target="../media/image202.wmf"/><Relationship Id="rId10" Type="http://schemas.openxmlformats.org/officeDocument/2006/relationships/image" Target="../media/image193.wmf"/><Relationship Id="rId19" Type="http://schemas.openxmlformats.org/officeDocument/2006/relationships/oleObject" Target="../embeddings/oleObject215.bin"/><Relationship Id="rId31" Type="http://schemas.openxmlformats.org/officeDocument/2006/relationships/oleObject" Target="../embeddings/oleObject221.bin"/><Relationship Id="rId4" Type="http://schemas.openxmlformats.org/officeDocument/2006/relationships/image" Target="../media/image190.w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195.wmf"/><Relationship Id="rId22" Type="http://schemas.openxmlformats.org/officeDocument/2006/relationships/image" Target="../media/image199.wmf"/><Relationship Id="rId27" Type="http://schemas.openxmlformats.org/officeDocument/2006/relationships/oleObject" Target="../embeddings/oleObject219.bin"/><Relationship Id="rId30" Type="http://schemas.openxmlformats.org/officeDocument/2006/relationships/image" Target="../media/image203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06.wmf"/><Relationship Id="rId5" Type="http://schemas.openxmlformats.org/officeDocument/2006/relationships/oleObject" Target="../embeddings/oleObject223.bin"/><Relationship Id="rId4" Type="http://schemas.openxmlformats.org/officeDocument/2006/relationships/image" Target="../media/image205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08.wmf"/><Relationship Id="rId5" Type="http://schemas.openxmlformats.org/officeDocument/2006/relationships/oleObject" Target="../embeddings/oleObject225.bin"/><Relationship Id="rId4" Type="http://schemas.openxmlformats.org/officeDocument/2006/relationships/image" Target="../media/image207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209.emf"/><Relationship Id="rId4" Type="http://schemas.openxmlformats.org/officeDocument/2006/relationships/oleObject" Target="../embeddings/oleObject226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5" Type="http://schemas.openxmlformats.org/officeDocument/2006/relationships/slide" Target="slide11.xml"/><Relationship Id="rId4" Type="http://schemas.openxmlformats.org/officeDocument/2006/relationships/image" Target="../media/image210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5" Type="http://schemas.openxmlformats.org/officeDocument/2006/relationships/slide" Target="slide11.xml"/><Relationship Id="rId4" Type="http://schemas.openxmlformats.org/officeDocument/2006/relationships/image" Target="../media/image211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5" Type="http://schemas.openxmlformats.org/officeDocument/2006/relationships/slide" Target="slide11.xml"/><Relationship Id="rId4" Type="http://schemas.openxmlformats.org/officeDocument/2006/relationships/image" Target="../media/image212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5" Type="http://schemas.openxmlformats.org/officeDocument/2006/relationships/image" Target="../media/image213.wmf"/><Relationship Id="rId4" Type="http://schemas.openxmlformats.org/officeDocument/2006/relationships/oleObject" Target="../embeddings/oleObject230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25969" y="131931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zh-CN" altLang="en-US" sz="4800" b="1" dirty="0"/>
              <a:t>第八讲  克莱姆法则与可逆矩阵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57559" y="2644398"/>
            <a:ext cx="6400800" cy="256713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+mn-ea"/>
              </a:rPr>
              <a:t>2.12 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克莱姆法则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+mn-ea"/>
              </a:rPr>
              <a:t>2.13 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可逆矩阵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+mn-ea"/>
              </a:rPr>
              <a:t>2.14 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可逆矩阵的求法（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）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  <a:latin typeface="+mn-ea"/>
              </a:rPr>
              <a:t>2.15 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可逆矩阵的求法（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）</a:t>
            </a:r>
          </a:p>
        </p:txBody>
      </p:sp>
      <p:sp>
        <p:nvSpPr>
          <p:cNvPr id="4" name="直角三角形 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直角三角形 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Picture 2" descr="scau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131" y="67811"/>
            <a:ext cx="5472112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87388" y="53293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/>
              <a:t>一、克莱姆</a:t>
            </a:r>
            <a:r>
              <a:rPr lang="en-US" altLang="zh-CN" sz="3600" dirty="0"/>
              <a:t>(Crammer)</a:t>
            </a:r>
            <a:r>
              <a:rPr lang="zh-CN" altLang="en-US" sz="3600" dirty="0"/>
              <a:t>法则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47383" y="985190"/>
            <a:ext cx="84276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定理</a:t>
            </a:r>
            <a:r>
              <a:rPr lang="en-US" altLang="zh-CN" sz="2400" b="1" dirty="0">
                <a:latin typeface="+mn-ea"/>
              </a:rPr>
              <a:t>2.12.1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+mn-ea"/>
              </a:rPr>
              <a:t>个方程，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+mn-ea"/>
              </a:rPr>
              <a:t>个未知量的线性方程组的一般形式为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2051720" y="1661718"/>
            <a:ext cx="5294332" cy="1803400"/>
            <a:chOff x="2051720" y="1661718"/>
            <a:chExt cx="5294332" cy="1803400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1475123"/>
                </p:ext>
              </p:extLst>
            </p:nvPr>
          </p:nvGraphicFramePr>
          <p:xfrm>
            <a:off x="2051720" y="1661718"/>
            <a:ext cx="3695700" cy="180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" name="Equation" r:id="rId3" imgW="3695400" imgH="1803240" progId="Equation.DSMT4">
                    <p:embed/>
                  </p:oleObj>
                </mc:Choice>
                <mc:Fallback>
                  <p:oleObj name="Equation" r:id="rId3" imgW="3695400" imgH="1803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51720" y="1661718"/>
                          <a:ext cx="3695700" cy="1803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/>
            <p:cNvSpPr/>
            <p:nvPr/>
          </p:nvSpPr>
          <p:spPr>
            <a:xfrm>
              <a:off x="6084168" y="2170957"/>
              <a:ext cx="12618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(2.12.1)</a:t>
              </a:r>
              <a:endParaRPr lang="zh-CN" altLang="en-US" dirty="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67544" y="3661483"/>
            <a:ext cx="7217489" cy="1803400"/>
            <a:chOff x="467544" y="3661483"/>
            <a:chExt cx="7217489" cy="1803400"/>
          </a:xfrm>
        </p:grpSpPr>
        <p:sp>
          <p:nvSpPr>
            <p:cNvPr id="12" name="矩形 11"/>
            <p:cNvSpPr/>
            <p:nvPr/>
          </p:nvSpPr>
          <p:spPr>
            <a:xfrm>
              <a:off x="467544" y="4304591"/>
              <a:ext cx="396935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若其</a:t>
              </a:r>
              <a:r>
                <a:rPr lang="zh-CN" altLang="en-US" sz="2400" dirty="0">
                  <a:solidFill>
                    <a:srgbClr val="0000FF"/>
                  </a:solidFill>
                  <a:latin typeface="微软雅黑" panose="020B0503020204020204" pitchFamily="34" charset="-122"/>
                </a:rPr>
                <a:t>系数行列式</a:t>
              </a:r>
              <a:r>
                <a:rPr lang="zh-CN" altLang="en-US" sz="2400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不为零，即</a:t>
              </a:r>
              <a:endParaRPr lang="zh-CN" altLang="en-US" dirty="0"/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3706329"/>
                </p:ext>
              </p:extLst>
            </p:nvPr>
          </p:nvGraphicFramePr>
          <p:xfrm>
            <a:off x="4256033" y="3661483"/>
            <a:ext cx="3429000" cy="180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" name="Equation" r:id="rId5" imgW="3429000" imgH="1803240" progId="Equation.DSMT4">
                    <p:embed/>
                  </p:oleObj>
                </mc:Choice>
                <mc:Fallback>
                  <p:oleObj name="Equation" r:id="rId5" imgW="3429000" imgH="1803240" progId="Equation.DSMT4">
                    <p:embed/>
                    <p:pic>
                      <p:nvPicPr>
                        <p:cNvPr id="8" name="对象 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256033" y="3661483"/>
                          <a:ext cx="3429000" cy="1803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矩形 14"/>
          <p:cNvSpPr/>
          <p:nvPr/>
        </p:nvSpPr>
        <p:spPr>
          <a:xfrm>
            <a:off x="7685033" y="4293096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则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395536" y="5775647"/>
            <a:ext cx="50607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latin typeface="Times New Roman" panose="02020603050405020304" pitchFamily="18" charset="0"/>
              </a:rPr>
              <a:t>线性方程组（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2.12.1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）有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唯一解</a:t>
            </a:r>
            <a:endParaRPr kumimoji="1"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358347"/>
              </p:ext>
            </p:extLst>
          </p:nvPr>
        </p:nvGraphicFramePr>
        <p:xfrm>
          <a:off x="4623792" y="5644529"/>
          <a:ext cx="1041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Equation" r:id="rId7" imgW="1041120" imgH="723600" progId="Equation.DSMT4">
                  <p:embed/>
                </p:oleObj>
              </mc:Choice>
              <mc:Fallback>
                <p:oleObj name="Equation" r:id="rId7" imgW="1041120" imgH="7236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23792" y="5644529"/>
                        <a:ext cx="1041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340693"/>
              </p:ext>
            </p:extLst>
          </p:nvPr>
        </p:nvGraphicFramePr>
        <p:xfrm>
          <a:off x="5703912" y="5657428"/>
          <a:ext cx="1104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Equation" r:id="rId9" imgW="1104840" imgH="723600" progId="Equation.DSMT4">
                  <p:embed/>
                </p:oleObj>
              </mc:Choice>
              <mc:Fallback>
                <p:oleObj name="Equation" r:id="rId9" imgW="1104840" imgH="72360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03912" y="5657428"/>
                        <a:ext cx="11049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541992"/>
              </p:ext>
            </p:extLst>
          </p:nvPr>
        </p:nvGraphicFramePr>
        <p:xfrm>
          <a:off x="6856040" y="5657428"/>
          <a:ext cx="1676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11" imgW="1676160" imgH="723600" progId="Equation.DSMT4">
                  <p:embed/>
                </p:oleObj>
              </mc:Choice>
              <mc:Fallback>
                <p:oleObj name="Equation" r:id="rId11" imgW="1676160" imgH="723600" progId="Equation.DSMT4">
                  <p:embed/>
                  <p:pic>
                    <p:nvPicPr>
                      <p:cNvPr id="18" name="对象 1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56040" y="5657428"/>
                        <a:ext cx="1676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直角三角形 21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直角三角形 22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96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9120" y="1669326"/>
            <a:ext cx="50607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latin typeface="Times New Roman" panose="02020603050405020304" pitchFamily="18" charset="0"/>
              </a:rPr>
              <a:t>其中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447382" y="843360"/>
            <a:ext cx="8033266" cy="741059"/>
            <a:chOff x="447382" y="675537"/>
            <a:chExt cx="8033266" cy="741059"/>
          </a:xfrm>
        </p:grpSpPr>
        <p:sp>
          <p:nvSpPr>
            <p:cNvPr id="5" name="矩形 4"/>
            <p:cNvSpPr/>
            <p:nvPr/>
          </p:nvSpPr>
          <p:spPr>
            <a:xfrm>
              <a:off x="447382" y="823814"/>
              <a:ext cx="506072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dirty="0">
                  <a:latin typeface="Times New Roman" panose="02020603050405020304" pitchFamily="18" charset="0"/>
                </a:rPr>
                <a:t>线性方程组（</a:t>
              </a:r>
              <a:r>
                <a:rPr kumimoji="1" lang="en-US" altLang="zh-CN" sz="2400" dirty="0">
                  <a:latin typeface="Times New Roman" panose="02020603050405020304" pitchFamily="18" charset="0"/>
                </a:rPr>
                <a:t>2.12.1</a:t>
              </a:r>
              <a:r>
                <a:rPr kumimoji="1" lang="zh-CN" altLang="en-US" sz="2400" dirty="0">
                  <a:latin typeface="Times New Roman" panose="02020603050405020304" pitchFamily="18" charset="0"/>
                </a:rPr>
                <a:t>）有</a:t>
              </a:r>
              <a:r>
                <a:rPr kumimoji="1"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唯一解</a:t>
              </a:r>
              <a:endParaRPr kumimoji="1" lang="zh-CN" altLang="en-US" sz="24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1249825"/>
                </p:ext>
              </p:extLst>
            </p:nvPr>
          </p:nvGraphicFramePr>
          <p:xfrm>
            <a:off x="4644008" y="692696"/>
            <a:ext cx="10414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7" name="Equation" r:id="rId3" imgW="1041120" imgH="723600" progId="Equation.DSMT4">
                    <p:embed/>
                  </p:oleObj>
                </mc:Choice>
                <mc:Fallback>
                  <p:oleObj name="Equation" r:id="rId3" imgW="1041120" imgH="723600" progId="Equation.DSMT4">
                    <p:embed/>
                    <p:pic>
                      <p:nvPicPr>
                        <p:cNvPr id="17" name="对象 1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644008" y="692696"/>
                          <a:ext cx="10414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1529857"/>
                </p:ext>
              </p:extLst>
            </p:nvPr>
          </p:nvGraphicFramePr>
          <p:xfrm>
            <a:off x="5652120" y="675537"/>
            <a:ext cx="11049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8" name="Equation" r:id="rId5" imgW="1104840" imgH="723600" progId="Equation.DSMT4">
                    <p:embed/>
                  </p:oleObj>
                </mc:Choice>
                <mc:Fallback>
                  <p:oleObj name="Equation" r:id="rId5" imgW="1104840" imgH="723600" progId="Equation.DSMT4">
                    <p:embed/>
                    <p:pic>
                      <p:nvPicPr>
                        <p:cNvPr id="18" name="对象 1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652120" y="675537"/>
                          <a:ext cx="11049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4512001"/>
                </p:ext>
              </p:extLst>
            </p:nvPr>
          </p:nvGraphicFramePr>
          <p:xfrm>
            <a:off x="6804248" y="675537"/>
            <a:ext cx="16764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" name="Equation" r:id="rId7" imgW="1676160" imgH="723600" progId="Equation.DSMT4">
                    <p:embed/>
                  </p:oleObj>
                </mc:Choice>
                <mc:Fallback>
                  <p:oleObj name="Equation" r:id="rId7" imgW="1676160" imgH="723600" progId="Equation.DSMT4">
                    <p:embed/>
                    <p:pic>
                      <p:nvPicPr>
                        <p:cNvPr id="19" name="对象 1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804248" y="675537"/>
                          <a:ext cx="16764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15921"/>
              </p:ext>
            </p:extLst>
          </p:nvPr>
        </p:nvGraphicFramePr>
        <p:xfrm>
          <a:off x="1115616" y="2517447"/>
          <a:ext cx="525780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Equation" r:id="rId9" imgW="5257800" imgH="1422360" progId="Equation.DSMT4">
                  <p:embed/>
                </p:oleObj>
              </mc:Choice>
              <mc:Fallback>
                <p:oleObj name="Equation" r:id="rId9" imgW="5257800" imgH="142236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15616" y="2517447"/>
                        <a:ext cx="5257800" cy="142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345996" y="4365104"/>
            <a:ext cx="8596024" cy="1200329"/>
            <a:chOff x="323528" y="4293096"/>
            <a:chExt cx="8596024" cy="1200329"/>
          </a:xfrm>
        </p:grpSpPr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323528" y="4293096"/>
              <a:ext cx="8596024" cy="1200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zh-CN" altLang="en-US" sz="2400" dirty="0">
                  <a:latin typeface="+mn-ea"/>
                </a:rPr>
                <a:t>     是把系数行列式     中第   列的元素用方程组右端的常数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2400" dirty="0">
                  <a:latin typeface="+mn-ea"/>
                </a:rPr>
                <a:t>项                    代替后所得到的    阶行列式</a:t>
              </a:r>
              <a:r>
                <a:rPr kumimoji="1" lang="en-US" altLang="zh-CN" sz="2400" dirty="0">
                  <a:latin typeface="+mn-ea"/>
                </a:rPr>
                <a:t>.</a:t>
              </a: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773158"/>
                </p:ext>
              </p:extLst>
            </p:nvPr>
          </p:nvGraphicFramePr>
          <p:xfrm>
            <a:off x="459120" y="4441184"/>
            <a:ext cx="3556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1" name="Equation" r:id="rId11" imgW="355320" imgH="419040" progId="Equation.DSMT4">
                    <p:embed/>
                  </p:oleObj>
                </mc:Choice>
                <mc:Fallback>
                  <p:oleObj name="Equation" r:id="rId11" imgW="355320" imgH="419040" progId="Equation.DSMT4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59120" y="4441184"/>
                          <a:ext cx="3556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6854712"/>
                </p:ext>
              </p:extLst>
            </p:nvPr>
          </p:nvGraphicFramePr>
          <p:xfrm>
            <a:off x="3090252" y="4509120"/>
            <a:ext cx="2794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2" name="Equation" r:id="rId13" imgW="279360" imgH="266400" progId="Equation.DSMT4">
                    <p:embed/>
                  </p:oleObj>
                </mc:Choice>
                <mc:Fallback>
                  <p:oleObj name="Equation" r:id="rId13" imgW="279360" imgH="266400" progId="Equation.DSMT4">
                    <p:embed/>
                    <p:pic>
                      <p:nvPicPr>
                        <p:cNvPr id="11" name="对象 10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090252" y="4509120"/>
                          <a:ext cx="2794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6723455"/>
                </p:ext>
              </p:extLst>
            </p:nvPr>
          </p:nvGraphicFramePr>
          <p:xfrm>
            <a:off x="4085044" y="4509120"/>
            <a:ext cx="1905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3" name="Equation" r:id="rId15" imgW="190440" imgH="317160" progId="Equation.DSMT4">
                    <p:embed/>
                  </p:oleObj>
                </mc:Choice>
                <mc:Fallback>
                  <p:oleObj name="Equation" r:id="rId15" imgW="190440" imgH="317160" progId="Equation.DSMT4">
                    <p:embed/>
                    <p:pic>
                      <p:nvPicPr>
                        <p:cNvPr id="12" name="对象 1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085044" y="4509120"/>
                          <a:ext cx="190500" cy="317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4003460"/>
                </p:ext>
              </p:extLst>
            </p:nvPr>
          </p:nvGraphicFramePr>
          <p:xfrm>
            <a:off x="814720" y="4976093"/>
            <a:ext cx="1619250" cy="493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4" name="Equation" r:id="rId17" imgW="647640" imgH="203040" progId="Equation.DSMT4">
                    <p:embed/>
                  </p:oleObj>
                </mc:Choice>
                <mc:Fallback>
                  <p:oleObj name="Equation" r:id="rId17" imgW="647640" imgH="203040" progId="Equation.DSMT4">
                    <p:embed/>
                    <p:pic>
                      <p:nvPicPr>
                        <p:cNvPr id="138257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720" y="4976093"/>
                          <a:ext cx="1619250" cy="4937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2608114"/>
                </p:ext>
              </p:extLst>
            </p:nvPr>
          </p:nvGraphicFramePr>
          <p:xfrm>
            <a:off x="4741540" y="508518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" name="Equation" r:id="rId19" imgW="190440" imgH="203040" progId="Equation.DSMT4">
                    <p:embed/>
                  </p:oleObj>
                </mc:Choice>
                <mc:Fallback>
                  <p:oleObj name="Equation" r:id="rId19" imgW="190440" imgH="203040" progId="Equation.DSMT4">
                    <p:embed/>
                    <p:pic>
                      <p:nvPicPr>
                        <p:cNvPr id="12" name="对象 11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741540" y="5085184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矩形 18"/>
          <p:cNvSpPr/>
          <p:nvPr/>
        </p:nvSpPr>
        <p:spPr>
          <a:xfrm>
            <a:off x="6444208" y="5027959"/>
            <a:ext cx="13131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</a:rPr>
              <a:t>(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</a:rPr>
              <a:t>证明略</a:t>
            </a:r>
            <a:r>
              <a:rPr kumimoji="1"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直角三角形 1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直角三角形 19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8532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734888" y="620688"/>
            <a:ext cx="8229600" cy="1905040"/>
            <a:chOff x="734888" y="479436"/>
            <a:chExt cx="8229600" cy="1905040"/>
          </a:xfrm>
        </p:grpSpPr>
        <p:sp>
          <p:nvSpPr>
            <p:cNvPr id="5" name="内容占位符 2"/>
            <p:cNvSpPr txBox="1"/>
            <p:nvPr/>
          </p:nvSpPr>
          <p:spPr>
            <a:xfrm>
              <a:off x="734888" y="479436"/>
              <a:ext cx="8229600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2400" b="1" dirty="0"/>
                <a:t>例</a:t>
              </a:r>
              <a:r>
                <a:rPr lang="en-US" altLang="zh-CN" sz="2400" b="1" dirty="0"/>
                <a:t>1</a:t>
              </a:r>
              <a:r>
                <a:rPr lang="en-US" altLang="zh-CN" sz="2400" dirty="0"/>
                <a:t>   </a:t>
              </a:r>
              <a:r>
                <a:rPr lang="zh-CN" altLang="en-US" sz="2400" dirty="0"/>
                <a:t>用</a:t>
              </a:r>
              <a:r>
                <a:rPr lang="en-US" altLang="zh-CN" sz="2400" dirty="0"/>
                <a:t>Crammer</a:t>
              </a:r>
              <a:r>
                <a:rPr lang="zh-CN" altLang="en-US" sz="2400" dirty="0"/>
                <a:t>求解下列线性方程组</a:t>
              </a: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6669733"/>
                </p:ext>
              </p:extLst>
            </p:nvPr>
          </p:nvGraphicFramePr>
          <p:xfrm>
            <a:off x="2384722" y="1012876"/>
            <a:ext cx="2654300" cy="1371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Equation" r:id="rId3" imgW="2654280" imgH="1371600" progId="Equation.DSMT4">
                    <p:embed/>
                  </p:oleObj>
                </mc:Choice>
                <mc:Fallback>
                  <p:oleObj name="Equation" r:id="rId3" imgW="2654280" imgH="1371600" progId="Equation.DSMT4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84722" y="1012876"/>
                          <a:ext cx="2654300" cy="1371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797222" y="2706156"/>
            <a:ext cx="2914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解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  系数行列式为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     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8006353"/>
              </p:ext>
            </p:extLst>
          </p:nvPr>
        </p:nvGraphicFramePr>
        <p:xfrm>
          <a:off x="2103040" y="3392356"/>
          <a:ext cx="21844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5" imgW="2184120" imgH="1346040" progId="Equation.DSMT4">
                  <p:embed/>
                </p:oleObj>
              </mc:Choice>
              <mc:Fallback>
                <p:oleObj name="Equation" r:id="rId5" imgW="2184120" imgH="134604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03040" y="3392356"/>
                        <a:ext cx="2184400" cy="134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28325"/>
              </p:ext>
            </p:extLst>
          </p:nvPr>
        </p:nvGraphicFramePr>
        <p:xfrm>
          <a:off x="4311164" y="3938924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Equation" r:id="rId7" imgW="647640" imgH="279360" progId="Equation.DSMT4">
                  <p:embed/>
                </p:oleObj>
              </mc:Choice>
              <mc:Fallback>
                <p:oleObj name="Equation" r:id="rId7" imgW="647640" imgH="27936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11164" y="3938924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146861"/>
              </p:ext>
            </p:extLst>
          </p:nvPr>
        </p:nvGraphicFramePr>
        <p:xfrm>
          <a:off x="4974704" y="3925756"/>
          <a:ext cx="533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9" imgW="533160" imgH="279360" progId="Equation.DSMT4">
                  <p:embed/>
                </p:oleObj>
              </mc:Choice>
              <mc:Fallback>
                <p:oleObj name="Equation" r:id="rId9" imgW="533160" imgH="27936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74704" y="3925756"/>
                        <a:ext cx="5334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02840" y="4811004"/>
            <a:ext cx="843314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        </a:t>
            </a:r>
            <a:r>
              <a:rPr lang="zh-CN" altLang="en-US" sz="2400" dirty="0"/>
              <a:t>由于系数行列式不为零，所以可以使用</a:t>
            </a:r>
            <a:r>
              <a:rPr lang="en-US" altLang="zh-CN" sz="2400" dirty="0"/>
              <a:t>Crammer</a:t>
            </a:r>
            <a:r>
              <a:rPr lang="zh-CN" altLang="en-US" sz="2400" dirty="0"/>
              <a:t>法则，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方程组有唯一解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16" name="矩形 15"/>
          <p:cNvSpPr/>
          <p:nvPr/>
        </p:nvSpPr>
        <p:spPr>
          <a:xfrm>
            <a:off x="2627784" y="548761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</a:rPr>
              <a:t>又</a:t>
            </a:r>
            <a:endParaRPr lang="zh-CN" altLang="en-US" dirty="0"/>
          </a:p>
        </p:txBody>
      </p:sp>
      <p:sp>
        <p:nvSpPr>
          <p:cNvPr id="15" name="直角三角形 1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直角三角形 1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08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075900"/>
              </p:ext>
            </p:extLst>
          </p:nvPr>
        </p:nvGraphicFramePr>
        <p:xfrm>
          <a:off x="827584" y="858664"/>
          <a:ext cx="22352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Equation" r:id="rId3" imgW="2234880" imgH="1346040" progId="Equation.DSMT4">
                  <p:embed/>
                </p:oleObj>
              </mc:Choice>
              <mc:Fallback>
                <p:oleObj name="Equation" r:id="rId3" imgW="2234880" imgH="134604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584" y="858664"/>
                        <a:ext cx="2235200" cy="134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759726"/>
              </p:ext>
            </p:extLst>
          </p:nvPr>
        </p:nvGraphicFramePr>
        <p:xfrm>
          <a:off x="4427984" y="858664"/>
          <a:ext cx="22733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name="Equation" r:id="rId5" imgW="2273040" imgH="1346040" progId="Equation.DSMT4">
                  <p:embed/>
                </p:oleObj>
              </mc:Choice>
              <mc:Fallback>
                <p:oleObj name="Equation" r:id="rId5" imgW="2273040" imgH="134604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27984" y="858664"/>
                        <a:ext cx="2273300" cy="134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86849"/>
              </p:ext>
            </p:extLst>
          </p:nvPr>
        </p:nvGraphicFramePr>
        <p:xfrm>
          <a:off x="814388" y="2564904"/>
          <a:ext cx="22606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" name="Equation" r:id="rId7" imgW="2260440" imgH="1346040" progId="Equation.DSMT4">
                  <p:embed/>
                </p:oleObj>
              </mc:Choice>
              <mc:Fallback>
                <p:oleObj name="Equation" r:id="rId7" imgW="2260440" imgH="134604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4388" y="2564904"/>
                        <a:ext cx="2260600" cy="134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161328"/>
              </p:ext>
            </p:extLst>
          </p:nvPr>
        </p:nvGraphicFramePr>
        <p:xfrm>
          <a:off x="3074988" y="1366664"/>
          <a:ext cx="825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Equation" r:id="rId9" imgW="825480" imgH="330120" progId="Equation.DSMT4">
                  <p:embed/>
                </p:oleObj>
              </mc:Choice>
              <mc:Fallback>
                <p:oleObj name="Equation" r:id="rId9" imgW="825480" imgH="33012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74988" y="1366664"/>
                        <a:ext cx="825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811926"/>
              </p:ext>
            </p:extLst>
          </p:nvPr>
        </p:nvGraphicFramePr>
        <p:xfrm>
          <a:off x="6730588" y="1392064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Equation" r:id="rId11" imgW="647640" imgH="279360" progId="Equation.DSMT4">
                  <p:embed/>
                </p:oleObj>
              </mc:Choice>
              <mc:Fallback>
                <p:oleObj name="Equation" r:id="rId11" imgW="647640" imgH="27936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30588" y="1392064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156265"/>
              </p:ext>
            </p:extLst>
          </p:nvPr>
        </p:nvGraphicFramePr>
        <p:xfrm>
          <a:off x="3163888" y="3098304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0" name="Equation" r:id="rId13" imgW="647640" imgH="279360" progId="Equation.DSMT4">
                  <p:embed/>
                </p:oleObj>
              </mc:Choice>
              <mc:Fallback>
                <p:oleObj name="Equation" r:id="rId13" imgW="647640" imgH="27936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63888" y="3098304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604540" y="417902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</a:rPr>
              <a:t>所以方程组的唯一解为</a:t>
            </a:r>
            <a:endParaRPr lang="zh-CN" altLang="en-US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643622"/>
              </p:ext>
            </p:extLst>
          </p:nvPr>
        </p:nvGraphicFramePr>
        <p:xfrm>
          <a:off x="623888" y="4944244"/>
          <a:ext cx="2641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1" name="Equation" r:id="rId15" imgW="2641320" imgH="736560" progId="Equation.DSMT4">
                  <p:embed/>
                </p:oleObj>
              </mc:Choice>
              <mc:Fallback>
                <p:oleObj name="Equation" r:id="rId15" imgW="2641320" imgH="73656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3888" y="4944244"/>
                        <a:ext cx="2641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259594"/>
              </p:ext>
            </p:extLst>
          </p:nvPr>
        </p:nvGraphicFramePr>
        <p:xfrm>
          <a:off x="3419872" y="4941168"/>
          <a:ext cx="2413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Equation" r:id="rId17" imgW="2412720" imgH="736560" progId="Equation.DSMT4">
                  <p:embed/>
                </p:oleObj>
              </mc:Choice>
              <mc:Fallback>
                <p:oleObj name="Equation" r:id="rId17" imgW="2412720" imgH="73656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19872" y="4941168"/>
                        <a:ext cx="2413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447626"/>
              </p:ext>
            </p:extLst>
          </p:nvPr>
        </p:nvGraphicFramePr>
        <p:xfrm>
          <a:off x="6008940" y="4941168"/>
          <a:ext cx="2374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Equation" r:id="rId19" imgW="2374560" imgH="736560" progId="Equation.DSMT4">
                  <p:embed/>
                </p:oleObj>
              </mc:Choice>
              <mc:Fallback>
                <p:oleObj name="Equation" r:id="rId19" imgW="2374560" imgH="73656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08940" y="4941168"/>
                        <a:ext cx="2374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直角三角形 1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直角三角形 1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477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25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ordArt 3"/>
          <p:cNvSpPr>
            <a:spLocks noChangeArrowheads="1" noChangeShapeType="1" noTextEdit="1"/>
          </p:cNvSpPr>
          <p:nvPr/>
        </p:nvSpPr>
        <p:spPr bwMode="auto">
          <a:xfrm>
            <a:off x="3541514" y="345852"/>
            <a:ext cx="1690688" cy="5762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宋体" panose="02010600030101010101" pitchFamily="2" charset="-122"/>
              </a:rPr>
              <a:t>小结</a:t>
            </a:r>
          </a:p>
        </p:txBody>
      </p:sp>
      <p:sp>
        <p:nvSpPr>
          <p:cNvPr id="6" name="矩形 5"/>
          <p:cNvSpPr/>
          <p:nvPr/>
        </p:nvSpPr>
        <p:spPr>
          <a:xfrm>
            <a:off x="539552" y="1226600"/>
            <a:ext cx="534633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Crammer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法则的使用有极大的局限性：</a:t>
            </a:r>
          </a:p>
        </p:txBody>
      </p:sp>
      <p:sp>
        <p:nvSpPr>
          <p:cNvPr id="8" name="矩形 7"/>
          <p:cNvSpPr/>
          <p:nvPr/>
        </p:nvSpPr>
        <p:spPr>
          <a:xfrm>
            <a:off x="392976" y="1723588"/>
            <a:ext cx="84969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）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Crammer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法则只能用于求解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方程个数与未知数个数相等</a:t>
            </a:r>
          </a:p>
          <a:p>
            <a:pPr lvl="0">
              <a:lnSpc>
                <a:spcPct val="15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        的线性方程组；</a:t>
            </a:r>
          </a:p>
        </p:txBody>
      </p:sp>
      <p:sp>
        <p:nvSpPr>
          <p:cNvPr id="10" name="矩形 9"/>
          <p:cNvSpPr/>
          <p:nvPr/>
        </p:nvSpPr>
        <p:spPr>
          <a:xfrm>
            <a:off x="327630" y="2823370"/>
            <a:ext cx="84886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）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Crammer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法则只能求得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系数行列式不为零时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的线性方程</a:t>
            </a:r>
            <a:endParaRPr kumimoji="1" lang="en-US" altLang="zh-CN" sz="24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       组的唯一解；</a:t>
            </a:r>
          </a:p>
          <a:p>
            <a:pPr lvl="0">
              <a:lnSpc>
                <a:spcPct val="150000"/>
              </a:lnSpc>
            </a:pPr>
            <a:endParaRPr kumimoji="1" lang="zh-CN" altLang="en-US" sz="2400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6217" y="3933056"/>
            <a:ext cx="82922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 即如果方程个数与未知数个数不相等，或系数行列式等于零，</a:t>
            </a:r>
            <a:endParaRPr kumimoji="1" lang="en-US" altLang="zh-CN" sz="24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则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Crammer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法则失效。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392976" y="5272547"/>
            <a:ext cx="7402680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</a:pP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）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计算量大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，要计算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n+1 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个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n 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阶行列式的值。</a:t>
            </a:r>
          </a:p>
        </p:txBody>
      </p:sp>
      <p:sp>
        <p:nvSpPr>
          <p:cNvPr id="15" name="矩形 14"/>
          <p:cNvSpPr/>
          <p:nvPr/>
        </p:nvSpPr>
        <p:spPr>
          <a:xfrm>
            <a:off x="1231994" y="5836441"/>
            <a:ext cx="5724644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如何解决这些问题呢？留待第四章解决。</a:t>
            </a:r>
          </a:p>
        </p:txBody>
      </p:sp>
      <p:sp>
        <p:nvSpPr>
          <p:cNvPr id="9" name="直角三角形 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3798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67544" y="764704"/>
            <a:ext cx="84276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推论</a:t>
            </a:r>
            <a:r>
              <a:rPr lang="en-US" altLang="zh-CN" sz="2400" b="1" dirty="0">
                <a:latin typeface="+mn-ea"/>
              </a:rPr>
              <a:t>2.12.1   </a:t>
            </a:r>
            <a:r>
              <a:rPr lang="zh-CN" altLang="en-US" sz="2400" dirty="0">
                <a:latin typeface="+mn-ea"/>
              </a:rPr>
              <a:t>如果方程组（</a:t>
            </a:r>
            <a:r>
              <a:rPr lang="en-US" altLang="zh-CN" sz="2400" dirty="0">
                <a:latin typeface="+mn-ea"/>
              </a:rPr>
              <a:t>2.12.1</a:t>
            </a:r>
            <a:r>
              <a:rPr lang="zh-CN" altLang="en-US" sz="2400" dirty="0">
                <a:latin typeface="+mn-ea"/>
              </a:rPr>
              <a:t>）中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691286"/>
              </p:ext>
            </p:extLst>
          </p:nvPr>
        </p:nvGraphicFramePr>
        <p:xfrm>
          <a:off x="5724128" y="959768"/>
          <a:ext cx="2451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Equation" r:id="rId3" imgW="2450880" imgH="380880" progId="Equation.DSMT4">
                  <p:embed/>
                </p:oleObj>
              </mc:Choice>
              <mc:Fallback>
                <p:oleObj name="Equation" r:id="rId3" imgW="2450880" imgH="38088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24128" y="959768"/>
                        <a:ext cx="2451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467544" y="1335775"/>
            <a:ext cx="492443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即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537762"/>
              </p:ext>
            </p:extLst>
          </p:nvPr>
        </p:nvGraphicFramePr>
        <p:xfrm>
          <a:off x="2267744" y="1998608"/>
          <a:ext cx="3581400" cy="180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Equation" r:id="rId5" imgW="3581280" imgH="1803240" progId="Equation.DSMT4">
                  <p:embed/>
                </p:oleObj>
              </mc:Choice>
              <mc:Fallback>
                <p:oleObj name="Equation" r:id="rId5" imgW="3581280" imgH="180324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67744" y="1998608"/>
                        <a:ext cx="3581400" cy="180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502216" y="4786790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该齐次线性方程组有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</a:rPr>
              <a:t>唯一零解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为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502216" y="4178983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称为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</a:rPr>
              <a:t>齐次线性方程组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，</a:t>
            </a:r>
            <a:endParaRPr lang="zh-CN" altLang="en-US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639637"/>
              </p:ext>
            </p:extLst>
          </p:nvPr>
        </p:nvGraphicFramePr>
        <p:xfrm>
          <a:off x="2987824" y="5424264"/>
          <a:ext cx="2044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Equation" r:id="rId7" imgW="2044440" imgH="380880" progId="Equation.DSMT4">
                  <p:embed/>
                </p:oleObj>
              </mc:Choice>
              <mc:Fallback>
                <p:oleObj name="Equation" r:id="rId7" imgW="2044440" imgH="38088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87824" y="5424264"/>
                        <a:ext cx="2044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163454"/>
              </p:ext>
            </p:extLst>
          </p:nvPr>
        </p:nvGraphicFramePr>
        <p:xfrm>
          <a:off x="5076056" y="5475064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Equation" r:id="rId9" imgW="431640" imgH="279360" progId="Equation.DSMT4">
                  <p:embed/>
                </p:oleObj>
              </mc:Choice>
              <mc:Fallback>
                <p:oleObj name="Equation" r:id="rId9" imgW="431640" imgH="27936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76056" y="5475064"/>
                        <a:ext cx="4318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3609668" y="4170598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如果其系数行列式不等于零，则</a:t>
            </a:r>
          </a:p>
        </p:txBody>
      </p:sp>
      <p:sp>
        <p:nvSpPr>
          <p:cNvPr id="14" name="直角三角形 1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直角三角形 1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036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1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683568" y="624679"/>
            <a:ext cx="8229600" cy="2057297"/>
            <a:chOff x="683568" y="624679"/>
            <a:chExt cx="8229600" cy="2057297"/>
          </a:xfrm>
        </p:grpSpPr>
        <p:grpSp>
          <p:nvGrpSpPr>
            <p:cNvPr id="2" name="组合 1"/>
            <p:cNvGrpSpPr/>
            <p:nvPr/>
          </p:nvGrpSpPr>
          <p:grpSpPr>
            <a:xfrm>
              <a:off x="683568" y="624679"/>
              <a:ext cx="8229600" cy="2057297"/>
              <a:chOff x="734888" y="479436"/>
              <a:chExt cx="8229600" cy="2057297"/>
            </a:xfrm>
          </p:grpSpPr>
          <p:sp>
            <p:nvSpPr>
              <p:cNvPr id="3" name="内容占位符 2"/>
              <p:cNvSpPr txBox="1"/>
              <p:nvPr/>
            </p:nvSpPr>
            <p:spPr>
              <a:xfrm>
                <a:off x="734888" y="479436"/>
                <a:ext cx="8229600" cy="5326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zh-CN" altLang="en-US" sz="2400" b="1" dirty="0"/>
                  <a:t>例</a:t>
                </a:r>
                <a:r>
                  <a:rPr lang="en-US" altLang="zh-CN" sz="2400" b="1" dirty="0"/>
                  <a:t>2</a:t>
                </a:r>
                <a:r>
                  <a:rPr lang="en-US" altLang="zh-CN" sz="2400" dirty="0"/>
                  <a:t>   </a:t>
                </a:r>
                <a:r>
                  <a:rPr lang="zh-CN" altLang="en-US" sz="2400" dirty="0"/>
                  <a:t>当   为何值时，下列方程组只有零解</a:t>
                </a:r>
                <a:r>
                  <a:rPr lang="en-US" altLang="zh-CN" sz="2400" dirty="0"/>
                  <a:t>.</a:t>
                </a:r>
                <a:endParaRPr lang="zh-CN" altLang="en-US" sz="2400" dirty="0"/>
              </a:p>
            </p:txBody>
          </p:sp>
          <p:graphicFrame>
            <p:nvGraphicFramePr>
              <p:cNvPr id="4" name="对象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92775694"/>
                  </p:ext>
                </p:extLst>
              </p:nvPr>
            </p:nvGraphicFramePr>
            <p:xfrm>
              <a:off x="2463080" y="1076233"/>
              <a:ext cx="2552700" cy="146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61" name="Equation" r:id="rId3" imgW="2552400" imgH="1460160" progId="Equation.DSMT4">
                      <p:embed/>
                    </p:oleObj>
                  </mc:Choice>
                  <mc:Fallback>
                    <p:oleObj name="Equation" r:id="rId3" imgW="2552400" imgH="1460160" progId="Equation.DSMT4">
                      <p:embed/>
                      <p:pic>
                        <p:nvPicPr>
                          <p:cNvPr id="9" name="对象 8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463080" y="1076233"/>
                            <a:ext cx="2552700" cy="146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4206786"/>
                </p:ext>
              </p:extLst>
            </p:nvPr>
          </p:nvGraphicFramePr>
          <p:xfrm>
            <a:off x="2051720" y="734636"/>
            <a:ext cx="203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2" name="Equation" r:id="rId5" imgW="203040" imgH="279360" progId="Equation.DSMT4">
                    <p:embed/>
                  </p:oleObj>
                </mc:Choice>
                <mc:Fallback>
                  <p:oleObj name="Equation" r:id="rId5" imgW="203040" imgH="279360" progId="Equation.DSMT4">
                    <p:embed/>
                    <p:pic>
                      <p:nvPicPr>
                        <p:cNvPr id="5" name="对象 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051720" y="734636"/>
                          <a:ext cx="203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827584" y="2817693"/>
            <a:ext cx="48654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解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   因为方程组的系数行列式为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     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049685" y="5274290"/>
            <a:ext cx="62568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dirty="0">
                <a:latin typeface="Times New Roman" panose="02020603050405020304" pitchFamily="18" charset="0"/>
              </a:rPr>
              <a:t>所以当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≠5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且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≠1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时，原方程组只有零解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.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       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356309"/>
              </p:ext>
            </p:extLst>
          </p:nvPr>
        </p:nvGraphicFramePr>
        <p:xfrm>
          <a:off x="1475656" y="3573016"/>
          <a:ext cx="20447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Equation" r:id="rId7" imgW="2044440" imgH="1434960" progId="Equation.DSMT4">
                  <p:embed/>
                </p:oleObj>
              </mc:Choice>
              <mc:Fallback>
                <p:oleObj name="Equation" r:id="rId7" imgW="2044440" imgH="143496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5656" y="3573016"/>
                        <a:ext cx="2044700" cy="143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39122"/>
              </p:ext>
            </p:extLst>
          </p:nvPr>
        </p:nvGraphicFramePr>
        <p:xfrm>
          <a:off x="3537476" y="4026271"/>
          <a:ext cx="1689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Equation" r:id="rId9" imgW="1688760" imgH="368280" progId="Equation.DSMT4">
                  <p:embed/>
                </p:oleObj>
              </mc:Choice>
              <mc:Fallback>
                <p:oleObj name="Equation" r:id="rId9" imgW="1688760" imgH="36828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37476" y="4026271"/>
                        <a:ext cx="1689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163144"/>
              </p:ext>
            </p:extLst>
          </p:nvPr>
        </p:nvGraphicFramePr>
        <p:xfrm>
          <a:off x="5292080" y="4106416"/>
          <a:ext cx="1943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Equation" r:id="rId11" imgW="1942920" imgH="368280" progId="Equation.DSMT4">
                  <p:embed/>
                </p:oleObj>
              </mc:Choice>
              <mc:Fallback>
                <p:oleObj name="Equation" r:id="rId11" imgW="1942920" imgH="36828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92080" y="4106416"/>
                        <a:ext cx="1943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直角三角形 1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直角三角形 1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3688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539552" y="1337043"/>
            <a:ext cx="8427690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latin typeface="+mn-ea"/>
              </a:rPr>
              <a:t>      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注：  </a:t>
            </a:r>
            <a:r>
              <a:rPr lang="zh-CN" altLang="en-US" sz="2400" dirty="0">
                <a:latin typeface="+mn-ea"/>
              </a:rPr>
              <a:t>由推论</a:t>
            </a:r>
            <a:r>
              <a:rPr lang="en-US" altLang="zh-CN" sz="2400" dirty="0">
                <a:latin typeface="+mn-ea"/>
              </a:rPr>
              <a:t>2.12.1</a:t>
            </a:r>
            <a:r>
              <a:rPr lang="zh-CN" altLang="en-US" sz="2400" dirty="0">
                <a:latin typeface="+mn-ea"/>
              </a:rPr>
              <a:t>可知，对于方程个数等于未知量个数的齐次线性方程组，其解的情况如下：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048236" y="2776915"/>
            <a:ext cx="5570756" cy="461665"/>
            <a:chOff x="1057344" y="2679303"/>
            <a:chExt cx="5570756" cy="461665"/>
          </a:xfrm>
        </p:grpSpPr>
        <p:sp>
          <p:nvSpPr>
            <p:cNvPr id="14" name="矩形 13"/>
            <p:cNvSpPr/>
            <p:nvPr/>
          </p:nvSpPr>
          <p:spPr>
            <a:xfrm>
              <a:off x="1057344" y="2679303"/>
              <a:ext cx="557075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（</a:t>
              </a:r>
              <a:r>
                <a:rPr lang="en-US" altLang="zh-CN" sz="2400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1</a:t>
              </a:r>
              <a:r>
                <a:rPr lang="zh-CN" altLang="en-US" sz="2400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）若系数行列式        ， 有唯一零解</a:t>
              </a:r>
              <a:r>
                <a:rPr lang="en-US" altLang="zh-CN" sz="2400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498954"/>
                </p:ext>
              </p:extLst>
            </p:nvPr>
          </p:nvGraphicFramePr>
          <p:xfrm>
            <a:off x="3842722" y="2780928"/>
            <a:ext cx="736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6" name="Equation" r:id="rId3" imgW="736560" imgH="279360" progId="Equation.DSMT4">
                    <p:embed/>
                  </p:oleObj>
                </mc:Choice>
                <mc:Fallback>
                  <p:oleObj name="Equation" r:id="rId3" imgW="736560" imgH="279360" progId="Equation.DSMT4">
                    <p:embed/>
                    <p:pic>
                      <p:nvPicPr>
                        <p:cNvPr id="5" name="对象 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42722" y="2780928"/>
                          <a:ext cx="736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1074484" y="3543399"/>
            <a:ext cx="5262979" cy="461665"/>
            <a:chOff x="1074484" y="3403108"/>
            <a:chExt cx="5262979" cy="461665"/>
          </a:xfrm>
        </p:grpSpPr>
        <p:sp>
          <p:nvSpPr>
            <p:cNvPr id="15" name="矩形 14"/>
            <p:cNvSpPr/>
            <p:nvPr/>
          </p:nvSpPr>
          <p:spPr>
            <a:xfrm>
              <a:off x="1074484" y="3403108"/>
              <a:ext cx="526297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（</a:t>
              </a:r>
              <a:r>
                <a:rPr lang="en-US" altLang="zh-CN" sz="2400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2</a:t>
              </a:r>
              <a:r>
                <a:rPr lang="zh-CN" altLang="en-US" sz="2400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）若系数行列式        ， 有非零解</a:t>
              </a:r>
              <a:r>
                <a:rPr lang="en-US" altLang="zh-CN" sz="2400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2837920"/>
                </p:ext>
              </p:extLst>
            </p:nvPr>
          </p:nvGraphicFramePr>
          <p:xfrm>
            <a:off x="3898900" y="3500438"/>
            <a:ext cx="609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7" name="Equation" r:id="rId5" imgW="609480" imgH="279360" progId="Equation.DSMT4">
                    <p:embed/>
                  </p:oleObj>
                </mc:Choice>
                <mc:Fallback>
                  <p:oleObj name="Equation" r:id="rId5" imgW="609480" imgH="279360" progId="Equation.DSMT4">
                    <p:embed/>
                    <p:pic>
                      <p:nvPicPr>
                        <p:cNvPr id="16" name="对象 1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98900" y="3500438"/>
                          <a:ext cx="609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直角三角形 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直角三角形 9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125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7388" y="242929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/>
              <a:t>二、可逆矩阵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487388" y="2634826"/>
            <a:ext cx="33845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称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为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可逆矩阵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，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4644008" y="1340768"/>
            <a:ext cx="4895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存在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阶方阵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，使得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915816" y="2624168"/>
            <a:ext cx="5943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为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的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逆矩阵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（简称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的逆</a:t>
            </a:r>
            <a:r>
              <a:rPr lang="en-US" altLang="zh-CN" sz="2400" dirty="0">
                <a:solidFill>
                  <a:srgbClr val="000000"/>
                </a:solidFill>
                <a:latin typeface="+mn-ea"/>
              </a:rPr>
              <a:t>).</a:t>
            </a:r>
            <a:endParaRPr lang="zh-CN" altLang="en-US" sz="24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502971" y="3486277"/>
            <a:ext cx="800219" cy="461665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注：</a:t>
            </a:r>
          </a:p>
        </p:txBody>
      </p:sp>
      <p:sp>
        <p:nvSpPr>
          <p:cNvPr id="18" name="矩形 17"/>
          <p:cNvSpPr/>
          <p:nvPr/>
        </p:nvSpPr>
        <p:spPr>
          <a:xfrm>
            <a:off x="479439" y="1340170"/>
            <a:ext cx="4383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定义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2.13.1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设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为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阶方阵</a:t>
            </a:r>
            <a:r>
              <a:rPr lang="en-US" altLang="zh-CN" sz="2400" dirty="0">
                <a:solidFill>
                  <a:srgbClr val="000000"/>
                </a:solidFill>
                <a:latin typeface="+mn-ea"/>
              </a:rPr>
              <a:t>, </a:t>
            </a:r>
            <a:endParaRPr lang="zh-CN" altLang="en-US" dirty="0">
              <a:latin typeface="+mn-ea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762389"/>
              </p:ext>
            </p:extLst>
          </p:nvPr>
        </p:nvGraphicFramePr>
        <p:xfrm>
          <a:off x="2806018" y="2067875"/>
          <a:ext cx="469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3" imgW="469800" imgH="279360" progId="Equation.DSMT4">
                  <p:embed/>
                </p:oleObj>
              </mc:Choice>
              <mc:Fallback>
                <p:oleObj name="Equation" r:id="rId3" imgW="469800" imgH="27936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6018" y="2067875"/>
                        <a:ext cx="4699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12797"/>
              </p:ext>
            </p:extLst>
          </p:nvPr>
        </p:nvGraphicFramePr>
        <p:xfrm>
          <a:off x="3291860" y="2066278"/>
          <a:ext cx="622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5" imgW="622080" imgH="279360" progId="Equation.DSMT4">
                  <p:embed/>
                </p:oleObj>
              </mc:Choice>
              <mc:Fallback>
                <p:oleObj name="Equation" r:id="rId5" imgW="622080" imgH="279360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91860" y="2066278"/>
                        <a:ext cx="6223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789719"/>
              </p:ext>
            </p:extLst>
          </p:nvPr>
        </p:nvGraphicFramePr>
        <p:xfrm>
          <a:off x="3930102" y="2077988"/>
          <a:ext cx="406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7" imgW="406080" imgH="342720" progId="Equation.DSMT4">
                  <p:embed/>
                </p:oleObj>
              </mc:Choice>
              <mc:Fallback>
                <p:oleObj name="Equation" r:id="rId7" imgW="406080" imgH="34272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30102" y="2077988"/>
                        <a:ext cx="406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/>
          <p:cNvSpPr/>
          <p:nvPr/>
        </p:nvSpPr>
        <p:spPr>
          <a:xfrm>
            <a:off x="1223051" y="3475619"/>
            <a:ext cx="63184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</a:rPr>
              <a:t>1</a:t>
            </a: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</a:rPr>
              <a:t>）易知单位矩阵 </a:t>
            </a: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</a:rPr>
              <a:t>I </a:t>
            </a: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</a:rPr>
              <a:t>可逆，零矩阵不可逆</a:t>
            </a: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</a:rPr>
              <a:t>.</a:t>
            </a:r>
            <a:endParaRPr lang="zh-CN" altLang="en-US" sz="2400" kern="0" dirty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86813" y="4234918"/>
            <a:ext cx="63184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</a:rPr>
              <a:t>）可逆矩阵为</a:t>
            </a:r>
            <a:r>
              <a:rPr lang="zh-CN" altLang="en-US" sz="2400" kern="0" dirty="0">
                <a:solidFill>
                  <a:srgbClr val="FF0000"/>
                </a:solidFill>
                <a:latin typeface="微软雅黑" panose="020B0503020204020204" pitchFamily="34" charset="-122"/>
              </a:rPr>
              <a:t>方阵</a:t>
            </a: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</a:rPr>
              <a:t>，其逆矩阵为同阶方阵</a:t>
            </a: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</a:rPr>
              <a:t>.</a:t>
            </a:r>
            <a:endParaRPr lang="zh-CN" altLang="en-US" sz="2400" kern="0" dirty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258507" y="4983559"/>
            <a:ext cx="63184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</a:rPr>
              <a:t>（</a:t>
            </a: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</a:rPr>
              <a:t>3</a:t>
            </a: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</a:rPr>
              <a:t>）定义中 </a:t>
            </a:r>
            <a:r>
              <a:rPr lang="en-US" altLang="zh-CN" sz="2400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</a:rPr>
              <a:t>也是可逆的，其逆矩阵为 </a:t>
            </a:r>
            <a:r>
              <a:rPr lang="en-US" altLang="zh-CN" sz="2400" i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</a:rPr>
              <a:t>.</a:t>
            </a:r>
            <a:endParaRPr lang="zh-CN" altLang="en-US" sz="2400" kern="0" dirty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直角三角形 1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直角三角形 1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0114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 animBg="1"/>
      <p:bldP spid="18" grpId="0"/>
      <p:bldP spid="24" grpId="0"/>
      <p:bldP spid="25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753770" y="1239143"/>
            <a:ext cx="76346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定理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2.13.1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如果矩阵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是可逆的，则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的逆矩阵唯一</a:t>
            </a:r>
            <a:r>
              <a:rPr lang="en-US" altLang="zh-CN" sz="2400" dirty="0">
                <a:solidFill>
                  <a:srgbClr val="000000"/>
                </a:solidFill>
                <a:latin typeface="+mn-ea"/>
              </a:rPr>
              <a:t>. </a:t>
            </a:r>
            <a:endParaRPr lang="zh-CN" altLang="en-US" dirty="0">
              <a:latin typeface="+mn-ea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797217" y="1826042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证明：</a:t>
            </a:r>
          </a:p>
        </p:txBody>
      </p:sp>
      <p:sp>
        <p:nvSpPr>
          <p:cNvPr id="19" name="矩形 18"/>
          <p:cNvSpPr/>
          <p:nvPr/>
        </p:nvSpPr>
        <p:spPr>
          <a:xfrm>
            <a:off x="1893401" y="1825397"/>
            <a:ext cx="4621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如果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和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都是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的逆矩阵，则</a:t>
            </a:r>
            <a:endParaRPr lang="zh-CN" altLang="en-US" dirty="0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906463"/>
              </p:ext>
            </p:extLst>
          </p:nvPr>
        </p:nvGraphicFramePr>
        <p:xfrm>
          <a:off x="2280990" y="2540477"/>
          <a:ext cx="1765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Equation" r:id="rId3" imgW="1765080" imgH="342720" progId="Equation.DSMT4">
                  <p:embed/>
                </p:oleObj>
              </mc:Choice>
              <mc:Fallback>
                <p:oleObj name="Equation" r:id="rId3" imgW="1765080" imgH="34272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0990" y="2540477"/>
                        <a:ext cx="1765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858067"/>
              </p:ext>
            </p:extLst>
          </p:nvPr>
        </p:nvGraphicFramePr>
        <p:xfrm>
          <a:off x="4282162" y="2553762"/>
          <a:ext cx="180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Equation" r:id="rId5" imgW="1803240" imgH="342720" progId="Equation.DSMT4">
                  <p:embed/>
                </p:oleObj>
              </mc:Choice>
              <mc:Fallback>
                <p:oleObj name="Equation" r:id="rId5" imgW="1803240" imgH="34272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82162" y="2553762"/>
                        <a:ext cx="1803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/>
          <p:cNvSpPr/>
          <p:nvPr/>
        </p:nvSpPr>
        <p:spPr>
          <a:xfrm>
            <a:off x="786809" y="302260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那么</a:t>
            </a:r>
            <a:endParaRPr lang="zh-CN" altLang="en-US" dirty="0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9732857"/>
              </p:ext>
            </p:extLst>
          </p:nvPr>
        </p:nvGraphicFramePr>
        <p:xfrm>
          <a:off x="1758842" y="3600929"/>
          <a:ext cx="939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4" name="Equation" r:id="rId7" imgW="939600" imgH="279360" progId="Equation.DSMT4">
                  <p:embed/>
                </p:oleObj>
              </mc:Choice>
              <mc:Fallback>
                <p:oleObj name="Equation" r:id="rId7" imgW="939600" imgH="27936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58842" y="3600929"/>
                        <a:ext cx="9398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264703"/>
              </p:ext>
            </p:extLst>
          </p:nvPr>
        </p:nvGraphicFramePr>
        <p:xfrm>
          <a:off x="2717746" y="3527011"/>
          <a:ext cx="1333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name="Equation" r:id="rId9" imgW="1333440" imgH="444240" progId="Equation.DSMT4">
                  <p:embed/>
                </p:oleObj>
              </mc:Choice>
              <mc:Fallback>
                <p:oleObj name="Equation" r:id="rId9" imgW="1333440" imgH="444240" progId="Equation.DSMT4">
                  <p:embed/>
                  <p:pic>
                    <p:nvPicPr>
                      <p:cNvPr id="24" name="对象 2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17746" y="3527011"/>
                        <a:ext cx="13335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946956"/>
              </p:ext>
            </p:extLst>
          </p:nvPr>
        </p:nvGraphicFramePr>
        <p:xfrm>
          <a:off x="4103494" y="3577811"/>
          <a:ext cx="1371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name="Equation" r:id="rId11" imgW="1371600" imgH="317160" progId="Equation.DSMT4">
                  <p:embed/>
                </p:oleObj>
              </mc:Choice>
              <mc:Fallback>
                <p:oleObj name="Equation" r:id="rId11" imgW="1371600" imgH="317160" progId="Equation.DSMT4">
                  <p:embed/>
                  <p:pic>
                    <p:nvPicPr>
                      <p:cNvPr id="28" name="对象 2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03494" y="3577811"/>
                        <a:ext cx="1371600" cy="317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813963"/>
              </p:ext>
            </p:extLst>
          </p:nvPr>
        </p:nvGraphicFramePr>
        <p:xfrm>
          <a:off x="5527342" y="3600929"/>
          <a:ext cx="1282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" name="Equation" r:id="rId13" imgW="1282680" imgH="342720" progId="Equation.DSMT4">
                  <p:embed/>
                </p:oleObj>
              </mc:Choice>
              <mc:Fallback>
                <p:oleObj name="Equation" r:id="rId13" imgW="1282680" imgH="342720" progId="Equation.DSMT4">
                  <p:embed/>
                  <p:pic>
                    <p:nvPicPr>
                      <p:cNvPr id="29" name="对象 2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27342" y="3600929"/>
                        <a:ext cx="1282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/>
          <p:cNvSpPr/>
          <p:nvPr/>
        </p:nvSpPr>
        <p:spPr>
          <a:xfrm>
            <a:off x="767994" y="4151628"/>
            <a:ext cx="24128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所以逆矩阵唯一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.</a:t>
            </a:r>
            <a:endParaRPr lang="zh-CN" altLang="en-US" dirty="0"/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800079" y="5049819"/>
            <a:ext cx="800219" cy="461665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注：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697449" y="5057338"/>
            <a:ext cx="5012911" cy="461665"/>
            <a:chOff x="1684522" y="4796855"/>
            <a:chExt cx="5012911" cy="461665"/>
          </a:xfrm>
        </p:grpSpPr>
        <p:sp>
          <p:nvSpPr>
            <p:cNvPr id="3" name="矩形 2"/>
            <p:cNvSpPr/>
            <p:nvPr/>
          </p:nvSpPr>
          <p:spPr>
            <a:xfrm>
              <a:off x="1684522" y="4796855"/>
              <a:ext cx="501291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rgbClr val="000000"/>
                  </a:solidFill>
                  <a:latin typeface="微软雅黑" panose="020B0503020204020204" pitchFamily="34" charset="-122"/>
                </a:rPr>
                <a:t>以后矩阵 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>
                  <a:solidFill>
                    <a:srgbClr val="000000"/>
                  </a:solidFill>
                  <a:latin typeface="微软雅黑" panose="020B0503020204020204" pitchFamily="34" charset="-122"/>
                </a:rPr>
                <a:t>  的逆矩阵记为    ，则有</a:t>
              </a:r>
              <a:endParaRPr lang="zh-CN" altLang="en-US" dirty="0"/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4686078"/>
                </p:ext>
              </p:extLst>
            </p:nvPr>
          </p:nvGraphicFramePr>
          <p:xfrm>
            <a:off x="5298742" y="4845373"/>
            <a:ext cx="457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8" name="Equation" r:id="rId15" imgW="457200" imgH="355320" progId="Equation.DSMT4">
                    <p:embed/>
                  </p:oleObj>
                </mc:Choice>
                <mc:Fallback>
                  <p:oleObj name="Equation" r:id="rId15" imgW="457200" imgH="355320" progId="Equation.DSMT4">
                    <p:embed/>
                    <p:pic>
                      <p:nvPicPr>
                        <p:cNvPr id="20" name="对象 19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298742" y="4845373"/>
                          <a:ext cx="457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1187894"/>
              </p:ext>
            </p:extLst>
          </p:nvPr>
        </p:nvGraphicFramePr>
        <p:xfrm>
          <a:off x="2555776" y="5666938"/>
          <a:ext cx="2197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9" name="Equation" r:id="rId17" imgW="2197080" imgH="368280" progId="Equation.DSMT4">
                  <p:embed/>
                </p:oleObj>
              </mc:Choice>
              <mc:Fallback>
                <p:oleObj name="Equation" r:id="rId17" imgW="2197080" imgH="36828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55776" y="5666938"/>
                        <a:ext cx="2197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751886" y="473569"/>
            <a:ext cx="59055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dirty="0">
                <a:latin typeface="宋体" panose="02010600030101010101" pitchFamily="2" charset="-122"/>
              </a:rPr>
              <a:t>★</a:t>
            </a:r>
            <a:r>
              <a:rPr kumimoji="1"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dirty="0">
                <a:latin typeface="+mn-ea"/>
                <a:ea typeface="+mn-ea"/>
              </a:rPr>
              <a:t>可逆矩阵的性质</a:t>
            </a:r>
          </a:p>
        </p:txBody>
      </p:sp>
      <p:sp>
        <p:nvSpPr>
          <p:cNvPr id="25" name="直角三角形 2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直角三角形 2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30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9" grpId="0"/>
      <p:bldP spid="23" grpId="0"/>
      <p:bldP spid="31" grpId="0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658918" y="1340768"/>
            <a:ext cx="7997702" cy="1200329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性质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2.13.1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表明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: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证明 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可逆，只要证明 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=I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或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=I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中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一个成立即可，且有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120696"/>
              </p:ext>
            </p:extLst>
          </p:nvPr>
        </p:nvGraphicFramePr>
        <p:xfrm>
          <a:off x="3476664" y="2031174"/>
          <a:ext cx="2197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3" name="Equation" r:id="rId3" imgW="2197080" imgH="419040" progId="Equation.DSMT4">
                  <p:embed/>
                </p:oleObj>
              </mc:Choice>
              <mc:Fallback>
                <p:oleObj name="Equation" r:id="rId3" imgW="2197080" imgH="419040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76664" y="2031174"/>
                        <a:ext cx="2197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547039" y="681929"/>
            <a:ext cx="71665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性质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2.13.1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如果矩阵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可逆，且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AB=I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,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BA=I</a:t>
            </a:r>
            <a:r>
              <a:rPr lang="en-US" altLang="zh-CN" sz="2400" dirty="0">
                <a:solidFill>
                  <a:srgbClr val="000000"/>
                </a:solidFill>
                <a:latin typeface="+mn-ea"/>
              </a:rPr>
              <a:t>.   </a:t>
            </a:r>
            <a:endParaRPr lang="zh-CN" altLang="en-US" dirty="0">
              <a:latin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39552" y="2930301"/>
            <a:ext cx="9874050" cy="461665"/>
            <a:chOff x="658918" y="2921606"/>
            <a:chExt cx="9874050" cy="461665"/>
          </a:xfrm>
        </p:grpSpPr>
        <p:sp>
          <p:nvSpPr>
            <p:cNvPr id="11" name="矩形 10"/>
            <p:cNvSpPr/>
            <p:nvPr/>
          </p:nvSpPr>
          <p:spPr>
            <a:xfrm>
              <a:off x="658918" y="2921606"/>
              <a:ext cx="987405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性质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2.13.2  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</a:rPr>
                <a:t>如果矩阵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</a:rPr>
                <a:t>可逆，则     </a:t>
              </a:r>
              <a:r>
                <a:rPr lang="en-US" altLang="zh-CN" sz="2400" b="1" dirty="0">
                  <a:solidFill>
                    <a:srgbClr val="000000"/>
                  </a:solidFill>
                  <a:latin typeface="+mn-ea"/>
                </a:rPr>
                <a:t>﹑  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</a:rPr>
                <a:t>（为非零常数）</a:t>
              </a:r>
              <a:r>
                <a:rPr lang="en-US" altLang="zh-CN" sz="2400" b="1" dirty="0">
                  <a:solidFill>
                    <a:srgbClr val="000000"/>
                  </a:solidFill>
                  <a:latin typeface="+mn-ea"/>
                </a:rPr>
                <a:t> ﹑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</a:rPr>
                <a:t>                 </a:t>
              </a:r>
              <a:endParaRPr lang="zh-CN" altLang="en-US" dirty="0">
                <a:latin typeface="+mn-ea"/>
              </a:endParaRPr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232641"/>
                </p:ext>
              </p:extLst>
            </p:nvPr>
          </p:nvGraphicFramePr>
          <p:xfrm>
            <a:off x="5280064" y="2926915"/>
            <a:ext cx="393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4" name="Equation" r:id="rId5" imgW="393480" imgH="355320" progId="Equation.DSMT4">
                    <p:embed/>
                  </p:oleObj>
                </mc:Choice>
                <mc:Fallback>
                  <p:oleObj name="Equation" r:id="rId5" imgW="393480" imgH="355320" progId="Equation.DSMT4">
                    <p:embed/>
                    <p:pic>
                      <p:nvPicPr>
                        <p:cNvPr id="17" name="对象 1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280064" y="2926915"/>
                          <a:ext cx="3937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3250169"/>
                </p:ext>
              </p:extLst>
            </p:nvPr>
          </p:nvGraphicFramePr>
          <p:xfrm>
            <a:off x="5835650" y="2992438"/>
            <a:ext cx="4572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5" name="Equation" r:id="rId7" imgW="457200" imgH="291960" progId="Equation.DSMT4">
                    <p:embed/>
                  </p:oleObj>
                </mc:Choice>
                <mc:Fallback>
                  <p:oleObj name="Equation" r:id="rId7" imgW="457200" imgH="291960" progId="Equation.DSMT4">
                    <p:embed/>
                    <p:pic>
                      <p:nvPicPr>
                        <p:cNvPr id="19" name="对象 1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835650" y="2992438"/>
                          <a:ext cx="4572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/>
          <p:cNvGrpSpPr/>
          <p:nvPr/>
        </p:nvGrpSpPr>
        <p:grpSpPr>
          <a:xfrm>
            <a:off x="547039" y="3536579"/>
            <a:ext cx="2670924" cy="461665"/>
            <a:chOff x="648640" y="3659947"/>
            <a:chExt cx="2670924" cy="461665"/>
          </a:xfrm>
        </p:grpSpPr>
        <p:sp>
          <p:nvSpPr>
            <p:cNvPr id="22" name="矩形 21"/>
            <p:cNvSpPr/>
            <p:nvPr/>
          </p:nvSpPr>
          <p:spPr>
            <a:xfrm>
              <a:off x="648640" y="3659947"/>
              <a:ext cx="267092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rgbClr val="000000"/>
                  </a:solidFill>
                  <a:latin typeface="微软雅黑" panose="020B0503020204020204" pitchFamily="34" charset="-122"/>
                </a:rPr>
                <a:t>和      都可逆，且</a:t>
              </a:r>
              <a:endParaRPr lang="zh-CN" altLang="en-US" dirty="0"/>
            </a:p>
          </p:txBody>
        </p:sp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2931376"/>
                </p:ext>
              </p:extLst>
            </p:nvPr>
          </p:nvGraphicFramePr>
          <p:xfrm>
            <a:off x="1043608" y="3679910"/>
            <a:ext cx="457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6" name="Equation" r:id="rId9" imgW="457200" imgH="355320" progId="Equation.DSMT4">
                    <p:embed/>
                  </p:oleObj>
                </mc:Choice>
                <mc:Fallback>
                  <p:oleObj name="Equation" r:id="rId9" imgW="457200" imgH="355320" progId="Equation.DSMT4">
                    <p:embed/>
                    <p:pic>
                      <p:nvPicPr>
                        <p:cNvPr id="19" name="对象 1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43608" y="3679910"/>
                          <a:ext cx="457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105064" y="429272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049106"/>
              </p:ext>
            </p:extLst>
          </p:nvPr>
        </p:nvGraphicFramePr>
        <p:xfrm>
          <a:off x="2648992" y="4229233"/>
          <a:ext cx="2133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Equation" r:id="rId11" imgW="2133360" imgH="431640" progId="Equation.DSMT4">
                  <p:embed/>
                </p:oleObj>
              </mc:Choice>
              <mc:Fallback>
                <p:oleObj name="Equation" r:id="rId11" imgW="2133360" imgH="431640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48992" y="4229233"/>
                        <a:ext cx="21336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5209257"/>
              </p:ext>
            </p:extLst>
          </p:nvPr>
        </p:nvGraphicFramePr>
        <p:xfrm>
          <a:off x="2648992" y="4719019"/>
          <a:ext cx="2032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8" name="Equation" r:id="rId13" imgW="2031840" imgH="787320" progId="Equation.DSMT4">
                  <p:embed/>
                </p:oleObj>
              </mc:Choice>
              <mc:Fallback>
                <p:oleObj name="Equation" r:id="rId13" imgW="2031840" imgH="78732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48992" y="4719019"/>
                        <a:ext cx="2032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193106"/>
              </p:ext>
            </p:extLst>
          </p:nvPr>
        </p:nvGraphicFramePr>
        <p:xfrm>
          <a:off x="2625215" y="5589240"/>
          <a:ext cx="1536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" name="Equation" r:id="rId15" imgW="1536480" imgH="431640" progId="Equation.DSMT4">
                  <p:embed/>
                </p:oleObj>
              </mc:Choice>
              <mc:Fallback>
                <p:oleObj name="Equation" r:id="rId15" imgW="1536480" imgH="431640" progId="Equation.DSMT4">
                  <p:embed/>
                  <p:pic>
                    <p:nvPicPr>
                      <p:cNvPr id="29" name="对象 2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25215" y="5589240"/>
                        <a:ext cx="15367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直角三角形 1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直角三角形 2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837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89248" y="663554"/>
            <a:ext cx="7786940" cy="461665"/>
            <a:chOff x="658918" y="2921606"/>
            <a:chExt cx="7786940" cy="461665"/>
          </a:xfrm>
        </p:grpSpPr>
        <p:sp>
          <p:nvSpPr>
            <p:cNvPr id="3" name="矩形 2"/>
            <p:cNvSpPr/>
            <p:nvPr/>
          </p:nvSpPr>
          <p:spPr>
            <a:xfrm>
              <a:off x="658918" y="2921606"/>
              <a:ext cx="778694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性质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2.13.3  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</a:rPr>
                <a:t>如果矩阵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均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</a:rPr>
                <a:t>可逆，则       为可逆，且</a:t>
              </a:r>
              <a:endParaRPr lang="zh-CN" altLang="en-US" dirty="0">
                <a:latin typeface="+mn-ea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4667438"/>
                </p:ext>
              </p:extLst>
            </p:nvPr>
          </p:nvGraphicFramePr>
          <p:xfrm>
            <a:off x="6165261" y="3013135"/>
            <a:ext cx="469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6" name="Equation" r:id="rId3" imgW="469800" imgH="279360" progId="Equation.DSMT4">
                    <p:embed/>
                  </p:oleObj>
                </mc:Choice>
                <mc:Fallback>
                  <p:oleObj name="Equation" r:id="rId3" imgW="469800" imgH="279360" progId="Equation.DSMT4">
                    <p:embed/>
                    <p:pic>
                      <p:nvPicPr>
                        <p:cNvPr id="19" name="对象 1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165261" y="3013135"/>
                          <a:ext cx="469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52096"/>
              </p:ext>
            </p:extLst>
          </p:nvPr>
        </p:nvGraphicFramePr>
        <p:xfrm>
          <a:off x="2915816" y="1268760"/>
          <a:ext cx="2209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7" name="Equation" r:id="rId5" imgW="2209680" imgH="368280" progId="Equation.DSMT4">
                  <p:embed/>
                </p:oleObj>
              </mc:Choice>
              <mc:Fallback>
                <p:oleObj name="Equation" r:id="rId5" imgW="2209680" imgH="36828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15816" y="1268760"/>
                        <a:ext cx="2209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67544" y="5242594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67544" y="5517232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467544" y="579186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554905" y="1847833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证明：</a:t>
            </a:r>
          </a:p>
        </p:txBody>
      </p:sp>
      <p:sp>
        <p:nvSpPr>
          <p:cNvPr id="13" name="矩形 12"/>
          <p:cNvSpPr/>
          <p:nvPr/>
        </p:nvSpPr>
        <p:spPr>
          <a:xfrm>
            <a:off x="1651089" y="1847188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因为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633011"/>
              </p:ext>
            </p:extLst>
          </p:nvPr>
        </p:nvGraphicFramePr>
        <p:xfrm>
          <a:off x="1547664" y="2467547"/>
          <a:ext cx="180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8" name="Equation" r:id="rId7" imgW="1803240" imgH="431640" progId="Equation.DSMT4">
                  <p:embed/>
                </p:oleObj>
              </mc:Choice>
              <mc:Fallback>
                <p:oleObj name="Equation" r:id="rId7" imgW="1803240" imgH="43164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7664" y="2467547"/>
                        <a:ext cx="1803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3077285"/>
              </p:ext>
            </p:extLst>
          </p:nvPr>
        </p:nvGraphicFramePr>
        <p:xfrm>
          <a:off x="3492872" y="2496186"/>
          <a:ext cx="172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9" name="Equation" r:id="rId9" imgW="1726920" imgH="431640" progId="Equation.DSMT4">
                  <p:embed/>
                </p:oleObj>
              </mc:Choice>
              <mc:Fallback>
                <p:oleObj name="Equation" r:id="rId9" imgW="1726920" imgH="43164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92872" y="2496186"/>
                        <a:ext cx="17272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598513"/>
              </p:ext>
            </p:extLst>
          </p:nvPr>
        </p:nvGraphicFramePr>
        <p:xfrm>
          <a:off x="5292080" y="2505647"/>
          <a:ext cx="927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" name="Equation" r:id="rId11" imgW="927000" imgH="355320" progId="Equation.DSMT4">
                  <p:embed/>
                </p:oleObj>
              </mc:Choice>
              <mc:Fallback>
                <p:oleObj name="Equation" r:id="rId11" imgW="927000" imgH="35532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92080" y="2505647"/>
                        <a:ext cx="927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857241"/>
              </p:ext>
            </p:extLst>
          </p:nvPr>
        </p:nvGraphicFramePr>
        <p:xfrm>
          <a:off x="6267071" y="2505647"/>
          <a:ext cx="1193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Equation" r:id="rId13" imgW="1193760" imgH="355320" progId="Equation.DSMT4">
                  <p:embed/>
                </p:oleObj>
              </mc:Choice>
              <mc:Fallback>
                <p:oleObj name="Equation" r:id="rId13" imgW="1193760" imgH="35532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67071" y="2505647"/>
                        <a:ext cx="1193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532192" y="3139340"/>
            <a:ext cx="30380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由性质</a:t>
            </a:r>
            <a:r>
              <a:rPr lang="en-US" altLang="zh-CN" sz="2400" dirty="0"/>
              <a:t>2.13.1</a:t>
            </a:r>
            <a:r>
              <a:rPr lang="zh-CN" altLang="en-US" sz="2400" dirty="0"/>
              <a:t>可知，</a:t>
            </a: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959344"/>
              </p:ext>
            </p:extLst>
          </p:nvPr>
        </p:nvGraphicFramePr>
        <p:xfrm>
          <a:off x="3463174" y="3135283"/>
          <a:ext cx="2222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2" name="Equation" r:id="rId15" imgW="2222280" imgH="431640" progId="Equation.DSMT4">
                  <p:embed/>
                </p:oleObj>
              </mc:Choice>
              <mc:Fallback>
                <p:oleObj name="Equation" r:id="rId15" imgW="2222280" imgH="43164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63174" y="3135283"/>
                        <a:ext cx="22225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6"/>
          <p:cNvSpPr txBox="1">
            <a:spLocks noChangeArrowheads="1"/>
          </p:cNvSpPr>
          <p:nvPr/>
        </p:nvSpPr>
        <p:spPr bwMode="auto">
          <a:xfrm>
            <a:off x="680716" y="4119463"/>
            <a:ext cx="800219" cy="461665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注：</a:t>
            </a:r>
          </a:p>
        </p:txBody>
      </p:sp>
      <p:sp>
        <p:nvSpPr>
          <p:cNvPr id="24" name="矩形 23"/>
          <p:cNvSpPr/>
          <p:nvPr/>
        </p:nvSpPr>
        <p:spPr>
          <a:xfrm>
            <a:off x="1597244" y="4119463"/>
            <a:ext cx="6904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性质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2.13.1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可以推广到有限个可逆矩阵的情形，即</a:t>
            </a:r>
            <a:endParaRPr lang="zh-CN" altLang="en-US" dirty="0"/>
          </a:p>
        </p:txBody>
      </p:sp>
      <p:grpSp>
        <p:nvGrpSpPr>
          <p:cNvPr id="31" name="组合 30"/>
          <p:cNvGrpSpPr/>
          <p:nvPr/>
        </p:nvGrpSpPr>
        <p:grpSpPr>
          <a:xfrm>
            <a:off x="636645" y="4763492"/>
            <a:ext cx="5503430" cy="479102"/>
            <a:chOff x="625210" y="4678090"/>
            <a:chExt cx="5503430" cy="479102"/>
          </a:xfrm>
        </p:grpSpPr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6627233"/>
                </p:ext>
              </p:extLst>
            </p:nvPr>
          </p:nvGraphicFramePr>
          <p:xfrm>
            <a:off x="1043246" y="4763492"/>
            <a:ext cx="17272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03" name="Equation" r:id="rId17" imgW="1726920" imgH="393480" progId="Equation.DSMT4">
                    <p:embed/>
                  </p:oleObj>
                </mc:Choice>
                <mc:Fallback>
                  <p:oleObj name="Equation" r:id="rId17" imgW="1726920" imgH="393480" progId="Equation.DSMT4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043246" y="4763492"/>
                          <a:ext cx="17272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矩形 27"/>
            <p:cNvSpPr/>
            <p:nvPr/>
          </p:nvSpPr>
          <p:spPr>
            <a:xfrm>
              <a:off x="625210" y="4678090"/>
              <a:ext cx="550343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dirty="0">
                  <a:solidFill>
                    <a:srgbClr val="000000"/>
                  </a:solidFill>
                  <a:latin typeface="微软雅黑" panose="020B0503020204020204" pitchFamily="34" charset="-122"/>
                </a:rPr>
                <a:t>若                     均为 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 </a:t>
              </a:r>
              <a:r>
                <a:rPr lang="zh-CN" altLang="en-US" sz="2400" dirty="0">
                  <a:solidFill>
                    <a:srgbClr val="000000"/>
                  </a:solidFill>
                  <a:latin typeface="微软雅黑" panose="020B0503020204020204" pitchFamily="34" charset="-122"/>
                </a:rPr>
                <a:t>阶可逆矩阵，则</a:t>
              </a:r>
              <a:endParaRPr lang="zh-CN" altLang="en-US" dirty="0">
                <a:solidFill>
                  <a:prstClr val="black"/>
                </a:solidFill>
              </a:endParaRPr>
            </a:p>
          </p:txBody>
        </p:sp>
      </p:grpSp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941460"/>
              </p:ext>
            </p:extLst>
          </p:nvPr>
        </p:nvGraphicFramePr>
        <p:xfrm>
          <a:off x="2215771" y="5392876"/>
          <a:ext cx="4051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4" name="Equation" r:id="rId19" imgW="4051080" imgH="444240" progId="Equation.DSMT4">
                  <p:embed/>
                </p:oleObj>
              </mc:Choice>
              <mc:Fallback>
                <p:oleObj name="Equation" r:id="rId19" imgW="4051080" imgH="44424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215771" y="5392876"/>
                        <a:ext cx="40513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/>
          <p:cNvGrpSpPr/>
          <p:nvPr/>
        </p:nvGrpSpPr>
        <p:grpSpPr>
          <a:xfrm>
            <a:off x="5685674" y="3106257"/>
            <a:ext cx="2073003" cy="461665"/>
            <a:chOff x="5685674" y="3106257"/>
            <a:chExt cx="2073003" cy="461665"/>
          </a:xfrm>
        </p:grpSpPr>
        <p:sp>
          <p:nvSpPr>
            <p:cNvPr id="21" name="矩形 20"/>
            <p:cNvSpPr/>
            <p:nvPr/>
          </p:nvSpPr>
          <p:spPr>
            <a:xfrm>
              <a:off x="5685674" y="3106257"/>
              <a:ext cx="207300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dirty="0">
                  <a:solidFill>
                    <a:prstClr val="black"/>
                  </a:solidFill>
                </a:rPr>
                <a:t>所以     可逆</a:t>
              </a:r>
              <a:r>
                <a:rPr lang="en-US" altLang="zh-CN" sz="2400" dirty="0">
                  <a:solidFill>
                    <a:prstClr val="black"/>
                  </a:solidFill>
                </a:rPr>
                <a:t>.</a:t>
              </a:r>
              <a:endParaRPr lang="zh-CN" altLang="en-US" sz="2400" dirty="0">
                <a:solidFill>
                  <a:prstClr val="black"/>
                </a:solidFill>
              </a:endParaRPr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9323800"/>
                </p:ext>
              </p:extLst>
            </p:nvPr>
          </p:nvGraphicFramePr>
          <p:xfrm>
            <a:off x="6394071" y="3211483"/>
            <a:ext cx="469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05" name="Equation" r:id="rId21" imgW="469800" imgH="279360" progId="Equation.DSMT4">
                    <p:embed/>
                  </p:oleObj>
                </mc:Choice>
                <mc:Fallback>
                  <p:oleObj name="Equation" r:id="rId21" imgW="469800" imgH="279360" progId="Equation.DSMT4">
                    <p:embed/>
                    <p:pic>
                      <p:nvPicPr>
                        <p:cNvPr id="4" name="对象 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394071" y="3211483"/>
                          <a:ext cx="469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直角三角形 2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直角三角形 32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759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8" grpId="0"/>
      <p:bldP spid="22" grpId="0" animBg="1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632496" y="109374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/>
              <a:t>三、可逆矩阵的求法</a:t>
            </a:r>
            <a:r>
              <a:rPr lang="en-US" altLang="zh-CN" sz="3600" dirty="0"/>
              <a:t>(1)</a:t>
            </a:r>
            <a:endParaRPr lang="zh-CN" altLang="en-US" sz="3600" dirty="0"/>
          </a:p>
        </p:txBody>
      </p:sp>
      <p:grpSp>
        <p:nvGrpSpPr>
          <p:cNvPr id="17" name="组合 16"/>
          <p:cNvGrpSpPr/>
          <p:nvPr/>
        </p:nvGrpSpPr>
        <p:grpSpPr>
          <a:xfrm>
            <a:off x="632496" y="1206684"/>
            <a:ext cx="8118761" cy="461665"/>
            <a:chOff x="632496" y="1206684"/>
            <a:chExt cx="8118761" cy="461665"/>
          </a:xfrm>
        </p:grpSpPr>
        <p:sp>
          <p:nvSpPr>
            <p:cNvPr id="4" name="矩形 3"/>
            <p:cNvSpPr/>
            <p:nvPr/>
          </p:nvSpPr>
          <p:spPr>
            <a:xfrm>
              <a:off x="632496" y="1206684"/>
              <a:ext cx="811876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定义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2.14.1  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</a:rPr>
                <a:t>对于任意的 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</a:rPr>
                <a:t>阶方阵 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</a:rPr>
                <a:t>，由      的各阶子式</a:t>
              </a:r>
              <a:r>
                <a:rPr lang="en-US" altLang="zh-CN" sz="2400" dirty="0">
                  <a:solidFill>
                    <a:srgbClr val="000000"/>
                  </a:solidFill>
                  <a:latin typeface="+mn-ea"/>
                </a:rPr>
                <a:t>  </a:t>
              </a:r>
              <a:endParaRPr lang="zh-CN" altLang="en-US" dirty="0">
                <a:latin typeface="+mn-ea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1141852"/>
                </p:ext>
              </p:extLst>
            </p:nvPr>
          </p:nvGraphicFramePr>
          <p:xfrm>
            <a:off x="6300192" y="1222416"/>
            <a:ext cx="3683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5" name="Equation" r:id="rId3" imgW="368280" imgH="444240" progId="Equation.DSMT4">
                    <p:embed/>
                  </p:oleObj>
                </mc:Choice>
                <mc:Fallback>
                  <p:oleObj name="Equation" r:id="rId3" imgW="368280" imgH="444240" progId="Equation.DSMT4">
                    <p:embed/>
                    <p:pic>
                      <p:nvPicPr>
                        <p:cNvPr id="14" name="对象 1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300192" y="1222416"/>
                          <a:ext cx="3683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632496" y="1850557"/>
            <a:ext cx="3036343" cy="499127"/>
            <a:chOff x="601499" y="1921761"/>
            <a:chExt cx="3036343" cy="499127"/>
          </a:xfrm>
        </p:grpSpPr>
        <p:sp>
          <p:nvSpPr>
            <p:cNvPr id="7" name="矩形 6"/>
            <p:cNvSpPr/>
            <p:nvPr/>
          </p:nvSpPr>
          <p:spPr>
            <a:xfrm>
              <a:off x="899592" y="1921761"/>
              <a:ext cx="273825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rgbClr val="000000"/>
                  </a:solidFill>
                  <a:latin typeface="微软雅黑" panose="020B0503020204020204" pitchFamily="34" charset="-122"/>
                </a:rPr>
                <a:t>所构成的如下矩阵</a:t>
              </a:r>
              <a:r>
                <a:rPr lang="en-US" altLang="zh-CN" sz="2400" dirty="0">
                  <a:solidFill>
                    <a:srgbClr val="000000"/>
                  </a:solidFill>
                  <a:latin typeface="微软雅黑" panose="020B0503020204020204" pitchFamily="34" charset="-122"/>
                </a:rPr>
                <a:t> </a:t>
              </a:r>
              <a:endParaRPr lang="zh-CN" altLang="en-US" dirty="0"/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434502"/>
                </p:ext>
              </p:extLst>
            </p:nvPr>
          </p:nvGraphicFramePr>
          <p:xfrm>
            <a:off x="601499" y="1976388"/>
            <a:ext cx="3556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6" name="Equation" r:id="rId5" imgW="355320" imgH="444240" progId="Equation.DSMT4">
                    <p:embed/>
                  </p:oleObj>
                </mc:Choice>
                <mc:Fallback>
                  <p:oleObj name="Equation" r:id="rId5" imgW="355320" imgH="444240" progId="Equation.DSMT4">
                    <p:embed/>
                    <p:pic>
                      <p:nvPicPr>
                        <p:cNvPr id="5" name="对象 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01499" y="1976388"/>
                          <a:ext cx="3556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082429"/>
              </p:ext>
            </p:extLst>
          </p:nvPr>
        </p:nvGraphicFramePr>
        <p:xfrm>
          <a:off x="1979712" y="2494430"/>
          <a:ext cx="3292475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name="Equation" r:id="rId7" imgW="1358900" imgH="939800" progId="Equation.DSMT4">
                  <p:embed/>
                </p:oleObj>
              </mc:Choice>
              <mc:Fallback>
                <p:oleObj name="Equation" r:id="rId7" imgW="1358900" imgH="939800" progId="Equation.DSMT4">
                  <p:embed/>
                  <p:pic>
                    <p:nvPicPr>
                      <p:cNvPr id="2561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494430"/>
                        <a:ext cx="3292475" cy="227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16"/>
          <p:cNvSpPr>
            <a:spLocks noChangeArrowheads="1"/>
          </p:cNvSpPr>
          <p:nvPr/>
        </p:nvSpPr>
        <p:spPr bwMode="auto">
          <a:xfrm>
            <a:off x="6011962" y="2602380"/>
            <a:ext cx="2362200" cy="1447800"/>
          </a:xfrm>
          <a:prstGeom prst="wedgeEllipseCallout">
            <a:avLst>
              <a:gd name="adj1" fmla="val -90120"/>
              <a:gd name="adj2" fmla="val 16884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latin typeface="Times New Roman" panose="02020603050405020304" pitchFamily="18" charset="0"/>
              </a:rPr>
              <a:t>注意下标的变化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715267" y="4984211"/>
            <a:ext cx="8428733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0" dirty="0">
                <a:latin typeface="+mn-ea"/>
                <a:ea typeface="+mn-ea"/>
              </a:rPr>
              <a:t>称为矩阵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altLang="zh-CN" sz="2400" b="0" dirty="0">
                <a:latin typeface="+mn-ea"/>
                <a:ea typeface="+mn-ea"/>
              </a:rPr>
              <a:t> </a:t>
            </a:r>
            <a:r>
              <a:rPr lang="zh-CN" altLang="en-US" sz="2400" b="0" dirty="0">
                <a:latin typeface="+mn-ea"/>
                <a:ea typeface="+mn-ea"/>
              </a:rPr>
              <a:t>的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转置伴随矩阵 </a:t>
            </a:r>
            <a:r>
              <a:rPr lang="zh-CN" altLang="en-US" sz="2400" b="0" dirty="0">
                <a:latin typeface="+mn-ea"/>
                <a:ea typeface="+mn-ea"/>
              </a:rPr>
              <a:t>或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伴随矩阵</a:t>
            </a:r>
            <a:r>
              <a:rPr lang="en-US" altLang="zh-CN" sz="2400" b="0" dirty="0">
                <a:latin typeface="+mn-ea"/>
                <a:ea typeface="+mn-ea"/>
              </a:rPr>
              <a:t>.</a:t>
            </a:r>
            <a:r>
              <a:rPr lang="zh-CN" altLang="en-US" sz="2400" b="0" dirty="0">
                <a:latin typeface="+mn-ea"/>
                <a:ea typeface="+mn-ea"/>
              </a:rPr>
              <a:t>记作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7020272" y="4984211"/>
            <a:ext cx="1463771" cy="581057"/>
            <a:chOff x="2372471" y="5512239"/>
            <a:chExt cx="1463771" cy="581057"/>
          </a:xfrm>
        </p:grpSpPr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6131831"/>
                </p:ext>
              </p:extLst>
            </p:nvPr>
          </p:nvGraphicFramePr>
          <p:xfrm>
            <a:off x="2372471" y="5651482"/>
            <a:ext cx="3429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8" name="Equation" r:id="rId9" imgW="342720" imgH="355320" progId="Equation.DSMT4">
                    <p:embed/>
                  </p:oleObj>
                </mc:Choice>
                <mc:Fallback>
                  <p:oleObj name="Equation" r:id="rId9" imgW="342720" imgH="355320" progId="Equation.DSMT4">
                    <p:embed/>
                    <p:pic>
                      <p:nvPicPr>
                        <p:cNvPr id="8" name="对象 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372471" y="5651482"/>
                          <a:ext cx="3429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/>
            <p:cNvSpPr/>
            <p:nvPr/>
          </p:nvSpPr>
          <p:spPr>
            <a:xfrm>
              <a:off x="2680335" y="5512239"/>
              <a:ext cx="492443" cy="5810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400" dirty="0">
                  <a:latin typeface="+mn-ea"/>
                </a:rPr>
                <a:t>或</a:t>
              </a:r>
            </a:p>
          </p:txBody>
        </p:sp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0732871"/>
                </p:ext>
              </p:extLst>
            </p:nvPr>
          </p:nvGraphicFramePr>
          <p:xfrm>
            <a:off x="3125042" y="5704936"/>
            <a:ext cx="7112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9" name="Equation" r:id="rId11" imgW="711000" imgH="368280" progId="Equation.DSMT4">
                    <p:embed/>
                  </p:oleObj>
                </mc:Choice>
                <mc:Fallback>
                  <p:oleObj name="Equation" r:id="rId11" imgW="711000" imgH="368280" progId="Equation.DSMT4">
                    <p:embed/>
                    <p:pic>
                      <p:nvPicPr>
                        <p:cNvPr id="13" name="对象 1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125042" y="5704936"/>
                          <a:ext cx="7112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直角三角形 1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直角三角形 1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910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11560" y="260648"/>
            <a:ext cx="8229600" cy="1597025"/>
            <a:chOff x="683568" y="92494"/>
            <a:chExt cx="8229600" cy="1597025"/>
          </a:xfrm>
        </p:grpSpPr>
        <p:sp>
          <p:nvSpPr>
            <p:cNvPr id="2" name="内容占位符 2"/>
            <p:cNvSpPr txBox="1"/>
            <p:nvPr/>
          </p:nvSpPr>
          <p:spPr>
            <a:xfrm>
              <a:off x="683568" y="624679"/>
              <a:ext cx="8229600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2400" b="1" dirty="0"/>
                <a:t>例</a:t>
              </a:r>
              <a:r>
                <a:rPr lang="en-US" altLang="zh-CN" sz="2400" b="1" dirty="0"/>
                <a:t>2</a:t>
              </a:r>
              <a:r>
                <a:rPr lang="en-US" altLang="zh-CN" sz="2400" dirty="0"/>
                <a:t>   </a:t>
              </a:r>
              <a:r>
                <a:rPr lang="zh-CN" altLang="en-US" sz="2400" dirty="0"/>
                <a:t>求矩阵                       的伴随矩阵    </a:t>
              </a:r>
              <a:r>
                <a:rPr lang="en-US" altLang="zh-CN" sz="2400" dirty="0"/>
                <a:t>.</a:t>
              </a:r>
              <a:endParaRPr lang="zh-CN" altLang="en-US" sz="2400" dirty="0"/>
            </a:p>
          </p:txBody>
        </p:sp>
        <p:graphicFrame>
          <p:nvGraphicFramePr>
            <p:cNvPr id="3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9458039"/>
                </p:ext>
              </p:extLst>
            </p:nvPr>
          </p:nvGraphicFramePr>
          <p:xfrm>
            <a:off x="2555776" y="92494"/>
            <a:ext cx="2362200" cy="159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68" name="Equation" r:id="rId3" imgW="1044010" imgH="701136" progId="Equation.DSMT4">
                    <p:embed/>
                  </p:oleObj>
                </mc:Choice>
                <mc:Fallback>
                  <p:oleObj name="Equation" r:id="rId3" imgW="1044010" imgH="701136" progId="Equation.DSMT4">
                    <p:embed/>
                    <p:pic>
                      <p:nvPicPr>
                        <p:cNvPr id="2666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776" y="92494"/>
                          <a:ext cx="2362200" cy="1597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3649491"/>
                </p:ext>
              </p:extLst>
            </p:nvPr>
          </p:nvGraphicFramePr>
          <p:xfrm>
            <a:off x="6572672" y="629014"/>
            <a:ext cx="3429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69" name="Equation" r:id="rId5" imgW="342720" imgH="355320" progId="Equation.DSMT4">
                    <p:embed/>
                  </p:oleObj>
                </mc:Choice>
                <mc:Fallback>
                  <p:oleObj name="Equation" r:id="rId5" imgW="342720" imgH="355320" progId="Equation.DSMT4">
                    <p:embed/>
                    <p:pic>
                      <p:nvPicPr>
                        <p:cNvPr id="8" name="对象 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572672" y="629014"/>
                          <a:ext cx="3429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41972" y="1762828"/>
            <a:ext cx="13388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解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   由于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8" name="Oval 12"/>
          <p:cNvSpPr>
            <a:spLocks noChangeArrowheads="1"/>
          </p:cNvSpPr>
          <p:nvPr/>
        </p:nvSpPr>
        <p:spPr bwMode="auto">
          <a:xfrm>
            <a:off x="3206442" y="354350"/>
            <a:ext cx="429049" cy="410426"/>
          </a:xfrm>
          <a:prstGeom prst="ellipse">
            <a:avLst/>
          </a:prstGeom>
          <a:noFill/>
          <a:ln w="19050" cap="rnd" algn="ctr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" name="Line 13"/>
          <p:cNvSpPr>
            <a:spLocks noChangeShapeType="1"/>
          </p:cNvSpPr>
          <p:nvPr/>
        </p:nvSpPr>
        <p:spPr bwMode="auto">
          <a:xfrm flipH="1">
            <a:off x="1017960" y="764776"/>
            <a:ext cx="2258327" cy="1744313"/>
          </a:xfrm>
          <a:prstGeom prst="line">
            <a:avLst/>
          </a:prstGeom>
          <a:noFill/>
          <a:ln w="1905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879679"/>
              </p:ext>
            </p:extLst>
          </p:nvPr>
        </p:nvGraphicFramePr>
        <p:xfrm>
          <a:off x="641972" y="2384990"/>
          <a:ext cx="39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0" name="Equation" r:id="rId7" imgW="393480" imgH="393480" progId="Equation.DSMT4">
                  <p:embed/>
                </p:oleObj>
              </mc:Choice>
              <mc:Fallback>
                <p:oleObj name="Equation" r:id="rId7" imgW="393480" imgH="39348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1972" y="2384990"/>
                        <a:ext cx="3937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809681"/>
              </p:ext>
            </p:extLst>
          </p:nvPr>
        </p:nvGraphicFramePr>
        <p:xfrm>
          <a:off x="1075480" y="2116460"/>
          <a:ext cx="2057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1" name="Equation" r:id="rId9" imgW="2057400" imgH="952200" progId="Equation.DSMT4">
                  <p:embed/>
                </p:oleObj>
              </mc:Choice>
              <mc:Fallback>
                <p:oleObj name="Equation" r:id="rId9" imgW="2057400" imgH="952200" progId="Equation.DSMT4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75480" y="2116460"/>
                        <a:ext cx="20574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083879"/>
              </p:ext>
            </p:extLst>
          </p:nvPr>
        </p:nvGraphicFramePr>
        <p:xfrm>
          <a:off x="3140070" y="2437081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2" name="Equation" r:id="rId11" imgW="406080" imgH="279360" progId="Equation.DSMT4">
                  <p:embed/>
                </p:oleObj>
              </mc:Choice>
              <mc:Fallback>
                <p:oleObj name="Equation" r:id="rId11" imgW="406080" imgH="279360" progId="Equation.DSMT4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40070" y="2437081"/>
                        <a:ext cx="4064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298616"/>
              </p:ext>
            </p:extLst>
          </p:nvPr>
        </p:nvGraphicFramePr>
        <p:xfrm>
          <a:off x="656380" y="3475980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3" name="Equation" r:id="rId13" imgW="419040" imgH="393480" progId="Equation.DSMT4">
                  <p:embed/>
                </p:oleObj>
              </mc:Choice>
              <mc:Fallback>
                <p:oleObj name="Equation" r:id="rId13" imgW="419040" imgH="393480" progId="Equation.DSMT4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56380" y="3475980"/>
                        <a:ext cx="419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625635"/>
              </p:ext>
            </p:extLst>
          </p:nvPr>
        </p:nvGraphicFramePr>
        <p:xfrm>
          <a:off x="1095017" y="3196580"/>
          <a:ext cx="1917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4" name="Equation" r:id="rId15" imgW="1917360" imgH="952200" progId="Equation.DSMT4">
                  <p:embed/>
                </p:oleObj>
              </mc:Choice>
              <mc:Fallback>
                <p:oleObj name="Equation" r:id="rId15" imgW="1917360" imgH="952200" progId="Equation.DSMT4">
                  <p:embed/>
                  <p:pic>
                    <p:nvPicPr>
                      <p:cNvPr id="24" name="对象 2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95017" y="3196580"/>
                        <a:ext cx="19177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4743294"/>
              </p:ext>
            </p:extLst>
          </p:nvPr>
        </p:nvGraphicFramePr>
        <p:xfrm>
          <a:off x="3132880" y="3521654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5" name="Equation" r:id="rId17" imgW="406080" imgH="279360" progId="Equation.DSMT4">
                  <p:embed/>
                </p:oleObj>
              </mc:Choice>
              <mc:Fallback>
                <p:oleObj name="Equation" r:id="rId17" imgW="406080" imgH="279360" progId="Equation.DSMT4">
                  <p:embed/>
                  <p:pic>
                    <p:nvPicPr>
                      <p:cNvPr id="25" name="对象 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32880" y="3521654"/>
                        <a:ext cx="4064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696067"/>
              </p:ext>
            </p:extLst>
          </p:nvPr>
        </p:nvGraphicFramePr>
        <p:xfrm>
          <a:off x="611560" y="4572496"/>
          <a:ext cx="406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6" name="Equation" r:id="rId18" imgW="406080" imgH="393480" progId="Equation.DSMT4">
                  <p:embed/>
                </p:oleObj>
              </mc:Choice>
              <mc:Fallback>
                <p:oleObj name="Equation" r:id="rId18" imgW="406080" imgH="39348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11560" y="4572496"/>
                        <a:ext cx="406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204151"/>
              </p:ext>
            </p:extLst>
          </p:nvPr>
        </p:nvGraphicFramePr>
        <p:xfrm>
          <a:off x="1039813" y="4293096"/>
          <a:ext cx="2070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7" name="Equation" r:id="rId20" imgW="2070000" imgH="952200" progId="Equation.DSMT4">
                  <p:embed/>
                </p:oleObj>
              </mc:Choice>
              <mc:Fallback>
                <p:oleObj name="Equation" r:id="rId20" imgW="2070000" imgH="952200" progId="Equation.DSMT4">
                  <p:embed/>
                  <p:pic>
                    <p:nvPicPr>
                      <p:cNvPr id="27" name="对象 26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39813" y="4293096"/>
                        <a:ext cx="20701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837673"/>
              </p:ext>
            </p:extLst>
          </p:nvPr>
        </p:nvGraphicFramePr>
        <p:xfrm>
          <a:off x="3131766" y="4565070"/>
          <a:ext cx="698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8" name="Equation" r:id="rId22" imgW="698400" imgH="279360" progId="Equation.DSMT4">
                  <p:embed/>
                </p:oleObj>
              </mc:Choice>
              <mc:Fallback>
                <p:oleObj name="Equation" r:id="rId22" imgW="698400" imgH="279360" progId="Equation.DSMT4">
                  <p:embed/>
                  <p:pic>
                    <p:nvPicPr>
                      <p:cNvPr id="28" name="对象 27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131766" y="4565070"/>
                        <a:ext cx="698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122945"/>
              </p:ext>
            </p:extLst>
          </p:nvPr>
        </p:nvGraphicFramePr>
        <p:xfrm>
          <a:off x="4213199" y="2365795"/>
          <a:ext cx="1092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9" name="Equation" r:id="rId24" imgW="1091880" imgH="393480" progId="Equation.DSMT4">
                  <p:embed/>
                </p:oleObj>
              </mc:Choice>
              <mc:Fallback>
                <p:oleObj name="Equation" r:id="rId24" imgW="1091880" imgH="393480" progId="Equation.DSMT4">
                  <p:embed/>
                  <p:pic>
                    <p:nvPicPr>
                      <p:cNvPr id="24" name="对象 23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213199" y="2365795"/>
                        <a:ext cx="10922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239391"/>
              </p:ext>
            </p:extLst>
          </p:nvPr>
        </p:nvGraphicFramePr>
        <p:xfrm>
          <a:off x="4186238" y="3440384"/>
          <a:ext cx="1104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0" name="Equation" r:id="rId26" imgW="1104840" imgH="393480" progId="Equation.DSMT4">
                  <p:embed/>
                </p:oleObj>
              </mc:Choice>
              <mc:Fallback>
                <p:oleObj name="Equation" r:id="rId26" imgW="1104840" imgH="393480" progId="Equation.DSMT4">
                  <p:embed/>
                  <p:pic>
                    <p:nvPicPr>
                      <p:cNvPr id="44" name="对象 43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186238" y="3440384"/>
                        <a:ext cx="1104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53460"/>
              </p:ext>
            </p:extLst>
          </p:nvPr>
        </p:nvGraphicFramePr>
        <p:xfrm>
          <a:off x="4262810" y="4507920"/>
          <a:ext cx="927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1" name="Equation" r:id="rId28" imgW="927000" imgH="393480" progId="Equation.DSMT4">
                  <p:embed/>
                </p:oleObj>
              </mc:Choice>
              <mc:Fallback>
                <p:oleObj name="Equation" r:id="rId28" imgW="927000" imgH="393480" progId="Equation.DSMT4">
                  <p:embed/>
                  <p:pic>
                    <p:nvPicPr>
                      <p:cNvPr id="45" name="对象 44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262810" y="4507920"/>
                        <a:ext cx="927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685762"/>
              </p:ext>
            </p:extLst>
          </p:nvPr>
        </p:nvGraphicFramePr>
        <p:xfrm>
          <a:off x="6078538" y="2337505"/>
          <a:ext cx="876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2" name="Equation" r:id="rId30" imgW="876240" imgH="393480" progId="Equation.DSMT4">
                  <p:embed/>
                </p:oleObj>
              </mc:Choice>
              <mc:Fallback>
                <p:oleObj name="Equation" r:id="rId30" imgW="876240" imgH="393480" progId="Equation.DSMT4">
                  <p:embed/>
                  <p:pic>
                    <p:nvPicPr>
                      <p:cNvPr id="44" name="对象 43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078538" y="2337505"/>
                        <a:ext cx="876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026314"/>
              </p:ext>
            </p:extLst>
          </p:nvPr>
        </p:nvGraphicFramePr>
        <p:xfrm>
          <a:off x="6074758" y="3413370"/>
          <a:ext cx="1104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3" name="Equation" r:id="rId32" imgW="1104840" imgH="393480" progId="Equation.DSMT4">
                  <p:embed/>
                </p:oleObj>
              </mc:Choice>
              <mc:Fallback>
                <p:oleObj name="Equation" r:id="rId32" imgW="1104840" imgH="393480" progId="Equation.DSMT4">
                  <p:embed/>
                  <p:pic>
                    <p:nvPicPr>
                      <p:cNvPr id="47" name="对象 46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074758" y="3413370"/>
                        <a:ext cx="1104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437074"/>
              </p:ext>
            </p:extLst>
          </p:nvPr>
        </p:nvGraphicFramePr>
        <p:xfrm>
          <a:off x="6032239" y="4543019"/>
          <a:ext cx="1092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4" name="Equation" r:id="rId34" imgW="1091880" imgH="393480" progId="Equation.DSMT4">
                  <p:embed/>
                </p:oleObj>
              </mc:Choice>
              <mc:Fallback>
                <p:oleObj name="Equation" r:id="rId34" imgW="1091880" imgH="393480" progId="Equation.DSMT4">
                  <p:embed/>
                  <p:pic>
                    <p:nvPicPr>
                      <p:cNvPr id="48" name="对象 47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032239" y="4543019"/>
                        <a:ext cx="10922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698299"/>
              </p:ext>
            </p:extLst>
          </p:nvPr>
        </p:nvGraphicFramePr>
        <p:xfrm>
          <a:off x="3031072" y="5201882"/>
          <a:ext cx="26289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5" name="Equation" r:id="rId36" imgW="2628720" imgH="1434960" progId="Equation.DSMT4">
                  <p:embed/>
                </p:oleObj>
              </mc:Choice>
              <mc:Fallback>
                <p:oleObj name="Equation" r:id="rId36" imgW="2628720" imgH="1434960" progId="Equation.DSMT4">
                  <p:embed/>
                  <p:pic>
                    <p:nvPicPr>
                      <p:cNvPr id="30" name="对象 29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3031072" y="5201882"/>
                        <a:ext cx="2628900" cy="143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Oval 12"/>
          <p:cNvSpPr>
            <a:spLocks noChangeArrowheads="1"/>
          </p:cNvSpPr>
          <p:nvPr/>
        </p:nvSpPr>
        <p:spPr bwMode="auto">
          <a:xfrm>
            <a:off x="3760247" y="284711"/>
            <a:ext cx="429049" cy="410426"/>
          </a:xfrm>
          <a:prstGeom prst="ellipse">
            <a:avLst/>
          </a:prstGeom>
          <a:noFill/>
          <a:ln w="19050" cap="rnd" algn="ctr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3" name="Oval 12"/>
          <p:cNvSpPr>
            <a:spLocks noChangeArrowheads="1"/>
          </p:cNvSpPr>
          <p:nvPr/>
        </p:nvSpPr>
        <p:spPr bwMode="auto">
          <a:xfrm>
            <a:off x="4314052" y="321528"/>
            <a:ext cx="429049" cy="410426"/>
          </a:xfrm>
          <a:prstGeom prst="ellipse">
            <a:avLst/>
          </a:prstGeom>
          <a:noFill/>
          <a:ln w="19050" cap="rnd" algn="ctr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" name="Line 13"/>
          <p:cNvSpPr>
            <a:spLocks noChangeShapeType="1"/>
          </p:cNvSpPr>
          <p:nvPr/>
        </p:nvSpPr>
        <p:spPr bwMode="auto">
          <a:xfrm flipH="1">
            <a:off x="971600" y="662679"/>
            <a:ext cx="2858666" cy="2944371"/>
          </a:xfrm>
          <a:prstGeom prst="line">
            <a:avLst/>
          </a:prstGeom>
          <a:noFill/>
          <a:ln w="1905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55" name="Line 13"/>
          <p:cNvSpPr>
            <a:spLocks noChangeShapeType="1"/>
          </p:cNvSpPr>
          <p:nvPr/>
        </p:nvSpPr>
        <p:spPr bwMode="auto">
          <a:xfrm flipH="1">
            <a:off x="971600" y="695137"/>
            <a:ext cx="3456384" cy="3946032"/>
          </a:xfrm>
          <a:prstGeom prst="line">
            <a:avLst/>
          </a:prstGeom>
          <a:noFill/>
          <a:ln w="1905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32" name="直角三角形 31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直角三角形 32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75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539552" y="476672"/>
            <a:ext cx="59055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dirty="0">
                <a:latin typeface="宋体" panose="02010600030101010101" pitchFamily="2" charset="-122"/>
              </a:rPr>
              <a:t>★</a:t>
            </a:r>
            <a:r>
              <a:rPr kumimoji="1"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dirty="0">
                <a:latin typeface="+mn-ea"/>
                <a:ea typeface="+mn-ea"/>
              </a:rPr>
              <a:t>伴随矩阵的性质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632496" y="1239143"/>
            <a:ext cx="7661906" cy="461665"/>
            <a:chOff x="632496" y="1239143"/>
            <a:chExt cx="7661906" cy="461665"/>
          </a:xfrm>
        </p:grpSpPr>
        <p:sp>
          <p:nvSpPr>
            <p:cNvPr id="3" name="矩形 2"/>
            <p:cNvSpPr/>
            <p:nvPr/>
          </p:nvSpPr>
          <p:spPr>
            <a:xfrm>
              <a:off x="632496" y="1239143"/>
              <a:ext cx="766190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性质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2.14.1   </a:t>
              </a:r>
              <a:r>
                <a:rPr lang="zh-CN" altLang="en-US" sz="2400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设 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>
                  <a:solidFill>
                    <a:prstClr val="black"/>
                  </a:solidFill>
                  <a:latin typeface="微软雅黑" panose="020B0503020204020204" pitchFamily="34" charset="-122"/>
                </a:rPr>
                <a:t>是 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</a:rPr>
                <a:t>阶方阵 ，   为其伴随矩阵，则有</a:t>
              </a:r>
              <a:endParaRPr lang="zh-CN" altLang="en-US" dirty="0">
                <a:latin typeface="+mn-ea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8776458"/>
                </p:ext>
              </p:extLst>
            </p:nvPr>
          </p:nvGraphicFramePr>
          <p:xfrm>
            <a:off x="5038589" y="1261661"/>
            <a:ext cx="3429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2" name="Equation" r:id="rId3" imgW="342720" imgH="355320" progId="Equation.DSMT4">
                    <p:embed/>
                  </p:oleObj>
                </mc:Choice>
                <mc:Fallback>
                  <p:oleObj name="Equation" r:id="rId3" imgW="342720" imgH="355320" progId="Equation.DSMT4">
                    <p:embed/>
                    <p:pic>
                      <p:nvPicPr>
                        <p:cNvPr id="24" name="对象 2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038589" y="1261661"/>
                          <a:ext cx="3429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001422"/>
              </p:ext>
            </p:extLst>
          </p:nvPr>
        </p:nvGraphicFramePr>
        <p:xfrm>
          <a:off x="2555776" y="1878504"/>
          <a:ext cx="2336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3" name="Equation" r:id="rId5" imgW="2336760" imgH="469800" progId="Equation.DSMT4">
                  <p:embed/>
                </p:oleObj>
              </mc:Choice>
              <mc:Fallback>
                <p:oleObj name="Equation" r:id="rId5" imgW="2336760" imgH="46980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5776" y="1878504"/>
                        <a:ext cx="23368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632496" y="2636912"/>
            <a:ext cx="76683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定理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2.14.1  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阶方阵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可逆的充分必要条件是          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</a:rPr>
              <a:t>.</a:t>
            </a:r>
            <a:endParaRPr lang="zh-CN" altLang="en-US" dirty="0">
              <a:latin typeface="+mn-ea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625993"/>
              </p:ext>
            </p:extLst>
          </p:nvPr>
        </p:nvGraphicFramePr>
        <p:xfrm>
          <a:off x="7164288" y="2696468"/>
          <a:ext cx="850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4" name="Equation" r:id="rId7" imgW="850680" imgH="444240" progId="Equation.DSMT4">
                  <p:embed/>
                </p:oleObj>
              </mc:Choice>
              <mc:Fallback>
                <p:oleObj name="Equation" r:id="rId7" imgW="850680" imgH="44424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64288" y="2696468"/>
                        <a:ext cx="8509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663051" y="3255367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证明：</a:t>
            </a:r>
          </a:p>
        </p:txBody>
      </p:sp>
      <p:sp>
        <p:nvSpPr>
          <p:cNvPr id="13" name="矩形 12"/>
          <p:cNvSpPr/>
          <p:nvPr/>
        </p:nvSpPr>
        <p:spPr>
          <a:xfrm>
            <a:off x="1759235" y="3254722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（必要性）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3482784" y="3254722"/>
            <a:ext cx="4681923" cy="461665"/>
            <a:chOff x="3482784" y="3254722"/>
            <a:chExt cx="4681923" cy="461665"/>
          </a:xfrm>
        </p:grpSpPr>
        <p:sp>
          <p:nvSpPr>
            <p:cNvPr id="15" name="矩形 14"/>
            <p:cNvSpPr/>
            <p:nvPr/>
          </p:nvSpPr>
          <p:spPr>
            <a:xfrm>
              <a:off x="3482784" y="3254722"/>
              <a:ext cx="468192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dirty="0">
                  <a:solidFill>
                    <a:prstClr val="black"/>
                  </a:solidFill>
                </a:rPr>
                <a:t>因为 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>
                  <a:solidFill>
                    <a:prstClr val="black"/>
                  </a:solidFill>
                </a:rPr>
                <a:t>可逆，所以存在    ，使得</a:t>
              </a:r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3527246"/>
                </p:ext>
              </p:extLst>
            </p:nvPr>
          </p:nvGraphicFramePr>
          <p:xfrm>
            <a:off x="6737624" y="3299854"/>
            <a:ext cx="457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5" name="Equation" r:id="rId9" imgW="457200" imgH="355320" progId="Equation.DSMT4">
                    <p:embed/>
                  </p:oleObj>
                </mc:Choice>
                <mc:Fallback>
                  <p:oleObj name="Equation" r:id="rId9" imgW="457200" imgH="355320" progId="Equation.DSMT4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737624" y="3299854"/>
                          <a:ext cx="457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022984"/>
              </p:ext>
            </p:extLst>
          </p:nvPr>
        </p:nvGraphicFramePr>
        <p:xfrm>
          <a:off x="3492302" y="3925118"/>
          <a:ext cx="1244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6" name="Equation" r:id="rId11" imgW="1244520" imgH="368280" progId="Equation.DSMT4">
                  <p:embed/>
                </p:oleObj>
              </mc:Choice>
              <mc:Fallback>
                <p:oleObj name="Equation" r:id="rId11" imgW="1244520" imgH="36828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92302" y="3925118"/>
                        <a:ext cx="1244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/>
          <p:cNvGrpSpPr/>
          <p:nvPr/>
        </p:nvGrpSpPr>
        <p:grpSpPr>
          <a:xfrm>
            <a:off x="713153" y="4527967"/>
            <a:ext cx="4668336" cy="546100"/>
            <a:chOff x="1043608" y="3974991"/>
            <a:chExt cx="4668336" cy="546100"/>
          </a:xfrm>
        </p:grpSpPr>
        <p:sp>
          <p:nvSpPr>
            <p:cNvPr id="19" name="矩形 18"/>
            <p:cNvSpPr/>
            <p:nvPr/>
          </p:nvSpPr>
          <p:spPr>
            <a:xfrm>
              <a:off x="1043608" y="3984625"/>
              <a:ext cx="326243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prstClr val="black"/>
                  </a:solidFill>
                </a:rPr>
                <a:t>利用行列式乘法定理有</a:t>
              </a:r>
              <a:endParaRPr lang="zh-CN" altLang="en-US" dirty="0"/>
            </a:p>
          </p:txBody>
        </p:sp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3130957"/>
                </p:ext>
              </p:extLst>
            </p:nvPr>
          </p:nvGraphicFramePr>
          <p:xfrm>
            <a:off x="4238744" y="3974991"/>
            <a:ext cx="1473200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7" name="Equation" r:id="rId13" imgW="1473120" imgH="545760" progId="Equation.DSMT4">
                    <p:embed/>
                  </p:oleObj>
                </mc:Choice>
                <mc:Fallback>
                  <p:oleObj name="Equation" r:id="rId13" imgW="1473120" imgH="545760" progId="Equation.DSMT4">
                    <p:embed/>
                    <p:pic>
                      <p:nvPicPr>
                        <p:cNvPr id="17" name="对象 1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238744" y="3974991"/>
                          <a:ext cx="1473200" cy="546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5436096" y="4520060"/>
            <a:ext cx="1893467" cy="496745"/>
            <a:chOff x="5629275" y="4098930"/>
            <a:chExt cx="1893467" cy="496745"/>
          </a:xfrm>
        </p:grpSpPr>
        <p:sp>
          <p:nvSpPr>
            <p:cNvPr id="21" name="矩形 20"/>
            <p:cNvSpPr/>
            <p:nvPr/>
          </p:nvSpPr>
          <p:spPr>
            <a:xfrm>
              <a:off x="5629275" y="4098930"/>
              <a:ext cx="189346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prstClr val="black"/>
                  </a:solidFill>
                </a:rPr>
                <a:t>显然         </a:t>
              </a:r>
              <a:r>
                <a:rPr lang="en-US" altLang="zh-CN" sz="2400" dirty="0">
                  <a:solidFill>
                    <a:prstClr val="black"/>
                  </a:solidFill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8786879"/>
                </p:ext>
              </p:extLst>
            </p:nvPr>
          </p:nvGraphicFramePr>
          <p:xfrm>
            <a:off x="6417158" y="4151175"/>
            <a:ext cx="8509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8" name="Equation" r:id="rId15" imgW="850680" imgH="444240" progId="Equation.DSMT4">
                    <p:embed/>
                  </p:oleObj>
                </mc:Choice>
                <mc:Fallback>
                  <p:oleObj name="Equation" r:id="rId15" imgW="850680" imgH="444240" progId="Equation.DSMT4">
                    <p:embed/>
                    <p:pic>
                      <p:nvPicPr>
                        <p:cNvPr id="20" name="对象 19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417158" y="4151175"/>
                          <a:ext cx="8509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矩形 24"/>
          <p:cNvSpPr/>
          <p:nvPr/>
        </p:nvSpPr>
        <p:spPr>
          <a:xfrm>
            <a:off x="524153" y="5229200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（充分性）</a:t>
            </a:r>
          </a:p>
        </p:txBody>
      </p:sp>
      <p:sp>
        <p:nvSpPr>
          <p:cNvPr id="30" name="矩形 29"/>
          <p:cNvSpPr/>
          <p:nvPr/>
        </p:nvSpPr>
        <p:spPr>
          <a:xfrm>
            <a:off x="2075728" y="5259175"/>
            <a:ext cx="27302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由性质</a:t>
            </a:r>
            <a:r>
              <a:rPr lang="en-US" altLang="zh-CN" sz="2400" dirty="0"/>
              <a:t>2.14.1</a:t>
            </a:r>
            <a:r>
              <a:rPr lang="zh-CN" altLang="en-US" sz="2400" dirty="0"/>
              <a:t>可知</a:t>
            </a: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266648"/>
              </p:ext>
            </p:extLst>
          </p:nvPr>
        </p:nvGraphicFramePr>
        <p:xfrm>
          <a:off x="4787312" y="5276714"/>
          <a:ext cx="236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9" name="Equation" r:id="rId17" imgW="2361960" imgH="469800" progId="Equation.DSMT4">
                  <p:embed/>
                </p:oleObj>
              </mc:Choice>
              <mc:Fallback>
                <p:oleObj name="Equation" r:id="rId17" imgW="2361960" imgH="46980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87312" y="5276714"/>
                        <a:ext cx="23622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直角三角形 2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直角三角形 2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431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3" grpId="0"/>
      <p:bldP spid="25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985639"/>
              </p:ext>
            </p:extLst>
          </p:nvPr>
        </p:nvGraphicFramePr>
        <p:xfrm>
          <a:off x="2399248" y="1102904"/>
          <a:ext cx="2108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0" name="Equation" r:id="rId3" imgW="2108160" imgH="939600" progId="Equation.DSMT4">
                  <p:embed/>
                </p:oleObj>
              </mc:Choice>
              <mc:Fallback>
                <p:oleObj name="Equation" r:id="rId3" imgW="2108160" imgH="93960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99248" y="1102904"/>
                        <a:ext cx="21082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491493"/>
              </p:ext>
            </p:extLst>
          </p:nvPr>
        </p:nvGraphicFramePr>
        <p:xfrm>
          <a:off x="5580112" y="1980096"/>
          <a:ext cx="1358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1" name="Equation" r:id="rId5" imgW="1358640" imgH="939600" progId="Equation.DSMT4">
                  <p:embed/>
                </p:oleObj>
              </mc:Choice>
              <mc:Fallback>
                <p:oleObj name="Equation" r:id="rId5" imgW="1358640" imgH="939600" progId="Equation.DSMT4">
                  <p:embed/>
                  <p:pic>
                    <p:nvPicPr>
                      <p:cNvPr id="27" name="对象 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80112" y="1980096"/>
                        <a:ext cx="13589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764259" y="2153454"/>
            <a:ext cx="48614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由可逆矩阵的定义可知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dirty="0"/>
              <a:t>可逆，且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15072" y="492684"/>
            <a:ext cx="2396810" cy="504056"/>
            <a:chOff x="899592" y="836712"/>
            <a:chExt cx="2396810" cy="504056"/>
          </a:xfrm>
        </p:grpSpPr>
        <p:sp>
          <p:nvSpPr>
            <p:cNvPr id="4" name="矩形 3"/>
            <p:cNvSpPr/>
            <p:nvPr/>
          </p:nvSpPr>
          <p:spPr>
            <a:xfrm>
              <a:off x="899592" y="836712"/>
              <a:ext cx="239681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/>
                <a:t>当         时，有</a:t>
              </a: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2284290"/>
                </p:ext>
              </p:extLst>
            </p:nvPr>
          </p:nvGraphicFramePr>
          <p:xfrm>
            <a:off x="1344836" y="896268"/>
            <a:ext cx="8509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2" name="Equation" r:id="rId7" imgW="850680" imgH="444240" progId="Equation.DSMT4">
                    <p:embed/>
                  </p:oleObj>
                </mc:Choice>
                <mc:Fallback>
                  <p:oleObj name="Equation" r:id="rId7" imgW="850680" imgH="444240" progId="Equation.DSMT4">
                    <p:embed/>
                    <p:pic>
                      <p:nvPicPr>
                        <p:cNvPr id="10" name="对象 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44836" y="896268"/>
                          <a:ext cx="8509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 Box 37"/>
          <p:cNvSpPr txBox="1">
            <a:spLocks noChangeArrowheads="1"/>
          </p:cNvSpPr>
          <p:nvPr/>
        </p:nvSpPr>
        <p:spPr bwMode="auto">
          <a:xfrm>
            <a:off x="1774443" y="2869779"/>
            <a:ext cx="38512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定理给出了：</a:t>
            </a:r>
          </a:p>
        </p:txBody>
      </p:sp>
      <p:sp>
        <p:nvSpPr>
          <p:cNvPr id="8" name="Text Box 38"/>
          <p:cNvSpPr txBox="1">
            <a:spLocks noChangeArrowheads="1"/>
          </p:cNvSpPr>
          <p:nvPr/>
        </p:nvSpPr>
        <p:spPr bwMode="auto">
          <a:xfrm>
            <a:off x="827584" y="3638956"/>
            <a:ext cx="4968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判断一个方阵可逆的方法：</a:t>
            </a: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885547" y="2879638"/>
            <a:ext cx="800219" cy="461665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注：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912538"/>
              </p:ext>
            </p:extLst>
          </p:nvPr>
        </p:nvGraphicFramePr>
        <p:xfrm>
          <a:off x="5059375" y="3674501"/>
          <a:ext cx="914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name="Equation" r:id="rId9" imgW="914400" imgH="444240" progId="Equation.DSMT4">
                  <p:embed/>
                </p:oleObj>
              </mc:Choice>
              <mc:Fallback>
                <p:oleObj name="Equation" r:id="rId9" imgW="914400" imgH="4442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59375" y="3674501"/>
                        <a:ext cx="9144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38"/>
          <p:cNvSpPr txBox="1">
            <a:spLocks noChangeArrowheads="1"/>
          </p:cNvSpPr>
          <p:nvPr/>
        </p:nvSpPr>
        <p:spPr bwMode="auto">
          <a:xfrm>
            <a:off x="827584" y="4351511"/>
            <a:ext cx="4968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求逆矩阵的方法：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102884"/>
              </p:ext>
            </p:extLst>
          </p:nvPr>
        </p:nvGraphicFramePr>
        <p:xfrm>
          <a:off x="3700080" y="4183484"/>
          <a:ext cx="1536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Equation" r:id="rId11" imgW="1536480" imgH="901440" progId="Equation.DSMT4">
                  <p:embed/>
                </p:oleObj>
              </mc:Choice>
              <mc:Fallback>
                <p:oleObj name="Equation" r:id="rId11" imgW="1536480" imgH="90144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00080" y="4183484"/>
                        <a:ext cx="15367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784880" y="5365886"/>
            <a:ext cx="72595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定理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2.14.2  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设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是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阶可逆矩阵，则                  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</a:rPr>
              <a:t>.</a:t>
            </a:r>
            <a:endParaRPr lang="zh-CN" altLang="en-US" dirty="0">
              <a:latin typeface="+mn-ea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924493"/>
              </p:ext>
            </p:extLst>
          </p:nvPr>
        </p:nvGraphicFramePr>
        <p:xfrm>
          <a:off x="6084168" y="5229200"/>
          <a:ext cx="1536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Equation" r:id="rId13" imgW="1536480" imgH="901440" progId="Equation.DSMT4">
                  <p:embed/>
                </p:oleObj>
              </mc:Choice>
              <mc:Fallback>
                <p:oleObj name="Equation" r:id="rId13" imgW="1536480" imgH="90144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84168" y="5229200"/>
                        <a:ext cx="15367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直角三角形 1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直角三角形 19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766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3" grpId="0" animBg="1"/>
      <p:bldP spid="15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11560" y="447055"/>
            <a:ext cx="8229600" cy="1597025"/>
            <a:chOff x="683568" y="92494"/>
            <a:chExt cx="8229600" cy="1597025"/>
          </a:xfrm>
        </p:grpSpPr>
        <p:sp>
          <p:nvSpPr>
            <p:cNvPr id="3" name="内容占位符 2"/>
            <p:cNvSpPr txBox="1"/>
            <p:nvPr/>
          </p:nvSpPr>
          <p:spPr>
            <a:xfrm>
              <a:off x="683568" y="624679"/>
              <a:ext cx="8229600" cy="53265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zh-CN" altLang="en-US" sz="2400" b="1" dirty="0"/>
                <a:t>例</a:t>
              </a:r>
              <a:r>
                <a:rPr lang="en-US" altLang="zh-CN" sz="2400" b="1" dirty="0"/>
                <a:t>3</a:t>
              </a:r>
              <a:r>
                <a:rPr lang="en-US" altLang="zh-CN" sz="2400" dirty="0"/>
                <a:t>   </a:t>
              </a:r>
              <a:r>
                <a:rPr lang="zh-CN" altLang="en-US" sz="2400" dirty="0"/>
                <a:t>判断矩阵                       是否可逆？如果可逆，</a:t>
              </a:r>
            </a:p>
          </p:txBody>
        </p:sp>
        <p:graphicFrame>
          <p:nvGraphicFramePr>
            <p:cNvPr id="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2073557"/>
                </p:ext>
              </p:extLst>
            </p:nvPr>
          </p:nvGraphicFramePr>
          <p:xfrm>
            <a:off x="2771800" y="92494"/>
            <a:ext cx="2362200" cy="159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7" name="Equation" r:id="rId3" imgW="1044010" imgH="701136" progId="Equation.DSMT4">
                    <p:embed/>
                  </p:oleObj>
                </mc:Choice>
                <mc:Fallback>
                  <p:oleObj name="Equation" r:id="rId3" imgW="1044010" imgH="701136" progId="Equation.DSMT4">
                    <p:embed/>
                    <p:pic>
                      <p:nvPicPr>
                        <p:cNvPr id="3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800" y="92494"/>
                          <a:ext cx="2362200" cy="1597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/>
          <p:nvPr/>
        </p:nvSpPr>
        <p:spPr>
          <a:xfrm>
            <a:off x="611560" y="1959223"/>
            <a:ext cx="18357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</a:rPr>
              <a:t>求其逆矩阵</a:t>
            </a:r>
            <a:r>
              <a:rPr lang="en-US" altLang="zh-CN" sz="2400" dirty="0">
                <a:solidFill>
                  <a:prstClr val="black"/>
                </a:solidFill>
              </a:rPr>
              <a:t>.</a:t>
            </a:r>
            <a:endParaRPr lang="zh-CN" altLang="en-US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636220" y="2594711"/>
            <a:ext cx="19543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解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   首先求得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147703" y="2589466"/>
            <a:ext cx="18285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所以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可逆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.</a:t>
            </a:r>
            <a:endParaRPr kumimoji="1" lang="zh-CN" altLang="en-US" sz="2800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868144" y="2589465"/>
            <a:ext cx="1877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又由例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可知</a:t>
            </a:r>
            <a:endParaRPr kumimoji="1" lang="zh-CN" altLang="en-US" sz="2800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397729"/>
              </p:ext>
            </p:extLst>
          </p:nvPr>
        </p:nvGraphicFramePr>
        <p:xfrm>
          <a:off x="2555776" y="2624460"/>
          <a:ext cx="850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8" name="Equation" r:id="rId5" imgW="850680" imgH="444240" progId="Equation.DSMT4">
                  <p:embed/>
                </p:oleObj>
              </mc:Choice>
              <mc:Fallback>
                <p:oleObj name="Equation" r:id="rId5" imgW="850680" imgH="44424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5776" y="2624460"/>
                        <a:ext cx="8509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8641843"/>
              </p:ext>
            </p:extLst>
          </p:nvPr>
        </p:nvGraphicFramePr>
        <p:xfrm>
          <a:off x="3406676" y="2679492"/>
          <a:ext cx="546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9" name="Equation" r:id="rId7" imgW="545760" imgH="291960" progId="Equation.DSMT4">
                  <p:embed/>
                </p:oleObj>
              </mc:Choice>
              <mc:Fallback>
                <p:oleObj name="Equation" r:id="rId7" imgW="545760" imgH="29196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06676" y="2679492"/>
                        <a:ext cx="5461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112996"/>
              </p:ext>
            </p:extLst>
          </p:nvPr>
        </p:nvGraphicFramePr>
        <p:xfrm>
          <a:off x="2964414" y="3230467"/>
          <a:ext cx="27432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" name="Equation" r:id="rId9" imgW="2743200" imgH="1434960" progId="Equation.DSMT4">
                  <p:embed/>
                </p:oleObj>
              </mc:Choice>
              <mc:Fallback>
                <p:oleObj name="Equation" r:id="rId9" imgW="2743200" imgH="1434960" progId="Equation.DSMT4">
                  <p:embed/>
                  <p:pic>
                    <p:nvPicPr>
                      <p:cNvPr id="51" name="对象 5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64414" y="3230467"/>
                        <a:ext cx="2743200" cy="143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636220" y="5343599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故</a:t>
            </a:r>
            <a:endParaRPr kumimoji="1" lang="zh-CN" altLang="en-US" sz="2800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813246"/>
              </p:ext>
            </p:extLst>
          </p:nvPr>
        </p:nvGraphicFramePr>
        <p:xfrm>
          <a:off x="1228408" y="5153496"/>
          <a:ext cx="1206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" name="Equation" r:id="rId11" imgW="1206360" imgH="939600" progId="Equation.DSMT4">
                  <p:embed/>
                </p:oleObj>
              </mc:Choice>
              <mc:Fallback>
                <p:oleObj name="Equation" r:id="rId11" imgW="1206360" imgH="93960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28408" y="5153496"/>
                        <a:ext cx="12065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142648"/>
              </p:ext>
            </p:extLst>
          </p:nvPr>
        </p:nvGraphicFramePr>
        <p:xfrm>
          <a:off x="2476313" y="5180731"/>
          <a:ext cx="508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2" name="Equation" r:id="rId13" imgW="507960" imgH="787320" progId="Equation.DSMT4">
                  <p:embed/>
                </p:oleObj>
              </mc:Choice>
              <mc:Fallback>
                <p:oleObj name="Equation" r:id="rId13" imgW="507960" imgH="78732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76313" y="5180731"/>
                        <a:ext cx="508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442792"/>
              </p:ext>
            </p:extLst>
          </p:nvPr>
        </p:nvGraphicFramePr>
        <p:xfrm>
          <a:off x="3063030" y="4856881"/>
          <a:ext cx="20447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3" name="Equation" r:id="rId15" imgW="2044440" imgH="1434960" progId="Equation.DSMT4">
                  <p:embed/>
                </p:oleObj>
              </mc:Choice>
              <mc:Fallback>
                <p:oleObj name="Equation" r:id="rId15" imgW="2044440" imgH="143496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63030" y="4856881"/>
                        <a:ext cx="2044700" cy="143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直角三角形 19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直角三角形 2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591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67544" y="692696"/>
            <a:ext cx="8351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latin typeface="+mn-ea"/>
                <a:ea typeface="+mn-ea"/>
              </a:rPr>
              <a:t>例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kumimoji="1"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   </a:t>
            </a:r>
            <a:r>
              <a:rPr kumimoji="1" lang="zh-CN" altLang="en-US" sz="2400" b="0" dirty="0">
                <a:latin typeface="+mn-ea"/>
                <a:ea typeface="+mn-ea"/>
              </a:rPr>
              <a:t>判断下面的矩阵是否可逆，如果可逆，则求逆矩阵</a:t>
            </a:r>
            <a:r>
              <a:rPr kumimoji="1" lang="en-US" altLang="zh-CN" sz="2400" b="0" dirty="0">
                <a:latin typeface="+mn-ea"/>
                <a:ea typeface="+mn-ea"/>
              </a:rPr>
              <a:t>,</a:t>
            </a:r>
            <a:endParaRPr kumimoji="1" lang="zh-CN" altLang="en-US" sz="2400" b="0" dirty="0">
              <a:latin typeface="+mn-ea"/>
              <a:ea typeface="+mn-ea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107850"/>
              </p:ext>
            </p:extLst>
          </p:nvPr>
        </p:nvGraphicFramePr>
        <p:xfrm>
          <a:off x="611560" y="1522760"/>
          <a:ext cx="29718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0" name="Equation" r:id="rId3" imgW="2971800" imgH="1434960" progId="Equation.DSMT4">
                  <p:embed/>
                </p:oleObj>
              </mc:Choice>
              <mc:Fallback>
                <p:oleObj name="Equation" r:id="rId3" imgW="2971800" imgH="143496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560" y="1522760"/>
                        <a:ext cx="2971800" cy="143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384024"/>
              </p:ext>
            </p:extLst>
          </p:nvPr>
        </p:nvGraphicFramePr>
        <p:xfrm>
          <a:off x="4139952" y="1268760"/>
          <a:ext cx="33147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1" name="Equation" r:id="rId5" imgW="3314520" imgH="1942920" progId="Equation.DSMT4">
                  <p:embed/>
                </p:oleObj>
              </mc:Choice>
              <mc:Fallback>
                <p:oleObj name="Equation" r:id="rId5" imgW="3314520" imgH="194292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39952" y="1268760"/>
                        <a:ext cx="3314700" cy="194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11560" y="3329312"/>
            <a:ext cx="23134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解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(1)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首先求得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611560" y="5635427"/>
            <a:ext cx="3587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b="0" dirty="0">
                <a:latin typeface="+mn-ea"/>
                <a:ea typeface="+mn-ea"/>
              </a:rPr>
              <a:t>所以矩阵</a:t>
            </a:r>
            <a:r>
              <a:rPr kumimoji="1" lang="en-US" altLang="zh-CN" sz="2400" b="0" dirty="0">
                <a:latin typeface="+mn-ea"/>
                <a:ea typeface="+mn-ea"/>
              </a:rPr>
              <a:t>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1" lang="zh-CN" altLang="en-US" sz="2400" b="0" dirty="0">
                <a:latin typeface="+mn-ea"/>
                <a:ea typeface="+mn-ea"/>
              </a:rPr>
              <a:t>可逆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.</a:t>
            </a:r>
            <a:endParaRPr kumimoji="1"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9355261"/>
              </p:ext>
            </p:extLst>
          </p:nvPr>
        </p:nvGraphicFramePr>
        <p:xfrm>
          <a:off x="3334320" y="4596296"/>
          <a:ext cx="1309688" cy="316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2" name="Equation" r:id="rId7" imgW="241195" imgH="190417" progId="Equation.DSMT4">
                  <p:embed/>
                </p:oleObj>
              </mc:Choice>
              <mc:Fallback>
                <p:oleObj name="Equation" r:id="rId7" imgW="241195" imgH="190417" progId="Equation.DSMT4">
                  <p:embed/>
                  <p:pic>
                    <p:nvPicPr>
                      <p:cNvPr id="1536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4320" y="4596296"/>
                        <a:ext cx="1309688" cy="3166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1625002"/>
              </p:ext>
            </p:extLst>
          </p:nvPr>
        </p:nvGraphicFramePr>
        <p:xfrm>
          <a:off x="7278640" y="4533763"/>
          <a:ext cx="6254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3" name="Equation" r:id="rId9" imgW="596880" imgH="317160" progId="Equation.DSMT4">
                  <p:embed/>
                </p:oleObj>
              </mc:Choice>
              <mc:Fallback>
                <p:oleObj name="Equation" r:id="rId9" imgW="596880" imgH="317160" progId="Equation.DSMT4">
                  <p:embed/>
                  <p:pic>
                    <p:nvPicPr>
                      <p:cNvPr id="15361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8640" y="4533763"/>
                        <a:ext cx="62547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356737"/>
              </p:ext>
            </p:extLst>
          </p:nvPr>
        </p:nvGraphicFramePr>
        <p:xfrm>
          <a:off x="5545294" y="4581128"/>
          <a:ext cx="431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4" name="Equation" r:id="rId11" imgW="241195" imgH="190417" progId="Equation.DSMT4">
                  <p:embed/>
                </p:oleObj>
              </mc:Choice>
              <mc:Fallback>
                <p:oleObj name="Equation" r:id="rId11" imgW="241195" imgH="190417" progId="Equation.DSMT4">
                  <p:embed/>
                  <p:pic>
                    <p:nvPicPr>
                      <p:cNvPr id="15361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5294" y="4581128"/>
                        <a:ext cx="431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962698"/>
              </p:ext>
            </p:extLst>
          </p:nvPr>
        </p:nvGraphicFramePr>
        <p:xfrm>
          <a:off x="756543" y="4013895"/>
          <a:ext cx="24003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5" name="Equation" r:id="rId13" imgW="2400120" imgH="1434960" progId="Equation.DSMT4">
                  <p:embed/>
                </p:oleObj>
              </mc:Choice>
              <mc:Fallback>
                <p:oleObj name="Equation" r:id="rId13" imgW="2400120" imgH="143496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56543" y="4013895"/>
                        <a:ext cx="2400300" cy="143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673915"/>
              </p:ext>
            </p:extLst>
          </p:nvPr>
        </p:nvGraphicFramePr>
        <p:xfrm>
          <a:off x="4106267" y="4031258"/>
          <a:ext cx="13970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6" name="Equation" r:id="rId15" imgW="1396800" imgH="1434960" progId="Equation.DSMT4">
                  <p:embed/>
                </p:oleObj>
              </mc:Choice>
              <mc:Fallback>
                <p:oleObj name="Equation" r:id="rId15" imgW="1396800" imgH="143496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06267" y="4031258"/>
                        <a:ext cx="1397000" cy="143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70576"/>
              </p:ext>
            </p:extLst>
          </p:nvPr>
        </p:nvGraphicFramePr>
        <p:xfrm>
          <a:off x="6037317" y="4255195"/>
          <a:ext cx="1181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7" name="Equation" r:id="rId17" imgW="1180800" imgH="952200" progId="Equation.DSMT4">
                  <p:embed/>
                </p:oleObj>
              </mc:Choice>
              <mc:Fallback>
                <p:oleObj name="Equation" r:id="rId17" imgW="1180800" imgH="95220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37317" y="4255195"/>
                        <a:ext cx="11811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881591"/>
              </p:ext>
            </p:extLst>
          </p:nvPr>
        </p:nvGraphicFramePr>
        <p:xfrm>
          <a:off x="3316236" y="4255195"/>
          <a:ext cx="654960" cy="356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8" name="Equation" r:id="rId19" imgW="723600" imgH="393480" progId="Equation.DSMT4">
                  <p:embed/>
                </p:oleObj>
              </mc:Choice>
              <mc:Fallback>
                <p:oleObj name="Equation" r:id="rId19" imgW="723600" imgH="39348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16236" y="4255195"/>
                        <a:ext cx="654960" cy="3562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931681"/>
              </p:ext>
            </p:extLst>
          </p:nvPr>
        </p:nvGraphicFramePr>
        <p:xfrm>
          <a:off x="3291108" y="4782481"/>
          <a:ext cx="6445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9" name="Equation" r:id="rId21" imgW="711000" imgH="393480" progId="Equation.DSMT4">
                  <p:embed/>
                </p:oleObj>
              </mc:Choice>
              <mc:Fallback>
                <p:oleObj name="Equation" r:id="rId21" imgW="711000" imgH="39348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91108" y="4782481"/>
                        <a:ext cx="644525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直角三角形 1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直角三角形 1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8923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"/>
          <p:cNvSpPr txBox="1">
            <a:spLocks noChangeArrowheads="1"/>
          </p:cNvSpPr>
          <p:nvPr/>
        </p:nvSpPr>
        <p:spPr bwMode="auto">
          <a:xfrm>
            <a:off x="539552" y="1233438"/>
            <a:ext cx="15121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又计算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924267"/>
              </p:ext>
            </p:extLst>
          </p:nvPr>
        </p:nvGraphicFramePr>
        <p:xfrm>
          <a:off x="1517650" y="769938"/>
          <a:ext cx="27559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7" name="Equation" r:id="rId3" imgW="2755800" imgH="1434960" progId="Equation.DSMT4">
                  <p:embed/>
                </p:oleObj>
              </mc:Choice>
              <mc:Fallback>
                <p:oleObj name="Equation" r:id="rId3" imgW="2755800" imgH="143496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17650" y="769938"/>
                        <a:ext cx="2755900" cy="143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4355976" y="1255963"/>
            <a:ext cx="15121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所以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534878"/>
              </p:ext>
            </p:extLst>
          </p:nvPr>
        </p:nvGraphicFramePr>
        <p:xfrm>
          <a:off x="5107660" y="1089422"/>
          <a:ext cx="1206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8" name="Equation" r:id="rId5" imgW="1206360" imgH="939600" progId="Equation.DSMT4">
                  <p:embed/>
                </p:oleObj>
              </mc:Choice>
              <mc:Fallback>
                <p:oleObj name="Equation" r:id="rId5" imgW="1206360" imgH="93960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07660" y="1089422"/>
                        <a:ext cx="12065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14206"/>
              </p:ext>
            </p:extLst>
          </p:nvPr>
        </p:nvGraphicFramePr>
        <p:xfrm>
          <a:off x="6300965" y="839242"/>
          <a:ext cx="22352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9" name="Equation" r:id="rId7" imgW="2234880" imgH="1434960" progId="Equation.DSMT4">
                  <p:embed/>
                </p:oleObj>
              </mc:Choice>
              <mc:Fallback>
                <p:oleObj name="Equation" r:id="rId7" imgW="2234880" imgH="1434960" progId="Equation.DSMT4">
                  <p:embed/>
                  <p:pic>
                    <p:nvPicPr>
                      <p:cNvPr id="19" name="对象 1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00965" y="839242"/>
                        <a:ext cx="2235200" cy="143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98291" y="2642165"/>
            <a:ext cx="20056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dirty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(2)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首先求得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190529"/>
              </p:ext>
            </p:extLst>
          </p:nvPr>
        </p:nvGraphicFramePr>
        <p:xfrm>
          <a:off x="861219" y="3285752"/>
          <a:ext cx="27178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0" name="Equation" r:id="rId9" imgW="2717640" imgH="1942920" progId="Equation.DSMT4">
                  <p:embed/>
                </p:oleObj>
              </mc:Choice>
              <mc:Fallback>
                <p:oleObj name="Equation" r:id="rId9" imgW="2717640" imgH="194292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61219" y="3285752"/>
                        <a:ext cx="2717800" cy="194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7"/>
          <p:cNvGraphicFramePr>
            <a:graphicFrameLocks noChangeAspect="1"/>
          </p:cNvGraphicFramePr>
          <p:nvPr/>
        </p:nvGraphicFramePr>
        <p:xfrm>
          <a:off x="2300290" y="3538542"/>
          <a:ext cx="22476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1" name="Equation" r:id="rId11" imgW="114102" imgH="177492" progId="Equation.DSMT4">
                  <p:embed/>
                </p:oleObj>
              </mc:Choice>
              <mc:Fallback>
                <p:oleObj name="Equation" r:id="rId11" imgW="114102" imgH="177492" progId="Equation.DSMT4">
                  <p:embed/>
                  <p:pic>
                    <p:nvPicPr>
                      <p:cNvPr id="3175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290" y="3538542"/>
                        <a:ext cx="224765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153590"/>
              </p:ext>
            </p:extLst>
          </p:nvPr>
        </p:nvGraphicFramePr>
        <p:xfrm>
          <a:off x="3709193" y="3704009"/>
          <a:ext cx="769938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2" name="Equation" r:id="rId13" imgW="388559" imgH="220968" progId="Equation.DSMT4">
                  <p:embed/>
                </p:oleObj>
              </mc:Choice>
              <mc:Fallback>
                <p:oleObj name="Equation" r:id="rId13" imgW="388559" imgH="220968" progId="Equation.DSMT4">
                  <p:embed/>
                  <p:pic>
                    <p:nvPicPr>
                      <p:cNvPr id="15565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193" y="3704009"/>
                        <a:ext cx="769938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829543"/>
              </p:ext>
            </p:extLst>
          </p:nvPr>
        </p:nvGraphicFramePr>
        <p:xfrm>
          <a:off x="3647281" y="4361421"/>
          <a:ext cx="893763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3" name="Equation" r:id="rId15" imgW="449501" imgH="220968" progId="Equation.DSMT4">
                  <p:embed/>
                </p:oleObj>
              </mc:Choice>
              <mc:Fallback>
                <p:oleObj name="Equation" r:id="rId15" imgW="449501" imgH="220968" progId="Equation.DSMT4">
                  <p:embed/>
                  <p:pic>
                    <p:nvPicPr>
                      <p:cNvPr id="15565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281" y="4361421"/>
                        <a:ext cx="893763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904555"/>
              </p:ext>
            </p:extLst>
          </p:nvPr>
        </p:nvGraphicFramePr>
        <p:xfrm>
          <a:off x="4688890" y="3345817"/>
          <a:ext cx="172720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4" name="Equation" r:id="rId17" imgW="1726920" imgH="1942920" progId="Equation.DSMT4">
                  <p:embed/>
                </p:oleObj>
              </mc:Choice>
              <mc:Fallback>
                <p:oleObj name="Equation" r:id="rId17" imgW="1726920" imgH="194292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88890" y="3345817"/>
                        <a:ext cx="1727200" cy="194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194161"/>
              </p:ext>
            </p:extLst>
          </p:nvPr>
        </p:nvGraphicFramePr>
        <p:xfrm>
          <a:off x="3746500" y="4159026"/>
          <a:ext cx="1309688" cy="316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5" name="Equation" r:id="rId19" imgW="241195" imgH="190417" progId="Equation.DSMT4">
                  <p:embed/>
                </p:oleObj>
              </mc:Choice>
              <mc:Fallback>
                <p:oleObj name="Equation" r:id="rId19" imgW="241195" imgH="190417" progId="Equation.DSMT4">
                  <p:embed/>
                  <p:pic>
                    <p:nvPicPr>
                      <p:cNvPr id="1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0" y="4159026"/>
                        <a:ext cx="1309688" cy="3166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7749774"/>
              </p:ext>
            </p:extLst>
          </p:nvPr>
        </p:nvGraphicFramePr>
        <p:xfrm>
          <a:off x="6598971" y="4203080"/>
          <a:ext cx="1309688" cy="316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6" name="Equation" r:id="rId21" imgW="241195" imgH="190417" progId="Equation.DSMT4">
                  <p:embed/>
                </p:oleObj>
              </mc:Choice>
              <mc:Fallback>
                <p:oleObj name="Equation" r:id="rId21" imgW="241195" imgH="190417" progId="Equation.DSMT4">
                  <p:embed/>
                  <p:pic>
                    <p:nvPicPr>
                      <p:cNvPr id="2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8971" y="4203080"/>
                        <a:ext cx="1309688" cy="3166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329551"/>
              </p:ext>
            </p:extLst>
          </p:nvPr>
        </p:nvGraphicFramePr>
        <p:xfrm>
          <a:off x="7202907" y="4172378"/>
          <a:ext cx="279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7" name="Equation" r:id="rId22" imgW="279360" imgH="291960" progId="Equation.DSMT4">
                  <p:embed/>
                </p:oleObj>
              </mc:Choice>
              <mc:Fallback>
                <p:oleObj name="Equation" r:id="rId22" imgW="279360" imgH="291960" progId="Equation.DSMT4">
                  <p:embed/>
                  <p:pic>
                    <p:nvPicPr>
                      <p:cNvPr id="20" name="对象 1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202907" y="4172378"/>
                        <a:ext cx="2794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618797" y="5640811"/>
            <a:ext cx="3587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b="0" dirty="0">
                <a:latin typeface="+mn-ea"/>
                <a:ea typeface="+mn-ea"/>
              </a:rPr>
              <a:t>所以矩阵</a:t>
            </a:r>
            <a:r>
              <a:rPr kumimoji="1" lang="en-US" altLang="zh-CN" sz="2400" b="0" dirty="0">
                <a:latin typeface="+mn-ea"/>
                <a:ea typeface="+mn-ea"/>
              </a:rPr>
              <a:t>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kumimoji="1" lang="zh-CN" altLang="en-US" sz="2400" b="0" dirty="0">
                <a:latin typeface="+mn-ea"/>
                <a:ea typeface="+mn-ea"/>
              </a:rPr>
              <a:t>不可逆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.</a:t>
            </a:r>
            <a:endParaRPr kumimoji="1"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9" name="直角三角形 1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直角三角形 2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779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1" grpId="0"/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6">
            <a:extLst>
              <a:ext uri="{FF2B5EF4-FFF2-40B4-BE49-F238E27FC236}">
                <a16:creationId xmlns:a16="http://schemas.microsoft.com/office/drawing/2014/main" id="{F40AE961-4010-4ADD-BBC9-E7F7C9BFD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876925"/>
            <a:ext cx="4392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所以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矩阵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是可逆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10242" name="Object 29">
            <a:extLst>
              <a:ext uri="{FF2B5EF4-FFF2-40B4-BE49-F238E27FC236}">
                <a16:creationId xmlns:a16="http://schemas.microsoft.com/office/drawing/2014/main" id="{1C11D891-779F-4F93-A7AA-0D9A18EA22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1052513"/>
          <a:ext cx="2016125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3" imgW="1193760" imgH="711000" progId="Equation.DSMT4">
                  <p:embed/>
                </p:oleObj>
              </mc:Choice>
              <mc:Fallback>
                <p:oleObj name="Equation" r:id="rId3" imgW="1193760" imgH="711000" progId="Equation.DSMT4">
                  <p:embed/>
                  <p:pic>
                    <p:nvPicPr>
                      <p:cNvPr id="10242" name="Object 29">
                        <a:extLst>
                          <a:ext uri="{FF2B5EF4-FFF2-40B4-BE49-F238E27FC236}">
                            <a16:creationId xmlns:a16="http://schemas.microsoft.com/office/drawing/2014/main" id="{1C11D891-779F-4F93-A7AA-0D9A18EA22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1052513"/>
                        <a:ext cx="2016125" cy="167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40">
            <a:extLst>
              <a:ext uri="{FF2B5EF4-FFF2-40B4-BE49-F238E27FC236}">
                <a16:creationId xmlns:a16="http://schemas.microsoft.com/office/drawing/2014/main" id="{631D182A-99C3-4AA4-AAB2-80586BF0E5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565400"/>
          <a:ext cx="7029450" cy="331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Equation" r:id="rId5" imgW="3530520" imgH="1193760" progId="Equation.DSMT4">
                  <p:embed/>
                </p:oleObj>
              </mc:Choice>
              <mc:Fallback>
                <p:oleObj name="Equation" r:id="rId5" imgW="3530520" imgH="1193760" progId="Equation.DSMT4">
                  <p:embed/>
                  <p:pic>
                    <p:nvPicPr>
                      <p:cNvPr id="10243" name="Object 40">
                        <a:extLst>
                          <a:ext uri="{FF2B5EF4-FFF2-40B4-BE49-F238E27FC236}">
                            <a16:creationId xmlns:a16="http://schemas.microsoft.com/office/drawing/2014/main" id="{631D182A-99C3-4AA4-AAB2-80586BF0E5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565400"/>
                        <a:ext cx="7029450" cy="331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41">
            <a:extLst>
              <a:ext uri="{FF2B5EF4-FFF2-40B4-BE49-F238E27FC236}">
                <a16:creationId xmlns:a16="http://schemas.microsoft.com/office/drawing/2014/main" id="{2A6CC090-9EC1-4531-B678-44839BD30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420938"/>
            <a:ext cx="757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b="1">
                <a:solidFill>
                  <a:srgbClr val="FF0000"/>
                </a:solidFill>
              </a:rPr>
              <a:t>解 </a:t>
            </a:r>
            <a:r>
              <a:rPr lang="en-US" altLang="zh-CN" b="1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0246" name="Text Box 42">
            <a:extLst>
              <a:ext uri="{FF2B5EF4-FFF2-40B4-BE49-F238E27FC236}">
                <a16:creationId xmlns:a16="http://schemas.microsoft.com/office/drawing/2014/main" id="{71886CE9-A934-46E0-A7FA-B90EEC621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620713"/>
            <a:ext cx="8604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例 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判断下列矩阵是否可逆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?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若可逆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求其逆矩阵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1">
            <a:extLst>
              <a:ext uri="{FF2B5EF4-FFF2-40B4-BE49-F238E27FC236}">
                <a16:creationId xmlns:a16="http://schemas.microsoft.com/office/drawing/2014/main" id="{F5325CD2-91C3-4A04-BCE9-8D43D08EAE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4E64044-BA12-495F-AE45-98919E37A202}" type="datetime3">
              <a:rPr lang="zh-CN" altLang="en-US"/>
              <a:pPr>
                <a:defRPr/>
              </a:pPr>
              <a:t>2025年2月28日星期五</a:t>
            </a:fld>
            <a:endParaRPr lang="en-US" altLang="zh-CN"/>
          </a:p>
        </p:txBody>
      </p:sp>
      <p:sp>
        <p:nvSpPr>
          <p:cNvPr id="16" name="页脚占位符 2">
            <a:extLst>
              <a:ext uri="{FF2B5EF4-FFF2-40B4-BE49-F238E27FC236}">
                <a16:creationId xmlns:a16="http://schemas.microsoft.com/office/drawing/2014/main" id="{3A06B4A8-2DB5-407F-A24F-16F9E0BDB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(共17页)</a:t>
            </a:r>
          </a:p>
        </p:txBody>
      </p:sp>
      <p:sp>
        <p:nvSpPr>
          <p:cNvPr id="17" name="灯片编号占位符 3">
            <a:extLst>
              <a:ext uri="{FF2B5EF4-FFF2-40B4-BE49-F238E27FC236}">
                <a16:creationId xmlns:a16="http://schemas.microsoft.com/office/drawing/2014/main" id="{62254F6E-1045-437A-B35C-FD5A531B6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fld id="{0787586A-176F-42F9-815C-A1C91DB49323}" type="slidenum">
              <a:rPr lang="en-US" altLang="zh-CN" sz="1400">
                <a:solidFill>
                  <a:schemeClr val="tx1"/>
                </a:solidFill>
                <a:ea typeface="宋体" panose="02010600030101010101" pitchFamily="2" charset="-122"/>
              </a:rPr>
              <a:pPr/>
              <a:t>22</a:t>
            </a:fld>
            <a:endParaRPr lang="en-US" altLang="zh-CN" sz="1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279" name="Text Box 2">
            <a:extLst>
              <a:ext uri="{FF2B5EF4-FFF2-40B4-BE49-F238E27FC236}">
                <a16:creationId xmlns:a16="http://schemas.microsoft.com/office/drawing/2014/main" id="{68F75A28-5B07-40C2-8C40-861D842CE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76250"/>
            <a:ext cx="4392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下面求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b="1" baseline="30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-1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11266" name="Object 3">
            <a:extLst>
              <a:ext uri="{FF2B5EF4-FFF2-40B4-BE49-F238E27FC236}">
                <a16:creationId xmlns:a16="http://schemas.microsoft.com/office/drawing/2014/main" id="{9082B687-8AE1-40A8-ABBB-19E4373242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125538"/>
          <a:ext cx="244792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2" name="Equation" r:id="rId3" imgW="1562040" imgH="457200" progId="Equation.DSMT4">
                  <p:embed/>
                </p:oleObj>
              </mc:Choice>
              <mc:Fallback>
                <p:oleObj name="Equation" r:id="rId3" imgW="1562040" imgH="457200" progId="Equation.DSMT4">
                  <p:embed/>
                  <p:pic>
                    <p:nvPicPr>
                      <p:cNvPr id="11266" name="Object 3">
                        <a:extLst>
                          <a:ext uri="{FF2B5EF4-FFF2-40B4-BE49-F238E27FC236}">
                            <a16:creationId xmlns:a16="http://schemas.microsoft.com/office/drawing/2014/main" id="{9082B687-8AE1-40A8-ABBB-19E4373242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125538"/>
                        <a:ext cx="2447925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0" name="Rectangle 5">
            <a:extLst>
              <a:ext uri="{FF2B5EF4-FFF2-40B4-BE49-F238E27FC236}">
                <a16:creationId xmlns:a16="http://schemas.microsoft.com/office/drawing/2014/main" id="{7AB2B0CF-0E61-4BC4-9AE1-AFA4CE138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76250"/>
            <a:ext cx="757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b="1">
                <a:solidFill>
                  <a:srgbClr val="FF0000"/>
                </a:solidFill>
              </a:rPr>
              <a:t>解 </a:t>
            </a:r>
            <a:r>
              <a:rPr lang="en-US" altLang="zh-CN" b="1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11267" name="Object 7">
            <a:extLst>
              <a:ext uri="{FF2B5EF4-FFF2-40B4-BE49-F238E27FC236}">
                <a16:creationId xmlns:a16="http://schemas.microsoft.com/office/drawing/2014/main" id="{042A0F3C-376C-4EC2-AB46-6B92C1D11B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1196975"/>
          <a:ext cx="230505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3" name="Equation" r:id="rId5" imgW="1587240" imgH="457200" progId="Equation.DSMT4">
                  <p:embed/>
                </p:oleObj>
              </mc:Choice>
              <mc:Fallback>
                <p:oleObj name="Equation" r:id="rId5" imgW="1587240" imgH="457200" progId="Equation.DSMT4">
                  <p:embed/>
                  <p:pic>
                    <p:nvPicPr>
                      <p:cNvPr id="11267" name="Object 7">
                        <a:extLst>
                          <a:ext uri="{FF2B5EF4-FFF2-40B4-BE49-F238E27FC236}">
                            <a16:creationId xmlns:a16="http://schemas.microsoft.com/office/drawing/2014/main" id="{042A0F3C-376C-4EC2-AB46-6B92C1D11B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196975"/>
                        <a:ext cx="230505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8">
            <a:extLst>
              <a:ext uri="{FF2B5EF4-FFF2-40B4-BE49-F238E27FC236}">
                <a16:creationId xmlns:a16="http://schemas.microsoft.com/office/drawing/2014/main" id="{E868011A-C6F0-40A1-998E-07C88578B8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1125538"/>
          <a:ext cx="2519363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4" name="Equation" r:id="rId7" imgW="1574640" imgH="457200" progId="Equation.DSMT4">
                  <p:embed/>
                </p:oleObj>
              </mc:Choice>
              <mc:Fallback>
                <p:oleObj name="Equation" r:id="rId7" imgW="1574640" imgH="457200" progId="Equation.DSMT4">
                  <p:embed/>
                  <p:pic>
                    <p:nvPicPr>
                      <p:cNvPr id="11268" name="Object 8">
                        <a:extLst>
                          <a:ext uri="{FF2B5EF4-FFF2-40B4-BE49-F238E27FC236}">
                            <a16:creationId xmlns:a16="http://schemas.microsoft.com/office/drawing/2014/main" id="{E868011A-C6F0-40A1-998E-07C88578B8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1125538"/>
                        <a:ext cx="2519363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9">
            <a:extLst>
              <a:ext uri="{FF2B5EF4-FFF2-40B4-BE49-F238E27FC236}">
                <a16:creationId xmlns:a16="http://schemas.microsoft.com/office/drawing/2014/main" id="{78AE1E81-E95C-4D35-9820-D850FBFC77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2349500"/>
          <a:ext cx="244951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5" name="Equation" r:id="rId9" imgW="1587240" imgH="457200" progId="Equation.DSMT4">
                  <p:embed/>
                </p:oleObj>
              </mc:Choice>
              <mc:Fallback>
                <p:oleObj name="Equation" r:id="rId9" imgW="1587240" imgH="457200" progId="Equation.DSMT4">
                  <p:embed/>
                  <p:pic>
                    <p:nvPicPr>
                      <p:cNvPr id="11269" name="Object 9">
                        <a:extLst>
                          <a:ext uri="{FF2B5EF4-FFF2-40B4-BE49-F238E27FC236}">
                            <a16:creationId xmlns:a16="http://schemas.microsoft.com/office/drawing/2014/main" id="{78AE1E81-E95C-4D35-9820-D850FBFC77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349500"/>
                        <a:ext cx="2449513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10">
            <a:extLst>
              <a:ext uri="{FF2B5EF4-FFF2-40B4-BE49-F238E27FC236}">
                <a16:creationId xmlns:a16="http://schemas.microsoft.com/office/drawing/2014/main" id="{113F1FB7-8CF9-4394-8E12-D6F7383285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2349500"/>
          <a:ext cx="244951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6" name="Equation" r:id="rId11" imgW="1612800" imgH="457200" progId="Equation.DSMT4">
                  <p:embed/>
                </p:oleObj>
              </mc:Choice>
              <mc:Fallback>
                <p:oleObj name="Equation" r:id="rId11" imgW="1612800" imgH="457200" progId="Equation.DSMT4">
                  <p:embed/>
                  <p:pic>
                    <p:nvPicPr>
                      <p:cNvPr id="11270" name="Object 10">
                        <a:extLst>
                          <a:ext uri="{FF2B5EF4-FFF2-40B4-BE49-F238E27FC236}">
                            <a16:creationId xmlns:a16="http://schemas.microsoft.com/office/drawing/2014/main" id="{113F1FB7-8CF9-4394-8E12-D6F7383285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349500"/>
                        <a:ext cx="2449512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11">
            <a:extLst>
              <a:ext uri="{FF2B5EF4-FFF2-40B4-BE49-F238E27FC236}">
                <a16:creationId xmlns:a16="http://schemas.microsoft.com/office/drawing/2014/main" id="{ECB75305-143A-4989-A14E-178A418D24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2349500"/>
          <a:ext cx="2592388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7" name="Equation" r:id="rId13" imgW="1600200" imgH="457200" progId="Equation.DSMT4">
                  <p:embed/>
                </p:oleObj>
              </mc:Choice>
              <mc:Fallback>
                <p:oleObj name="Equation" r:id="rId13" imgW="1600200" imgH="457200" progId="Equation.DSMT4">
                  <p:embed/>
                  <p:pic>
                    <p:nvPicPr>
                      <p:cNvPr id="11271" name="Object 11">
                        <a:extLst>
                          <a:ext uri="{FF2B5EF4-FFF2-40B4-BE49-F238E27FC236}">
                            <a16:creationId xmlns:a16="http://schemas.microsoft.com/office/drawing/2014/main" id="{ECB75305-143A-4989-A14E-178A418D24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349500"/>
                        <a:ext cx="2592388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12">
            <a:extLst>
              <a:ext uri="{FF2B5EF4-FFF2-40B4-BE49-F238E27FC236}">
                <a16:creationId xmlns:a16="http://schemas.microsoft.com/office/drawing/2014/main" id="{917DAB16-89F4-418C-8F2F-E48094AC3D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3500438"/>
          <a:ext cx="268446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8" name="Equation" r:id="rId15" imgW="1739880" imgH="457200" progId="Equation.DSMT4">
                  <p:embed/>
                </p:oleObj>
              </mc:Choice>
              <mc:Fallback>
                <p:oleObj name="Equation" r:id="rId15" imgW="1739880" imgH="457200" progId="Equation.DSMT4">
                  <p:embed/>
                  <p:pic>
                    <p:nvPicPr>
                      <p:cNvPr id="11272" name="Object 12">
                        <a:extLst>
                          <a:ext uri="{FF2B5EF4-FFF2-40B4-BE49-F238E27FC236}">
                            <a16:creationId xmlns:a16="http://schemas.microsoft.com/office/drawing/2014/main" id="{917DAB16-89F4-418C-8F2F-E48094AC3D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500438"/>
                        <a:ext cx="2684463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13">
            <a:extLst>
              <a:ext uri="{FF2B5EF4-FFF2-40B4-BE49-F238E27FC236}">
                <a16:creationId xmlns:a16="http://schemas.microsoft.com/office/drawing/2014/main" id="{F8E4B366-7A6B-453A-A0C0-E1295193AA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3500438"/>
          <a:ext cx="2449513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" name="Equation" r:id="rId17" imgW="1587240" imgH="457200" progId="Equation.DSMT4">
                  <p:embed/>
                </p:oleObj>
              </mc:Choice>
              <mc:Fallback>
                <p:oleObj name="Equation" r:id="rId17" imgW="1587240" imgH="457200" progId="Equation.DSMT4">
                  <p:embed/>
                  <p:pic>
                    <p:nvPicPr>
                      <p:cNvPr id="11273" name="Object 13">
                        <a:extLst>
                          <a:ext uri="{FF2B5EF4-FFF2-40B4-BE49-F238E27FC236}">
                            <a16:creationId xmlns:a16="http://schemas.microsoft.com/office/drawing/2014/main" id="{F8E4B366-7A6B-453A-A0C0-E1295193AA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500438"/>
                        <a:ext cx="2449513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14">
            <a:extLst>
              <a:ext uri="{FF2B5EF4-FFF2-40B4-BE49-F238E27FC236}">
                <a16:creationId xmlns:a16="http://schemas.microsoft.com/office/drawing/2014/main" id="{A653EB1B-8A38-4420-B60B-F5CE549BF9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5488" y="3500438"/>
          <a:ext cx="2428875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0" name="Equation" r:id="rId19" imgW="1574640" imgH="457200" progId="Equation.DSMT4">
                  <p:embed/>
                </p:oleObj>
              </mc:Choice>
              <mc:Fallback>
                <p:oleObj name="Equation" r:id="rId19" imgW="1574640" imgH="457200" progId="Equation.DSMT4">
                  <p:embed/>
                  <p:pic>
                    <p:nvPicPr>
                      <p:cNvPr id="11274" name="Object 14">
                        <a:extLst>
                          <a:ext uri="{FF2B5EF4-FFF2-40B4-BE49-F238E27FC236}">
                            <a16:creationId xmlns:a16="http://schemas.microsoft.com/office/drawing/2014/main" id="{A653EB1B-8A38-4420-B60B-F5CE549BF9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5488" y="3500438"/>
                        <a:ext cx="2428875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1" name="Text Box 15">
            <a:extLst>
              <a:ext uri="{FF2B5EF4-FFF2-40B4-BE49-F238E27FC236}">
                <a16:creationId xmlns:a16="http://schemas.microsoft.com/office/drawing/2014/main" id="{3FA62254-7DFB-4414-A71F-DA59D4AB9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868863"/>
            <a:ext cx="1079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  <a:endParaRPr lang="zh-CN" altLang="en-US" b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275" name="Object 16">
            <a:extLst>
              <a:ext uri="{FF2B5EF4-FFF2-40B4-BE49-F238E27FC236}">
                <a16:creationId xmlns:a16="http://schemas.microsoft.com/office/drawing/2014/main" id="{AAEE3562-8A5B-4331-8D88-AFF1AA267E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4581525"/>
          <a:ext cx="3878263" cy="158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1" name="Equation" r:id="rId21" imgW="2514600" imgH="736560" progId="Equation.DSMT4">
                  <p:embed/>
                </p:oleObj>
              </mc:Choice>
              <mc:Fallback>
                <p:oleObj name="Equation" r:id="rId21" imgW="2514600" imgH="736560" progId="Equation.DSMT4">
                  <p:embed/>
                  <p:pic>
                    <p:nvPicPr>
                      <p:cNvPr id="11275" name="Object 16">
                        <a:extLst>
                          <a:ext uri="{FF2B5EF4-FFF2-40B4-BE49-F238E27FC236}">
                            <a16:creationId xmlns:a16="http://schemas.microsoft.com/office/drawing/2014/main" id="{AAEE3562-8A5B-4331-8D88-AFF1AA267E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581525"/>
                        <a:ext cx="3878263" cy="158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>
            <a:extLst>
              <a:ext uri="{FF2B5EF4-FFF2-40B4-BE49-F238E27FC236}">
                <a16:creationId xmlns:a16="http://schemas.microsoft.com/office/drawing/2014/main" id="{CF2DAE2E-571C-4E4F-A16F-13A7ADF3048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D131DA7-7EB2-441E-BF76-610098210576}" type="datetime3">
              <a:rPr lang="zh-CN" altLang="en-US"/>
              <a:pPr>
                <a:defRPr/>
              </a:pPr>
              <a:t>2025年2月28日星期五</a:t>
            </a:fld>
            <a:endParaRPr lang="en-US" altLang="zh-CN"/>
          </a:p>
        </p:txBody>
      </p:sp>
      <p:sp>
        <p:nvSpPr>
          <p:cNvPr id="8" name="页脚占位符 2">
            <a:extLst>
              <a:ext uri="{FF2B5EF4-FFF2-40B4-BE49-F238E27FC236}">
                <a16:creationId xmlns:a16="http://schemas.microsoft.com/office/drawing/2014/main" id="{DCF43CFB-A5E9-47E6-A98E-33ECE752C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(共17页)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668FD1E6-9BDF-41CC-B135-E4352BF78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fld id="{33CF6E01-05A2-454A-BBC5-94024841A281}" type="slidenum">
              <a:rPr lang="en-US" altLang="zh-CN" sz="1400">
                <a:solidFill>
                  <a:schemeClr val="tx1"/>
                </a:solidFill>
                <a:ea typeface="宋体" panose="02010600030101010101" pitchFamily="2" charset="-122"/>
              </a:rPr>
              <a:pPr/>
              <a:t>23</a:t>
            </a:fld>
            <a:endParaRPr lang="en-US" altLang="zh-CN" sz="1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295" name="Rectangle 4">
            <a:extLst>
              <a:ext uri="{FF2B5EF4-FFF2-40B4-BE49-F238E27FC236}">
                <a16:creationId xmlns:a16="http://schemas.microsoft.com/office/drawing/2014/main" id="{39302C10-E589-4B92-AAF9-E6BC7E323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76250"/>
            <a:ext cx="757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b="1">
                <a:solidFill>
                  <a:srgbClr val="FF0000"/>
                </a:solidFill>
              </a:rPr>
              <a:t>解 </a:t>
            </a:r>
            <a:r>
              <a:rPr lang="en-US" altLang="zh-CN" b="1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2296" name="Text Box 13">
            <a:extLst>
              <a:ext uri="{FF2B5EF4-FFF2-40B4-BE49-F238E27FC236}">
                <a16:creationId xmlns:a16="http://schemas.microsoft.com/office/drawing/2014/main" id="{223FB670-C8A4-4FF3-B4D6-1088DE047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924175"/>
            <a:ext cx="1079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  <a:endParaRPr lang="zh-CN" altLang="en-US" b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28015" name="Object 15">
            <a:extLst>
              <a:ext uri="{FF2B5EF4-FFF2-40B4-BE49-F238E27FC236}">
                <a16:creationId xmlns:a16="http://schemas.microsoft.com/office/drawing/2014/main" id="{74B3AF0D-3016-4A3E-9371-650110689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2349500"/>
          <a:ext cx="4032250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2" name="Equation" r:id="rId3" imgW="2171520" imgH="711000" progId="Equation.DSMT4">
                  <p:embed/>
                </p:oleObj>
              </mc:Choice>
              <mc:Fallback>
                <p:oleObj name="Equation" r:id="rId3" imgW="2171520" imgH="711000" progId="Equation.DSMT4">
                  <p:embed/>
                  <p:pic>
                    <p:nvPicPr>
                      <p:cNvPr id="128015" name="Object 15">
                        <a:extLst>
                          <a:ext uri="{FF2B5EF4-FFF2-40B4-BE49-F238E27FC236}">
                            <a16:creationId xmlns:a16="http://schemas.microsoft.com/office/drawing/2014/main" id="{74B3AF0D-3016-4A3E-9371-650110689A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349500"/>
                        <a:ext cx="4032250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 Box 16">
            <a:extLst>
              <a:ext uri="{FF2B5EF4-FFF2-40B4-BE49-F238E27FC236}">
                <a16:creationId xmlns:a16="http://schemas.microsoft.com/office/drawing/2014/main" id="{9DD971C8-7D62-40C2-87F0-A06EA79E8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981075"/>
            <a:ext cx="1079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  <a:endParaRPr lang="zh-CN" altLang="en-US" b="1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2291" name="Object 17">
            <a:extLst>
              <a:ext uri="{FF2B5EF4-FFF2-40B4-BE49-F238E27FC236}">
                <a16:creationId xmlns:a16="http://schemas.microsoft.com/office/drawing/2014/main" id="{A0322510-51B5-44CE-85B3-1EB9D332EC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620713"/>
          <a:ext cx="3878263" cy="158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" name="Equation" r:id="rId5" imgW="2514600" imgH="736560" progId="Equation.DSMT4">
                  <p:embed/>
                </p:oleObj>
              </mc:Choice>
              <mc:Fallback>
                <p:oleObj name="Equation" r:id="rId5" imgW="2514600" imgH="736560" progId="Equation.DSMT4">
                  <p:embed/>
                  <p:pic>
                    <p:nvPicPr>
                      <p:cNvPr id="12291" name="Object 17">
                        <a:extLst>
                          <a:ext uri="{FF2B5EF4-FFF2-40B4-BE49-F238E27FC236}">
                            <a16:creationId xmlns:a16="http://schemas.microsoft.com/office/drawing/2014/main" id="{A0322510-51B5-44CE-85B3-1EB9D332EC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620713"/>
                        <a:ext cx="3878263" cy="158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">
            <a:extLst>
              <a:ext uri="{FF2B5EF4-FFF2-40B4-BE49-F238E27FC236}">
                <a16:creationId xmlns:a16="http://schemas.microsoft.com/office/drawing/2014/main" id="{C22D70F3-34D1-4E2F-8372-DB952F4E3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797425"/>
            <a:ext cx="82438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求逆矩阵</a:t>
            </a:r>
            <a:r>
              <a:rPr lang="en-US" altLang="zh-CN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:  (1)</a:t>
            </a:r>
            <a:r>
              <a:rPr lang="zh-CN" altLang="en-US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初等行变换法</a:t>
            </a:r>
            <a:r>
              <a:rPr lang="en-US" altLang="zh-CN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(2)</a:t>
            </a:r>
            <a:r>
              <a:rPr lang="zh-CN" altLang="en-US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利用行列式与伴随阵的方法</a:t>
            </a:r>
            <a:r>
              <a:rPr lang="en-US" altLang="zh-CN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69" name="Rectangle 21">
            <a:extLst>
              <a:ext uri="{FF2B5EF4-FFF2-40B4-BE49-F238E27FC236}">
                <a16:creationId xmlns:a16="http://schemas.microsoft.com/office/drawing/2014/main" id="{4770B915-F182-47F9-8398-BE0E3EC02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88938"/>
            <a:ext cx="89535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练习</a:t>
            </a:r>
          </a:p>
        </p:txBody>
      </p:sp>
      <p:sp>
        <p:nvSpPr>
          <p:cNvPr id="13321" name="Text Box 33">
            <a:extLst>
              <a:ext uri="{FF2B5EF4-FFF2-40B4-BE49-F238E27FC236}">
                <a16:creationId xmlns:a16="http://schemas.microsoft.com/office/drawing/2014/main" id="{0C081585-C672-420C-B84A-E95EDA3A7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048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/>
              <a:t>求以下矩阵的逆矩阵</a:t>
            </a:r>
          </a:p>
        </p:txBody>
      </p:sp>
      <p:graphicFrame>
        <p:nvGraphicFramePr>
          <p:cNvPr id="13314" name="Object 34">
            <a:extLst>
              <a:ext uri="{FF2B5EF4-FFF2-40B4-BE49-F238E27FC236}">
                <a16:creationId xmlns:a16="http://schemas.microsoft.com/office/drawing/2014/main" id="{95BCC89F-AC79-4D2A-A66B-8D15E0FE6877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4572000" y="0"/>
          <a:ext cx="2376488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8" name="Equation" r:id="rId3" imgW="876240" imgH="711000" progId="Equation.DSMT4">
                  <p:embed/>
                </p:oleObj>
              </mc:Choice>
              <mc:Fallback>
                <p:oleObj name="Equation" r:id="rId3" imgW="876240" imgH="711000" progId="Equation.DSMT4">
                  <p:embed/>
                  <p:pic>
                    <p:nvPicPr>
                      <p:cNvPr id="13314" name="Object 34">
                        <a:extLst>
                          <a:ext uri="{FF2B5EF4-FFF2-40B4-BE49-F238E27FC236}">
                            <a16:creationId xmlns:a16="http://schemas.microsoft.com/office/drawing/2014/main" id="{95BCC89F-AC79-4D2A-A66B-8D15E0FE68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0"/>
                        <a:ext cx="2376488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84" name="Rectangle 36">
            <a:extLst>
              <a:ext uri="{FF2B5EF4-FFF2-40B4-BE49-F238E27FC236}">
                <a16:creationId xmlns:a16="http://schemas.microsoft.com/office/drawing/2014/main" id="{08BF94BA-68CB-40BA-BA26-E49007BC8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73263"/>
            <a:ext cx="658813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解</a:t>
            </a:r>
            <a:r>
              <a:rPr lang="en-US" altLang="zh-CN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</p:txBody>
      </p:sp>
      <p:graphicFrame>
        <p:nvGraphicFramePr>
          <p:cNvPr id="104485" name="Object 37">
            <a:extLst>
              <a:ext uri="{FF2B5EF4-FFF2-40B4-BE49-F238E27FC236}">
                <a16:creationId xmlns:a16="http://schemas.microsoft.com/office/drawing/2014/main" id="{7C1C25E4-1CDD-402E-9693-1A96C10125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79513" y="1981200"/>
          <a:ext cx="41846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" name="Equation" r:id="rId5" imgW="1638000" imgH="228600" progId="Equation.DSMT4">
                  <p:embed/>
                </p:oleObj>
              </mc:Choice>
              <mc:Fallback>
                <p:oleObj name="Equation" r:id="rId5" imgW="1638000" imgH="228600" progId="Equation.DSMT4">
                  <p:embed/>
                  <p:pic>
                    <p:nvPicPr>
                      <p:cNvPr id="104485" name="Object 37">
                        <a:extLst>
                          <a:ext uri="{FF2B5EF4-FFF2-40B4-BE49-F238E27FC236}">
                            <a16:creationId xmlns:a16="http://schemas.microsoft.com/office/drawing/2014/main" id="{7C1C25E4-1CDD-402E-9693-1A96C10125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513" y="1981200"/>
                        <a:ext cx="418465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86" name="Object 38">
            <a:extLst>
              <a:ext uri="{FF2B5EF4-FFF2-40B4-BE49-F238E27FC236}">
                <a16:creationId xmlns:a16="http://schemas.microsoft.com/office/drawing/2014/main" id="{DA2499DC-ABFC-42AE-BD9A-DC9216E072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709863"/>
          <a:ext cx="1458912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0" name="Equation" r:id="rId7" imgW="660240" imgH="685800" progId="Equation.DSMT4">
                  <p:embed/>
                </p:oleObj>
              </mc:Choice>
              <mc:Fallback>
                <p:oleObj name="Equation" r:id="rId7" imgW="660240" imgH="685800" progId="Equation.DSMT4">
                  <p:embed/>
                  <p:pic>
                    <p:nvPicPr>
                      <p:cNvPr id="104486" name="Object 38">
                        <a:extLst>
                          <a:ext uri="{FF2B5EF4-FFF2-40B4-BE49-F238E27FC236}">
                            <a16:creationId xmlns:a16="http://schemas.microsoft.com/office/drawing/2014/main" id="{DA2499DC-ABFC-42AE-BD9A-DC9216E072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709863"/>
                        <a:ext cx="1458912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89" name="Object 41">
            <a:extLst>
              <a:ext uri="{FF2B5EF4-FFF2-40B4-BE49-F238E27FC236}">
                <a16:creationId xmlns:a16="http://schemas.microsoft.com/office/drawing/2014/main" id="{F743F7F1-4F87-4C07-9321-72FB0E2AA5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2708275"/>
          <a:ext cx="1262063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name="Equation" r:id="rId9" imgW="571320" imgH="685800" progId="Equation.DSMT4">
                  <p:embed/>
                </p:oleObj>
              </mc:Choice>
              <mc:Fallback>
                <p:oleObj name="Equation" r:id="rId9" imgW="571320" imgH="685800" progId="Equation.DSMT4">
                  <p:embed/>
                  <p:pic>
                    <p:nvPicPr>
                      <p:cNvPr id="104489" name="Object 41">
                        <a:extLst>
                          <a:ext uri="{FF2B5EF4-FFF2-40B4-BE49-F238E27FC236}">
                            <a16:creationId xmlns:a16="http://schemas.microsoft.com/office/drawing/2014/main" id="{F743F7F1-4F87-4C07-9321-72FB0E2AA5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708275"/>
                        <a:ext cx="1262063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90" name="Object 42">
            <a:extLst>
              <a:ext uri="{FF2B5EF4-FFF2-40B4-BE49-F238E27FC236}">
                <a16:creationId xmlns:a16="http://schemas.microsoft.com/office/drawing/2014/main" id="{FE0B2275-A6AA-4388-A4B5-F372AEF425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2695575"/>
          <a:ext cx="1290637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name="Equation" r:id="rId11" imgW="583920" imgH="685800" progId="Equation.DSMT4">
                  <p:embed/>
                </p:oleObj>
              </mc:Choice>
              <mc:Fallback>
                <p:oleObj name="Equation" r:id="rId11" imgW="583920" imgH="685800" progId="Equation.DSMT4">
                  <p:embed/>
                  <p:pic>
                    <p:nvPicPr>
                      <p:cNvPr id="104490" name="Object 42">
                        <a:extLst>
                          <a:ext uri="{FF2B5EF4-FFF2-40B4-BE49-F238E27FC236}">
                            <a16:creationId xmlns:a16="http://schemas.microsoft.com/office/drawing/2014/main" id="{FE0B2275-A6AA-4388-A4B5-F372AEF425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2695575"/>
                        <a:ext cx="1290637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92" name="Object 44">
            <a:extLst>
              <a:ext uri="{FF2B5EF4-FFF2-40B4-BE49-F238E27FC236}">
                <a16:creationId xmlns:a16="http://schemas.microsoft.com/office/drawing/2014/main" id="{4931C7A1-E5AF-496F-B578-E6ED8EECCC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5838" y="4422775"/>
          <a:ext cx="4292600" cy="195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3" name="Equation" r:id="rId13" imgW="1942920" imgH="888840" progId="Equation.DSMT4">
                  <p:embed/>
                </p:oleObj>
              </mc:Choice>
              <mc:Fallback>
                <p:oleObj name="Equation" r:id="rId13" imgW="1942920" imgH="888840" progId="Equation.DSMT4">
                  <p:embed/>
                  <p:pic>
                    <p:nvPicPr>
                      <p:cNvPr id="104492" name="Object 44">
                        <a:extLst>
                          <a:ext uri="{FF2B5EF4-FFF2-40B4-BE49-F238E27FC236}">
                            <a16:creationId xmlns:a16="http://schemas.microsoft.com/office/drawing/2014/main" id="{4931C7A1-E5AF-496F-B578-E6ED8EECCC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4422775"/>
                        <a:ext cx="4292600" cy="195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4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4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4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4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8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>
            <a:extLst>
              <a:ext uri="{FF2B5EF4-FFF2-40B4-BE49-F238E27FC236}">
                <a16:creationId xmlns:a16="http://schemas.microsoft.com/office/drawing/2014/main" id="{C9F9206F-D211-4A50-BBB9-2BFF9A66DD3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1F22325-E77B-4B58-B942-F25D4C0C07F6}" type="datetime3">
              <a:rPr lang="zh-CN" altLang="en-US"/>
              <a:pPr>
                <a:defRPr/>
              </a:pPr>
              <a:t>2025年2月28日星期五</a:t>
            </a:fld>
            <a:endParaRPr lang="en-US" altLang="zh-CN"/>
          </a:p>
        </p:txBody>
      </p:sp>
      <p:sp>
        <p:nvSpPr>
          <p:cNvPr id="7" name="页脚占位符 2">
            <a:extLst>
              <a:ext uri="{FF2B5EF4-FFF2-40B4-BE49-F238E27FC236}">
                <a16:creationId xmlns:a16="http://schemas.microsoft.com/office/drawing/2014/main" id="{1EEB065A-D580-4E95-A16A-0CD4A04A2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(共17页)</a:t>
            </a:r>
          </a:p>
        </p:txBody>
      </p:sp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E81A0987-DECF-4681-91D6-A19AA18E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fld id="{1E32E40D-F278-4EFD-90F7-19B13DB3ACCD}" type="slidenum">
              <a:rPr lang="en-US" altLang="zh-CN" sz="1400">
                <a:solidFill>
                  <a:schemeClr val="tx1"/>
                </a:solidFill>
                <a:ea typeface="宋体" panose="02010600030101010101" pitchFamily="2" charset="-122"/>
              </a:rPr>
              <a:pPr/>
              <a:t>25</a:t>
            </a:fld>
            <a:endParaRPr lang="en-US" altLang="zh-CN" sz="1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9815" name="Rectangle 7">
            <a:extLst>
              <a:ext uri="{FF2B5EF4-FFF2-40B4-BE49-F238E27FC236}">
                <a16:creationId xmlns:a16="http://schemas.microsoft.com/office/drawing/2014/main" id="{259A2318-65EE-480E-BD3C-472F316A1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33375"/>
            <a:ext cx="1152525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练习</a:t>
            </a:r>
          </a:p>
        </p:txBody>
      </p:sp>
      <p:graphicFrame>
        <p:nvGraphicFramePr>
          <p:cNvPr id="14338" name="Object 8">
            <a:extLst>
              <a:ext uri="{FF2B5EF4-FFF2-40B4-BE49-F238E27FC236}">
                <a16:creationId xmlns:a16="http://schemas.microsoft.com/office/drawing/2014/main" id="{12C2A353-D554-4AE2-A905-1AE227EFFA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260350"/>
          <a:ext cx="5940425" cy="208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Equation" r:id="rId3" imgW="2755800" imgH="965160" progId="Equation.DSMT4">
                  <p:embed/>
                </p:oleObj>
              </mc:Choice>
              <mc:Fallback>
                <p:oleObj name="Equation" r:id="rId3" imgW="2755800" imgH="965160" progId="Equation.DSMT4">
                  <p:embed/>
                  <p:pic>
                    <p:nvPicPr>
                      <p:cNvPr id="14338" name="Object 8">
                        <a:extLst>
                          <a:ext uri="{FF2B5EF4-FFF2-40B4-BE49-F238E27FC236}">
                            <a16:creationId xmlns:a16="http://schemas.microsoft.com/office/drawing/2014/main" id="{12C2A353-D554-4AE2-A905-1AE227EFFA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60350"/>
                        <a:ext cx="5940425" cy="208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7" name="Text Box 9">
            <a:extLst>
              <a:ext uri="{FF2B5EF4-FFF2-40B4-BE49-F238E27FC236}">
                <a16:creationId xmlns:a16="http://schemas.microsoft.com/office/drawing/2014/main" id="{D068505D-2B15-4044-925E-F66B8DBEE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9513" y="2565400"/>
            <a:ext cx="411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b="1">
                <a:ea typeface="楷体_GB2312" pitchFamily="49" charset="-122"/>
              </a:rPr>
              <a:t>解：由对角矩阵的性质知</a:t>
            </a:r>
          </a:p>
        </p:txBody>
      </p:sp>
      <p:graphicFrame>
        <p:nvGraphicFramePr>
          <p:cNvPr id="119818" name="Object 10">
            <a:extLst>
              <a:ext uri="{FF2B5EF4-FFF2-40B4-BE49-F238E27FC236}">
                <a16:creationId xmlns:a16="http://schemas.microsoft.com/office/drawing/2014/main" id="{629BE309-4640-4442-9D30-73A95DEB63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2997200"/>
          <a:ext cx="5475287" cy="298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Equation" r:id="rId5" imgW="2882880" imgH="1574640" progId="Equation.DSMT4">
                  <p:embed/>
                </p:oleObj>
              </mc:Choice>
              <mc:Fallback>
                <p:oleObj name="Equation" r:id="rId5" imgW="2882880" imgH="1574640" progId="Equation.DSMT4">
                  <p:embed/>
                  <p:pic>
                    <p:nvPicPr>
                      <p:cNvPr id="119818" name="Object 10">
                        <a:extLst>
                          <a:ext uri="{FF2B5EF4-FFF2-40B4-BE49-F238E27FC236}">
                            <a16:creationId xmlns:a16="http://schemas.microsoft.com/office/drawing/2014/main" id="{629BE309-4640-4442-9D30-73A95DEB63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997200"/>
                        <a:ext cx="5475287" cy="298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60" y="18864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/>
              <a:t>四、可逆矩阵的求法</a:t>
            </a:r>
            <a:r>
              <a:rPr lang="en-US" altLang="zh-CN" sz="3600" dirty="0"/>
              <a:t>(2)</a:t>
            </a:r>
            <a:endParaRPr lang="zh-CN" altLang="en-US" sz="3600" dirty="0"/>
          </a:p>
        </p:txBody>
      </p:sp>
      <p:sp>
        <p:nvSpPr>
          <p:cNvPr id="15" name="矩形 14"/>
          <p:cNvSpPr/>
          <p:nvPr/>
        </p:nvSpPr>
        <p:spPr>
          <a:xfrm>
            <a:off x="611560" y="1336662"/>
            <a:ext cx="78975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定理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2.15.1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可逆矩阵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经过有限次的初等</a:t>
            </a:r>
            <a:r>
              <a:rPr lang="zh-CN" altLang="en-US" sz="2400" dirty="0">
                <a:solidFill>
                  <a:srgbClr val="0000FF"/>
                </a:solidFill>
                <a:latin typeface="+mn-ea"/>
              </a:rPr>
              <a:t>行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变换可化为</a:t>
            </a:r>
            <a:endParaRPr lang="zh-CN" altLang="en-US" dirty="0">
              <a:latin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11560" y="1914345"/>
            <a:ext cx="17748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单位矩阵 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.</a:t>
            </a: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698763" y="2636912"/>
            <a:ext cx="800219" cy="461665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注：</a:t>
            </a:r>
          </a:p>
        </p:txBody>
      </p:sp>
      <p:sp>
        <p:nvSpPr>
          <p:cNvPr id="20" name="矩形 19"/>
          <p:cNvSpPr/>
          <p:nvPr/>
        </p:nvSpPr>
        <p:spPr>
          <a:xfrm>
            <a:off x="1678519" y="2664986"/>
            <a:ext cx="66479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由于对矩阵实施一次初等行变换，等于用相应的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640061" y="3248669"/>
            <a:ext cx="78277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初等矩阵左乘该矩阵，故定理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2.15.1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表明，存在初等矩阵</a:t>
            </a:r>
            <a:endParaRPr lang="zh-CN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600801"/>
              </p:ext>
            </p:extLst>
          </p:nvPr>
        </p:nvGraphicFramePr>
        <p:xfrm>
          <a:off x="688752" y="3878758"/>
          <a:ext cx="165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5" name="Equation" r:id="rId3" imgW="1650960" imgH="393480" progId="Equation.DSMT4">
                  <p:embed/>
                </p:oleObj>
              </mc:Choice>
              <mc:Fallback>
                <p:oleObj name="Equation" r:id="rId3" imgW="1650960" imgH="39348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8752" y="3878758"/>
                        <a:ext cx="16510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/>
          <p:cNvSpPr/>
          <p:nvPr/>
        </p:nvSpPr>
        <p:spPr>
          <a:xfrm>
            <a:off x="2314108" y="383143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使得</a:t>
            </a:r>
            <a:endParaRPr lang="zh-CN" altLang="en-US" dirty="0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437827"/>
              </p:ext>
            </p:extLst>
          </p:nvPr>
        </p:nvGraphicFramePr>
        <p:xfrm>
          <a:off x="2530375" y="4437112"/>
          <a:ext cx="1219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6" name="Equation" r:id="rId5" imgW="1218960" imgH="393480" progId="Equation.DSMT4">
                  <p:embed/>
                </p:oleObj>
              </mc:Choice>
              <mc:Fallback>
                <p:oleObj name="Equation" r:id="rId5" imgW="1218960" imgH="393480" progId="Equation.DSMT4">
                  <p:embed/>
                  <p:pic>
                    <p:nvPicPr>
                      <p:cNvPr id="23" name="对象 2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30375" y="4437112"/>
                        <a:ext cx="12192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299180"/>
              </p:ext>
            </p:extLst>
          </p:nvPr>
        </p:nvGraphicFramePr>
        <p:xfrm>
          <a:off x="3750166" y="4494262"/>
          <a:ext cx="254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7" name="Equation" r:id="rId7" imgW="253800" imgH="279360" progId="Equation.DSMT4">
                  <p:embed/>
                </p:oleObj>
              </mc:Choice>
              <mc:Fallback>
                <p:oleObj name="Equation" r:id="rId7" imgW="253800" imgH="27936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50166" y="4494262"/>
                        <a:ext cx="2540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6032721"/>
              </p:ext>
            </p:extLst>
          </p:nvPr>
        </p:nvGraphicFramePr>
        <p:xfrm>
          <a:off x="4093592" y="4479129"/>
          <a:ext cx="406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8" name="Equation" r:id="rId9" imgW="406080" imgH="279360" progId="Equation.DSMT4">
                  <p:embed/>
                </p:oleObj>
              </mc:Choice>
              <mc:Fallback>
                <p:oleObj name="Equation" r:id="rId9" imgW="406080" imgH="27936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93592" y="4479129"/>
                        <a:ext cx="4064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/>
          <p:cNvSpPr/>
          <p:nvPr/>
        </p:nvSpPr>
        <p:spPr>
          <a:xfrm>
            <a:off x="675327" y="501317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从而</a:t>
            </a: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974705"/>
              </p:ext>
            </p:extLst>
          </p:nvPr>
        </p:nvGraphicFramePr>
        <p:xfrm>
          <a:off x="1475546" y="5066208"/>
          <a:ext cx="45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9" name="Equation" r:id="rId11" imgW="457200" imgH="355320" progId="Equation.DSMT4">
                  <p:embed/>
                </p:oleObj>
              </mc:Choice>
              <mc:Fallback>
                <p:oleObj name="Equation" r:id="rId11" imgW="457200" imgH="355320" progId="Equation.DSMT4">
                  <p:embed/>
                  <p:pic>
                    <p:nvPicPr>
                      <p:cNvPr id="27" name="对象 2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75546" y="5066208"/>
                        <a:ext cx="457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003254"/>
              </p:ext>
            </p:extLst>
          </p:nvPr>
        </p:nvGraphicFramePr>
        <p:xfrm>
          <a:off x="1933575" y="5098480"/>
          <a:ext cx="156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0" name="Equation" r:id="rId13" imgW="1562040" imgH="393480" progId="Equation.DSMT4">
                  <p:embed/>
                </p:oleObj>
              </mc:Choice>
              <mc:Fallback>
                <p:oleObj name="Equation" r:id="rId13" imgW="1562040" imgH="39348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33575" y="5098480"/>
                        <a:ext cx="1562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3553594" y="5064497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即</a:t>
            </a: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726798"/>
              </p:ext>
            </p:extLst>
          </p:nvPr>
        </p:nvGraphicFramePr>
        <p:xfrm>
          <a:off x="2606860" y="5758520"/>
          <a:ext cx="1485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1" name="Equation" r:id="rId15" imgW="1485720" imgH="444240" progId="Equation.DSMT4">
                  <p:embed/>
                </p:oleObj>
              </mc:Choice>
              <mc:Fallback>
                <p:oleObj name="Equation" r:id="rId15" imgW="1485720" imgH="444240" progId="Equation.DSMT4">
                  <p:embed/>
                  <p:pic>
                    <p:nvPicPr>
                      <p:cNvPr id="31" name="对象 3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06860" y="5758520"/>
                        <a:ext cx="14859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125103"/>
              </p:ext>
            </p:extLst>
          </p:nvPr>
        </p:nvGraphicFramePr>
        <p:xfrm>
          <a:off x="4118990" y="5767164"/>
          <a:ext cx="889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2" name="Equation" r:id="rId17" imgW="888840" imgH="444240" progId="Equation.DSMT4">
                  <p:embed/>
                </p:oleObj>
              </mc:Choice>
              <mc:Fallback>
                <p:oleObj name="Equation" r:id="rId17" imgW="888840" imgH="444240" progId="Equation.DSMT4">
                  <p:embed/>
                  <p:pic>
                    <p:nvPicPr>
                      <p:cNvPr id="33" name="对象 3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118990" y="5767164"/>
                        <a:ext cx="8890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795741"/>
              </p:ext>
            </p:extLst>
          </p:nvPr>
        </p:nvGraphicFramePr>
        <p:xfrm>
          <a:off x="5034220" y="5795293"/>
          <a:ext cx="698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3" name="Equation" r:id="rId19" imgW="698400" imgH="368280" progId="Equation.DSMT4">
                  <p:embed/>
                </p:oleObj>
              </mc:Choice>
              <mc:Fallback>
                <p:oleObj name="Equation" r:id="rId19" imgW="698400" imgH="368280" progId="Equation.DSMT4">
                  <p:embed/>
                  <p:pic>
                    <p:nvPicPr>
                      <p:cNvPr id="34" name="对象 3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34220" y="5795293"/>
                        <a:ext cx="6985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直角三角形 2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直角三角形 23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14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 animBg="1"/>
      <p:bldP spid="20" grpId="0"/>
      <p:bldP spid="22" grpId="0"/>
      <p:bldP spid="25" grpId="0"/>
      <p:bldP spid="29" grpId="0"/>
      <p:bldP spid="3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下箭头标注 8"/>
          <p:cNvSpPr/>
          <p:nvPr/>
        </p:nvSpPr>
        <p:spPr>
          <a:xfrm>
            <a:off x="1907704" y="366304"/>
            <a:ext cx="3168352" cy="2016224"/>
          </a:xfrm>
          <a:prstGeom prst="downArrowCallout">
            <a:avLst>
              <a:gd name="adj1" fmla="val 16722"/>
              <a:gd name="adj2" fmla="val 25000"/>
              <a:gd name="adj3" fmla="val 25000"/>
              <a:gd name="adj4" fmla="val 64977"/>
            </a:avLst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2679075"/>
              </p:ext>
            </p:extLst>
          </p:nvPr>
        </p:nvGraphicFramePr>
        <p:xfrm>
          <a:off x="2338214" y="438312"/>
          <a:ext cx="2019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Equation" r:id="rId3" imgW="2019240" imgH="444240" progId="Equation.DSMT4">
                  <p:embed/>
                </p:oleObj>
              </mc:Choice>
              <mc:Fallback>
                <p:oleObj name="Equation" r:id="rId3" imgW="2019240" imgH="444240" progId="Equation.DSMT4">
                  <p:embed/>
                  <p:pic>
                    <p:nvPicPr>
                      <p:cNvPr id="26" name="对象 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8214" y="438312"/>
                        <a:ext cx="20193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924494"/>
              </p:ext>
            </p:extLst>
          </p:nvPr>
        </p:nvGraphicFramePr>
        <p:xfrm>
          <a:off x="2338214" y="1086384"/>
          <a:ext cx="2425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4" name="Equation" r:id="rId5" imgW="2425680" imgH="444240" progId="Equation.DSMT4">
                  <p:embed/>
                </p:oleObj>
              </mc:Choice>
              <mc:Fallback>
                <p:oleObj name="Equation" r:id="rId5" imgW="2425680" imgH="444240" progId="Equation.DSMT4">
                  <p:embed/>
                  <p:pic>
                    <p:nvPicPr>
                      <p:cNvPr id="33" name="对象 3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38214" y="1086384"/>
                        <a:ext cx="24257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539552" y="2433279"/>
            <a:ext cx="75769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这两个等式表明，对矩阵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与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施行相同的初等变换，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539552" y="3051734"/>
            <a:ext cx="72387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当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化为单位矩阵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时，单位矩阵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相应地化为      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</a:rPr>
              <a:t>.</a:t>
            </a:r>
            <a:endParaRPr lang="zh-CN" altLang="en-US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272202"/>
              </p:ext>
            </p:extLst>
          </p:nvPr>
        </p:nvGraphicFramePr>
        <p:xfrm>
          <a:off x="7020272" y="3077092"/>
          <a:ext cx="45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5" name="Equation" r:id="rId7" imgW="457200" imgH="355320" progId="Equation.DSMT4">
                  <p:embed/>
                </p:oleObj>
              </mc:Choice>
              <mc:Fallback>
                <p:oleObj name="Equation" r:id="rId7" imgW="457200" imgH="35532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20272" y="3077092"/>
                        <a:ext cx="457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637349" y="3783940"/>
            <a:ext cx="7043118" cy="796800"/>
            <a:chOff x="574798" y="3873501"/>
            <a:chExt cx="7043118" cy="796800"/>
          </a:xfrm>
        </p:grpSpPr>
        <p:sp>
          <p:nvSpPr>
            <p:cNvPr id="14" name="横卷形 13"/>
            <p:cNvSpPr/>
            <p:nvPr/>
          </p:nvSpPr>
          <p:spPr>
            <a:xfrm>
              <a:off x="574798" y="3873501"/>
              <a:ext cx="4986405" cy="796800"/>
            </a:xfrm>
            <a:prstGeom prst="horizontalScroll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ext Box 27"/>
            <p:cNvSpPr txBox="1">
              <a:spLocks noChangeArrowheads="1"/>
            </p:cNvSpPr>
            <p:nvPr/>
          </p:nvSpPr>
          <p:spPr bwMode="auto">
            <a:xfrm>
              <a:off x="902791" y="4042865"/>
              <a:ext cx="6715125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  <a:cs typeface="+mn-cs"/>
                </a:rPr>
                <a:t>利用矩阵的行初等变换求逆矩阵</a:t>
              </a:r>
            </a:p>
          </p:txBody>
        </p:sp>
      </p:grpSp>
      <p:graphicFrame>
        <p:nvGraphicFramePr>
          <p:cNvPr id="18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610978"/>
              </p:ext>
            </p:extLst>
          </p:nvPr>
        </p:nvGraphicFramePr>
        <p:xfrm>
          <a:off x="1763688" y="5498022"/>
          <a:ext cx="1048104" cy="427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6" name="Equation" r:id="rId9" imgW="838080" imgH="342720" progId="Equation.DSMT4">
                  <p:embed/>
                </p:oleObj>
              </mc:Choice>
              <mc:Fallback>
                <p:oleObj name="Equation" r:id="rId9" imgW="838080" imgH="342720" progId="Equation.DSMT4">
                  <p:embed/>
                  <p:pic>
                    <p:nvPicPr>
                      <p:cNvPr id="3075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5498022"/>
                        <a:ext cx="1048104" cy="4279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825629"/>
              </p:ext>
            </p:extLst>
          </p:nvPr>
        </p:nvGraphicFramePr>
        <p:xfrm>
          <a:off x="4387919" y="5484172"/>
          <a:ext cx="1270444" cy="465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7" name="公式" r:id="rId11" imgW="1041120" imgH="380880" progId="Equation.3">
                  <p:embed/>
                </p:oleObj>
              </mc:Choice>
              <mc:Fallback>
                <p:oleObj name="公式" r:id="rId11" imgW="1041120" imgH="380880" progId="Equation.3">
                  <p:embed/>
                  <p:pic>
                    <p:nvPicPr>
                      <p:cNvPr id="3075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919" y="5484172"/>
                        <a:ext cx="1270444" cy="465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303761" y="4661447"/>
            <a:ext cx="8300687" cy="894733"/>
            <a:chOff x="303761" y="4661447"/>
            <a:chExt cx="8300687" cy="894733"/>
          </a:xfrm>
        </p:grpSpPr>
        <p:sp>
          <p:nvSpPr>
            <p:cNvPr id="16" name="Text Box 21"/>
            <p:cNvSpPr txBox="1">
              <a:spLocks noChangeArrowheads="1"/>
            </p:cNvSpPr>
            <p:nvPr/>
          </p:nvSpPr>
          <p:spPr bwMode="auto">
            <a:xfrm>
              <a:off x="303761" y="4661447"/>
              <a:ext cx="8022879" cy="8947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lv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+mn-cs"/>
                </a:rPr>
                <a:t>将矩阵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（</a:t>
              </a: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┆</a:t>
              </a: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）</a:t>
              </a:r>
              <a:r>
                <a:rPr lang="zh-CN" altLang="en-US" sz="2400" dirty="0">
                  <a:solidFill>
                    <a:srgbClr val="000000"/>
                  </a:solidFill>
                  <a:latin typeface="微软雅黑" panose="020B0503020204020204" pitchFamily="34" charset="-122"/>
                </a:rPr>
                <a:t>作行初等变换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+mn-cs"/>
                </a:rPr>
                <a:t>当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+mn-cs"/>
                </a:rPr>
                <a:t>化为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+mn-cs"/>
                </a:rPr>
                <a:t>时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 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+mn-cs"/>
                </a:rPr>
                <a:t>则化为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7310766"/>
                </p:ext>
              </p:extLst>
            </p:nvPr>
          </p:nvGraphicFramePr>
          <p:xfrm>
            <a:off x="8147248" y="4742673"/>
            <a:ext cx="457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28" name="Equation" r:id="rId13" imgW="457200" imgH="355320" progId="Equation.DSMT4">
                    <p:embed/>
                  </p:oleObj>
                </mc:Choice>
                <mc:Fallback>
                  <p:oleObj name="Equation" r:id="rId13" imgW="457200" imgH="355320" progId="Equation.DSMT4">
                    <p:embed/>
                    <p:pic>
                      <p:nvPicPr>
                        <p:cNvPr id="12" name="对象 1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147248" y="4742673"/>
                          <a:ext cx="457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矩形 21"/>
          <p:cNvSpPr/>
          <p:nvPr/>
        </p:nvSpPr>
        <p:spPr>
          <a:xfrm>
            <a:off x="2843808" y="5326652"/>
            <a:ext cx="20521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行初等变换           </a:t>
            </a: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733486"/>
              </p:ext>
            </p:extLst>
          </p:nvPr>
        </p:nvGraphicFramePr>
        <p:xfrm>
          <a:off x="2905625" y="5647963"/>
          <a:ext cx="1422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9" name="Equation" r:id="rId14" imgW="1422360" imgH="228600" progId="Equation.DSMT4">
                  <p:embed/>
                </p:oleObj>
              </mc:Choice>
              <mc:Fallback>
                <p:oleObj name="Equation" r:id="rId14" imgW="1422360" imgH="228600" progId="Equation.DSMT4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905625" y="5647963"/>
                        <a:ext cx="1422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直角三角形 2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直角三角形 2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856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5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83568" y="476672"/>
            <a:ext cx="8351837" cy="1435100"/>
            <a:chOff x="467544" y="265708"/>
            <a:chExt cx="8351837" cy="1435100"/>
          </a:xfrm>
        </p:grpSpPr>
        <p:sp>
          <p:nvSpPr>
            <p:cNvPr id="4" name="Text Box 2"/>
            <p:cNvSpPr txBox="1">
              <a:spLocks noChangeArrowheads="1"/>
            </p:cNvSpPr>
            <p:nvPr/>
          </p:nvSpPr>
          <p:spPr bwMode="auto">
            <a:xfrm>
              <a:off x="467544" y="692696"/>
              <a:ext cx="83518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dirty="0">
                  <a:latin typeface="+mn-ea"/>
                  <a:ea typeface="+mn-ea"/>
                </a:rPr>
                <a:t>例</a:t>
              </a:r>
              <a:r>
                <a:rPr lang="en-US" altLang="zh-CN" sz="2400" dirty="0">
                  <a:latin typeface="+mn-ea"/>
                  <a:ea typeface="+mn-ea"/>
                </a:rPr>
                <a:t>5</a:t>
              </a:r>
              <a:r>
                <a:rPr kumimoji="1" lang="en-US" altLang="zh-CN" sz="2400" dirty="0">
                  <a:solidFill>
                    <a:srgbClr val="0000FF"/>
                  </a:solidFill>
                  <a:latin typeface="+mn-ea"/>
                  <a:ea typeface="+mn-ea"/>
                </a:rPr>
                <a:t>   </a:t>
              </a:r>
              <a:r>
                <a:rPr kumimoji="1" lang="zh-CN" altLang="en-US" sz="2400" b="0" dirty="0">
                  <a:latin typeface="+mn-ea"/>
                  <a:ea typeface="+mn-ea"/>
                </a:rPr>
                <a:t>设                        ，求逆矩阵       </a:t>
              </a:r>
              <a:r>
                <a:rPr kumimoji="1" lang="en-US" altLang="zh-CN" sz="2400" b="0" dirty="0">
                  <a:latin typeface="+mn-ea"/>
                  <a:ea typeface="+mn-ea"/>
                </a:rPr>
                <a:t>.</a:t>
              </a:r>
              <a:endParaRPr kumimoji="1" lang="zh-CN" altLang="en-US" sz="2400" b="0" dirty="0">
                <a:latin typeface="+mn-ea"/>
                <a:ea typeface="+mn-ea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6716077"/>
                </p:ext>
              </p:extLst>
            </p:nvPr>
          </p:nvGraphicFramePr>
          <p:xfrm>
            <a:off x="1701304" y="265708"/>
            <a:ext cx="2006600" cy="143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7" name="Equation" r:id="rId3" imgW="2006280" imgH="1434960" progId="Equation.DSMT4">
                    <p:embed/>
                  </p:oleObj>
                </mc:Choice>
                <mc:Fallback>
                  <p:oleObj name="Equation" r:id="rId3" imgW="2006280" imgH="1434960" progId="Equation.DSMT4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01304" y="265708"/>
                          <a:ext cx="2006600" cy="143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4536480"/>
                </p:ext>
              </p:extLst>
            </p:nvPr>
          </p:nvGraphicFramePr>
          <p:xfrm>
            <a:off x="5364088" y="719749"/>
            <a:ext cx="457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8" name="Equation" r:id="rId5" imgW="457200" imgH="355320" progId="Equation.DSMT4">
                    <p:embed/>
                  </p:oleObj>
                </mc:Choice>
                <mc:Fallback>
                  <p:oleObj name="Equation" r:id="rId5" imgW="457200" imgH="355320" progId="Equation.DSMT4">
                    <p:embed/>
                    <p:pic>
                      <p:nvPicPr>
                        <p:cNvPr id="12" name="对象 1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364088" y="719749"/>
                          <a:ext cx="457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683568" y="2060848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解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60923"/>
              </p:ext>
            </p:extLst>
          </p:nvPr>
        </p:nvGraphicFramePr>
        <p:xfrm>
          <a:off x="5089004" y="2866901"/>
          <a:ext cx="1752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9" name="Equation" r:id="rId7" imgW="1320480" imgH="558720" progId="Equation.DSMT4">
                  <p:embed/>
                </p:oleObj>
              </mc:Choice>
              <mc:Fallback>
                <p:oleObj name="Equation" r:id="rId7" imgW="1320480" imgH="558720" progId="Equation.DSMT4">
                  <p:embed/>
                  <p:pic>
                    <p:nvPicPr>
                      <p:cNvPr id="20276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9004" y="2866901"/>
                        <a:ext cx="17526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247079"/>
              </p:ext>
            </p:extLst>
          </p:nvPr>
        </p:nvGraphicFramePr>
        <p:xfrm>
          <a:off x="5148064" y="4699173"/>
          <a:ext cx="1558925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0" name="Equation" r:id="rId9" imgW="1218960" imgH="558720" progId="Equation.DSMT4">
                  <p:embed/>
                </p:oleObj>
              </mc:Choice>
              <mc:Fallback>
                <p:oleObj name="Equation" r:id="rId9" imgW="1218960" imgH="558720" progId="Equation.DSMT4">
                  <p:embed/>
                  <p:pic>
                    <p:nvPicPr>
                      <p:cNvPr id="17204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4699173"/>
                        <a:ext cx="1558925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1979712" y="2522513"/>
            <a:ext cx="3098800" cy="1435100"/>
            <a:chOff x="1979712" y="2522513"/>
            <a:chExt cx="3098800" cy="1435100"/>
          </a:xfrm>
        </p:grpSpPr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3324216"/>
                </p:ext>
              </p:extLst>
            </p:nvPr>
          </p:nvGraphicFramePr>
          <p:xfrm>
            <a:off x="1979712" y="2522513"/>
            <a:ext cx="3098800" cy="143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51" name="Equation" r:id="rId11" imgW="3098520" imgH="1434960" progId="Equation.DSMT4">
                    <p:embed/>
                  </p:oleObj>
                </mc:Choice>
                <mc:Fallback>
                  <p:oleObj name="Equation" r:id="rId11" imgW="3098520" imgH="1434960" progId="Equation.DSMT4">
                    <p:embed/>
                    <p:pic>
                      <p:nvPicPr>
                        <p:cNvPr id="11" name="对象 1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979712" y="2522513"/>
                          <a:ext cx="3098800" cy="143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3635896" y="2522513"/>
              <a:ext cx="0" cy="133853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27584" y="3025650"/>
            <a:ext cx="1092200" cy="393701"/>
            <a:chOff x="827584" y="3025650"/>
            <a:chExt cx="1092200" cy="393701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4663614"/>
                </p:ext>
              </p:extLst>
            </p:nvPr>
          </p:nvGraphicFramePr>
          <p:xfrm>
            <a:off x="827584" y="3025651"/>
            <a:ext cx="10922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52" name="Equation" r:id="rId13" imgW="1091880" imgH="393480" progId="Equation.DSMT4">
                    <p:embed/>
                  </p:oleObj>
                </mc:Choice>
                <mc:Fallback>
                  <p:oleObj name="Equation" r:id="rId13" imgW="1091880" imgH="393480" progId="Equation.DSMT4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27584" y="3025651"/>
                          <a:ext cx="10922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Line 10"/>
            <p:cNvSpPr>
              <a:spLocks noChangeShapeType="1"/>
            </p:cNvSpPr>
            <p:nvPr/>
          </p:nvSpPr>
          <p:spPr bwMode="auto">
            <a:xfrm>
              <a:off x="1403648" y="3025650"/>
              <a:ext cx="0" cy="39370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691680" y="4419278"/>
            <a:ext cx="3429000" cy="1435100"/>
            <a:chOff x="1691680" y="4419278"/>
            <a:chExt cx="3429000" cy="1435100"/>
          </a:xfrm>
        </p:grpSpPr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4395959"/>
                </p:ext>
              </p:extLst>
            </p:nvPr>
          </p:nvGraphicFramePr>
          <p:xfrm>
            <a:off x="1691680" y="4419278"/>
            <a:ext cx="3429000" cy="143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53" name="Equation" r:id="rId15" imgW="3429000" imgH="1434960" progId="Equation.DSMT4">
                    <p:embed/>
                  </p:oleObj>
                </mc:Choice>
                <mc:Fallback>
                  <p:oleObj name="Equation" r:id="rId15" imgW="3429000" imgH="1434960" progId="Equation.DSMT4">
                    <p:embed/>
                    <p:pic>
                      <p:nvPicPr>
                        <p:cNvPr id="11" name="对象 1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691680" y="4419278"/>
                          <a:ext cx="3429000" cy="143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Line 10"/>
            <p:cNvSpPr>
              <a:spLocks noChangeShapeType="1"/>
            </p:cNvSpPr>
            <p:nvPr/>
          </p:nvSpPr>
          <p:spPr bwMode="auto">
            <a:xfrm>
              <a:off x="3491880" y="4419278"/>
              <a:ext cx="0" cy="133853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" name="直角三角形 2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直角三角形 2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981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036645"/>
              </p:ext>
            </p:extLst>
          </p:nvPr>
        </p:nvGraphicFramePr>
        <p:xfrm>
          <a:off x="4932040" y="836712"/>
          <a:ext cx="176530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" name="Equation" r:id="rId3" imgW="1333440" imgH="571320" progId="Equation.DSMT4">
                  <p:embed/>
                </p:oleObj>
              </mc:Choice>
              <mc:Fallback>
                <p:oleObj name="Equation" r:id="rId3" imgW="1333440" imgH="571320" progId="Equation.DSMT4">
                  <p:embed/>
                  <p:pic>
                    <p:nvPicPr>
                      <p:cNvPr id="1720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836712"/>
                        <a:ext cx="1765300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445886"/>
              </p:ext>
            </p:extLst>
          </p:nvPr>
        </p:nvGraphicFramePr>
        <p:xfrm>
          <a:off x="4908550" y="2535238"/>
          <a:ext cx="179863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2" name="Equation" r:id="rId5" imgW="1358640" imgH="571320" progId="Equation.DSMT4">
                  <p:embed/>
                </p:oleObj>
              </mc:Choice>
              <mc:Fallback>
                <p:oleObj name="Equation" r:id="rId5" imgW="1358640" imgH="571320" progId="Equation.DSMT4">
                  <p:embed/>
                  <p:pic>
                    <p:nvPicPr>
                      <p:cNvPr id="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2535238"/>
                        <a:ext cx="179863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/>
          <p:cNvGrpSpPr/>
          <p:nvPr/>
        </p:nvGrpSpPr>
        <p:grpSpPr>
          <a:xfrm>
            <a:off x="1187624" y="594228"/>
            <a:ext cx="3581401" cy="1435100"/>
            <a:chOff x="1187624" y="594228"/>
            <a:chExt cx="3581401" cy="1435100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5748860"/>
                </p:ext>
              </p:extLst>
            </p:nvPr>
          </p:nvGraphicFramePr>
          <p:xfrm>
            <a:off x="1187624" y="594228"/>
            <a:ext cx="3581401" cy="143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3" name="Equation" r:id="rId7" imgW="3581280" imgH="1434960" progId="Equation.DSMT4">
                    <p:embed/>
                  </p:oleObj>
                </mc:Choice>
                <mc:Fallback>
                  <p:oleObj name="Equation" r:id="rId7" imgW="3581280" imgH="1434960" progId="Equation.DSMT4">
                    <p:embed/>
                    <p:pic>
                      <p:nvPicPr>
                        <p:cNvPr id="11" name="对象 1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87624" y="594228"/>
                          <a:ext cx="3581401" cy="143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Line 10"/>
            <p:cNvSpPr>
              <a:spLocks noChangeShapeType="1"/>
            </p:cNvSpPr>
            <p:nvPr/>
          </p:nvSpPr>
          <p:spPr bwMode="auto">
            <a:xfrm>
              <a:off x="2987824" y="594228"/>
              <a:ext cx="0" cy="133853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127274" y="2223913"/>
            <a:ext cx="3721100" cy="1435100"/>
            <a:chOff x="1187624" y="2285098"/>
            <a:chExt cx="3721100" cy="1435100"/>
          </a:xfrm>
        </p:grpSpPr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525919"/>
                </p:ext>
              </p:extLst>
            </p:nvPr>
          </p:nvGraphicFramePr>
          <p:xfrm>
            <a:off x="1187624" y="2285098"/>
            <a:ext cx="3721100" cy="143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4" name="Equation" r:id="rId9" imgW="3720960" imgH="1434960" progId="Equation.DSMT4">
                    <p:embed/>
                  </p:oleObj>
                </mc:Choice>
                <mc:Fallback>
                  <p:oleObj name="Equation" r:id="rId9" imgW="3720960" imgH="1434960" progId="Equation.DSMT4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87624" y="2285098"/>
                          <a:ext cx="3721100" cy="143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2987824" y="2346201"/>
              <a:ext cx="0" cy="1338535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127274" y="3933056"/>
            <a:ext cx="3505200" cy="1866900"/>
            <a:chOff x="1043608" y="4265126"/>
            <a:chExt cx="3505200" cy="1866900"/>
          </a:xfrm>
        </p:grpSpPr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0221990"/>
                </p:ext>
              </p:extLst>
            </p:nvPr>
          </p:nvGraphicFramePr>
          <p:xfrm>
            <a:off x="1043608" y="4265126"/>
            <a:ext cx="3505200" cy="186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5" name="Equation" r:id="rId11" imgW="3504960" imgH="1866600" progId="Equation.DSMT4">
                    <p:embed/>
                  </p:oleObj>
                </mc:Choice>
                <mc:Fallback>
                  <p:oleObj name="Equation" r:id="rId11" imgW="3504960" imgH="1866600" progId="Equation.DSMT4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43608" y="4265126"/>
                          <a:ext cx="3505200" cy="186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Line 10"/>
            <p:cNvSpPr>
              <a:spLocks noChangeShapeType="1"/>
            </p:cNvSpPr>
            <p:nvPr/>
          </p:nvSpPr>
          <p:spPr bwMode="auto">
            <a:xfrm>
              <a:off x="2555776" y="4365104"/>
              <a:ext cx="0" cy="15908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" name="Group 20"/>
          <p:cNvGrpSpPr>
            <a:grpSpLocks/>
          </p:cNvGrpSpPr>
          <p:nvPr/>
        </p:nvGrpSpPr>
        <p:grpSpPr bwMode="auto">
          <a:xfrm>
            <a:off x="2715166" y="5633293"/>
            <a:ext cx="1728787" cy="814388"/>
            <a:chOff x="2109" y="2478"/>
            <a:chExt cx="1089" cy="513"/>
          </a:xfrm>
        </p:grpSpPr>
        <p:sp>
          <p:nvSpPr>
            <p:cNvPr id="23" name="AutoShape 16"/>
            <p:cNvSpPr>
              <a:spLocks/>
            </p:cNvSpPr>
            <p:nvPr/>
          </p:nvSpPr>
          <p:spPr bwMode="auto">
            <a:xfrm rot="16200000" flipV="1">
              <a:off x="2518" y="2069"/>
              <a:ext cx="272" cy="1089"/>
            </a:xfrm>
            <a:prstGeom prst="leftBrace">
              <a:avLst>
                <a:gd name="adj1" fmla="val 33364"/>
                <a:gd name="adj2" fmla="val 52287"/>
              </a:avLst>
            </a:prstGeom>
            <a:noFill/>
            <a:ln w="28575" cap="rnd">
              <a:solidFill>
                <a:srgbClr val="0000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endParaRPr kumimoji="1" lang="zh-CN" altLang="zh-CN" b="0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17"/>
            <p:cNvSpPr>
              <a:spLocks noChangeArrowheads="1"/>
            </p:cNvSpPr>
            <p:nvPr/>
          </p:nvSpPr>
          <p:spPr bwMode="auto">
            <a:xfrm>
              <a:off x="2586" y="2758"/>
              <a:ext cx="11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endParaRPr lang="en-US" altLang="zh-CN" dirty="0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" name="Group 21"/>
          <p:cNvGrpSpPr>
            <a:grpSpLocks/>
          </p:cNvGrpSpPr>
          <p:nvPr/>
        </p:nvGrpSpPr>
        <p:grpSpPr bwMode="auto">
          <a:xfrm>
            <a:off x="1274209" y="5623927"/>
            <a:ext cx="1365233" cy="1213609"/>
            <a:chOff x="3288" y="2478"/>
            <a:chExt cx="1089" cy="762"/>
          </a:xfrm>
          <a:noFill/>
        </p:grpSpPr>
        <p:sp>
          <p:nvSpPr>
            <p:cNvPr id="26" name="AutoShape 18"/>
            <p:cNvSpPr>
              <a:spLocks/>
            </p:cNvSpPr>
            <p:nvPr/>
          </p:nvSpPr>
          <p:spPr bwMode="auto">
            <a:xfrm rot="16200000" flipV="1">
              <a:off x="3697" y="2069"/>
              <a:ext cx="272" cy="1089"/>
            </a:xfrm>
            <a:prstGeom prst="leftBrace">
              <a:avLst>
                <a:gd name="adj1" fmla="val 33364"/>
                <a:gd name="adj2" fmla="val 52287"/>
              </a:avLst>
            </a:prstGeom>
            <a:grpFill/>
            <a:ln w="28575" cap="rnd">
              <a:solidFill>
                <a:srgbClr val="FF0066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endParaRPr kumimoji="1" lang="zh-CN" altLang="zh-CN" b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19"/>
            <p:cNvSpPr>
              <a:spLocks noChangeArrowheads="1"/>
            </p:cNvSpPr>
            <p:nvPr/>
          </p:nvSpPr>
          <p:spPr bwMode="auto">
            <a:xfrm>
              <a:off x="3696" y="2741"/>
              <a:ext cx="229" cy="49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</a:p>
            <a:p>
              <a:pPr algn="ctr">
                <a:spcBef>
                  <a:spcPct val="20000"/>
                </a:spcBef>
              </a:pP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377612"/>
              </p:ext>
            </p:extLst>
          </p:nvPr>
        </p:nvGraphicFramePr>
        <p:xfrm>
          <a:off x="3407671" y="6064300"/>
          <a:ext cx="45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6" name="Equation" r:id="rId13" imgW="457200" imgH="355320" progId="Equation.DSMT4">
                  <p:embed/>
                </p:oleObj>
              </mc:Choice>
              <mc:Fallback>
                <p:oleObj name="Equation" r:id="rId13" imgW="457200" imgH="35532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07671" y="6064300"/>
                        <a:ext cx="457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602761"/>
              </p:ext>
            </p:extLst>
          </p:nvPr>
        </p:nvGraphicFramePr>
        <p:xfrm>
          <a:off x="5096749" y="3981008"/>
          <a:ext cx="32131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7" name="Equation" r:id="rId15" imgW="3213000" imgH="1866600" progId="Equation.DSMT4">
                  <p:embed/>
                </p:oleObj>
              </mc:Choice>
              <mc:Fallback>
                <p:oleObj name="Equation" r:id="rId15" imgW="3213000" imgH="18666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96749" y="3981008"/>
                        <a:ext cx="3213100" cy="186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直角三角形 2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直角三角形 3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164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02183" y="210092"/>
            <a:ext cx="8351837" cy="1435100"/>
            <a:chOff x="467544" y="265286"/>
            <a:chExt cx="8351837" cy="1435100"/>
          </a:xfrm>
        </p:grpSpPr>
        <p:sp>
          <p:nvSpPr>
            <p:cNvPr id="5" name="Text Box 2"/>
            <p:cNvSpPr txBox="1">
              <a:spLocks noChangeArrowheads="1"/>
            </p:cNvSpPr>
            <p:nvPr/>
          </p:nvSpPr>
          <p:spPr bwMode="auto">
            <a:xfrm>
              <a:off x="467544" y="692696"/>
              <a:ext cx="835183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dirty="0">
                  <a:latin typeface="+mn-ea"/>
                  <a:ea typeface="+mn-ea"/>
                </a:rPr>
                <a:t>例</a:t>
              </a:r>
              <a:r>
                <a:rPr lang="en-US" altLang="zh-CN" sz="2400" dirty="0">
                  <a:latin typeface="+mn-ea"/>
                  <a:ea typeface="+mn-ea"/>
                </a:rPr>
                <a:t>6</a:t>
              </a:r>
              <a:r>
                <a:rPr kumimoji="1" lang="en-US" altLang="zh-CN" sz="2400" dirty="0">
                  <a:solidFill>
                    <a:srgbClr val="0000FF"/>
                  </a:solidFill>
                  <a:latin typeface="+mn-ea"/>
                  <a:ea typeface="+mn-ea"/>
                </a:rPr>
                <a:t>   </a:t>
              </a:r>
              <a:r>
                <a:rPr kumimoji="1" lang="zh-CN" altLang="en-US" sz="2400" b="0" dirty="0">
                  <a:latin typeface="+mn-ea"/>
                  <a:ea typeface="+mn-ea"/>
                </a:rPr>
                <a:t>设                            ， 求逆矩阵       </a:t>
              </a:r>
              <a:r>
                <a:rPr kumimoji="1" lang="en-US" altLang="zh-CN" sz="2400" b="0" dirty="0">
                  <a:latin typeface="+mn-ea"/>
                  <a:ea typeface="+mn-ea"/>
                </a:rPr>
                <a:t>.</a:t>
              </a:r>
              <a:endParaRPr kumimoji="1" lang="zh-CN" altLang="en-US" sz="2400" b="0" dirty="0">
                <a:latin typeface="+mn-ea"/>
                <a:ea typeface="+mn-ea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9205900"/>
                </p:ext>
              </p:extLst>
            </p:nvPr>
          </p:nvGraphicFramePr>
          <p:xfrm>
            <a:off x="1655093" y="265286"/>
            <a:ext cx="2540000" cy="143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16" name="Equation" r:id="rId3" imgW="2539800" imgH="1434960" progId="Equation.DSMT4">
                    <p:embed/>
                  </p:oleObj>
                </mc:Choice>
                <mc:Fallback>
                  <p:oleObj name="Equation" r:id="rId3" imgW="2539800" imgH="1434960" progId="Equation.DSMT4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55093" y="265286"/>
                          <a:ext cx="2540000" cy="143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3928338"/>
                </p:ext>
              </p:extLst>
            </p:nvPr>
          </p:nvGraphicFramePr>
          <p:xfrm>
            <a:off x="5831557" y="752330"/>
            <a:ext cx="457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17" name="Equation" r:id="rId5" imgW="457200" imgH="355320" progId="Equation.DSMT4">
                    <p:embed/>
                  </p:oleObj>
                </mc:Choice>
                <mc:Fallback>
                  <p:oleObj name="Equation" r:id="rId5" imgW="457200" imgH="355320" progId="Equation.DSMT4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31557" y="752330"/>
                          <a:ext cx="457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610749" y="1555375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解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4427984" y="2838991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732498"/>
              </p:ext>
            </p:extLst>
          </p:nvPr>
        </p:nvGraphicFramePr>
        <p:xfrm>
          <a:off x="1512614" y="3702591"/>
          <a:ext cx="3084513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8" name="Equation" r:id="rId7" imgW="1511280" imgH="711000" progId="Equation.DSMT4">
                  <p:embed/>
                </p:oleObj>
              </mc:Choice>
              <mc:Fallback>
                <p:oleObj name="Equation" r:id="rId7" imgW="1511280" imgH="711000" progId="Equation.DSMT4">
                  <p:embed/>
                  <p:pic>
                    <p:nvPicPr>
                      <p:cNvPr id="317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614" y="3702591"/>
                        <a:ext cx="3084513" cy="145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324975" y="4423316"/>
            <a:ext cx="1187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4642917" y="4423316"/>
            <a:ext cx="12239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793886"/>
              </p:ext>
            </p:extLst>
          </p:nvPr>
        </p:nvGraphicFramePr>
        <p:xfrm>
          <a:off x="5897055" y="3702591"/>
          <a:ext cx="3084512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9" name="Equation" r:id="rId9" imgW="1511280" imgH="711000" progId="Equation.DSMT4">
                  <p:embed/>
                </p:oleObj>
              </mc:Choice>
              <mc:Fallback>
                <p:oleObj name="Equation" r:id="rId9" imgW="1511280" imgH="711000" progId="Equation.DSMT4">
                  <p:embed/>
                  <p:pic>
                    <p:nvPicPr>
                      <p:cNvPr id="317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7055" y="3702591"/>
                        <a:ext cx="3084512" cy="145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6701550"/>
              </p:ext>
            </p:extLst>
          </p:nvPr>
        </p:nvGraphicFramePr>
        <p:xfrm>
          <a:off x="1590401" y="5288806"/>
          <a:ext cx="3187700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0" name="Equation" r:id="rId11" imgW="1562040" imgH="711000" progId="Equation.DSMT4">
                  <p:embed/>
                </p:oleObj>
              </mc:Choice>
              <mc:Fallback>
                <p:oleObj name="Equation" r:id="rId11" imgW="1562040" imgH="711000" progId="Equation.DSMT4">
                  <p:embed/>
                  <p:pic>
                    <p:nvPicPr>
                      <p:cNvPr id="3175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401" y="5288806"/>
                        <a:ext cx="3187700" cy="145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324975" y="6004042"/>
            <a:ext cx="122573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050612"/>
              </p:ext>
            </p:extLst>
          </p:nvPr>
        </p:nvGraphicFramePr>
        <p:xfrm>
          <a:off x="4644008" y="2046828"/>
          <a:ext cx="8636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1" name="Equation" r:id="rId13" imgW="368280" imgH="228600" progId="Equation.DSMT4">
                  <p:embed/>
                </p:oleObj>
              </mc:Choice>
              <mc:Fallback>
                <p:oleObj name="Equation" r:id="rId13" imgW="368280" imgH="228600" progId="Equation.DSMT4">
                  <p:embed/>
                  <p:pic>
                    <p:nvPicPr>
                      <p:cNvPr id="3176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2046828"/>
                        <a:ext cx="8636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582560"/>
              </p:ext>
            </p:extLst>
          </p:nvPr>
        </p:nvGraphicFramePr>
        <p:xfrm>
          <a:off x="4642917" y="2407191"/>
          <a:ext cx="8651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2" name="Equation" r:id="rId15" imgW="431640" imgH="228600" progId="Equation.DSMT4">
                  <p:embed/>
                </p:oleObj>
              </mc:Choice>
              <mc:Fallback>
                <p:oleObj name="Equation" r:id="rId15" imgW="431640" imgH="228600" progId="Equation.DSMT4">
                  <p:embed/>
                  <p:pic>
                    <p:nvPicPr>
                      <p:cNvPr id="3176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2917" y="2407191"/>
                        <a:ext cx="8651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3520165"/>
              </p:ext>
            </p:extLst>
          </p:nvPr>
        </p:nvGraphicFramePr>
        <p:xfrm>
          <a:off x="288652" y="3918491"/>
          <a:ext cx="1008062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3" name="Equation" r:id="rId17" imgW="444240" imgH="228600" progId="Equation.DSMT4">
                  <p:embed/>
                </p:oleObj>
              </mc:Choice>
              <mc:Fallback>
                <p:oleObj name="Equation" r:id="rId17" imgW="444240" imgH="228600" progId="Equation.DSMT4">
                  <p:embed/>
                  <p:pic>
                    <p:nvPicPr>
                      <p:cNvPr id="3176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52" y="3918491"/>
                        <a:ext cx="1008062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0624227"/>
              </p:ext>
            </p:extLst>
          </p:nvPr>
        </p:nvGraphicFramePr>
        <p:xfrm>
          <a:off x="4643884" y="3845400"/>
          <a:ext cx="10795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4" name="Equation" r:id="rId19" imgW="469800" imgH="228600" progId="Equation.DSMT4">
                  <p:embed/>
                </p:oleObj>
              </mc:Choice>
              <mc:Fallback>
                <p:oleObj name="Equation" r:id="rId19" imgW="469800" imgH="228600" progId="Equation.DSMT4">
                  <p:embed/>
                  <p:pic>
                    <p:nvPicPr>
                      <p:cNvPr id="3176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884" y="3845400"/>
                        <a:ext cx="107950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640469"/>
              </p:ext>
            </p:extLst>
          </p:nvPr>
        </p:nvGraphicFramePr>
        <p:xfrm>
          <a:off x="400381" y="5470644"/>
          <a:ext cx="1036638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5" name="Equation" r:id="rId21" imgW="457200" imgH="228600" progId="Equation.DSMT4">
                  <p:embed/>
                </p:oleObj>
              </mc:Choice>
              <mc:Fallback>
                <p:oleObj name="Equation" r:id="rId21" imgW="457200" imgH="228600" progId="Equation.DSMT4">
                  <p:embed/>
                  <p:pic>
                    <p:nvPicPr>
                      <p:cNvPr id="3176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381" y="5470644"/>
                        <a:ext cx="1036638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921607"/>
              </p:ext>
            </p:extLst>
          </p:nvPr>
        </p:nvGraphicFramePr>
        <p:xfrm>
          <a:off x="471861" y="6017535"/>
          <a:ext cx="97948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6" name="Equation" r:id="rId23" imgW="431640" imgH="228600" progId="Equation.DSMT4">
                  <p:embed/>
                </p:oleObj>
              </mc:Choice>
              <mc:Fallback>
                <p:oleObj name="Equation" r:id="rId23" imgW="431640" imgH="228600" progId="Equation.DSMT4">
                  <p:embed/>
                  <p:pic>
                    <p:nvPicPr>
                      <p:cNvPr id="3176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861" y="6017535"/>
                        <a:ext cx="979487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/>
          <p:cNvGrpSpPr/>
          <p:nvPr/>
        </p:nvGrpSpPr>
        <p:grpSpPr>
          <a:xfrm>
            <a:off x="1187624" y="2118266"/>
            <a:ext cx="3240087" cy="1452562"/>
            <a:chOff x="1187624" y="2118266"/>
            <a:chExt cx="3240087" cy="1452562"/>
          </a:xfrm>
        </p:grpSpPr>
        <p:graphicFrame>
          <p:nvGraphicFramePr>
            <p:cNvPr id="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558541"/>
                </p:ext>
              </p:extLst>
            </p:nvPr>
          </p:nvGraphicFramePr>
          <p:xfrm>
            <a:off x="1187624" y="2118266"/>
            <a:ext cx="3240087" cy="1452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27" name="Equation" r:id="rId25" imgW="1587240" imgH="711000" progId="Equation.DSMT4">
                    <p:embed/>
                  </p:oleObj>
                </mc:Choice>
                <mc:Fallback>
                  <p:oleObj name="Equation" r:id="rId25" imgW="1587240" imgH="711000" progId="Equation.DSMT4">
                    <p:embed/>
                    <p:pic>
                      <p:nvPicPr>
                        <p:cNvPr id="31747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7624" y="2118266"/>
                          <a:ext cx="3240087" cy="14525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Line 31"/>
            <p:cNvSpPr>
              <a:spLocks noChangeShapeType="1"/>
            </p:cNvSpPr>
            <p:nvPr/>
          </p:nvSpPr>
          <p:spPr bwMode="auto">
            <a:xfrm flipH="1">
              <a:off x="3059832" y="2203991"/>
              <a:ext cx="0" cy="129698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25" name="Object 4"/>
          <p:cNvGraphicFramePr>
            <a:graphicFrameLocks noChangeAspect="1"/>
          </p:cNvGraphicFramePr>
          <p:nvPr/>
        </p:nvGraphicFramePr>
        <p:xfrm>
          <a:off x="5724128" y="2118266"/>
          <a:ext cx="3265487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8" name="Equation" r:id="rId27" imgW="1600200" imgH="711000" progId="Equation.DSMT4">
                  <p:embed/>
                </p:oleObj>
              </mc:Choice>
              <mc:Fallback>
                <p:oleObj name="Equation" r:id="rId27" imgW="1600200" imgH="711000" progId="Equation.DSMT4">
                  <p:embed/>
                  <p:pic>
                    <p:nvPicPr>
                      <p:cNvPr id="317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2118266"/>
                        <a:ext cx="3265487" cy="145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374694"/>
              </p:ext>
            </p:extLst>
          </p:nvPr>
        </p:nvGraphicFramePr>
        <p:xfrm>
          <a:off x="79617" y="2635791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9" name="公式" r:id="rId29" imgW="1143000" imgH="342720" progId="Equation.3">
                  <p:embed/>
                </p:oleObj>
              </mc:Choice>
              <mc:Fallback>
                <p:oleObj name="公式" r:id="rId29" imgW="1143000" imgH="342720" progId="Equation.3">
                  <p:embed/>
                  <p:pic>
                    <p:nvPicPr>
                      <p:cNvPr id="3178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17" y="2635791"/>
                        <a:ext cx="1143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直角三角形 2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直角三角形 2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361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2" grpId="0" animBg="1"/>
      <p:bldP spid="13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982737"/>
              </p:ext>
            </p:extLst>
          </p:nvPr>
        </p:nvGraphicFramePr>
        <p:xfrm>
          <a:off x="2403649" y="3428852"/>
          <a:ext cx="3392487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2" name="Equation" r:id="rId3" imgW="1663560" imgH="711000" progId="Equation.DSMT4">
                  <p:embed/>
                </p:oleObj>
              </mc:Choice>
              <mc:Fallback>
                <p:oleObj name="Equation" r:id="rId3" imgW="1663560" imgH="711000" progId="Equation.DSMT4">
                  <p:embed/>
                  <p:pic>
                    <p:nvPicPr>
                      <p:cNvPr id="727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649" y="3428852"/>
                        <a:ext cx="3392487" cy="145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40"/>
          <p:cNvSpPr>
            <a:spLocks noChangeShapeType="1"/>
          </p:cNvSpPr>
          <p:nvPr/>
        </p:nvSpPr>
        <p:spPr bwMode="auto">
          <a:xfrm flipH="1">
            <a:off x="3760688" y="3506639"/>
            <a:ext cx="0" cy="1296987"/>
          </a:xfrm>
          <a:prstGeom prst="line">
            <a:avLst/>
          </a:prstGeom>
          <a:noFill/>
          <a:ln w="28575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724565"/>
              </p:ext>
            </p:extLst>
          </p:nvPr>
        </p:nvGraphicFramePr>
        <p:xfrm>
          <a:off x="2437110" y="1903264"/>
          <a:ext cx="3575050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3" name="Equation" r:id="rId5" imgW="1752480" imgH="711000" progId="Equation.DSMT4">
                  <p:embed/>
                </p:oleObj>
              </mc:Choice>
              <mc:Fallback>
                <p:oleObj name="Equation" r:id="rId5" imgW="1752480" imgH="711000" progId="Equation.DSMT4">
                  <p:embed/>
                  <p:pic>
                    <p:nvPicPr>
                      <p:cNvPr id="727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7110" y="1903264"/>
                        <a:ext cx="3575050" cy="145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1151732" y="1125388"/>
            <a:ext cx="1129437" cy="4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1062832" y="4149577"/>
            <a:ext cx="11160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890405"/>
              </p:ext>
            </p:extLst>
          </p:nvPr>
        </p:nvGraphicFramePr>
        <p:xfrm>
          <a:off x="1062832" y="2119164"/>
          <a:ext cx="10795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4" name="Equation" r:id="rId7" imgW="520560" imgH="228600" progId="Equation.DSMT4">
                  <p:embed/>
                </p:oleObj>
              </mc:Choice>
              <mc:Fallback>
                <p:oleObj name="Equation" r:id="rId7" imgW="520560" imgH="228600" progId="Equation.DSMT4">
                  <p:embed/>
                  <p:pic>
                    <p:nvPicPr>
                      <p:cNvPr id="727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832" y="2119164"/>
                        <a:ext cx="107950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198220"/>
              </p:ext>
            </p:extLst>
          </p:nvPr>
        </p:nvGraphicFramePr>
        <p:xfrm>
          <a:off x="1127287" y="3608810"/>
          <a:ext cx="100806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5" name="Equation" r:id="rId9" imgW="431640" imgH="228600" progId="Equation.DSMT4">
                  <p:embed/>
                </p:oleObj>
              </mc:Choice>
              <mc:Fallback>
                <p:oleObj name="Equation" r:id="rId9" imgW="431640" imgH="228600" progId="Equation.DSMT4">
                  <p:embed/>
                  <p:pic>
                    <p:nvPicPr>
                      <p:cNvPr id="727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287" y="3608810"/>
                        <a:ext cx="1008063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873966"/>
              </p:ext>
            </p:extLst>
          </p:nvPr>
        </p:nvGraphicFramePr>
        <p:xfrm>
          <a:off x="2392412" y="404664"/>
          <a:ext cx="3187700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6" name="Equation" r:id="rId11" imgW="1562040" imgH="711000" progId="Equation.DSMT4">
                  <p:embed/>
                </p:oleObj>
              </mc:Choice>
              <mc:Fallback>
                <p:oleObj name="Equation" r:id="rId11" imgW="1562040" imgH="711000" progId="Equation.DSMT4">
                  <p:embed/>
                  <p:pic>
                    <p:nvPicPr>
                      <p:cNvPr id="7271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412" y="404664"/>
                        <a:ext cx="3187700" cy="145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1019338" y="2629545"/>
            <a:ext cx="1116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382895"/>
              </p:ext>
            </p:extLst>
          </p:nvPr>
        </p:nvGraphicFramePr>
        <p:xfrm>
          <a:off x="1147549" y="605487"/>
          <a:ext cx="103663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7" name="Equation" r:id="rId13" imgW="457200" imgH="228600" progId="Equation.DSMT4">
                  <p:embed/>
                </p:oleObj>
              </mc:Choice>
              <mc:Fallback>
                <p:oleObj name="Equation" r:id="rId13" imgW="457200" imgH="228600" progId="Equation.DSMT4">
                  <p:embed/>
                  <p:pic>
                    <p:nvPicPr>
                      <p:cNvPr id="727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549" y="605487"/>
                        <a:ext cx="1036638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404233"/>
              </p:ext>
            </p:extLst>
          </p:nvPr>
        </p:nvGraphicFramePr>
        <p:xfrm>
          <a:off x="1203245" y="1190527"/>
          <a:ext cx="97948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8" name="Equation" r:id="rId15" imgW="431640" imgH="228600" progId="Equation.DSMT4">
                  <p:embed/>
                </p:oleObj>
              </mc:Choice>
              <mc:Fallback>
                <p:oleObj name="Equation" r:id="rId15" imgW="431640" imgH="228600" progId="Equation.DSMT4">
                  <p:embed/>
                  <p:pic>
                    <p:nvPicPr>
                      <p:cNvPr id="727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245" y="1190527"/>
                        <a:ext cx="979487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8041800"/>
              </p:ext>
            </p:extLst>
          </p:nvPr>
        </p:nvGraphicFramePr>
        <p:xfrm>
          <a:off x="2189163" y="4945063"/>
          <a:ext cx="3089275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9" name="Equation" r:id="rId17" imgW="1434960" imgH="711000" progId="Equation.DSMT4">
                  <p:embed/>
                </p:oleObj>
              </mc:Choice>
              <mc:Fallback>
                <p:oleObj name="Equation" r:id="rId17" imgW="1434960" imgH="711000" progId="Equation.DSMT4">
                  <p:embed/>
                  <p:pic>
                    <p:nvPicPr>
                      <p:cNvPr id="7271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3" y="4945063"/>
                        <a:ext cx="3089275" cy="153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1100718" y="5435229"/>
            <a:ext cx="1130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/>
              <a:t>所以</a:t>
            </a:r>
            <a:r>
              <a:rPr lang="zh-CN" altLang="en-US" dirty="0"/>
              <a:t>    </a:t>
            </a:r>
          </a:p>
        </p:txBody>
      </p:sp>
      <p:sp>
        <p:nvSpPr>
          <p:cNvPr id="17" name="直角三角形 1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直角三角形 1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096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2" grpId="0" animBg="1"/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WordArt 2">
            <a:extLst>
              <a:ext uri="{FF2B5EF4-FFF2-40B4-BE49-F238E27FC236}">
                <a16:creationId xmlns:a16="http://schemas.microsoft.com/office/drawing/2014/main" id="{36B8A516-71F0-42BC-9D9B-11E5453858A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897070">
            <a:off x="990600" y="990600"/>
            <a:ext cx="1296988" cy="92075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zh-CN" altLang="en-US" sz="32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45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ea typeface="楷体_GB2312"/>
              </a:rPr>
              <a:t>练一练</a:t>
            </a:r>
          </a:p>
        </p:txBody>
      </p:sp>
      <p:sp>
        <p:nvSpPr>
          <p:cNvPr id="56323" name="Text Box 3">
            <a:extLst>
              <a:ext uri="{FF2B5EF4-FFF2-40B4-BE49-F238E27FC236}">
                <a16:creationId xmlns:a16="http://schemas.microsoft.com/office/drawing/2014/main" id="{5FB8DBC9-095D-40CF-A0ED-92D2E62DE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35280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33CC"/>
                </a:solidFill>
              </a:rPr>
              <a:t>求矩阵</a:t>
            </a:r>
          </a:p>
        </p:txBody>
      </p:sp>
      <p:graphicFrame>
        <p:nvGraphicFramePr>
          <p:cNvPr id="56324" name="Object 4">
            <a:extLst>
              <a:ext uri="{FF2B5EF4-FFF2-40B4-BE49-F238E27FC236}">
                <a16:creationId xmlns:a16="http://schemas.microsoft.com/office/drawing/2014/main" id="{50A41F38-8926-444F-BB1D-4DDC322C56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2895600"/>
          <a:ext cx="21336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r:id="rId3" imgW="952087" imgH="710891" progId="Equation.DSMT4">
                  <p:embed/>
                </p:oleObj>
              </mc:Choice>
              <mc:Fallback>
                <p:oleObj r:id="rId3" imgW="952087" imgH="710891" progId="Equation.DSMT4">
                  <p:embed/>
                  <p:pic>
                    <p:nvPicPr>
                      <p:cNvPr id="56324" name="Object 4">
                        <a:extLst>
                          <a:ext uri="{FF2B5EF4-FFF2-40B4-BE49-F238E27FC236}">
                            <a16:creationId xmlns:a16="http://schemas.microsoft.com/office/drawing/2014/main" id="{50A41F38-8926-444F-BB1D-4DDC322C56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895600"/>
                        <a:ext cx="2133600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5" name="Text Box 5">
            <a:extLst>
              <a:ext uri="{FF2B5EF4-FFF2-40B4-BE49-F238E27FC236}">
                <a16:creationId xmlns:a16="http://schemas.microsoft.com/office/drawing/2014/main" id="{6098810C-6CD5-45FD-8BEC-D7C96468E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42900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33CC"/>
                </a:solidFill>
              </a:rPr>
              <a:t>的逆。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autoUpdateAnimBg="0"/>
      <p:bldP spid="5632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>
            <a:extLst>
              <a:ext uri="{FF2B5EF4-FFF2-40B4-BE49-F238E27FC236}">
                <a16:creationId xmlns:a16="http://schemas.microsoft.com/office/drawing/2014/main" id="{7B74C602-C331-4C47-984B-5F56CC7A5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013" y="790575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66"/>
                </a:solidFill>
              </a:rPr>
              <a:t>求矩阵</a:t>
            </a:r>
          </a:p>
        </p:txBody>
      </p:sp>
      <p:sp>
        <p:nvSpPr>
          <p:cNvPr id="57347" name="Text Box 3">
            <a:extLst>
              <a:ext uri="{FF2B5EF4-FFF2-40B4-BE49-F238E27FC236}">
                <a16:creationId xmlns:a16="http://schemas.microsoft.com/office/drawing/2014/main" id="{58ADA6B5-60CE-47ED-A36D-C55FC12AA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6813" y="790575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66"/>
                </a:solidFill>
              </a:rPr>
              <a:t>的逆。</a:t>
            </a:r>
          </a:p>
        </p:txBody>
      </p:sp>
      <p:sp>
        <p:nvSpPr>
          <p:cNvPr id="57348" name="Text Box 4">
            <a:extLst>
              <a:ext uri="{FF2B5EF4-FFF2-40B4-BE49-F238E27FC236}">
                <a16:creationId xmlns:a16="http://schemas.microsoft.com/office/drawing/2014/main" id="{15C0E445-D13F-49BF-998C-039FC0637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773238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解</a:t>
            </a:r>
          </a:p>
        </p:txBody>
      </p:sp>
      <p:sp>
        <p:nvSpPr>
          <p:cNvPr id="57349" name="Line 5">
            <a:extLst>
              <a:ext uri="{FF2B5EF4-FFF2-40B4-BE49-F238E27FC236}">
                <a16:creationId xmlns:a16="http://schemas.microsoft.com/office/drawing/2014/main" id="{54DC41C0-43C0-4350-AB47-C217D1705C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2852738"/>
            <a:ext cx="1143000" cy="0"/>
          </a:xfrm>
          <a:prstGeom prst="line">
            <a:avLst/>
          </a:prstGeom>
          <a:noFill/>
          <a:ln w="9525">
            <a:solidFill>
              <a:srgbClr val="D6009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57350" name="Object 6">
            <a:extLst>
              <a:ext uri="{FF2B5EF4-FFF2-40B4-BE49-F238E27FC236}">
                <a16:creationId xmlns:a16="http://schemas.microsoft.com/office/drawing/2014/main" id="{5268696E-BB98-4304-B0B5-B0EFC8BBCB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2205038"/>
          <a:ext cx="6477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1" name="Equation" r:id="rId3" imgW="368280" imgH="228600" progId="Equation.DSMT4">
                  <p:embed/>
                </p:oleObj>
              </mc:Choice>
              <mc:Fallback>
                <p:oleObj name="Equation" r:id="rId3" imgW="368280" imgH="228600" progId="Equation.DSMT4">
                  <p:embed/>
                  <p:pic>
                    <p:nvPicPr>
                      <p:cNvPr id="57350" name="Object 6">
                        <a:extLst>
                          <a:ext uri="{FF2B5EF4-FFF2-40B4-BE49-F238E27FC236}">
                            <a16:creationId xmlns:a16="http://schemas.microsoft.com/office/drawing/2014/main" id="{5268696E-BB98-4304-B0B5-B0EFC8BBCB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205038"/>
                        <a:ext cx="647700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7">
            <a:extLst>
              <a:ext uri="{FF2B5EF4-FFF2-40B4-BE49-F238E27FC236}">
                <a16:creationId xmlns:a16="http://schemas.microsoft.com/office/drawing/2014/main" id="{184E0081-A50A-4FC2-9301-042A8AC7E4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2492375"/>
          <a:ext cx="647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2" name="Equation" r:id="rId5" imgW="355320" imgH="228600" progId="Equation.DSMT4">
                  <p:embed/>
                </p:oleObj>
              </mc:Choice>
              <mc:Fallback>
                <p:oleObj name="Equation" r:id="rId5" imgW="355320" imgH="228600" progId="Equation.DSMT4">
                  <p:embed/>
                  <p:pic>
                    <p:nvPicPr>
                      <p:cNvPr id="57351" name="Object 7">
                        <a:extLst>
                          <a:ext uri="{FF2B5EF4-FFF2-40B4-BE49-F238E27FC236}">
                            <a16:creationId xmlns:a16="http://schemas.microsoft.com/office/drawing/2014/main" id="{184E0081-A50A-4FC2-9301-042A8AC7E4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492375"/>
                        <a:ext cx="6477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2" name="Object 8">
            <a:extLst>
              <a:ext uri="{FF2B5EF4-FFF2-40B4-BE49-F238E27FC236}">
                <a16:creationId xmlns:a16="http://schemas.microsoft.com/office/drawing/2014/main" id="{E766C203-60E2-4EA7-BE46-8519AB587C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1998663"/>
          <a:ext cx="2895600" cy="154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3" name="Equation" r:id="rId7" imgW="1346040" imgH="711000" progId="Equation.DSMT4">
                  <p:embed/>
                </p:oleObj>
              </mc:Choice>
              <mc:Fallback>
                <p:oleObj name="Equation" r:id="rId7" imgW="1346040" imgH="711000" progId="Equation.DSMT4">
                  <p:embed/>
                  <p:pic>
                    <p:nvPicPr>
                      <p:cNvPr id="57352" name="Object 8">
                        <a:extLst>
                          <a:ext uri="{FF2B5EF4-FFF2-40B4-BE49-F238E27FC236}">
                            <a16:creationId xmlns:a16="http://schemas.microsoft.com/office/drawing/2014/main" id="{E766C203-60E2-4EA7-BE46-8519AB587C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998663"/>
                        <a:ext cx="2895600" cy="1541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3" name="Object 9">
            <a:extLst>
              <a:ext uri="{FF2B5EF4-FFF2-40B4-BE49-F238E27FC236}">
                <a16:creationId xmlns:a16="http://schemas.microsoft.com/office/drawing/2014/main" id="{9FB04EAC-5A8F-42EC-B8AC-5FEE88C043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1989138"/>
          <a:ext cx="3398838" cy="162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4" name="Equation" r:id="rId9" imgW="1498320" imgH="711000" progId="Equation.DSMT4">
                  <p:embed/>
                </p:oleObj>
              </mc:Choice>
              <mc:Fallback>
                <p:oleObj name="Equation" r:id="rId9" imgW="1498320" imgH="711000" progId="Equation.DSMT4">
                  <p:embed/>
                  <p:pic>
                    <p:nvPicPr>
                      <p:cNvPr id="57353" name="Object 9">
                        <a:extLst>
                          <a:ext uri="{FF2B5EF4-FFF2-40B4-BE49-F238E27FC236}">
                            <a16:creationId xmlns:a16="http://schemas.microsoft.com/office/drawing/2014/main" id="{9FB04EAC-5A8F-42EC-B8AC-5FEE88C043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1989138"/>
                        <a:ext cx="3398838" cy="1624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4" name="Object 10">
            <a:extLst>
              <a:ext uri="{FF2B5EF4-FFF2-40B4-BE49-F238E27FC236}">
                <a16:creationId xmlns:a16="http://schemas.microsoft.com/office/drawing/2014/main" id="{EE785088-9316-40F5-BC02-24B8C705FA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933825"/>
          <a:ext cx="11160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5" name="Equation" r:id="rId11" imgW="622080" imgH="228600" progId="Equation.DSMT4">
                  <p:embed/>
                </p:oleObj>
              </mc:Choice>
              <mc:Fallback>
                <p:oleObj name="Equation" r:id="rId11" imgW="622080" imgH="228600" progId="Equation.DSMT4">
                  <p:embed/>
                  <p:pic>
                    <p:nvPicPr>
                      <p:cNvPr id="57354" name="Object 10">
                        <a:extLst>
                          <a:ext uri="{FF2B5EF4-FFF2-40B4-BE49-F238E27FC236}">
                            <a16:creationId xmlns:a16="http://schemas.microsoft.com/office/drawing/2014/main" id="{EE785088-9316-40F5-BC02-24B8C705FA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933825"/>
                        <a:ext cx="11160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5" name="Object 11">
            <a:extLst>
              <a:ext uri="{FF2B5EF4-FFF2-40B4-BE49-F238E27FC236}">
                <a16:creationId xmlns:a16="http://schemas.microsoft.com/office/drawing/2014/main" id="{C1B1B27C-AA4F-4D43-9637-9BC524A8BB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4221163"/>
          <a:ext cx="6477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6" name="Equation" r:id="rId13" imgW="457200" imgH="228600" progId="Equation.DSMT4">
                  <p:embed/>
                </p:oleObj>
              </mc:Choice>
              <mc:Fallback>
                <p:oleObj name="Equation" r:id="rId13" imgW="457200" imgH="228600" progId="Equation.DSMT4">
                  <p:embed/>
                  <p:pic>
                    <p:nvPicPr>
                      <p:cNvPr id="57355" name="Object 11">
                        <a:extLst>
                          <a:ext uri="{FF2B5EF4-FFF2-40B4-BE49-F238E27FC236}">
                            <a16:creationId xmlns:a16="http://schemas.microsoft.com/office/drawing/2014/main" id="{C1B1B27C-AA4F-4D43-9637-9BC524A8BB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221163"/>
                        <a:ext cx="64770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6" name="Line 12">
            <a:extLst>
              <a:ext uri="{FF2B5EF4-FFF2-40B4-BE49-F238E27FC236}">
                <a16:creationId xmlns:a16="http://schemas.microsoft.com/office/drawing/2014/main" id="{76EEB8A4-0250-4EEE-BAD4-B458444DA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724400"/>
            <a:ext cx="1116013" cy="0"/>
          </a:xfrm>
          <a:prstGeom prst="line">
            <a:avLst/>
          </a:prstGeom>
          <a:noFill/>
          <a:ln w="9525">
            <a:solidFill>
              <a:srgbClr val="D6009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7357" name="Line 13">
            <a:extLst>
              <a:ext uri="{FF2B5EF4-FFF2-40B4-BE49-F238E27FC236}">
                <a16:creationId xmlns:a16="http://schemas.microsoft.com/office/drawing/2014/main" id="{2DFB1985-AEDA-4CCF-AE34-B262B16FD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4508500"/>
            <a:ext cx="914400" cy="0"/>
          </a:xfrm>
          <a:prstGeom prst="line">
            <a:avLst/>
          </a:prstGeom>
          <a:noFill/>
          <a:ln w="9525">
            <a:solidFill>
              <a:srgbClr val="D6009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57358" name="Object 14">
            <a:extLst>
              <a:ext uri="{FF2B5EF4-FFF2-40B4-BE49-F238E27FC236}">
                <a16:creationId xmlns:a16="http://schemas.microsoft.com/office/drawing/2014/main" id="{12665A53-C8CC-4312-95CE-456BA0B71F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3789363"/>
          <a:ext cx="792162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7" name="Equation" r:id="rId15" imgW="444240" imgH="228600" progId="Equation.DSMT4">
                  <p:embed/>
                </p:oleObj>
              </mc:Choice>
              <mc:Fallback>
                <p:oleObj name="Equation" r:id="rId15" imgW="444240" imgH="228600" progId="Equation.DSMT4">
                  <p:embed/>
                  <p:pic>
                    <p:nvPicPr>
                      <p:cNvPr id="57358" name="Object 14">
                        <a:extLst>
                          <a:ext uri="{FF2B5EF4-FFF2-40B4-BE49-F238E27FC236}">
                            <a16:creationId xmlns:a16="http://schemas.microsoft.com/office/drawing/2014/main" id="{12665A53-C8CC-4312-95CE-456BA0B71F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789363"/>
                        <a:ext cx="792162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9" name="Line 15">
            <a:extLst>
              <a:ext uri="{FF2B5EF4-FFF2-40B4-BE49-F238E27FC236}">
                <a16:creationId xmlns:a16="http://schemas.microsoft.com/office/drawing/2014/main" id="{DC2C0853-EECF-4282-B433-502167950D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8" y="5949950"/>
            <a:ext cx="1143000" cy="0"/>
          </a:xfrm>
          <a:prstGeom prst="line">
            <a:avLst/>
          </a:prstGeom>
          <a:noFill/>
          <a:ln w="9525">
            <a:solidFill>
              <a:srgbClr val="D6009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57360" name="Object 16">
            <a:extLst>
              <a:ext uri="{FF2B5EF4-FFF2-40B4-BE49-F238E27FC236}">
                <a16:creationId xmlns:a16="http://schemas.microsoft.com/office/drawing/2014/main" id="{10EE9B8C-50AD-490A-83D2-FEE095F039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6988" y="5283200"/>
          <a:ext cx="34290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8" name="Equation" r:id="rId17" imgW="1904760" imgH="711000" progId="Equation.DSMT4">
                  <p:embed/>
                </p:oleObj>
              </mc:Choice>
              <mc:Fallback>
                <p:oleObj name="Equation" r:id="rId17" imgW="1904760" imgH="711000" progId="Equation.DSMT4">
                  <p:embed/>
                  <p:pic>
                    <p:nvPicPr>
                      <p:cNvPr id="57360" name="Object 16">
                        <a:extLst>
                          <a:ext uri="{FF2B5EF4-FFF2-40B4-BE49-F238E27FC236}">
                            <a16:creationId xmlns:a16="http://schemas.microsoft.com/office/drawing/2014/main" id="{10EE9B8C-50AD-490A-83D2-FEE095F039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88" y="5283200"/>
                        <a:ext cx="3429000" cy="1276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1" name="Object 17">
            <a:extLst>
              <a:ext uri="{FF2B5EF4-FFF2-40B4-BE49-F238E27FC236}">
                <a16:creationId xmlns:a16="http://schemas.microsoft.com/office/drawing/2014/main" id="{E9900FA0-4942-4D76-AD80-49AA96DCEA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5229225"/>
          <a:ext cx="7921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9" name="Equation" r:id="rId19" imgW="444240" imgH="228600" progId="Equation.DSMT4">
                  <p:embed/>
                </p:oleObj>
              </mc:Choice>
              <mc:Fallback>
                <p:oleObj name="Equation" r:id="rId19" imgW="444240" imgH="228600" progId="Equation.DSMT4">
                  <p:embed/>
                  <p:pic>
                    <p:nvPicPr>
                      <p:cNvPr id="57361" name="Object 17">
                        <a:extLst>
                          <a:ext uri="{FF2B5EF4-FFF2-40B4-BE49-F238E27FC236}">
                            <a16:creationId xmlns:a16="http://schemas.microsoft.com/office/drawing/2014/main" id="{E9900FA0-4942-4D76-AD80-49AA96DCEA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5229225"/>
                        <a:ext cx="792163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2" name="Object 18">
            <a:extLst>
              <a:ext uri="{FF2B5EF4-FFF2-40B4-BE49-F238E27FC236}">
                <a16:creationId xmlns:a16="http://schemas.microsoft.com/office/drawing/2014/main" id="{03CC07EB-E028-4F98-9335-793DCE02C6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5516563"/>
          <a:ext cx="79216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0" name="Equation" r:id="rId21" imgW="533160" imgH="228600" progId="Equation.DSMT4">
                  <p:embed/>
                </p:oleObj>
              </mc:Choice>
              <mc:Fallback>
                <p:oleObj name="Equation" r:id="rId21" imgW="533160" imgH="228600" progId="Equation.DSMT4">
                  <p:embed/>
                  <p:pic>
                    <p:nvPicPr>
                      <p:cNvPr id="57362" name="Object 18">
                        <a:extLst>
                          <a:ext uri="{FF2B5EF4-FFF2-40B4-BE49-F238E27FC236}">
                            <a16:creationId xmlns:a16="http://schemas.microsoft.com/office/drawing/2014/main" id="{03CC07EB-E028-4F98-9335-793DCE02C6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5516563"/>
                        <a:ext cx="792163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3" name="Object 19">
            <a:extLst>
              <a:ext uri="{FF2B5EF4-FFF2-40B4-BE49-F238E27FC236}">
                <a16:creationId xmlns:a16="http://schemas.microsoft.com/office/drawing/2014/main" id="{7B6F5977-4401-4404-AD17-50A8B9A955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6350" y="5295900"/>
          <a:ext cx="3163888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1" name="Equation" r:id="rId23" imgW="1612800" imgH="711000" progId="Equation.DSMT4">
                  <p:embed/>
                </p:oleObj>
              </mc:Choice>
              <mc:Fallback>
                <p:oleObj name="Equation" r:id="rId23" imgW="1612800" imgH="711000" progId="Equation.DSMT4">
                  <p:embed/>
                  <p:pic>
                    <p:nvPicPr>
                      <p:cNvPr id="57363" name="Object 19">
                        <a:extLst>
                          <a:ext uri="{FF2B5EF4-FFF2-40B4-BE49-F238E27FC236}">
                            <a16:creationId xmlns:a16="http://schemas.microsoft.com/office/drawing/2014/main" id="{7B6F5977-4401-4404-AD17-50A8B9A955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350" y="5295900"/>
                        <a:ext cx="3163888" cy="1387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4" name="Object 20">
            <a:extLst>
              <a:ext uri="{FF2B5EF4-FFF2-40B4-BE49-F238E27FC236}">
                <a16:creationId xmlns:a16="http://schemas.microsoft.com/office/drawing/2014/main" id="{65035293-CF2E-471E-B73B-F0A80378AF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260350"/>
          <a:ext cx="21336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2" r:id="rId25" imgW="952087" imgH="710891" progId="Equation.DSMT4">
                  <p:embed/>
                </p:oleObj>
              </mc:Choice>
              <mc:Fallback>
                <p:oleObj r:id="rId25" imgW="952087" imgH="710891" progId="Equation.DSMT4">
                  <p:embed/>
                  <p:pic>
                    <p:nvPicPr>
                      <p:cNvPr id="57364" name="Object 20">
                        <a:extLst>
                          <a:ext uri="{FF2B5EF4-FFF2-40B4-BE49-F238E27FC236}">
                            <a16:creationId xmlns:a16="http://schemas.microsoft.com/office/drawing/2014/main" id="{65035293-CF2E-471E-B73B-F0A80378AF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60350"/>
                        <a:ext cx="2133600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5" name="Object 21">
            <a:extLst>
              <a:ext uri="{FF2B5EF4-FFF2-40B4-BE49-F238E27FC236}">
                <a16:creationId xmlns:a16="http://schemas.microsoft.com/office/drawing/2014/main" id="{9D2EC6DA-F11B-41C9-AEE4-E92589FEF7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716338"/>
          <a:ext cx="3240087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3" name="Equation" r:id="rId27" imgW="1726920" imgH="711000" progId="Equation.DSMT4">
                  <p:embed/>
                </p:oleObj>
              </mc:Choice>
              <mc:Fallback>
                <p:oleObj name="Equation" r:id="rId27" imgW="1726920" imgH="711000" progId="Equation.DSMT4">
                  <p:embed/>
                  <p:pic>
                    <p:nvPicPr>
                      <p:cNvPr id="57365" name="Object 21">
                        <a:extLst>
                          <a:ext uri="{FF2B5EF4-FFF2-40B4-BE49-F238E27FC236}">
                            <a16:creationId xmlns:a16="http://schemas.microsoft.com/office/drawing/2014/main" id="{9D2EC6DA-F11B-41C9-AEE4-E92589FEF7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716338"/>
                        <a:ext cx="3240087" cy="1343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6" name="Object 22">
            <a:extLst>
              <a:ext uri="{FF2B5EF4-FFF2-40B4-BE49-F238E27FC236}">
                <a16:creationId xmlns:a16="http://schemas.microsoft.com/office/drawing/2014/main" id="{E06C15D7-0224-4A80-BFAB-84D1ABE3D0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4963" y="3789363"/>
          <a:ext cx="3430587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4" name="Equation" r:id="rId29" imgW="1828800" imgH="711000" progId="Equation.DSMT4">
                  <p:embed/>
                </p:oleObj>
              </mc:Choice>
              <mc:Fallback>
                <p:oleObj name="Equation" r:id="rId29" imgW="1828800" imgH="711000" progId="Equation.DSMT4">
                  <p:embed/>
                  <p:pic>
                    <p:nvPicPr>
                      <p:cNvPr id="57366" name="Object 22">
                        <a:extLst>
                          <a:ext uri="{FF2B5EF4-FFF2-40B4-BE49-F238E27FC236}">
                            <a16:creationId xmlns:a16="http://schemas.microsoft.com/office/drawing/2014/main" id="{E06C15D7-0224-4A80-BFAB-84D1ABE3D0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4963" y="3789363"/>
                        <a:ext cx="3430587" cy="1343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7" name="Object 23">
            <a:extLst>
              <a:ext uri="{FF2B5EF4-FFF2-40B4-BE49-F238E27FC236}">
                <a16:creationId xmlns:a16="http://schemas.microsoft.com/office/drawing/2014/main" id="{368080E4-AB72-4455-963A-49DE783003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4076700"/>
          <a:ext cx="4318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5" name="Equation" r:id="rId31" imgW="355320" imgH="228600" progId="Equation.DSMT4">
                  <p:embed/>
                </p:oleObj>
              </mc:Choice>
              <mc:Fallback>
                <p:oleObj name="Equation" r:id="rId31" imgW="355320" imgH="228600" progId="Equation.DSMT4">
                  <p:embed/>
                  <p:pic>
                    <p:nvPicPr>
                      <p:cNvPr id="57367" name="Object 23">
                        <a:extLst>
                          <a:ext uri="{FF2B5EF4-FFF2-40B4-BE49-F238E27FC236}">
                            <a16:creationId xmlns:a16="http://schemas.microsoft.com/office/drawing/2014/main" id="{368080E4-AB72-4455-963A-49DE783003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076700"/>
                        <a:ext cx="431800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" fill="hold"/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" fill="hold"/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7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7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5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5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7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7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7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7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4" dur="500"/>
                                        <p:tgtEl>
                                          <p:spTgt spid="5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500"/>
                                        <p:tgtEl>
                                          <p:spTgt spid="5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7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7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7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7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6" dur="500"/>
                                        <p:tgtEl>
                                          <p:spTgt spid="5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1" dur="500"/>
                                        <p:tgtEl>
                                          <p:spTgt spid="5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autoUpdateAnimBg="0"/>
      <p:bldP spid="57347" grpId="0" autoUpdateAnimBg="0"/>
      <p:bldP spid="57348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801171" y="1053730"/>
            <a:ext cx="5256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/>
              <a:t>同理可以用初等</a:t>
            </a:r>
            <a:r>
              <a:rPr lang="zh-CN" altLang="en-US" sz="2400" dirty="0">
                <a:solidFill>
                  <a:srgbClr val="0000FF"/>
                </a:solidFill>
              </a:rPr>
              <a:t>列变换</a:t>
            </a:r>
            <a:r>
              <a:rPr lang="zh-CN" altLang="en-US" sz="2400" dirty="0"/>
              <a:t>求逆矩阵</a:t>
            </a:r>
          </a:p>
        </p:txBody>
      </p:sp>
      <p:sp>
        <p:nvSpPr>
          <p:cNvPr id="32772" name="Line 4"/>
          <p:cNvSpPr>
            <a:spLocks noChangeShapeType="1"/>
          </p:cNvSpPr>
          <p:nvPr/>
        </p:nvSpPr>
        <p:spPr bwMode="auto">
          <a:xfrm>
            <a:off x="2374033" y="2863268"/>
            <a:ext cx="1871662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599948" y="4310807"/>
            <a:ext cx="7777162" cy="1015663"/>
          </a:xfrm>
          <a:prstGeom prst="rect">
            <a:avLst/>
          </a:prstGeom>
          <a:noFill/>
          <a:ln w="9525">
            <a:solidFill>
              <a:srgbClr val="D6009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rgbClr val="FF3300"/>
                </a:solidFill>
              </a:rPr>
              <a:t>注意</a:t>
            </a:r>
            <a:r>
              <a:rPr lang="zh-CN" altLang="en-US" sz="2400" dirty="0"/>
              <a:t>： 在这两种求逆矩阵的过程中，</a:t>
            </a:r>
            <a:endParaRPr lang="en-US" altLang="zh-CN" sz="2400" dirty="0"/>
          </a:p>
          <a:p>
            <a:pPr eaLnBrk="0" hangingPunct="0"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</a:rPr>
              <a:t>         </a:t>
            </a:r>
            <a:r>
              <a:rPr lang="zh-CN" altLang="en-US" sz="2400" dirty="0"/>
              <a:t>初等行变换和初等列变换</a:t>
            </a:r>
            <a:r>
              <a:rPr lang="zh-CN" altLang="en-US" sz="2400" i="1" dirty="0">
                <a:solidFill>
                  <a:srgbClr val="FF0000"/>
                </a:solidFill>
              </a:rPr>
              <a:t>不能 </a:t>
            </a:r>
            <a:r>
              <a:rPr lang="zh-CN" altLang="en-US" sz="2400" dirty="0"/>
              <a:t>混用</a:t>
            </a:r>
            <a:r>
              <a:rPr lang="en-US" altLang="zh-CN" sz="2400" dirty="0"/>
              <a:t>.</a:t>
            </a:r>
            <a:endParaRPr lang="zh-CN" altLang="en-US" dirty="0"/>
          </a:p>
        </p:txBody>
      </p:sp>
      <p:sp>
        <p:nvSpPr>
          <p:cNvPr id="32775" name="WordArt 7"/>
          <p:cNvSpPr>
            <a:spLocks noChangeArrowheads="1" noChangeShapeType="1" noTextEdit="1"/>
          </p:cNvSpPr>
          <p:nvPr/>
        </p:nvSpPr>
        <p:spPr bwMode="auto">
          <a:xfrm rot="20993277">
            <a:off x="6004298" y="2229357"/>
            <a:ext cx="2124502" cy="9186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606723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宋体" panose="02010600030101010101" pitchFamily="2" charset="-122"/>
              </a:rPr>
              <a:t>为什么？</a:t>
            </a:r>
          </a:p>
        </p:txBody>
      </p:sp>
      <p:graphicFrame>
        <p:nvGraphicFramePr>
          <p:cNvPr id="327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366122"/>
              </p:ext>
            </p:extLst>
          </p:nvPr>
        </p:nvGraphicFramePr>
        <p:xfrm>
          <a:off x="1403648" y="1927437"/>
          <a:ext cx="827087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6" name="公式" r:id="rId3" imgW="672840" imgH="1523880" progId="Equation.3">
                  <p:embed/>
                </p:oleObj>
              </mc:Choice>
              <mc:Fallback>
                <p:oleObj name="公式" r:id="rId3" imgW="672840" imgH="1523880" progId="Equation.3">
                  <p:embed/>
                  <p:pic>
                    <p:nvPicPr>
                      <p:cNvPr id="3277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1927437"/>
                        <a:ext cx="827087" cy="187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475252"/>
              </p:ext>
            </p:extLst>
          </p:nvPr>
        </p:nvGraphicFramePr>
        <p:xfrm>
          <a:off x="4506080" y="1987798"/>
          <a:ext cx="1014412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7" name="公式" r:id="rId5" imgW="825480" imgH="1523880" progId="Equation.3">
                  <p:embed/>
                </p:oleObj>
              </mc:Choice>
              <mc:Fallback>
                <p:oleObj name="公式" r:id="rId5" imgW="825480" imgH="1523880" progId="Equation.3">
                  <p:embed/>
                  <p:pic>
                    <p:nvPicPr>
                      <p:cNvPr id="3277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080" y="1987798"/>
                        <a:ext cx="1014412" cy="187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5431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2" grpId="0" animBg="1"/>
      <p:bldP spid="3277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948204" y="5738543"/>
            <a:ext cx="26436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伴随矩阵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法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36656" y="5116691"/>
            <a:ext cx="32271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latin typeface="+mn-ea"/>
                <a:sym typeface="Wingdings" panose="05000000000000000000" pitchFamily="2" charset="2"/>
              </a:rPr>
              <a:t>2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）初等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行</a:t>
            </a:r>
            <a:r>
              <a:rPr lang="zh-CN" altLang="en-US" sz="2400" dirty="0">
                <a:latin typeface="+mn-ea"/>
                <a:sym typeface="Wingdings" panose="05000000000000000000" pitchFamily="2" charset="2"/>
              </a:rPr>
              <a:t>变换法 ，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975035" y="296373"/>
            <a:ext cx="1944687" cy="762000"/>
          </a:xfrm>
          <a:prstGeom prst="rect">
            <a:avLst/>
          </a:prstGeom>
          <a:noFill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0000FF"/>
                </a:solidFill>
              </a:rPr>
              <a:t>小结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55576" y="980728"/>
            <a:ext cx="6075702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2400" b="0" dirty="0">
                <a:latin typeface="+mn-ea"/>
                <a:ea typeface="+mn-ea"/>
              </a:rPr>
              <a:t>1. </a:t>
            </a:r>
            <a:r>
              <a:rPr kumimoji="1" lang="zh-CN" altLang="en-US" sz="2400" b="0" dirty="0">
                <a:latin typeface="+mn-ea"/>
                <a:ea typeface="+mn-ea"/>
              </a:rPr>
              <a:t>用 </a:t>
            </a:r>
            <a:r>
              <a:rPr kumimoji="1" lang="en-US" altLang="zh-CN" sz="2400" b="0" dirty="0">
                <a:latin typeface="+mn-ea"/>
                <a:ea typeface="+mn-ea"/>
              </a:rPr>
              <a:t>Crammer </a:t>
            </a:r>
            <a:r>
              <a:rPr kumimoji="1" lang="zh-CN" altLang="en-US" sz="2400" b="0" dirty="0">
                <a:latin typeface="+mn-ea"/>
                <a:ea typeface="+mn-ea"/>
              </a:rPr>
              <a:t>法则解方程组的两个条件：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86645" y="1545958"/>
            <a:ext cx="4030270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2400" b="0" dirty="0">
                <a:latin typeface="+mn-ea"/>
                <a:ea typeface="+mn-ea"/>
              </a:rPr>
              <a:t>(1)</a:t>
            </a:r>
            <a:r>
              <a:rPr kumimoji="1" lang="zh-CN" altLang="en-US" sz="2400" b="0" dirty="0">
                <a:latin typeface="+mn-ea"/>
                <a:ea typeface="+mn-ea"/>
              </a:rPr>
              <a:t>方程个数等于未知量个数</a:t>
            </a:r>
            <a:r>
              <a:rPr kumimoji="1" lang="en-US" altLang="zh-CN" sz="2400" b="0" dirty="0">
                <a:latin typeface="+mn-ea"/>
                <a:ea typeface="+mn-ea"/>
              </a:rPr>
              <a:t>;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086645" y="2075165"/>
            <a:ext cx="3414717" cy="581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2400" b="0" dirty="0">
                <a:latin typeface="+mn-ea"/>
                <a:ea typeface="+mn-ea"/>
              </a:rPr>
              <a:t>(2)</a:t>
            </a:r>
            <a:r>
              <a:rPr kumimoji="1" lang="zh-CN" altLang="en-US" sz="2400" b="0" dirty="0">
                <a:latin typeface="+mn-ea"/>
                <a:ea typeface="+mn-ea"/>
              </a:rPr>
              <a:t>系数行列式不等于零</a:t>
            </a:r>
            <a:r>
              <a:rPr kumimoji="1" lang="en-US" altLang="zh-CN" sz="2400" b="0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3568" y="2672458"/>
            <a:ext cx="7825704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sz="2400" b="0" dirty="0">
                <a:latin typeface="+mn-ea"/>
                <a:ea typeface="+mn-ea"/>
              </a:rPr>
              <a:t>2. </a:t>
            </a:r>
            <a:r>
              <a:rPr kumimoji="1" lang="en-US" altLang="zh-CN" sz="2400" b="0" dirty="0">
                <a:latin typeface="+mn-ea"/>
              </a:rPr>
              <a:t>Crammer </a:t>
            </a:r>
            <a:r>
              <a:rPr kumimoji="1" lang="zh-CN" altLang="en-US" sz="2400" b="0" dirty="0">
                <a:latin typeface="+mn-ea"/>
                <a:ea typeface="+mn-ea"/>
              </a:rPr>
              <a:t>建立了线性方程组的解和已知的系</a:t>
            </a:r>
            <a:r>
              <a:rPr kumimoji="1" lang="zh-CN" altLang="en-US" sz="24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数与常数项</a:t>
            </a:r>
            <a:r>
              <a:rPr kumimoji="1" lang="zh-CN" altLang="en-US" sz="2400" b="0" dirty="0">
                <a:latin typeface="+mn-ea"/>
                <a:ea typeface="+mn-ea"/>
              </a:rPr>
              <a:t>之间的关系</a:t>
            </a:r>
            <a:r>
              <a:rPr kumimoji="1" lang="en-US" altLang="zh-CN" sz="2400" b="0" dirty="0">
                <a:latin typeface="+mn-ea"/>
                <a:ea typeface="+mn-ea"/>
              </a:rPr>
              <a:t>.</a:t>
            </a:r>
            <a:r>
              <a:rPr kumimoji="1" lang="zh-CN" altLang="en-US" sz="2400" b="0" dirty="0">
                <a:latin typeface="+mn-ea"/>
                <a:ea typeface="+mn-ea"/>
              </a:rPr>
              <a:t>它主要适用于理论推导</a:t>
            </a:r>
            <a:r>
              <a:rPr kumimoji="1" lang="en-US" altLang="zh-CN" sz="2400" b="0" dirty="0">
                <a:latin typeface="+mn-ea"/>
                <a:ea typeface="+mn-ea"/>
              </a:rPr>
              <a:t>.</a:t>
            </a:r>
          </a:p>
        </p:txBody>
      </p:sp>
      <p:sp>
        <p:nvSpPr>
          <p:cNvPr id="12" name="矩形 11"/>
          <p:cNvSpPr/>
          <p:nvPr/>
        </p:nvSpPr>
        <p:spPr>
          <a:xfrm>
            <a:off x="683568" y="3967832"/>
            <a:ext cx="26853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3. </a:t>
            </a:r>
            <a:r>
              <a:rPr kumimoji="1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</a:rPr>
              <a:t>逆矩阵的求法：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936656" y="4397098"/>
            <a:ext cx="40767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400" dirty="0"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sym typeface="Wingdings" panose="05000000000000000000" pitchFamily="2" charset="2"/>
              </a:rPr>
              <a:t>1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zh-CN" altLang="en-US" sz="2400" dirty="0">
                <a:solidFill>
                  <a:srgbClr val="0000FF"/>
                </a:solidFill>
                <a:sym typeface="Wingdings" panose="05000000000000000000" pitchFamily="2" charset="2"/>
              </a:rPr>
              <a:t>定义法</a:t>
            </a:r>
            <a:r>
              <a:rPr lang="en-US" altLang="zh-CN" sz="2400" dirty="0">
                <a:solidFill>
                  <a:srgbClr val="0000FF"/>
                </a:solidFill>
                <a:sym typeface="Wingdings" panose="05000000000000000000" pitchFamily="2" charset="2"/>
              </a:rPr>
              <a:t>, </a:t>
            </a:r>
            <a:r>
              <a:rPr lang="zh-CN" altLang="en-US" sz="2400" dirty="0">
                <a:sym typeface="Wingdings" panose="05000000000000000000" pitchFamily="2" charset="2"/>
              </a:rPr>
              <a:t>验证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AB</a:t>
            </a:r>
            <a:r>
              <a:rPr lang="en-US" altLang="zh-CN" sz="2400" b="1" dirty="0">
                <a:sym typeface="Wingdings" panose="05000000000000000000" pitchFamily="2" charset="2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zh-CN" altLang="en-US" sz="2400" dirty="0">
                <a:sym typeface="Wingdings" panose="05000000000000000000" pitchFamily="2" charset="2"/>
              </a:rPr>
              <a:t>；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940179"/>
              </p:ext>
            </p:extLst>
          </p:nvPr>
        </p:nvGraphicFramePr>
        <p:xfrm>
          <a:off x="3475185" y="5616207"/>
          <a:ext cx="1612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Equation" r:id="rId3" imgW="1612800" imgH="901440" progId="Equation.DSMT4">
                  <p:embed/>
                </p:oleObj>
              </mc:Choice>
              <mc:Fallback>
                <p:oleObj name="Equation" r:id="rId3" imgW="1612800" imgH="90144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75185" y="5616207"/>
                        <a:ext cx="16129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4142829" y="5133856"/>
            <a:ext cx="2933700" cy="444500"/>
            <a:chOff x="4142829" y="5133856"/>
            <a:chExt cx="2933700" cy="444500"/>
          </a:xfrm>
        </p:grpSpPr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0588446"/>
                </p:ext>
              </p:extLst>
            </p:nvPr>
          </p:nvGraphicFramePr>
          <p:xfrm>
            <a:off x="4142829" y="5133856"/>
            <a:ext cx="29337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01" name="Equation" r:id="rId5" imgW="2933640" imgH="444240" progId="Equation.DSMT4">
                    <p:embed/>
                  </p:oleObj>
                </mc:Choice>
                <mc:Fallback>
                  <p:oleObj name="Equation" r:id="rId5" imgW="2933640" imgH="444240" progId="Equation.DSMT4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42829" y="5133856"/>
                          <a:ext cx="29337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Line 40"/>
            <p:cNvSpPr>
              <a:spLocks noChangeShapeType="1"/>
            </p:cNvSpPr>
            <p:nvPr/>
          </p:nvSpPr>
          <p:spPr bwMode="auto">
            <a:xfrm flipH="1">
              <a:off x="4716016" y="5185479"/>
              <a:ext cx="0" cy="39287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40"/>
            <p:cNvSpPr>
              <a:spLocks noChangeShapeType="1"/>
            </p:cNvSpPr>
            <p:nvPr/>
          </p:nvSpPr>
          <p:spPr bwMode="auto">
            <a:xfrm flipH="1">
              <a:off x="6228184" y="5185479"/>
              <a:ext cx="0" cy="39287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" name="直角三角形 1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直角三角形 1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867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5" grpId="0"/>
      <p:bldP spid="2" grpId="0"/>
      <p:bldP spid="3" grpId="0"/>
      <p:bldP spid="4" grpId="0"/>
      <p:bldP spid="5" grpId="0"/>
      <p:bldP spid="6" grpId="0"/>
      <p:bldP spid="12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 Box 2">
            <a:extLst>
              <a:ext uri="{FF2B5EF4-FFF2-40B4-BE49-F238E27FC236}">
                <a16:creationId xmlns:a16="http://schemas.microsoft.com/office/drawing/2014/main" id="{FE3AC05E-7F11-4FCF-8BCF-79FEAE212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3713" y="6338888"/>
            <a:ext cx="1157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ahoma" panose="020B0604030504040204" pitchFamily="34" charset="0"/>
                <a:hlinkClick r:id="rId3" action="ppaction://hlinksldjump"/>
              </a:rPr>
              <a:t>BACK</a:t>
            </a:r>
            <a:endParaRPr kumimoji="1" lang="en-US" altLang="zh-CN" sz="2800" b="1">
              <a:latin typeface="Tahoma" panose="020B0604030504040204" pitchFamily="34" charset="0"/>
            </a:endParaRP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C1AC04F-44FD-4D86-92D5-02BF09E78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3375"/>
            <a:ext cx="807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latin typeface="宋体" panose="02010600030101010101" pitchFamily="2" charset="-122"/>
                <a:ea typeface="黑体" panose="02010609060101010101" pitchFamily="49" charset="-122"/>
              </a:rPr>
              <a:t>定理</a:t>
            </a:r>
            <a:r>
              <a:rPr lang="en-US" altLang="zh-CN" sz="2000" b="1">
                <a:latin typeface="Arial Black" panose="020B0A04020102020204" pitchFamily="34" charset="0"/>
                <a:ea typeface="黑体" panose="02010609060101010101" pitchFamily="49" charset="-122"/>
              </a:rPr>
              <a:t>1.3</a:t>
            </a:r>
            <a:r>
              <a:rPr lang="en-US" altLang="zh-CN" sz="2400" b="1">
                <a:latin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</a:rPr>
              <a:t>可逆矩阵可以经过有限次初等行变换化为单位阵。</a:t>
            </a:r>
          </a:p>
        </p:txBody>
      </p:sp>
      <p:sp>
        <p:nvSpPr>
          <p:cNvPr id="43012" name="Text Box 4">
            <a:extLst>
              <a:ext uri="{FF2B5EF4-FFF2-40B4-BE49-F238E27FC236}">
                <a16:creationId xmlns:a16="http://schemas.microsoft.com/office/drawing/2014/main" id="{82592CE7-C3B4-4C69-8EEB-511944C11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908050"/>
            <a:ext cx="8424862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 b="1">
                <a:solidFill>
                  <a:srgbClr val="0000FF"/>
                </a:solidFill>
              </a:rPr>
              <a:t>证明 </a:t>
            </a:r>
            <a:r>
              <a:rPr lang="zh-CN" altLang="en-US" sz="2400" b="1"/>
              <a:t> </a:t>
            </a:r>
            <a:r>
              <a:rPr lang="zh-CN" altLang="en-US" sz="2400" b="1">
                <a:latin typeface="宋体" panose="02010600030101010101" pitchFamily="2" charset="-122"/>
              </a:rPr>
              <a:t>设</a:t>
            </a:r>
            <a:r>
              <a:rPr lang="en-US" altLang="zh-CN" sz="2400" b="1">
                <a:latin typeface="宋体" panose="02010600030101010101" pitchFamily="2" charset="-122"/>
              </a:rPr>
              <a:t>A</a:t>
            </a:r>
            <a:r>
              <a:rPr lang="zh-CN" altLang="en-US" sz="2400" b="1">
                <a:latin typeface="宋体" panose="02010600030101010101" pitchFamily="2" charset="-122"/>
              </a:rPr>
              <a:t>为</a:t>
            </a:r>
            <a:r>
              <a:rPr lang="en-US" altLang="zh-CN" sz="2400" b="1">
                <a:latin typeface="宋体" panose="02010600030101010101" pitchFamily="2" charset="-122"/>
              </a:rPr>
              <a:t>n</a:t>
            </a:r>
            <a:r>
              <a:rPr lang="zh-CN" altLang="en-US" sz="2400" b="1">
                <a:latin typeface="宋体" panose="02010600030101010101" pitchFamily="2" charset="-122"/>
              </a:rPr>
              <a:t>阶可逆矩阵。</a:t>
            </a:r>
          </a:p>
          <a:p>
            <a:pPr eaLnBrk="1" hangingPunct="1">
              <a:lnSpc>
                <a:spcPct val="130000"/>
              </a:lnSpc>
            </a:pPr>
            <a:endParaRPr lang="en-US" altLang="zh-CN" sz="2400" b="1">
              <a:latin typeface="宋体" panose="02010600030101010101" pitchFamily="2" charset="-122"/>
            </a:endParaRPr>
          </a:p>
        </p:txBody>
      </p:sp>
      <p:graphicFrame>
        <p:nvGraphicFramePr>
          <p:cNvPr id="43013" name="Object 5">
            <a:extLst>
              <a:ext uri="{FF2B5EF4-FFF2-40B4-BE49-F238E27FC236}">
                <a16:creationId xmlns:a16="http://schemas.microsoft.com/office/drawing/2014/main" id="{6A1F9899-30B0-4B75-BD38-1D0104FD16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8375" y="1557338"/>
          <a:ext cx="4002088" cy="243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1" name="Equation" r:id="rId4" imgW="1549080" imgH="939600" progId="Equation.DSMT4">
                  <p:embed/>
                </p:oleObj>
              </mc:Choice>
              <mc:Fallback>
                <p:oleObj name="Equation" r:id="rId4" imgW="1549080" imgH="939600" progId="Equation.DSMT4">
                  <p:embed/>
                  <p:pic>
                    <p:nvPicPr>
                      <p:cNvPr id="43013" name="Object 5">
                        <a:extLst>
                          <a:ext uri="{FF2B5EF4-FFF2-40B4-BE49-F238E27FC236}">
                            <a16:creationId xmlns:a16="http://schemas.microsoft.com/office/drawing/2014/main" id="{6A1F9899-30B0-4B75-BD38-1D0104FD16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75" y="1557338"/>
                        <a:ext cx="4002088" cy="2433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4" name="Text Box 6">
            <a:extLst>
              <a:ext uri="{FF2B5EF4-FFF2-40B4-BE49-F238E27FC236}">
                <a16:creationId xmlns:a16="http://schemas.microsoft.com/office/drawing/2014/main" id="{E3A228EC-9945-4CAD-A998-DC3B5640E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114800"/>
            <a:ext cx="8424863" cy="246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因为</a:t>
            </a:r>
            <a:r>
              <a:rPr lang="en-US" altLang="zh-CN" sz="2400" b="1">
                <a:latin typeface="宋体" panose="02010600030101010101" pitchFamily="2" charset="-122"/>
              </a:rPr>
              <a:t>A</a:t>
            </a:r>
            <a:r>
              <a:rPr lang="zh-CN" altLang="en-US" sz="2400" b="1">
                <a:latin typeface="宋体" panose="02010600030101010101" pitchFamily="2" charset="-122"/>
              </a:rPr>
              <a:t>是可逆矩阵，所以</a:t>
            </a:r>
            <a:r>
              <a:rPr lang="en-US" altLang="zh-CN" sz="2400" b="1">
                <a:latin typeface="宋体" panose="02010600030101010101" pitchFamily="2" charset="-122"/>
              </a:rPr>
              <a:t>A</a:t>
            </a:r>
            <a:r>
              <a:rPr lang="zh-CN" altLang="en-US" sz="2400" b="1">
                <a:latin typeface="宋体" panose="02010600030101010101" pitchFamily="2" charset="-122"/>
              </a:rPr>
              <a:t>第一列不能全为零。这样就可以通过初等行变换将第一行第一列的元素变为不等于零。再对第一行第一列乘以适当的系数，可以把第一行第一列的元素变为</a:t>
            </a:r>
            <a:r>
              <a:rPr lang="en-US" altLang="zh-CN" sz="2400" b="1">
                <a:latin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</a:rPr>
              <a:t>。再用适当的倍数加到其他行。使得第一列的其他元素都是零，得到如下形式的矩阵：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utoUpdateAnimBg="0"/>
      <p:bldP spid="43012" grpId="0" build="p" autoUpdateAnimBg="0"/>
      <p:bldP spid="43014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2">
            <a:extLst>
              <a:ext uri="{FF2B5EF4-FFF2-40B4-BE49-F238E27FC236}">
                <a16:creationId xmlns:a16="http://schemas.microsoft.com/office/drawing/2014/main" id="{866A1B9F-D484-4621-AD77-6F88CFDD7D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404813"/>
          <a:ext cx="3805237" cy="243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5" name="Equation" r:id="rId3" imgW="1473120" imgH="939600" progId="Equation.DSMT4">
                  <p:embed/>
                </p:oleObj>
              </mc:Choice>
              <mc:Fallback>
                <p:oleObj name="Equation" r:id="rId3" imgW="1473120" imgH="939600" progId="Equation.DSMT4">
                  <p:embed/>
                  <p:pic>
                    <p:nvPicPr>
                      <p:cNvPr id="44034" name="Object 2">
                        <a:extLst>
                          <a:ext uri="{FF2B5EF4-FFF2-40B4-BE49-F238E27FC236}">
                            <a16:creationId xmlns:a16="http://schemas.microsoft.com/office/drawing/2014/main" id="{866A1B9F-D484-4621-AD77-6F88CFDD7D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04813"/>
                        <a:ext cx="3805237" cy="2433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" name="Text Box 3">
            <a:extLst>
              <a:ext uri="{FF2B5EF4-FFF2-40B4-BE49-F238E27FC236}">
                <a16:creationId xmlns:a16="http://schemas.microsoft.com/office/drawing/2014/main" id="{04D9185F-77AD-46AE-902D-786CA293C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924175"/>
            <a:ext cx="8424862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由可逆性知</a:t>
            </a:r>
            <a:r>
              <a:rPr lang="en-US" altLang="zh-CN" sz="2400" b="1">
                <a:latin typeface="宋体" panose="02010600030101010101" pitchFamily="2" charset="-122"/>
              </a:rPr>
              <a:t>b</a:t>
            </a:r>
            <a:r>
              <a:rPr lang="en-US" altLang="zh-CN" sz="2400" b="1" baseline="-25000">
                <a:latin typeface="宋体" panose="02010600030101010101" pitchFamily="2" charset="-122"/>
              </a:rPr>
              <a:t>22</a:t>
            </a:r>
            <a:r>
              <a:rPr lang="en-US" altLang="zh-CN" sz="2400" b="1">
                <a:latin typeface="宋体" panose="02010600030101010101" pitchFamily="2" charset="-122"/>
              </a:rPr>
              <a:t>,…,b</a:t>
            </a:r>
            <a:r>
              <a:rPr lang="en-US" altLang="zh-CN" sz="2400" b="1" baseline="-25000">
                <a:latin typeface="宋体" panose="02010600030101010101" pitchFamily="2" charset="-122"/>
              </a:rPr>
              <a:t>n2</a:t>
            </a:r>
            <a:r>
              <a:rPr lang="zh-CN" altLang="en-US" sz="2400" b="1">
                <a:latin typeface="宋体" panose="02010600030101010101" pitchFamily="2" charset="-122"/>
              </a:rPr>
              <a:t>中至少有一个不为零。（如果不是这样，则将</a:t>
            </a:r>
            <a:r>
              <a:rPr lang="en-US" altLang="zh-CN" sz="2400" b="1">
                <a:latin typeface="宋体" panose="02010600030101010101" pitchFamily="2" charset="-122"/>
              </a:rPr>
              <a:t>B</a:t>
            </a:r>
            <a:r>
              <a:rPr lang="zh-CN" altLang="en-US" sz="2400" b="1">
                <a:latin typeface="宋体" panose="02010600030101010101" pitchFamily="2" charset="-122"/>
              </a:rPr>
              <a:t>的第一列乘以（</a:t>
            </a:r>
            <a:r>
              <a:rPr lang="en-US" altLang="zh-CN" sz="2400" b="1">
                <a:latin typeface="宋体" panose="02010600030101010101" pitchFamily="2" charset="-122"/>
              </a:rPr>
              <a:t>-b</a:t>
            </a:r>
            <a:r>
              <a:rPr lang="en-US" altLang="zh-CN" sz="2400" b="1" baseline="-25000">
                <a:latin typeface="宋体" panose="02010600030101010101" pitchFamily="2" charset="-122"/>
              </a:rPr>
              <a:t>12</a:t>
            </a:r>
            <a:r>
              <a:rPr lang="zh-CN" altLang="en-US" sz="2400" b="1">
                <a:latin typeface="宋体" panose="02010600030101010101" pitchFamily="2" charset="-122"/>
              </a:rPr>
              <a:t>）加到第二列中，则第二列全为零，这与逆矩阵的性质相矛盾。）。</a:t>
            </a:r>
            <a:r>
              <a:rPr lang="zh-CN" altLang="en-US" sz="2400" b="1"/>
              <a:t>这样就可以通过初等变换将第二行第二列的元素变为不等于零。再对第二行第二列乘以适当的系数，可以把第二行第二列的元素变为</a:t>
            </a:r>
            <a:r>
              <a:rPr lang="en-US" altLang="zh-CN" sz="2400" b="1"/>
              <a:t>1</a:t>
            </a:r>
            <a:r>
              <a:rPr lang="zh-CN" altLang="en-US" sz="2400" b="1"/>
              <a:t>。再将第二行乘以适当的数加到下面各行。得到矩阵：</a:t>
            </a: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40FF4700-2D6F-4D6A-B420-94EDFDA42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8925" y="6000750"/>
            <a:ext cx="1157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ahoma" panose="020B0604030504040204" pitchFamily="34" charset="0"/>
                <a:hlinkClick r:id="rId5" action="ppaction://hlinksldjump"/>
              </a:rPr>
              <a:t>BACK</a:t>
            </a:r>
            <a:endParaRPr kumimoji="1" lang="en-US" altLang="zh-CN" sz="2800" b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074C347E-7E34-494D-BB67-4832F1203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716338"/>
            <a:ext cx="8305800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latin typeface="宋体" panose="02010600030101010101" pitchFamily="2" charset="-122"/>
              </a:rPr>
              <a:t>类似地可以证明， </a:t>
            </a:r>
            <a:r>
              <a:rPr lang="en-US" altLang="zh-CN" sz="2400" b="1"/>
              <a:t>C</a:t>
            </a:r>
            <a:r>
              <a:rPr lang="en-US" altLang="zh-CN" sz="2400" b="1" baseline="-25000"/>
              <a:t>33</a:t>
            </a:r>
            <a:r>
              <a:rPr lang="en-US" altLang="zh-CN" sz="2400" b="1"/>
              <a:t>,…,C</a:t>
            </a:r>
            <a:r>
              <a:rPr lang="en-US" altLang="zh-CN" sz="2400" b="1" baseline="-25000"/>
              <a:t>n3</a:t>
            </a:r>
            <a:r>
              <a:rPr lang="zh-CN" altLang="en-US" sz="2400" b="1"/>
              <a:t>中至少有一个不为零。并通过适当的行变换将第三行第三列的元素变为</a:t>
            </a:r>
            <a:r>
              <a:rPr lang="en-US" altLang="zh-CN" sz="2400" b="1"/>
              <a:t>1</a:t>
            </a:r>
            <a:r>
              <a:rPr lang="zh-CN" altLang="en-US" sz="2400" b="1"/>
              <a:t>，将以后各行的元素全部变为零。</a:t>
            </a:r>
          </a:p>
          <a:p>
            <a:pPr>
              <a:spcBef>
                <a:spcPct val="50000"/>
              </a:spcBef>
            </a:pPr>
            <a:r>
              <a:rPr lang="zh-CN" altLang="en-US" sz="2400" b="1"/>
              <a:t>  重复下去，最后可以将矩阵</a:t>
            </a:r>
            <a:r>
              <a:rPr lang="en-US" altLang="zh-CN" sz="2400" b="1"/>
              <a:t>A</a:t>
            </a:r>
            <a:r>
              <a:rPr lang="zh-CN" altLang="en-US" sz="2400" b="1"/>
              <a:t>变为上三角矩阵形式：</a:t>
            </a:r>
          </a:p>
        </p:txBody>
      </p:sp>
      <p:graphicFrame>
        <p:nvGraphicFramePr>
          <p:cNvPr id="45059" name="Object 3">
            <a:extLst>
              <a:ext uri="{FF2B5EF4-FFF2-40B4-BE49-F238E27FC236}">
                <a16:creationId xmlns:a16="http://schemas.microsoft.com/office/drawing/2014/main" id="{B1E9D807-BD30-43CB-8B2A-3E0EE5A277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0463" y="325438"/>
          <a:ext cx="4724400" cy="302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9" name="Equation" r:id="rId3" imgW="1828800" imgH="1168200" progId="Equation.DSMT4">
                  <p:embed/>
                </p:oleObj>
              </mc:Choice>
              <mc:Fallback>
                <p:oleObj name="Equation" r:id="rId3" imgW="1828800" imgH="1168200" progId="Equation.DSMT4">
                  <p:embed/>
                  <p:pic>
                    <p:nvPicPr>
                      <p:cNvPr id="45059" name="Object 3">
                        <a:extLst>
                          <a:ext uri="{FF2B5EF4-FFF2-40B4-BE49-F238E27FC236}">
                            <a16:creationId xmlns:a16="http://schemas.microsoft.com/office/drawing/2014/main" id="{B1E9D807-BD30-43CB-8B2A-3E0EE5A277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463" y="325438"/>
                        <a:ext cx="4724400" cy="302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4">
            <a:extLst>
              <a:ext uri="{FF2B5EF4-FFF2-40B4-BE49-F238E27FC236}">
                <a16:creationId xmlns:a16="http://schemas.microsoft.com/office/drawing/2014/main" id="{294E4D5E-8086-4330-B8B8-75DA6DEBD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25" y="5924550"/>
            <a:ext cx="1157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ahoma" panose="020B0604030504040204" pitchFamily="34" charset="0"/>
                <a:hlinkClick r:id="rId5" action="ppaction://hlinksldjump"/>
              </a:rPr>
              <a:t>BACK</a:t>
            </a:r>
            <a:endParaRPr kumimoji="1" lang="en-US" altLang="zh-CN" sz="2800" b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2" name="Object 2">
            <a:extLst>
              <a:ext uri="{FF2B5EF4-FFF2-40B4-BE49-F238E27FC236}">
                <a16:creationId xmlns:a16="http://schemas.microsoft.com/office/drawing/2014/main" id="{EB9C8194-E411-406C-934F-29A30E4973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684213"/>
          <a:ext cx="3154362" cy="253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3" name="Equation" r:id="rId3" imgW="952200" imgH="914400" progId="Equation.DSMT4">
                  <p:embed/>
                </p:oleObj>
              </mc:Choice>
              <mc:Fallback>
                <p:oleObj name="Equation" r:id="rId3" imgW="952200" imgH="914400" progId="Equation.DSMT4">
                  <p:embed/>
                  <p:pic>
                    <p:nvPicPr>
                      <p:cNvPr id="46082" name="Object 2">
                        <a:extLst>
                          <a:ext uri="{FF2B5EF4-FFF2-40B4-BE49-F238E27FC236}">
                            <a16:creationId xmlns:a16="http://schemas.microsoft.com/office/drawing/2014/main" id="{EB9C8194-E411-406C-934F-29A30E4973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684213"/>
                        <a:ext cx="3154362" cy="2536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3" name="Rectangle 3">
            <a:extLst>
              <a:ext uri="{FF2B5EF4-FFF2-40B4-BE49-F238E27FC236}">
                <a16:creationId xmlns:a16="http://schemas.microsoft.com/office/drawing/2014/main" id="{96C47877-28A5-4CE2-B56A-3E7F0F719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716338"/>
            <a:ext cx="83058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latin typeface="宋体" panose="02010600030101010101" pitchFamily="2" charset="-122"/>
              </a:rPr>
              <a:t>将此上三角阵的第</a:t>
            </a:r>
            <a:r>
              <a:rPr lang="en-US" altLang="zh-CN" sz="2400" b="1">
                <a:latin typeface="宋体" panose="02010600030101010101" pitchFamily="2" charset="-122"/>
              </a:rPr>
              <a:t>n</a:t>
            </a:r>
            <a:r>
              <a:rPr lang="zh-CN" altLang="en-US" sz="2400" b="1">
                <a:latin typeface="宋体" panose="02010600030101010101" pitchFamily="2" charset="-122"/>
              </a:rPr>
              <a:t>行乘以适当参数，加到上面各行中，可以使第</a:t>
            </a:r>
            <a:r>
              <a:rPr lang="en-US" altLang="zh-CN" sz="2400" b="1">
                <a:latin typeface="宋体" panose="02010600030101010101" pitchFamily="2" charset="-122"/>
              </a:rPr>
              <a:t>n</a:t>
            </a:r>
            <a:r>
              <a:rPr lang="zh-CN" altLang="en-US" sz="2400" b="1">
                <a:latin typeface="宋体" panose="02010600030101010101" pitchFamily="2" charset="-122"/>
              </a:rPr>
              <a:t>列的非角元素全变为零</a:t>
            </a:r>
            <a:r>
              <a:rPr lang="zh-CN" altLang="en-US" sz="2400" b="1"/>
              <a:t>：第</a:t>
            </a:r>
            <a:r>
              <a:rPr lang="en-US" altLang="zh-CN" sz="2400" b="1"/>
              <a:t>n-1</a:t>
            </a:r>
            <a:r>
              <a:rPr lang="zh-CN" altLang="en-US" sz="2400" b="1"/>
              <a:t>行乘以适当的数，加到上面各行中，可以使第</a:t>
            </a:r>
            <a:r>
              <a:rPr lang="en-US" altLang="zh-CN" sz="2400" b="1"/>
              <a:t>n-1</a:t>
            </a:r>
            <a:r>
              <a:rPr lang="zh-CN" altLang="en-US" sz="2400" b="1"/>
              <a:t>列的非对角元素全变为零；依此类推，最后可以得到单位阵。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AED71BA9-03F7-4870-9689-D8548FE11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725" y="5695950"/>
            <a:ext cx="1157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latin typeface="Tahoma" panose="020B0604030504040204" pitchFamily="34" charset="0"/>
                <a:hlinkClick r:id="rId5" action="ppaction://hlinksldjump"/>
              </a:rPr>
              <a:t>BACK</a:t>
            </a:r>
            <a:endParaRPr kumimoji="1" lang="en-US" altLang="zh-CN" sz="2800" b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2">
            <a:extLst>
              <a:ext uri="{FF2B5EF4-FFF2-40B4-BE49-F238E27FC236}">
                <a16:creationId xmlns:a16="http://schemas.microsoft.com/office/drawing/2014/main" id="{3780E406-DDDC-416E-8955-D171519CE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0" y="6005513"/>
            <a:ext cx="1030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ahoma" panose="020B0604030504040204" pitchFamily="34" charset="0"/>
                <a:hlinkClick r:id="rId3" action="ppaction://hlinksldjump"/>
              </a:rPr>
              <a:t>BACK</a:t>
            </a:r>
            <a:endParaRPr kumimoji="1" lang="en-US" altLang="zh-CN" sz="2800">
              <a:latin typeface="Tahoma" panose="020B0604030504040204" pitchFamily="34" charset="0"/>
            </a:endParaRPr>
          </a:p>
        </p:txBody>
      </p:sp>
      <p:sp>
        <p:nvSpPr>
          <p:cNvPr id="21508" name="Text Box 3">
            <a:extLst>
              <a:ext uri="{FF2B5EF4-FFF2-40B4-BE49-F238E27FC236}">
                <a16:creationId xmlns:a16="http://schemas.microsoft.com/office/drawing/2014/main" id="{4EE9555F-D14E-4CD8-9DBF-9651254E5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31813"/>
            <a:ext cx="8610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</a:rPr>
              <a:t>定理</a:t>
            </a:r>
            <a:r>
              <a:rPr kumimoji="1" lang="en-US" altLang="zh-CN" sz="2800" b="1">
                <a:solidFill>
                  <a:srgbClr val="3333FF"/>
                </a:solidFill>
                <a:latin typeface="Tahoma" panose="020B0604030504040204" pitchFamily="34" charset="0"/>
              </a:rPr>
              <a:t>1.4 </a:t>
            </a: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</a:rPr>
              <a:t>方阵</a:t>
            </a:r>
            <a:r>
              <a:rPr kumimoji="1" lang="en-US" altLang="zh-CN" sz="2800" b="1">
                <a:solidFill>
                  <a:srgbClr val="3333FF"/>
                </a:solidFill>
                <a:latin typeface="Tahoma" panose="020B0604030504040204" pitchFamily="34" charset="0"/>
              </a:rPr>
              <a:t>P</a:t>
            </a: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</a:rPr>
              <a:t>为可逆阵的充分必要条件是</a:t>
            </a:r>
            <a:r>
              <a:rPr kumimoji="1" lang="en-US" altLang="zh-CN" sz="2800" b="1">
                <a:solidFill>
                  <a:srgbClr val="3333FF"/>
                </a:solidFill>
                <a:latin typeface="Tahoma" panose="020B0604030504040204" pitchFamily="34" charset="0"/>
              </a:rPr>
              <a:t>P</a:t>
            </a:r>
            <a:r>
              <a:rPr kumimoji="1" lang="zh-CN" altLang="en-US" sz="2800" b="1">
                <a:solidFill>
                  <a:srgbClr val="3333FF"/>
                </a:solidFill>
                <a:latin typeface="Tahoma" panose="020B0604030504040204" pitchFamily="34" charset="0"/>
              </a:rPr>
              <a:t>可以表示为有限个初等矩阵的乘积</a:t>
            </a:r>
            <a:endParaRPr kumimoji="1" lang="zh-CN" altLang="en-US" sz="2800" b="1">
              <a:solidFill>
                <a:srgbClr val="080808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21506" name="Object 4">
            <a:extLst>
              <a:ext uri="{FF2B5EF4-FFF2-40B4-BE49-F238E27FC236}">
                <a16:creationId xmlns:a16="http://schemas.microsoft.com/office/drawing/2014/main" id="{E0B73819-20EA-4580-8DD4-9FD92D6051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6100" y="4248150"/>
          <a:ext cx="67818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7" name="Equation" r:id="rId4" imgW="2590560" imgH="736560" progId="Equation.DSMT4">
                  <p:embed/>
                </p:oleObj>
              </mc:Choice>
              <mc:Fallback>
                <p:oleObj name="Equation" r:id="rId4" imgW="2590560" imgH="736560" progId="Equation.DSMT4">
                  <p:embed/>
                  <p:pic>
                    <p:nvPicPr>
                      <p:cNvPr id="21506" name="Object 4">
                        <a:extLst>
                          <a:ext uri="{FF2B5EF4-FFF2-40B4-BE49-F238E27FC236}">
                            <a16:creationId xmlns:a16="http://schemas.microsoft.com/office/drawing/2014/main" id="{E0B73819-20EA-4580-8DD4-9FD92D6051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4248150"/>
                        <a:ext cx="67818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Rectangle 5">
            <a:extLst>
              <a:ext uri="{FF2B5EF4-FFF2-40B4-BE49-F238E27FC236}">
                <a16:creationId xmlns:a16="http://schemas.microsoft.com/office/drawing/2014/main" id="{B86DF9DA-4B9A-42DF-9FE6-988126072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2620963"/>
            <a:ext cx="8532813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ahoma" panose="020B0604030504040204" pitchFamily="34" charset="0"/>
              </a:rPr>
              <a:t>必要性，</a:t>
            </a:r>
            <a:r>
              <a:rPr kumimoji="1" lang="zh-CN" altLang="en-US" sz="2800" b="1">
                <a:solidFill>
                  <a:srgbClr val="080808"/>
                </a:solidFill>
                <a:latin typeface="Tahoma" panose="020B0604030504040204" pitchFamily="34" charset="0"/>
              </a:rPr>
              <a:t>由定理</a:t>
            </a:r>
            <a:r>
              <a:rPr kumimoji="1" lang="en-US" altLang="zh-CN" sz="2800" b="1">
                <a:solidFill>
                  <a:srgbClr val="080808"/>
                </a:solidFill>
                <a:latin typeface="Tahoma" panose="020B0604030504040204" pitchFamily="34" charset="0"/>
              </a:rPr>
              <a:t>1.3</a:t>
            </a:r>
            <a:r>
              <a:rPr kumimoji="1" lang="zh-CN" altLang="en-US" sz="2800" b="1">
                <a:solidFill>
                  <a:srgbClr val="080808"/>
                </a:solidFill>
                <a:latin typeface="Tahoma" panose="020B0604030504040204" pitchFamily="34" charset="0"/>
              </a:rPr>
              <a:t>可知，可逆方阵</a:t>
            </a:r>
            <a:r>
              <a:rPr kumimoji="1" lang="en-US" altLang="zh-CN" sz="2800" b="1">
                <a:solidFill>
                  <a:srgbClr val="080808"/>
                </a:solidFill>
                <a:latin typeface="Tahoma" panose="020B0604030504040204" pitchFamily="34" charset="0"/>
              </a:rPr>
              <a:t>P</a:t>
            </a:r>
            <a:r>
              <a:rPr kumimoji="1" lang="zh-CN" altLang="en-US" sz="2800" b="1">
                <a:solidFill>
                  <a:srgbClr val="080808"/>
                </a:solidFill>
                <a:latin typeface="Tahoma" panose="020B0604030504040204" pitchFamily="34" charset="0"/>
              </a:rPr>
              <a:t>可以经过有</a:t>
            </a:r>
          </a:p>
          <a:p>
            <a:pPr eaLnBrk="1" hangingPunct="1"/>
            <a:r>
              <a:rPr kumimoji="1" lang="zh-CN" altLang="en-US" sz="2800" b="1">
                <a:solidFill>
                  <a:srgbClr val="080808"/>
                </a:solidFill>
                <a:latin typeface="Tahoma" panose="020B0604030504040204" pitchFamily="34" charset="0"/>
              </a:rPr>
              <a:t>限次行的初等变换化成单位矩阵</a:t>
            </a:r>
            <a:r>
              <a:rPr kumimoji="1" lang="en-US" altLang="zh-CN" sz="2800" b="1">
                <a:solidFill>
                  <a:srgbClr val="080808"/>
                </a:solidFill>
                <a:latin typeface="Tahoma" panose="020B0604030504040204" pitchFamily="34" charset="0"/>
              </a:rPr>
              <a:t>I,</a:t>
            </a:r>
            <a:r>
              <a:rPr kumimoji="1" lang="zh-CN" altLang="en-US" sz="2800" b="1">
                <a:solidFill>
                  <a:srgbClr val="080808"/>
                </a:solidFill>
                <a:latin typeface="Tahoma" panose="020B0604030504040204" pitchFamily="34" charset="0"/>
              </a:rPr>
              <a:t>则由定理</a:t>
            </a:r>
            <a:r>
              <a:rPr kumimoji="1" lang="en-US" altLang="zh-CN" sz="2800" b="1">
                <a:solidFill>
                  <a:srgbClr val="080808"/>
                </a:solidFill>
                <a:latin typeface="Tahoma" panose="020B0604030504040204" pitchFamily="34" charset="0"/>
              </a:rPr>
              <a:t>1.2</a:t>
            </a:r>
            <a:r>
              <a:rPr kumimoji="1" lang="zh-CN" altLang="en-US" sz="2800" b="1">
                <a:solidFill>
                  <a:srgbClr val="080808"/>
                </a:solidFill>
                <a:latin typeface="Tahoma" panose="020B0604030504040204" pitchFamily="34" charset="0"/>
              </a:rPr>
              <a:t>知：</a:t>
            </a:r>
          </a:p>
          <a:p>
            <a:pPr eaLnBrk="1" hangingPunct="1"/>
            <a:r>
              <a:rPr kumimoji="1" lang="zh-CN" altLang="en-US" sz="2800" b="1">
                <a:solidFill>
                  <a:srgbClr val="080808"/>
                </a:solidFill>
                <a:latin typeface="Tahoma" panose="020B0604030504040204" pitchFamily="34" charset="0"/>
              </a:rPr>
              <a:t>存在初等矩阵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3CD4196C-9DAB-4B03-BF79-39A87E0AF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8" y="1468438"/>
            <a:ext cx="82089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ahoma" panose="020B0604030504040204" pitchFamily="34" charset="0"/>
              </a:rPr>
              <a:t>证明：充分性，</a:t>
            </a:r>
            <a:r>
              <a:rPr kumimoji="1" lang="zh-CN" altLang="en-US" sz="2800" b="1">
                <a:solidFill>
                  <a:srgbClr val="080808"/>
                </a:solidFill>
                <a:latin typeface="Tahoma" panose="020B0604030504040204" pitchFamily="34" charset="0"/>
              </a:rPr>
              <a:t>如果方阵</a:t>
            </a:r>
            <a:r>
              <a:rPr kumimoji="1" lang="en-US" altLang="zh-CN" sz="2800" b="1">
                <a:solidFill>
                  <a:srgbClr val="080808"/>
                </a:solidFill>
                <a:latin typeface="Tahoma" panose="020B0604030504040204" pitchFamily="34" charset="0"/>
              </a:rPr>
              <a:t>P</a:t>
            </a:r>
            <a:r>
              <a:rPr kumimoji="1" lang="zh-CN" altLang="en-US" sz="2800" b="1">
                <a:solidFill>
                  <a:srgbClr val="080808"/>
                </a:solidFill>
                <a:latin typeface="Tahoma" panose="020B0604030504040204" pitchFamily="34" charset="0"/>
              </a:rPr>
              <a:t>可以表示为有限个初等矩阵的乘积，则由定理</a:t>
            </a:r>
            <a:r>
              <a:rPr kumimoji="1" lang="en-US" altLang="zh-CN" sz="2800" b="1">
                <a:solidFill>
                  <a:srgbClr val="080808"/>
                </a:solidFill>
                <a:latin typeface="Tahoma" panose="020B0604030504040204" pitchFamily="34" charset="0"/>
              </a:rPr>
              <a:t>1.2</a:t>
            </a:r>
            <a:r>
              <a:rPr kumimoji="1" lang="zh-CN" altLang="en-US" sz="2800" b="1">
                <a:solidFill>
                  <a:srgbClr val="080808"/>
                </a:solidFill>
                <a:latin typeface="Tahoma" panose="020B0604030504040204" pitchFamily="34" charset="0"/>
              </a:rPr>
              <a:t>的结论，</a:t>
            </a:r>
            <a:r>
              <a:rPr kumimoji="1" lang="en-US" altLang="zh-CN" sz="2800" b="1">
                <a:solidFill>
                  <a:srgbClr val="080808"/>
                </a:solidFill>
                <a:latin typeface="Tahoma" panose="020B0604030504040204" pitchFamily="34" charset="0"/>
              </a:rPr>
              <a:t>P</a:t>
            </a:r>
            <a:r>
              <a:rPr kumimoji="1" lang="zh-CN" altLang="en-US" sz="2800" b="1">
                <a:solidFill>
                  <a:srgbClr val="080808"/>
                </a:solidFill>
                <a:latin typeface="Tahoma" panose="020B0604030504040204" pitchFamily="34" charset="0"/>
              </a:rPr>
              <a:t>为可逆。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76851" y="2556694"/>
            <a:ext cx="3204430" cy="4278255"/>
          </a:xfrm>
          <a:prstGeom prst="rect">
            <a:avLst/>
          </a:prstGeom>
        </p:spPr>
      </p:pic>
      <p:sp>
        <p:nvSpPr>
          <p:cNvPr id="4" name="TextBox 15"/>
          <p:cNvSpPr txBox="1"/>
          <p:nvPr/>
        </p:nvSpPr>
        <p:spPr>
          <a:xfrm>
            <a:off x="2555776" y="406717"/>
            <a:ext cx="35210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00100"/>
            <a:r>
              <a:rPr lang="zh-CN" altLang="en-US" sz="4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  业</a:t>
            </a:r>
          </a:p>
        </p:txBody>
      </p:sp>
      <p:sp>
        <p:nvSpPr>
          <p:cNvPr id="5" name="TextBox 15"/>
          <p:cNvSpPr txBox="1"/>
          <p:nvPr/>
        </p:nvSpPr>
        <p:spPr>
          <a:xfrm>
            <a:off x="1115651" y="1240893"/>
            <a:ext cx="4464496" cy="2422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00100"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2.12   1, 2</a:t>
            </a:r>
          </a:p>
          <a:p>
            <a:pPr defTabSz="800100"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2.13    2</a:t>
            </a:r>
          </a:p>
          <a:p>
            <a:pPr defTabSz="800100"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2.14    1(2), 2</a:t>
            </a:r>
          </a:p>
          <a:p>
            <a:pPr defTabSz="800100"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2.15     (2),(3)</a:t>
            </a: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5"/>
          <p:cNvSpPr txBox="1"/>
          <p:nvPr/>
        </p:nvSpPr>
        <p:spPr>
          <a:xfrm>
            <a:off x="1115651" y="3727894"/>
            <a:ext cx="5472608" cy="2422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00100">
              <a:lnSpc>
                <a:spcPct val="150000"/>
              </a:lnSpc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预习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2.16-2.18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节，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00100">
              <a:lnSpc>
                <a:spcPct val="150000"/>
              </a:lnSpc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观看视频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P67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2.16</a:t>
            </a:r>
          </a:p>
          <a:p>
            <a:pPr defTabSz="800100">
              <a:lnSpc>
                <a:spcPct val="150000"/>
              </a:lnSpc>
            </a:pPr>
            <a:r>
              <a:rPr lang="zh-CN" altLang="en-US" sz="2600" dirty="0">
                <a:latin typeface="微软雅黑" panose="020B0503020204020204" pitchFamily="34" charset="-122"/>
              </a:rPr>
              <a:t>观看视频</a:t>
            </a:r>
            <a:r>
              <a:rPr lang="en-US" altLang="zh-CN" sz="2600" dirty="0">
                <a:latin typeface="微软雅黑" panose="020B0503020204020204" pitchFamily="34" charset="-122"/>
              </a:rPr>
              <a:t>P68</a:t>
            </a:r>
            <a:r>
              <a:rPr lang="zh-CN" altLang="en-US" sz="2600" dirty="0">
                <a:latin typeface="微软雅黑" panose="020B0503020204020204" pitchFamily="34" charset="-122"/>
              </a:rPr>
              <a:t>视频</a:t>
            </a:r>
            <a:r>
              <a:rPr lang="en-US" altLang="zh-CN" sz="2600" dirty="0">
                <a:latin typeface="微软雅黑" panose="020B0503020204020204" pitchFamily="34" charset="-122"/>
              </a:rPr>
              <a:t>2.17</a:t>
            </a:r>
          </a:p>
          <a:p>
            <a:pPr defTabSz="800100">
              <a:lnSpc>
                <a:spcPct val="150000"/>
              </a:lnSpc>
            </a:pPr>
            <a:r>
              <a:rPr lang="zh-CN" altLang="en-US" sz="2600" dirty="0">
                <a:latin typeface="微软雅黑" panose="020B0503020204020204" pitchFamily="34" charset="-122"/>
              </a:rPr>
              <a:t>观看视频</a:t>
            </a:r>
            <a:r>
              <a:rPr lang="en-US" altLang="zh-CN" sz="2600" dirty="0">
                <a:latin typeface="微软雅黑" panose="020B0503020204020204" pitchFamily="34" charset="-122"/>
              </a:rPr>
              <a:t>P69</a:t>
            </a:r>
            <a:r>
              <a:rPr lang="zh-CN" altLang="en-US" sz="2600" dirty="0">
                <a:latin typeface="微软雅黑" panose="020B0503020204020204" pitchFamily="34" charset="-122"/>
              </a:rPr>
              <a:t>视频</a:t>
            </a:r>
            <a:r>
              <a:rPr lang="en-US" altLang="zh-CN" sz="2600" dirty="0">
                <a:latin typeface="微软雅黑" panose="020B0503020204020204" pitchFamily="34" charset="-122"/>
              </a:rPr>
              <a:t>2.18</a:t>
            </a:r>
          </a:p>
        </p:txBody>
      </p:sp>
    </p:spTree>
    <p:extLst>
      <p:ext uri="{BB962C8B-B14F-4D97-AF65-F5344CB8AC3E}">
        <p14:creationId xmlns:p14="http://schemas.microsoft.com/office/powerpoint/2010/main" val="1315660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960</TotalTime>
  <Words>1669</Words>
  <Application>Microsoft Office PowerPoint</Application>
  <PresentationFormat>全屏显示(4:3)</PresentationFormat>
  <Paragraphs>204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41</vt:i4>
      </vt:variant>
    </vt:vector>
  </HeadingPairs>
  <TitlesOfParts>
    <vt:vector size="56" baseType="lpstr">
      <vt:lpstr>黑体</vt:lpstr>
      <vt:lpstr>楷体_GB2312</vt:lpstr>
      <vt:lpstr>宋体</vt:lpstr>
      <vt:lpstr>微软雅黑</vt:lpstr>
      <vt:lpstr>Arial</vt:lpstr>
      <vt:lpstr>Arial Black</vt:lpstr>
      <vt:lpstr>Calibri</vt:lpstr>
      <vt:lpstr>Tahoma</vt:lpstr>
      <vt:lpstr>Times New Roman</vt:lpstr>
      <vt:lpstr>Verdana</vt:lpstr>
      <vt:lpstr>Wingdings</vt:lpstr>
      <vt:lpstr>Office 主题</vt:lpstr>
      <vt:lpstr>Equation</vt:lpstr>
      <vt:lpstr>公式</vt:lpstr>
      <vt:lpstr>MathType 5.0 Equation</vt:lpstr>
      <vt:lpstr>第八讲  克莱姆法则与可逆矩阵</vt:lpstr>
      <vt:lpstr>一、克莱姆(Crammer)法则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二、可逆矩阵</vt:lpstr>
      <vt:lpstr>PowerPoint 演示文稿</vt:lpstr>
      <vt:lpstr>PowerPoint 演示文稿</vt:lpstr>
      <vt:lpstr>PowerPoint 演示文稿</vt:lpstr>
      <vt:lpstr>三、可逆矩阵的求法(1)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四、可逆矩阵的求法(2)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特征值与特征向量</dc:title>
  <dc:creator>Administrator</dc:creator>
  <cp:lastModifiedBy>Administrator</cp:lastModifiedBy>
  <cp:revision>226</cp:revision>
  <dcterms:created xsi:type="dcterms:W3CDTF">2020-12-08T11:04:00Z</dcterms:created>
  <dcterms:modified xsi:type="dcterms:W3CDTF">2025-02-28T10:05:13Z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