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4" r:id="rId6"/>
    <p:sldId id="276" r:id="rId7"/>
    <p:sldId id="277" r:id="rId8"/>
    <p:sldId id="268" r:id="rId9"/>
    <p:sldId id="269" r:id="rId10"/>
    <p:sldId id="270" r:id="rId11"/>
    <p:sldId id="259" r:id="rId12"/>
    <p:sldId id="278" r:id="rId13"/>
    <p:sldId id="292" r:id="rId14"/>
    <p:sldId id="293" r:id="rId15"/>
    <p:sldId id="294" r:id="rId16"/>
    <p:sldId id="295" r:id="rId17"/>
    <p:sldId id="296" r:id="rId18"/>
    <p:sldId id="263" r:id="rId19"/>
    <p:sldId id="307" r:id="rId20"/>
    <p:sldId id="279" r:id="rId21"/>
    <p:sldId id="280" r:id="rId22"/>
    <p:sldId id="281" r:id="rId23"/>
    <p:sldId id="282" r:id="rId24"/>
    <p:sldId id="308" r:id="rId25"/>
    <p:sldId id="309" r:id="rId26"/>
    <p:sldId id="310" r:id="rId27"/>
    <p:sldId id="311" r:id="rId28"/>
    <p:sldId id="321" r:id="rId29"/>
    <p:sldId id="260" r:id="rId30"/>
    <p:sldId id="285" r:id="rId31"/>
    <p:sldId id="286" r:id="rId32"/>
    <p:sldId id="287" r:id="rId33"/>
    <p:sldId id="288" r:id="rId34"/>
    <p:sldId id="289" r:id="rId35"/>
    <p:sldId id="312" r:id="rId36"/>
    <p:sldId id="313" r:id="rId37"/>
    <p:sldId id="316" r:id="rId38"/>
    <p:sldId id="314" r:id="rId39"/>
    <p:sldId id="317" r:id="rId40"/>
    <p:sldId id="319" r:id="rId41"/>
    <p:sldId id="320" r:id="rId42"/>
    <p:sldId id="322" r:id="rId43"/>
    <p:sldId id="272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6725" autoAdjust="0"/>
  </p:normalViewPr>
  <p:slideViewPr>
    <p:cSldViewPr showGuides="1">
      <p:cViewPr varScale="1">
        <p:scale>
          <a:sx n="86" d="100"/>
          <a:sy n="86" d="100"/>
        </p:scale>
        <p:origin x="13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2.wmf"/><Relationship Id="rId4" Type="http://schemas.openxmlformats.org/officeDocument/2006/relationships/image" Target="../media/image59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2" Type="http://schemas.openxmlformats.org/officeDocument/2006/relationships/image" Target="../media/image83.wmf"/><Relationship Id="rId11" Type="http://schemas.openxmlformats.org/officeDocument/2006/relationships/image" Target="../media/image82.wmf"/><Relationship Id="rId10" Type="http://schemas.openxmlformats.org/officeDocument/2006/relationships/image" Target="../media/image81.wmf"/><Relationship Id="rId1" Type="http://schemas.openxmlformats.org/officeDocument/2006/relationships/image" Target="../media/image72.e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0" Type="http://schemas.openxmlformats.org/officeDocument/2006/relationships/image" Target="../media/image77.wmf"/><Relationship Id="rId1" Type="http://schemas.openxmlformats.org/officeDocument/2006/relationships/image" Target="../media/image8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image" Target="../media/image101.wmf"/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8" Type="http://schemas.openxmlformats.org/officeDocument/2006/relationships/image" Target="../media/image111.wmf"/><Relationship Id="rId17" Type="http://schemas.openxmlformats.org/officeDocument/2006/relationships/image" Target="../media/image110.wmf"/><Relationship Id="rId16" Type="http://schemas.openxmlformats.org/officeDocument/2006/relationships/image" Target="../media/image109.wmf"/><Relationship Id="rId15" Type="http://schemas.openxmlformats.org/officeDocument/2006/relationships/image" Target="../media/image108.wmf"/><Relationship Id="rId14" Type="http://schemas.openxmlformats.org/officeDocument/2006/relationships/image" Target="../media/image107.wmf"/><Relationship Id="rId13" Type="http://schemas.openxmlformats.org/officeDocument/2006/relationships/image" Target="../media/image106.wmf"/><Relationship Id="rId12" Type="http://schemas.openxmlformats.org/officeDocument/2006/relationships/image" Target="../media/image105.wmf"/><Relationship Id="rId11" Type="http://schemas.openxmlformats.org/officeDocument/2006/relationships/image" Target="../media/image104.wmf"/><Relationship Id="rId10" Type="http://schemas.openxmlformats.org/officeDocument/2006/relationships/image" Target="../media/image103.wmf"/><Relationship Id="rId1" Type="http://schemas.openxmlformats.org/officeDocument/2006/relationships/image" Target="../media/image94.e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4.wmf"/><Relationship Id="rId3" Type="http://schemas.openxmlformats.org/officeDocument/2006/relationships/image" Target="../media/image107.wmf"/><Relationship Id="rId2" Type="http://schemas.openxmlformats.org/officeDocument/2006/relationships/image" Target="../media/image113.wmf"/><Relationship Id="rId1" Type="http://schemas.openxmlformats.org/officeDocument/2006/relationships/image" Target="../media/image112.e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wmf"/><Relationship Id="rId8" Type="http://schemas.openxmlformats.org/officeDocument/2006/relationships/image" Target="../media/image122.wmf"/><Relationship Id="rId7" Type="http://schemas.openxmlformats.org/officeDocument/2006/relationships/image" Target="../media/image121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0" Type="http://schemas.openxmlformats.org/officeDocument/2006/relationships/image" Target="../media/image124.wmf"/><Relationship Id="rId1" Type="http://schemas.openxmlformats.org/officeDocument/2006/relationships/image" Target="../media/image115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98450" y="228600"/>
            <a:ext cx="8540750" cy="5870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25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B5DA8-585F-465E-BCEC-E91217405230}" type="datetime3">
              <a:rPr lang="zh-CN" altLang="en-US"/>
            </a:fld>
            <a:endParaRPr lang="en-US" altLang="zh-CN"/>
          </a:p>
        </p:txBody>
      </p:sp>
      <p:sp>
        <p:nvSpPr>
          <p:cNvPr id="4" name="Rectangle 2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5" name="Rectangle 25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238C1-B2D1-4DAA-9EEF-983FA6FED8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6.w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42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4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45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49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4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4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60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65.bin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6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8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5.wmf"/><Relationship Id="rId10" Type="http://schemas.openxmlformats.org/officeDocument/2006/relationships/vmlDrawing" Target="../drawings/vmlDrawing27.vml"/><Relationship Id="rId1" Type="http://schemas.openxmlformats.org/officeDocument/2006/relationships/oleObject" Target="../embeddings/oleObject68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8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75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69.wmf"/><Relationship Id="rId10" Type="http://schemas.openxmlformats.org/officeDocument/2006/relationships/notesSlide" Target="../notesSlides/notesSlide6.xml"/><Relationship Id="rId1" Type="http://schemas.openxmlformats.org/officeDocument/2006/relationships/oleObject" Target="../embeddings/oleObject72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4.e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3.emf"/><Relationship Id="rId3" Type="http://schemas.openxmlformats.org/officeDocument/2006/relationships/oleObject" Target="../embeddings/oleObject77.bin"/><Relationship Id="rId26" Type="http://schemas.openxmlformats.org/officeDocument/2006/relationships/vmlDrawing" Target="../drawings/vmlDrawing29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83.wmf"/><Relationship Id="rId23" Type="http://schemas.openxmlformats.org/officeDocument/2006/relationships/oleObject" Target="../embeddings/oleObject87.bin"/><Relationship Id="rId22" Type="http://schemas.openxmlformats.org/officeDocument/2006/relationships/image" Target="../media/image82.wmf"/><Relationship Id="rId21" Type="http://schemas.openxmlformats.org/officeDocument/2006/relationships/oleObject" Target="../embeddings/oleObject86.bin"/><Relationship Id="rId20" Type="http://schemas.openxmlformats.org/officeDocument/2006/relationships/image" Target="../media/image81.wmf"/><Relationship Id="rId2" Type="http://schemas.openxmlformats.org/officeDocument/2006/relationships/image" Target="../media/image72.emf"/><Relationship Id="rId19" Type="http://schemas.openxmlformats.org/officeDocument/2006/relationships/oleObject" Target="../embeddings/oleObject85.bin"/><Relationship Id="rId18" Type="http://schemas.openxmlformats.org/officeDocument/2006/relationships/image" Target="../media/image80.wmf"/><Relationship Id="rId17" Type="http://schemas.openxmlformats.org/officeDocument/2006/relationships/oleObject" Target="../embeddings/oleObject84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83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7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87.e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9.bin"/><Relationship Id="rId22" Type="http://schemas.openxmlformats.org/officeDocument/2006/relationships/vmlDrawing" Target="../drawings/vmlDrawing30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77.wmf"/><Relationship Id="rId2" Type="http://schemas.openxmlformats.org/officeDocument/2006/relationships/image" Target="../media/image84.wmf"/><Relationship Id="rId19" Type="http://schemas.openxmlformats.org/officeDocument/2006/relationships/oleObject" Target="../embeddings/oleObject97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96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95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94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93.bin"/><Relationship Id="rId10" Type="http://schemas.openxmlformats.org/officeDocument/2006/relationships/image" Target="../media/image88.emf"/><Relationship Id="rId1" Type="http://schemas.openxmlformats.org/officeDocument/2006/relationships/oleObject" Target="../embeddings/oleObject88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1.wmf"/><Relationship Id="rId1" Type="http://schemas.openxmlformats.org/officeDocument/2006/relationships/oleObject" Target="../embeddings/oleObject9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95.wmf"/><Relationship Id="rId38" Type="http://schemas.openxmlformats.org/officeDocument/2006/relationships/vmlDrawing" Target="../drawings/vmlDrawing32.v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111.wmf"/><Relationship Id="rId35" Type="http://schemas.openxmlformats.org/officeDocument/2006/relationships/oleObject" Target="../embeddings/oleObject118.bin"/><Relationship Id="rId34" Type="http://schemas.openxmlformats.org/officeDocument/2006/relationships/image" Target="../media/image110.wmf"/><Relationship Id="rId33" Type="http://schemas.openxmlformats.org/officeDocument/2006/relationships/oleObject" Target="../embeddings/oleObject117.bin"/><Relationship Id="rId32" Type="http://schemas.openxmlformats.org/officeDocument/2006/relationships/image" Target="../media/image109.wmf"/><Relationship Id="rId31" Type="http://schemas.openxmlformats.org/officeDocument/2006/relationships/oleObject" Target="../embeddings/oleObject116.bin"/><Relationship Id="rId30" Type="http://schemas.openxmlformats.org/officeDocument/2006/relationships/image" Target="../media/image108.wmf"/><Relationship Id="rId3" Type="http://schemas.openxmlformats.org/officeDocument/2006/relationships/oleObject" Target="../embeddings/oleObject102.bin"/><Relationship Id="rId29" Type="http://schemas.openxmlformats.org/officeDocument/2006/relationships/oleObject" Target="../embeddings/oleObject115.bin"/><Relationship Id="rId28" Type="http://schemas.openxmlformats.org/officeDocument/2006/relationships/image" Target="../media/image107.wmf"/><Relationship Id="rId27" Type="http://schemas.openxmlformats.org/officeDocument/2006/relationships/oleObject" Target="../embeddings/oleObject114.bin"/><Relationship Id="rId26" Type="http://schemas.openxmlformats.org/officeDocument/2006/relationships/image" Target="../media/image106.wmf"/><Relationship Id="rId25" Type="http://schemas.openxmlformats.org/officeDocument/2006/relationships/oleObject" Target="../embeddings/oleObject113.bin"/><Relationship Id="rId24" Type="http://schemas.openxmlformats.org/officeDocument/2006/relationships/image" Target="../media/image105.wmf"/><Relationship Id="rId23" Type="http://schemas.openxmlformats.org/officeDocument/2006/relationships/oleObject" Target="../embeddings/oleObject112.bin"/><Relationship Id="rId22" Type="http://schemas.openxmlformats.org/officeDocument/2006/relationships/image" Target="../media/image104.wmf"/><Relationship Id="rId21" Type="http://schemas.openxmlformats.org/officeDocument/2006/relationships/oleObject" Target="../embeddings/oleObject111.bin"/><Relationship Id="rId20" Type="http://schemas.openxmlformats.org/officeDocument/2006/relationships/image" Target="../media/image103.wmf"/><Relationship Id="rId2" Type="http://schemas.openxmlformats.org/officeDocument/2006/relationships/image" Target="../media/image94.emf"/><Relationship Id="rId19" Type="http://schemas.openxmlformats.org/officeDocument/2006/relationships/oleObject" Target="../embeddings/oleObject110.bin"/><Relationship Id="rId18" Type="http://schemas.openxmlformats.org/officeDocument/2006/relationships/image" Target="../media/image102.wmf"/><Relationship Id="rId17" Type="http://schemas.openxmlformats.org/officeDocument/2006/relationships/oleObject" Target="../embeddings/oleObject109.bin"/><Relationship Id="rId16" Type="http://schemas.openxmlformats.org/officeDocument/2006/relationships/image" Target="../media/image101.wmf"/><Relationship Id="rId15" Type="http://schemas.openxmlformats.org/officeDocument/2006/relationships/oleObject" Target="../embeddings/oleObject108.bin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101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12.e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11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124.bin"/><Relationship Id="rId28" Type="http://schemas.openxmlformats.org/officeDocument/2006/relationships/vmlDrawing" Target="../drawings/vmlDrawing34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24.wmf"/><Relationship Id="rId25" Type="http://schemas.openxmlformats.org/officeDocument/2006/relationships/oleObject" Target="../embeddings/oleObject138.bin"/><Relationship Id="rId24" Type="http://schemas.openxmlformats.org/officeDocument/2006/relationships/oleObject" Target="../embeddings/oleObject137.bin"/><Relationship Id="rId23" Type="http://schemas.openxmlformats.org/officeDocument/2006/relationships/image" Target="../media/image123.wmf"/><Relationship Id="rId22" Type="http://schemas.openxmlformats.org/officeDocument/2006/relationships/oleObject" Target="../embeddings/oleObject136.bin"/><Relationship Id="rId21" Type="http://schemas.openxmlformats.org/officeDocument/2006/relationships/image" Target="../media/image122.wmf"/><Relationship Id="rId20" Type="http://schemas.openxmlformats.org/officeDocument/2006/relationships/oleObject" Target="../embeddings/oleObject135.bin"/><Relationship Id="rId2" Type="http://schemas.openxmlformats.org/officeDocument/2006/relationships/image" Target="../media/image115.wmf"/><Relationship Id="rId19" Type="http://schemas.openxmlformats.org/officeDocument/2006/relationships/oleObject" Target="../embeddings/oleObject134.bin"/><Relationship Id="rId18" Type="http://schemas.openxmlformats.org/officeDocument/2006/relationships/oleObject" Target="../embeddings/oleObject133.bin"/><Relationship Id="rId17" Type="http://schemas.openxmlformats.org/officeDocument/2006/relationships/oleObject" Target="../embeddings/oleObject132.bin"/><Relationship Id="rId16" Type="http://schemas.openxmlformats.org/officeDocument/2006/relationships/oleObject" Target="../embeddings/oleObject131.bin"/><Relationship Id="rId15" Type="http://schemas.openxmlformats.org/officeDocument/2006/relationships/oleObject" Target="../embeddings/oleObject130.bin"/><Relationship Id="rId14" Type="http://schemas.openxmlformats.org/officeDocument/2006/relationships/image" Target="../media/image121.wmf"/><Relationship Id="rId13" Type="http://schemas.openxmlformats.org/officeDocument/2006/relationships/oleObject" Target="../embeddings/oleObject129.bin"/><Relationship Id="rId12" Type="http://schemas.openxmlformats.org/officeDocument/2006/relationships/image" Target="../media/image120.w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19.wmf"/><Relationship Id="rId1" Type="http://schemas.openxmlformats.org/officeDocument/2006/relationships/oleObject" Target="../embeddings/oleObject123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5.wmf"/><Relationship Id="rId1" Type="http://schemas.openxmlformats.org/officeDocument/2006/relationships/oleObject" Target="../embeddings/oleObject139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6.wmf"/><Relationship Id="rId1" Type="http://schemas.openxmlformats.org/officeDocument/2006/relationships/oleObject" Target="../embeddings/oleObject140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245736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线性方程组及其解空间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5696" y="2420888"/>
            <a:ext cx="6400800" cy="331236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4.1  </a:t>
            </a:r>
            <a:r>
              <a:rPr lang="zh-CN" altLang="en-US" sz="2800" b="1" dirty="0">
                <a:solidFill>
                  <a:schemeClr val="tx1"/>
                </a:solidFill>
              </a:rPr>
              <a:t>齐次线性方程组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4.2  </a:t>
            </a:r>
            <a:r>
              <a:rPr lang="zh-CN" altLang="en-US" sz="2800" b="1" dirty="0">
                <a:solidFill>
                  <a:schemeClr val="tx1"/>
                </a:solidFill>
              </a:rPr>
              <a:t>齐次线性方程组的基础解系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4.3  </a:t>
            </a:r>
            <a:r>
              <a:rPr lang="zh-CN" altLang="en-US" sz="2800" b="1" dirty="0">
                <a:solidFill>
                  <a:schemeClr val="tx1"/>
                </a:solidFill>
              </a:rPr>
              <a:t>齐次线性方程组的解法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4.4  </a:t>
            </a:r>
            <a:r>
              <a:rPr lang="zh-CN" altLang="en-US" sz="2800" b="1" dirty="0">
                <a:solidFill>
                  <a:schemeClr val="tx1"/>
                </a:solidFill>
              </a:rPr>
              <a:t>线性方程组的解空间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一、齐次线性方程组的矩阵形式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311" y="1268760"/>
            <a:ext cx="8229600" cy="26208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zh-CN" sz="2400" dirty="0"/>
              <a:t>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/>
              <a:t>个未知量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400" dirty="0"/>
              <a:t>个方程的齐次线性方程组：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39752" y="2060848"/>
          <a:ext cx="3594100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1" imgW="42062400" imgH="22555200" progId="Equation.DSMT4">
                  <p:embed/>
                </p:oleObj>
              </mc:Choice>
              <mc:Fallback>
                <p:oleObj name="Equation" r:id="rId1" imgW="42062400" imgH="22555200" progId="Equation.DSMT4">
                  <p:embed/>
                  <p:pic>
                    <p:nvPicPr>
                      <p:cNvPr id="0" name="图片 2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752" y="2060848"/>
                        <a:ext cx="3594100" cy="1928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2"/>
          <p:cNvSpPr txBox="1"/>
          <p:nvPr/>
        </p:nvSpPr>
        <p:spPr>
          <a:xfrm>
            <a:off x="454311" y="5188158"/>
            <a:ext cx="8646125" cy="1657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  如果将方程组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的系数矩阵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做一系列的行初等变换</a:t>
            </a:r>
            <a:r>
              <a:rPr lang="en-US" altLang="zh-CN" sz="2400" dirty="0"/>
              <a:t>,</a:t>
            </a:r>
            <a:r>
              <a:rPr lang="zh-CN" altLang="en-US" sz="2400" dirty="0"/>
              <a:t>化成行阶梯矩阵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/>
              <a:t>，则方程组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与方程组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是同解方程组。</a:t>
            </a:r>
            <a:endParaRPr lang="zh-CN" altLang="en-US" sz="24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611324" y="4005064"/>
            <a:ext cx="8532676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可以写成矩阵方程的形式</a:t>
            </a:r>
            <a:r>
              <a:rPr lang="en-US" altLang="zh-CN" sz="2400" dirty="0"/>
              <a:t>, </a:t>
            </a:r>
            <a:r>
              <a:rPr lang="zh-CN" altLang="en-US" sz="2400" dirty="0"/>
              <a:t>也就是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 </a:t>
            </a:r>
            <a:r>
              <a:rPr lang="en-US" altLang="zh-CN" sz="2400" dirty="0"/>
              <a:t>, </a:t>
            </a:r>
            <a:r>
              <a:rPr lang="zh-CN" altLang="en-US" sz="2400" dirty="0"/>
              <a:t>其中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是方程组的系数矩阵，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dirty="0"/>
              <a:t>是未知数所构成的列向量。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思考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7200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为什么方程组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与方程组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是同解方程组呢？</a:t>
            </a:r>
            <a:endParaRPr lang="zh-CN" altLang="en-US" sz="2400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131602" y="2112026"/>
            <a:ext cx="9120918" cy="4745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 </a:t>
            </a:r>
            <a:r>
              <a:rPr lang="zh-CN" altLang="en-US" sz="2400" dirty="0"/>
              <a:t> </a:t>
            </a:r>
            <a:r>
              <a:rPr lang="zh-CN" altLang="en-US" sz="2600" dirty="0"/>
              <a:t>例如方程组                                                       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600" dirty="0"/>
              <a:t>将其矩阵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dirty="0"/>
              <a:t>作行初等变换</a:t>
            </a:r>
            <a:r>
              <a:rPr lang="en-US" altLang="zh-CN" sz="2600" dirty="0"/>
              <a:t>,</a:t>
            </a:r>
            <a:r>
              <a:rPr lang="zh-CN" altLang="en-US" sz="2600" dirty="0"/>
              <a:t> 化为行阶梯矩阵</a:t>
            </a:r>
            <a:r>
              <a:rPr lang="en-US" altLang="zh-CN" sz="2600" dirty="0"/>
              <a:t>: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dirty="0"/>
          </a:p>
        </p:txBody>
      </p:sp>
      <p:sp>
        <p:nvSpPr>
          <p:cNvPr id="10" name="Rectangle 8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95513" y="1916113"/>
          <a:ext cx="3716337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1" imgW="53340000" imgH="24688800" progId="Equation.DSMT4">
                  <p:embed/>
                </p:oleObj>
              </mc:Choice>
              <mc:Fallback>
                <p:oleObj name="Equation" r:id="rId1" imgW="53340000" imgH="24688800" progId="Equation.DSMT4">
                  <p:embed/>
                  <p:pic>
                    <p:nvPicPr>
                      <p:cNvPr id="0" name="图片 135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16113"/>
                        <a:ext cx="3716337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84429" y="4581128"/>
          <a:ext cx="7815263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3" imgW="112166400" imgH="24688800" progId="Equation.DSMT4">
                  <p:embed/>
                </p:oleObj>
              </mc:Choice>
              <mc:Fallback>
                <p:oleObj name="Equation" r:id="rId3" imgW="112166400" imgH="24688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29" y="4581128"/>
                        <a:ext cx="7815263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3504" y="479715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思考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4680519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zh-CN" sz="2400" dirty="0"/>
              <a:t>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dirty="0"/>
              <a:t>唯一地对应着一个齐次线性方程组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而这个方程组与原方程组是同解方程组。</a:t>
            </a:r>
            <a:endParaRPr lang="zh-CN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27584" y="404664"/>
          <a:ext cx="6221413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1" imgW="89306400" imgH="24688800" progId="Equation.DSMT4">
                  <p:embed/>
                </p:oleObj>
              </mc:Choice>
              <mc:Fallback>
                <p:oleObj name="Equation" r:id="rId1" imgW="89306400" imgH="24688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04664"/>
                        <a:ext cx="6221413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83768" y="2708920"/>
          <a:ext cx="3227388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3" imgW="46329600" imgH="24688800" progId="Equation.DSMT4">
                  <p:embed/>
                </p:oleObj>
              </mc:Choice>
              <mc:Fallback>
                <p:oleObj name="Equation" r:id="rId3" imgW="46329600" imgH="24688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708920"/>
                        <a:ext cx="3227388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5576" y="5013176"/>
            <a:ext cx="8114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</a:t>
            </a:r>
            <a:r>
              <a:rPr lang="zh-CN" altLang="zh-CN" sz="2400" dirty="0"/>
              <a:t>要得到齐次线性方程组的同解方程组，可以对其系数矩阵做列初等变换吗？</a:t>
            </a:r>
            <a:endParaRPr lang="zh-CN" altLang="en-US" sz="2400" dirty="0"/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二、齐次线性方程组解的情形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25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4.1.1</a:t>
            </a:r>
            <a:r>
              <a:rPr lang="zh-CN" altLang="en-US" sz="2400" b="1" dirty="0"/>
              <a:t>   </a:t>
            </a:r>
            <a:r>
              <a:rPr lang="zh-CN" altLang="en-US" sz="2400" dirty="0"/>
              <a:t>对于齐次线性方程组：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	当系数矩阵的秩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时，方程组只有唯一的零解；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	当系数矩阵的秩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)&lt;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时，方程组有无穷多解。</a:t>
            </a: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（证明略）</a:t>
            </a:r>
            <a:endParaRPr lang="zh-CN" altLang="en-US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79712" y="2276872"/>
          <a:ext cx="5338763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1" imgW="62484000" imgH="22555200" progId="Equation.DSMT4">
                  <p:embed/>
                </p:oleObj>
              </mc:Choice>
              <mc:Fallback>
                <p:oleObj name="Equation" r:id="rId1" imgW="62484000" imgH="22555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276872"/>
                        <a:ext cx="5338763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5C2F6C-91DE-4A92-B1B8-1F89074DF59E}" type="datetime3">
              <a:rPr lang="zh-CN" altLang="en-US" smtClean="0"/>
            </a:fld>
            <a:endParaRPr lang="en-US" altLang="zh-CN"/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B8149F-26F2-4217-9ED4-6183BBF9128F}" type="slidenum">
              <a:rPr lang="en-US" altLang="zh-CN"/>
            </a:fld>
            <a:endParaRPr lang="en-US" altLang="zh-CN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07963" y="334963"/>
            <a:ext cx="865172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R(A)=r,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中存在一个不为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阶子式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，在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中系数包含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个方程便是方程组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的同解方程组。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425450" y="1844675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分三种情况讨论。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425450" y="2420938"/>
          <a:ext cx="8675688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1" imgW="4114800" imgH="1625600" progId="Equation.DSMT4">
                  <p:embed/>
                </p:oleObj>
              </mc:Choice>
              <mc:Fallback>
                <p:oleObj name="Equation" r:id="rId1" imgW="4114800" imgH="1625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2420938"/>
                        <a:ext cx="8675688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9C2557-E3BF-42C6-BB7B-3089C2B67D39}" type="datetime3">
              <a:rPr lang="zh-CN" altLang="en-US" smtClean="0"/>
            </a:fld>
            <a:endParaRPr lang="en-US" altLang="zh-CN"/>
          </a:p>
        </p:txBody>
      </p:sp>
      <p:sp>
        <p:nvSpPr>
          <p:cNvPr id="1024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02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F83F2D-7ECA-4950-9962-D5D094703381}" type="slidenum">
              <a:rPr lang="en-US" altLang="zh-CN"/>
            </a:fld>
            <a:endParaRPr lang="en-US" altLang="zh-CN"/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-12700" y="188913"/>
          <a:ext cx="8847138" cy="31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Equation" r:id="rId1" imgW="97536000" imgH="35052000" progId="Equation.DSMT4">
                  <p:embed/>
                </p:oleObj>
              </mc:Choice>
              <mc:Fallback>
                <p:oleObj name="Equation" r:id="rId1" imgW="97536000" imgH="3505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2700" y="188913"/>
                        <a:ext cx="8847138" cy="318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-90488" y="3500438"/>
          <a:ext cx="8856663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Equation" r:id="rId3" imgW="89611200" imgH="10363200" progId="Equation.DSMT4">
                  <p:embed/>
                </p:oleObj>
              </mc:Choice>
              <mc:Fallback>
                <p:oleObj name="Equation" r:id="rId3" imgW="89611200" imgH="1036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90488" y="3500438"/>
                        <a:ext cx="8856663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-85725" y="4624388"/>
          <a:ext cx="93154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Equation" r:id="rId5" imgW="99060000" imgH="10972800" progId="Equation.DSMT4">
                  <p:embed/>
                </p:oleObj>
              </mc:Choice>
              <mc:Fallback>
                <p:oleObj name="Equation" r:id="rId5" imgW="99060000" imgH="1097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5725" y="4624388"/>
                        <a:ext cx="931545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5DDB2C-5208-41F0-96CF-A554C1B4BFE5}" type="datetime3">
              <a:rPr lang="zh-CN" altLang="en-US" smtClean="0"/>
            </a:fld>
            <a:endParaRPr lang="en-US" altLang="zh-CN"/>
          </a:p>
        </p:txBody>
      </p:sp>
      <p:sp>
        <p:nvSpPr>
          <p:cNvPr id="1126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126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FA7F00-F1EA-41E6-B610-E4897C05436D}" type="slidenum">
              <a:rPr lang="en-US" altLang="zh-CN"/>
            </a:fld>
            <a:endParaRPr lang="en-US" altLang="zh-CN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454025" y="476250"/>
          <a:ext cx="777557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1" imgW="3467100" imgH="673100" progId="Equation.DSMT4">
                  <p:embed/>
                </p:oleObj>
              </mc:Choice>
              <mc:Fallback>
                <p:oleObj name="Equation" r:id="rId1" imgW="3467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" y="476250"/>
                        <a:ext cx="7775575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36538" y="2203450"/>
            <a:ext cx="8748712" cy="1819275"/>
          </a:xfrm>
          <a:prstGeom prst="rect">
            <a:avLst/>
          </a:prstGeom>
          <a:noFill/>
          <a:ln w="19050" algn="ctr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4.1.1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齐次线性方程组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(4.1.1):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      (1)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当其系数矩阵的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R(A)=n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时，只有惟一的零解；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R(A)&lt;n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时，有无穷多个解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28588" y="4529138"/>
            <a:ext cx="88931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将齐次线性方程组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的一个解构成的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维列向量称为一个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解向量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齐次线性方程组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的全部解构成的集合称为解集合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也称为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解空间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2"/>
          <p:cNvSpPr txBox="1"/>
          <p:nvPr/>
        </p:nvSpPr>
        <p:spPr>
          <a:xfrm>
            <a:off x="107504" y="506597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注意     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512" y="391597"/>
            <a:ext cx="8964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 该定理的逆命题也成立，即：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	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只有零解的充分必要条件是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	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有非零解的充分必要条件是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)&lt;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。</a:t>
            </a:r>
            <a:endParaRPr lang="zh-CN" altLang="en-US" sz="24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07504" y="2151868"/>
            <a:ext cx="8994415" cy="3437371"/>
            <a:chOff x="449242" y="354360"/>
            <a:chExt cx="8229600" cy="2513568"/>
          </a:xfrm>
        </p:grpSpPr>
        <p:sp>
          <p:nvSpPr>
            <p:cNvPr id="22" name="内容占位符 2"/>
            <p:cNvSpPr txBox="1"/>
            <p:nvPr/>
          </p:nvSpPr>
          <p:spPr>
            <a:xfrm>
              <a:off x="449242" y="354360"/>
              <a:ext cx="8229600" cy="251356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1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设有齐次线性方程组问当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400" dirty="0"/>
                <a:t>取何值时，方程组</a:t>
              </a: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400" dirty="0"/>
                <a:t>        有唯一的零解；有无穷多解？</a:t>
              </a:r>
              <a:endParaRPr lang="zh-CN" altLang="en-US" sz="2400" dirty="0"/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3018757" y="761703"/>
            <a:ext cx="2914650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2" name="Equation" r:id="rId1" imgW="34137600" imgH="17068800" progId="Equation.DSMT4">
                    <p:embed/>
                  </p:oleObj>
                </mc:Choice>
                <mc:Fallback>
                  <p:oleObj name="Equation" r:id="rId1" imgW="34137600" imgH="17068800" progId="Equation.DSMT4">
                    <p:embed/>
                    <p:pic>
                      <p:nvPicPr>
                        <p:cNvPr id="0" name="图片 34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757" y="761703"/>
                          <a:ext cx="2914650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内容占位符 2"/>
          <p:cNvSpPr txBox="1"/>
          <p:nvPr/>
        </p:nvSpPr>
        <p:spPr>
          <a:xfrm>
            <a:off x="179512" y="5322911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25" name="内容占位符 2"/>
          <p:cNvSpPr txBox="1"/>
          <p:nvPr/>
        </p:nvSpPr>
        <p:spPr>
          <a:xfrm>
            <a:off x="1010311" y="5322911"/>
            <a:ext cx="729349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）令系数矩阵的行列式         ，解得：</a:t>
            </a:r>
            <a:endParaRPr lang="zh-CN" altLang="en-US" sz="2400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661756" y="5322911"/>
          <a:ext cx="8842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Equation" r:id="rId3" imgW="10363200" imgH="6096000" progId="Equation.DSMT4">
                  <p:embed/>
                </p:oleObj>
              </mc:Choice>
              <mc:Fallback>
                <p:oleObj name="Equation" r:id="rId3" imgW="10363200" imgH="60960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1756" y="5322911"/>
                        <a:ext cx="8842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732240" y="5322911"/>
          <a:ext cx="143033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Equation" r:id="rId5" imgW="16764000" imgH="5181600" progId="Equation.DSMT4">
                  <p:embed/>
                </p:oleObj>
              </mc:Choice>
              <mc:Fallback>
                <p:oleObj name="Equation" r:id="rId5" imgW="16764000" imgH="5181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5322911"/>
                        <a:ext cx="143033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2"/>
          <p:cNvSpPr txBox="1"/>
          <p:nvPr/>
        </p:nvSpPr>
        <p:spPr>
          <a:xfrm>
            <a:off x="565444" y="5985026"/>
            <a:ext cx="8078533" cy="75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所以，当             时，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3=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/>
              <a:t>方程组有唯一的零解，</a:t>
            </a:r>
            <a:endParaRPr lang="zh-CN" altLang="en-US" sz="2400" dirty="0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907704" y="5985026"/>
          <a:ext cx="135096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7" imgW="15849600" imgH="5181600" progId="Equation.DSMT4">
                  <p:embed/>
                </p:oleObj>
              </mc:Choice>
              <mc:Fallback>
                <p:oleObj name="Equation" r:id="rId7" imgW="15849600" imgH="51816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985026"/>
                        <a:ext cx="135096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5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 noGrp="1"/>
          </p:cNvSpPr>
          <p:nvPr>
            <p:ph type="title"/>
          </p:nvPr>
        </p:nvSpPr>
        <p:spPr>
          <a:xfrm>
            <a:off x="395536" y="33254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）当         时，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/>
              <a:t>方程组有无穷多解，</a:t>
            </a:r>
            <a:endParaRPr lang="zh-CN" altLang="en-US" sz="2400" dirty="0"/>
          </a:p>
        </p:txBody>
      </p:sp>
      <p:sp>
        <p:nvSpPr>
          <p:cNvPr id="6" name="内容占位符 2"/>
          <p:cNvSpPr txBox="1">
            <a:spLocks noGrp="1"/>
          </p:cNvSpPr>
          <p:nvPr>
            <p:ph idx="1"/>
          </p:nvPr>
        </p:nvSpPr>
        <p:spPr>
          <a:xfrm>
            <a:off x="472988" y="4477593"/>
            <a:ext cx="82296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）当         时，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)=1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/>
              <a:t>方程组有无穷多解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91680" y="3713616"/>
          <a:ext cx="909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1" imgW="10668000" imgH="4267200" progId="Equation.DSMT4">
                  <p:embed/>
                </p:oleObj>
              </mc:Choice>
              <mc:Fallback>
                <p:oleObj name="Equation" r:id="rId1" imgW="10668000" imgH="42672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713616"/>
                        <a:ext cx="90963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63688" y="4549601"/>
          <a:ext cx="7540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3" imgW="8839200" imgH="4267200" progId="Equation.DSMT4">
                  <p:embed/>
                </p:oleObj>
              </mc:Choice>
              <mc:Fallback>
                <p:oleObj name="Equation" r:id="rId3" imgW="88392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549601"/>
                        <a:ext cx="7540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605" y="4935240"/>
            <a:ext cx="8280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总结</a:t>
            </a:r>
            <a:r>
              <a:rPr lang="zh-CN" altLang="en-US" sz="2400" dirty="0">
                <a:solidFill>
                  <a:srgbClr val="FF0000"/>
                </a:solidFill>
              </a:rPr>
              <a:t>   在考察齐次线性方程组的解的情形时，如果方程个数与未知数个数相等，那么首先考虑用克拉默法则确定出方程组有唯一解的情况。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01202" y="201867"/>
            <a:ext cx="8994415" cy="3437371"/>
            <a:chOff x="868709" y="564983"/>
            <a:chExt cx="8229600" cy="2513568"/>
          </a:xfrm>
        </p:grpSpPr>
        <p:sp>
          <p:nvSpPr>
            <p:cNvPr id="14" name="内容占位符 2"/>
            <p:cNvSpPr txBox="1"/>
            <p:nvPr/>
          </p:nvSpPr>
          <p:spPr>
            <a:xfrm>
              <a:off x="868709" y="564983"/>
              <a:ext cx="8229600" cy="251356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1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设有齐次线性方程组问当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400" dirty="0"/>
                <a:t>取何值时，方程组</a:t>
              </a: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altLang="zh-CN" sz="240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400" dirty="0"/>
                <a:t>        有唯一的零解；有无穷多解？</a:t>
              </a:r>
              <a:endParaRPr lang="zh-CN" altLang="en-US" sz="2400" dirty="0"/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3240569" y="1038883"/>
            <a:ext cx="2914650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" name="Equation" r:id="rId5" imgW="34137600" imgH="17068800" progId="Equation.DSMT4">
                    <p:embed/>
                  </p:oleObj>
                </mc:Choice>
                <mc:Fallback>
                  <p:oleObj name="Equation" r:id="rId5" imgW="34137600" imgH="17068800" progId="Equation.DSMT4">
                    <p:embed/>
                    <p:pic>
                      <p:nvPicPr>
                        <p:cNvPr id="0" name="图片 166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0569" y="1038883"/>
                          <a:ext cx="2914650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107504" y="3706126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44208" y="1615926"/>
            <a:ext cx="793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（*）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0B610E-9852-4D8D-844A-1CFBA9CF1C2C}" type="datetime3">
              <a:rPr lang="zh-CN" altLang="en-US" smtClean="0"/>
            </a:fld>
            <a:endParaRPr lang="en-US" altLang="zh-CN"/>
          </a:p>
        </p:txBody>
      </p:sp>
      <p:sp>
        <p:nvSpPr>
          <p:cNvPr id="13317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33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D7AFB1-C29E-4864-9756-65949BC63CDE}" type="slidenum">
              <a:rPr lang="en-US" altLang="zh-CN"/>
            </a:fld>
            <a:endParaRPr lang="en-US" altLang="zh-CN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95288" y="-26988"/>
            <a:ext cx="8065144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解详细过程：　方程组（*）的系数行列式为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1258888" y="1052513"/>
          <a:ext cx="6286500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Microsoft 公式 3.0" r:id="rId1" imgW="6286500" imgH="3632200" progId="Equation.3">
                  <p:embed/>
                </p:oleObj>
              </mc:Choice>
              <mc:Fallback>
                <p:oleObj name="Microsoft 公式 3.0" r:id="rId1" imgW="6286500" imgH="3632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052513"/>
                        <a:ext cx="6286500" cy="363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68313" y="4581525"/>
            <a:ext cx="8153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（１）当                  时，方程组（*）有唯一的零解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R(A)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等于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1979613" y="4725988"/>
          <a:ext cx="15128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Microsoft 公式 3.0" r:id="rId3" imgW="1116965" imgH="342900" progId="Equation.3">
                  <p:embed/>
                </p:oleObj>
              </mc:Choice>
              <mc:Fallback>
                <p:oleObj name="Microsoft 公式 3.0" r:id="rId3" imgW="1116965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725988"/>
                        <a:ext cx="1512887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AF1AE5-86AA-451C-984E-6B3C234559DD}" type="datetime3">
              <a:rPr lang="zh-CN" altLang="en-US" smtClean="0"/>
            </a:fld>
            <a:endParaRPr lang="en-US" altLang="zh-CN"/>
          </a:p>
        </p:txBody>
      </p:sp>
      <p:sp>
        <p:nvSpPr>
          <p:cNvPr id="1434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Spring, 2010,18ppt</a:t>
            </a:r>
            <a:endParaRPr lang="en-US" altLang="zh-CN" dirty="0"/>
          </a:p>
        </p:txBody>
      </p:sp>
      <p:sp>
        <p:nvSpPr>
          <p:cNvPr id="1434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B69539-23B4-4085-868D-6F6E159E9A61}" type="slidenum">
              <a:rPr lang="en-US" altLang="zh-CN"/>
            </a:fld>
            <a:endParaRPr lang="en-US" altLang="zh-CN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323850" y="620713"/>
            <a:ext cx="853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（２）当          时，方程组（*）的系数矩阵为</a:t>
            </a:r>
            <a:r>
              <a:rPr lang="zh-CN" altLang="en-US" sz="11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1812925" y="746919"/>
          <a:ext cx="958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Microsoft 公式 3.0" r:id="rId1" imgW="951865" imgH="317500" progId="Equation.3">
                  <p:embed/>
                </p:oleObj>
              </mc:Choice>
              <mc:Fallback>
                <p:oleObj name="Microsoft 公式 3.0" r:id="rId1" imgW="951865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746919"/>
                        <a:ext cx="9588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857250" y="1458913"/>
          <a:ext cx="2927350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Microsoft 公式 3.0" r:id="rId3" imgW="2933700" imgH="1524000" progId="Equation.3">
                  <p:embed/>
                </p:oleObj>
              </mc:Choice>
              <mc:Fallback>
                <p:oleObj name="Microsoft 公式 3.0" r:id="rId3" imgW="2933700" imgH="1524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458913"/>
                        <a:ext cx="2927350" cy="153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552450" y="28305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由于      ，而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中有一个二阶子式  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1422400" y="2914650"/>
          <a:ext cx="8699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Microsoft 公式 3.0" r:id="rId5" imgW="876300" imgH="457200" progId="Equation.3">
                  <p:embed/>
                </p:oleObj>
              </mc:Choice>
              <mc:Fallback>
                <p:oleObj name="Microsoft 公式 3.0" r:id="rId5" imgW="8763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2914650"/>
                        <a:ext cx="86995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1238250" y="3592513"/>
          <a:ext cx="3200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Microsoft 公式 3.0" r:id="rId7" imgW="3200400" imgH="965200" progId="Equation.3">
                  <p:embed/>
                </p:oleObj>
              </mc:Choice>
              <mc:Fallback>
                <p:oleObj name="Microsoft 公式 3.0" r:id="rId7" imgW="3200400" imgH="965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3592513"/>
                        <a:ext cx="3200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323850" y="4659313"/>
            <a:ext cx="8534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因此                                 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故方程组（*）有无穷多个解。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1150880" y="4646613"/>
          <a:ext cx="39909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" r:id="rId9" imgW="1523365" imgH="215900" progId="Equation.DSMT4">
                  <p:embed/>
                </p:oleObj>
              </mc:Choice>
              <mc:Fallback>
                <p:oleObj name="" r:id="rId9" imgW="1523365" imgH="215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880" y="4646613"/>
                        <a:ext cx="3990975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7" grpId="0"/>
      <p:bldP spid="51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8ECAAA-E19B-471A-B498-AD2C31882D4F}" type="datetime3">
              <a:rPr lang="zh-CN" altLang="en-US" smtClean="0"/>
            </a:fld>
            <a:endParaRPr lang="en-US" altLang="zh-CN"/>
          </a:p>
        </p:txBody>
      </p:sp>
      <p:sp>
        <p:nvSpPr>
          <p:cNvPr id="1536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53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50D399-8E02-469A-9D8C-CCF5BEA36F2C}" type="slidenum">
              <a:rPr lang="en-US" altLang="zh-CN"/>
            </a:fld>
            <a:endParaRPr lang="en-US" altLang="zh-CN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23850" y="333375"/>
            <a:ext cx="806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施行初等行变换</a:t>
            </a:r>
            <a:endParaRPr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369" name="Rectangle 5"/>
          <p:cNvSpPr>
            <a:spLocks noChangeArrowheads="1"/>
          </p:cNvSpPr>
          <p:nvPr/>
        </p:nvSpPr>
        <p:spPr bwMode="auto">
          <a:xfrm>
            <a:off x="2366963" y="2138363"/>
            <a:ext cx="8064500" cy="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250825" y="908050"/>
          <a:ext cx="8675688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1" imgW="5905500" imgH="2095500" progId="Equation.DSMT4">
                  <p:embed/>
                </p:oleObj>
              </mc:Choice>
              <mc:Fallback>
                <p:oleObj name="Equation" r:id="rId1" imgW="5905500" imgH="2095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08050"/>
                        <a:ext cx="8675688" cy="316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676650" y="3076575"/>
            <a:ext cx="4279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方程组（*）的解为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933450" y="4067175"/>
          <a:ext cx="155892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Microsoft 公式 3.0" r:id="rId3" imgW="571500" imgH="711200" progId="Equation.3">
                  <p:embed/>
                </p:oleObj>
              </mc:Choice>
              <mc:Fallback>
                <p:oleObj name="Microsoft 公式 3.0" r:id="rId3" imgW="571500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4067175"/>
                        <a:ext cx="1558925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3524250" y="4829175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其中      可取任意数。 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4427538" y="4797425"/>
          <a:ext cx="393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Microsoft 公式 3.0" r:id="rId5" imgW="165100" imgH="228600" progId="Equation.3">
                  <p:embed/>
                </p:oleObj>
              </mc:Choice>
              <mc:Fallback>
                <p:oleObj name="Microsoft 公式 3.0" r:id="rId5" imgW="1651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797425"/>
                        <a:ext cx="39370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51" grpId="0"/>
      <p:bldP spid="61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261AD3-6BFC-479B-A584-BA680A0AB541}" type="datetime3">
              <a:rPr lang="zh-CN" altLang="en-US" smtClean="0"/>
            </a:fld>
            <a:endParaRPr lang="en-US" altLang="zh-CN"/>
          </a:p>
        </p:txBody>
      </p:sp>
      <p:sp>
        <p:nvSpPr>
          <p:cNvPr id="1639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63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354D0E-5BF7-4BAA-8BFB-0FFCCFCE59A4}" type="slidenum">
              <a:rPr lang="en-US" altLang="zh-CN"/>
            </a:fld>
            <a:endParaRPr lang="en-US" altLang="zh-CN"/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762000" y="1828800"/>
          <a:ext cx="26670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Microsoft 公式 3.0" r:id="rId1" imgW="888365" imgH="711200" progId="Equation.3">
                  <p:embed/>
                </p:oleObj>
              </mc:Choice>
              <mc:Fallback>
                <p:oleObj name="Microsoft 公式 3.0" r:id="rId1" imgW="888365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828800"/>
                        <a:ext cx="2667000" cy="215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505200" y="25146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显然 </a:t>
            </a:r>
            <a:endParaRPr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4322763" y="2509838"/>
          <a:ext cx="38020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quation" r:id="rId3" imgW="35966400" imgH="5181600" progId="Equation.DSMT4">
                  <p:embed/>
                </p:oleObj>
              </mc:Choice>
              <mc:Fallback>
                <p:oleObj name="Equation" r:id="rId3" imgW="35966400" imgH="5181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2509838"/>
                        <a:ext cx="3802062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07950" y="41910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此时方程组（*）也有无穷多个解。对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施行初等行变换</a:t>
            </a:r>
            <a:endParaRPr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1476375" y="1052513"/>
          <a:ext cx="914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Microsoft 公式 3.0" r:id="rId5" imgW="380365" imgH="177800" progId="Equation.3">
                  <p:embed/>
                </p:oleObj>
              </mc:Choice>
              <mc:Fallback>
                <p:oleObj name="Microsoft 公式 3.0" r:id="rId5" imgW="380365" imgH="177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052513"/>
                        <a:ext cx="9144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611188" y="982663"/>
            <a:ext cx="67313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          时，方程组（*）的系数矩阵为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7177" grpId="0"/>
      <p:bldP spid="71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A1B379-9B7B-4DC4-B5DB-E3B7F469B319}" type="datetime3">
              <a:rPr lang="zh-CN" altLang="en-US" smtClean="0"/>
            </a:fld>
            <a:endParaRPr lang="en-US" altLang="zh-CN"/>
          </a:p>
        </p:txBody>
      </p:sp>
      <p:sp>
        <p:nvSpPr>
          <p:cNvPr id="1741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74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BD336A-25E0-4A54-899E-D9153390D937}" type="slidenum">
              <a:rPr lang="en-US" altLang="zh-CN"/>
            </a:fld>
            <a:endParaRPr lang="en-US" altLang="zh-CN"/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755650" y="333375"/>
          <a:ext cx="6248400" cy="217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Microsoft 公式 3.0" r:id="rId1" imgW="2057400" imgH="711200" progId="Equation.3">
                  <p:embed/>
                </p:oleObj>
              </mc:Choice>
              <mc:Fallback>
                <p:oleObj name="Microsoft 公式 3.0" r:id="rId1" imgW="2057400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33375"/>
                        <a:ext cx="6248400" cy="217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508000" y="277812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可得方程组（*）的解 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09" name="Object 17"/>
          <p:cNvGraphicFramePr>
            <a:graphicFrameLocks noChangeAspect="1"/>
          </p:cNvGraphicFramePr>
          <p:nvPr/>
        </p:nvGraphicFramePr>
        <p:xfrm>
          <a:off x="5003800" y="2854325"/>
          <a:ext cx="259080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Microsoft 公式 3.0" r:id="rId3" imgW="939165" imgH="711200" progId="Equation.3">
                  <p:embed/>
                </p:oleObj>
              </mc:Choice>
              <mc:Fallback>
                <p:oleObj name="Microsoft 公式 3.0" r:id="rId3" imgW="939165" imgH="71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54325"/>
                        <a:ext cx="2590800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611188" y="458152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其中            可取任意数。</a:t>
            </a:r>
            <a:r>
              <a:rPr lang="zh-CN" altLang="en-US" sz="11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11" name="Object 19"/>
          <p:cNvGraphicFramePr>
            <a:graphicFrameLocks noChangeAspect="1"/>
          </p:cNvGraphicFramePr>
          <p:nvPr/>
        </p:nvGraphicFramePr>
        <p:xfrm>
          <a:off x="1417638" y="4567238"/>
          <a:ext cx="9937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Microsoft 公式 3.0" r:id="rId5" imgW="368300" imgH="228600" progId="Equation.3">
                  <p:embed/>
                </p:oleObj>
              </mc:Choice>
              <mc:Fallback>
                <p:oleObj name="Microsoft 公式 3.0" r:id="rId5" imgW="3683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4567238"/>
                        <a:ext cx="993775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611188" y="5302250"/>
            <a:ext cx="7848600" cy="5286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注意：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通解中所含任意常数的个数为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n-R(A)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/>
      <p:bldP spid="8210" grpId="0"/>
      <p:bldP spid="82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B41DD0-F34E-4A2D-838C-0E33359DE815}" type="datetime3">
              <a:rPr lang="zh-CN" altLang="en-US" smtClean="0"/>
            </a:fld>
            <a:endParaRPr lang="en-US" altLang="zh-CN"/>
          </a:p>
        </p:txBody>
      </p:sp>
      <p:sp>
        <p:nvSpPr>
          <p:cNvPr id="1843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843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579556-B6EA-4FA3-A4AA-6844B7F59F97}" type="slidenum">
              <a:rPr lang="en-US" altLang="zh-CN"/>
            </a:fld>
            <a:endParaRPr lang="en-US" altLang="zh-CN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09575" y="550863"/>
            <a:ext cx="880721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对一般的齐次线性方程组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，当其有无穷多个解的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时候，能否判断解的表达式中有几个任意常数？这些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解与解之间有没有联系？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54013" y="2349500"/>
            <a:ext cx="8351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齐次线性方程组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的一个解构成的一列数称为一个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维列向量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，也称为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解向量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11175" y="3602038"/>
            <a:ext cx="3240088" cy="528637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FF00FF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解的性质（线性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147638" y="4584700"/>
          <a:ext cx="89804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1" imgW="88696800" imgH="11582400" progId="Equation.DSMT4">
                  <p:embed/>
                </p:oleObj>
              </mc:Choice>
              <mc:Fallback>
                <p:oleObj name="Equation" r:id="rId1" imgW="88696800" imgH="115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4584700"/>
                        <a:ext cx="898048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33319A-C78A-496F-A4F1-0D387EF6187D}" type="datetime3">
              <a:rPr lang="zh-CN" altLang="en-US" smtClean="0"/>
            </a:fld>
            <a:endParaRPr lang="en-US" altLang="zh-CN"/>
          </a:p>
        </p:txBody>
      </p:sp>
      <p:sp>
        <p:nvSpPr>
          <p:cNvPr id="1946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194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2B8867-999C-4E5D-A05E-D13C16AAB6C9}" type="slidenum">
              <a:rPr lang="en-US" altLang="zh-CN"/>
            </a:fld>
            <a:endParaRPr lang="en-US" altLang="zh-CN"/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250825" y="404813"/>
            <a:ext cx="5543550" cy="528637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FF00FF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齐次线性方程组解向量的性质</a:t>
            </a:r>
            <a:endParaRPr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-46038" y="1184275"/>
          <a:ext cx="8978901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1" imgW="88696800" imgH="11582400" progId="Equation.DSMT4">
                  <p:embed/>
                </p:oleObj>
              </mc:Choice>
              <mc:Fallback>
                <p:oleObj name="Equation" r:id="rId1" imgW="88696800" imgH="115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6038" y="1184275"/>
                        <a:ext cx="8978901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279400" y="2393950"/>
            <a:ext cx="1223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证明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1417638" y="2465388"/>
          <a:ext cx="44211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3" imgW="1866900" imgH="228600" progId="Equation.DSMT4">
                  <p:embed/>
                </p:oleObj>
              </mc:Choice>
              <mc:Fallback>
                <p:oleObj name="Equation" r:id="rId3" imgW="1866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2465388"/>
                        <a:ext cx="4421187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8"/>
          <p:cNvGraphicFramePr>
            <a:graphicFrameLocks noChangeAspect="1"/>
          </p:cNvGraphicFramePr>
          <p:nvPr/>
        </p:nvGraphicFramePr>
        <p:xfrm>
          <a:off x="1476375" y="3186113"/>
          <a:ext cx="279558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0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86113"/>
                        <a:ext cx="2795588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1538288" y="3833813"/>
          <a:ext cx="41783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1" name="Equation" r:id="rId7" imgW="1765300" imgH="254000" progId="Equation.DSMT4">
                  <p:embed/>
                </p:oleObj>
              </mc:Choice>
              <mc:Fallback>
                <p:oleObj name="Equation" r:id="rId7" imgW="17653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3833813"/>
                        <a:ext cx="41783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1847850" y="4554538"/>
          <a:ext cx="30654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2" name="Equation" r:id="rId9" imgW="1295400" imgH="254000" progId="Equation.DSMT4">
                  <p:embed/>
                </p:oleObj>
              </mc:Choice>
              <mc:Fallback>
                <p:oleObj name="Equation" r:id="rId9" imgW="1295400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554538"/>
                        <a:ext cx="30654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Object 11"/>
          <p:cNvGraphicFramePr>
            <a:graphicFrameLocks noChangeAspect="1"/>
          </p:cNvGraphicFramePr>
          <p:nvPr/>
        </p:nvGraphicFramePr>
        <p:xfrm>
          <a:off x="1547813" y="5145088"/>
          <a:ext cx="54117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Equation" r:id="rId11" imgW="2286000" imgH="215900" progId="Equation.DSMT4">
                  <p:embed/>
                </p:oleObj>
              </mc:Choice>
              <mc:Fallback>
                <p:oleObj name="Equation" r:id="rId11" imgW="2286000" imgH="215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145088"/>
                        <a:ext cx="54117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228600" y="5851525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结论：齐次线性方程组的解的任意线性组合还是该方程组的解。  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8" grpId="0"/>
      <p:bldP spid="798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三、齐次线性方程组的基础解系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7022" y="1238559"/>
            <a:ext cx="8229600" cy="187220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zh-CN" sz="2400" dirty="0"/>
              <a:t>齐次线性方程组一定有解，因为零解是它的一个解。求解齐次线性方程组的重点在于讨论：它是否有非零解？在有非零解的情况下，如何求出它的所有非零解？</a:t>
            </a:r>
            <a:endParaRPr lang="zh-CN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3110767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齐次线性方程组解的性质</a:t>
            </a:r>
            <a:endParaRPr lang="zh-CN" alt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3717032"/>
            <a:ext cx="8424936" cy="1133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性质</a:t>
            </a:r>
            <a:r>
              <a:rPr lang="en-US" altLang="zh-CN" sz="2400" b="1" dirty="0"/>
              <a:t>4.2.1   </a:t>
            </a:r>
            <a:r>
              <a:rPr lang="zh-CN" altLang="en-US" sz="2400" dirty="0"/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400" dirty="0"/>
              <a:t>是齐次线性方程组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的解，则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400" dirty="0"/>
              <a:t>也是该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</a:t>
            </a:r>
            <a:r>
              <a:rPr lang="zh-CN" altLang="en-US" sz="2400" dirty="0"/>
              <a:t>       方程组的解。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93055" y="4841059"/>
            <a:ext cx="8424936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性质</a:t>
            </a:r>
            <a:r>
              <a:rPr lang="en-US" altLang="zh-CN" sz="2400" b="1" dirty="0"/>
              <a:t>4.2.2   </a:t>
            </a:r>
            <a:r>
              <a:rPr lang="zh-CN" altLang="en-US" sz="2400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是齐次线性方程组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的解，则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 </a:t>
            </a:r>
            <a:r>
              <a:rPr lang="zh-CN" altLang="en-US" sz="2400" dirty="0"/>
              <a:t>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/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+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也是该方程组的解。</a:t>
            </a:r>
            <a:endParaRPr lang="zh-CN" altLang="en-US" sz="2400" dirty="0"/>
          </a:p>
        </p:txBody>
      </p: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4664"/>
            <a:ext cx="8964488" cy="42484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4.2.1</a:t>
            </a:r>
            <a:r>
              <a:rPr lang="en-US" altLang="zh-CN" sz="2400" dirty="0"/>
              <a:t>   </a:t>
            </a:r>
            <a:r>
              <a:rPr lang="zh-CN" altLang="en-US" sz="2400" dirty="0"/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/>
              <a:t> 是齐次线性方程组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dirty="0"/>
              <a:t>的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dirty="0"/>
              <a:t>个</a:t>
            </a:r>
            <a:r>
              <a:rPr lang="zh-CN" altLang="en-US" sz="2400" dirty="0"/>
              <a:t>解向量，如果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/>
              <a:t>2 </a:t>
            </a:r>
            <a:r>
              <a:rPr lang="zh-CN" altLang="en-US" sz="2800" dirty="0"/>
              <a:t>，</a:t>
            </a:r>
            <a:r>
              <a:rPr lang="en-US" altLang="zh-CN" sz="2800" dirty="0"/>
              <a:t>...</a:t>
            </a:r>
            <a:r>
              <a:rPr lang="zh-CN" altLang="en-US" sz="28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/>
              <a:t> </a:t>
            </a:r>
            <a:r>
              <a:rPr lang="zh-CN" altLang="en-US" sz="2400" dirty="0"/>
              <a:t>线性无关</a:t>
            </a:r>
            <a:r>
              <a:rPr lang="zh-CN" altLang="en-US" sz="2600" dirty="0"/>
              <a:t>；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的任意一个解向量都可以由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 表示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则称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/>
              <a:t>是齐次线性方程组的</a:t>
            </a:r>
            <a:r>
              <a:rPr lang="zh-CN" altLang="en-US" sz="2400" b="1" dirty="0">
                <a:solidFill>
                  <a:srgbClr val="0000FF"/>
                </a:solidFill>
              </a:rPr>
              <a:t>基础解系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323528" y="4673312"/>
            <a:ext cx="8229600" cy="1491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由定义知，</a:t>
            </a:r>
            <a:r>
              <a:rPr lang="zh-CN" altLang="en-US" sz="2400" b="1" dirty="0">
                <a:solidFill>
                  <a:srgbClr val="FF0000"/>
                </a:solidFill>
              </a:rPr>
              <a:t>基础解系是齐次线性方程组解向量集合的一个极大无关组，因此基础解系不是唯一的</a:t>
            </a:r>
            <a:r>
              <a:rPr lang="en-US" altLang="zh-CN" sz="2400" b="1" dirty="0">
                <a:solidFill>
                  <a:srgbClr val="FF0000"/>
                </a:solidFill>
              </a:rPr>
              <a:t>.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4664"/>
            <a:ext cx="8964488" cy="22322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4.2.1</a:t>
            </a:r>
            <a:r>
              <a:rPr lang="en-US" altLang="zh-CN" sz="2400" dirty="0"/>
              <a:t>   </a:t>
            </a:r>
            <a:r>
              <a:rPr lang="zh-CN" altLang="en-US" sz="2400" dirty="0"/>
              <a:t>若含有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个未知量的齐次线性方程组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的系数矩阵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/>
              <a:t>则该方程组的基础解系必存在，其基础解系中所含向量个数为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prstClr val="black"/>
                </a:solidFill>
              </a:rPr>
              <a:t>。</a:t>
            </a:r>
            <a:endParaRPr lang="en-US" altLang="zh-CN" sz="24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179512" y="2204864"/>
            <a:ext cx="9036496" cy="3816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注意 </a:t>
            </a:r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 </a:t>
            </a:r>
            <a:r>
              <a:rPr lang="zh-CN" altLang="zh-CN" sz="2400" dirty="0"/>
              <a:t>只有零解的充分必要条件是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)=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/>
              <a:t> </a:t>
            </a:r>
            <a:r>
              <a:rPr lang="zh-CN" altLang="zh-CN" sz="2400" dirty="0"/>
              <a:t>。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400" dirty="0"/>
              <a:t>有非零解的充分必要条件是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/>
              <a:t> </a:t>
            </a:r>
            <a:r>
              <a:rPr lang="zh-CN" altLang="zh-CN" sz="2400" dirty="0"/>
              <a:t>。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3</a:t>
            </a:r>
            <a:r>
              <a:rPr lang="zh-CN" altLang="zh-CN" sz="2400" dirty="0"/>
              <a:t>）若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/>
              <a:t> </a:t>
            </a:r>
            <a:r>
              <a:rPr lang="zh-CN" altLang="zh-CN" sz="2400" dirty="0"/>
              <a:t>，则自由未知量的取值是自由的，不是唯一的；自由未知量的选取也不唯一。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4</a:t>
            </a:r>
            <a:r>
              <a:rPr lang="zh-CN" altLang="zh-CN" sz="2400" dirty="0"/>
              <a:t>）基础解系不唯一，但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400" dirty="0"/>
              <a:t>的任何两个基础解系是等价的，故它们所含向量的个数唯一确定。</a:t>
            </a:r>
            <a:endParaRPr lang="zh-CN" altLang="zh-CN" sz="2400" dirty="0"/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7504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四、齐次线性方程组的解法</a:t>
            </a:r>
            <a:endParaRPr lang="zh-CN" alt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2676549"/>
            <a:ext cx="90364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求解齐次线性方程组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通解的</a:t>
            </a:r>
            <a:r>
              <a:rPr lang="zh-CN" altLang="en-US" sz="2400" b="1" dirty="0">
                <a:solidFill>
                  <a:srgbClr val="FF0000"/>
                </a:solidFill>
              </a:rPr>
              <a:t>步骤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）用初等行变换将系数矩阵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化成行阶梯矩阵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）根据矩阵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的非零行的行数写出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，方程组 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个自由未知量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/>
              <a:t>+1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/>
              <a:t>+2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）求得方程组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的一个基础解系                     ；           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）写出方程组的通解（即基础解系的线性组合）：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1986" y="908720"/>
            <a:ext cx="82708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4.3.1   </a:t>
            </a:r>
            <a:r>
              <a:rPr lang="zh-CN" altLang="en-US" sz="2400" dirty="0"/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/>
              <a:t> 是齐次线性方程组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的一个基础解系，则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α=</a:t>
            </a:r>
            <a:r>
              <a:rPr lang="en-US" altLang="zh-CN" sz="2400" baseline="-25000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/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+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/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+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dirty="0"/>
              <a:t>+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n-r</a:t>
            </a:r>
            <a:r>
              <a:rPr lang="zh-CN" altLang="en-US" sz="2400" dirty="0"/>
              <a:t>称为齐次线性方程组的</a:t>
            </a:r>
            <a:r>
              <a:rPr lang="zh-CN" altLang="en-US" sz="2400" b="1" dirty="0">
                <a:solidFill>
                  <a:srgbClr val="0000FF"/>
                </a:solidFill>
              </a:rPr>
              <a:t>通解</a:t>
            </a:r>
            <a:r>
              <a:rPr lang="zh-CN" altLang="en-US" sz="2400" b="1" dirty="0"/>
              <a:t>，</a:t>
            </a:r>
            <a:r>
              <a:rPr lang="zh-CN" altLang="en-US" sz="2400" dirty="0"/>
              <a:t>其中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/>
              <a:t>是任意常数。</a:t>
            </a:r>
            <a:endParaRPr lang="en-US" altLang="zh-CN" sz="2400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436096" y="4941168"/>
          <a:ext cx="1663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1" imgW="19507200" imgH="5486400" progId="Equation.DSMT4">
                  <p:embed/>
                </p:oleObj>
              </mc:Choice>
              <mc:Fallback>
                <p:oleObj name="Equation" r:id="rId1" imgW="195072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941168"/>
                        <a:ext cx="1663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90575" y="6021388"/>
          <a:ext cx="6003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3" imgW="70408800" imgH="5486400" progId="Equation.DSMT4">
                  <p:embed/>
                </p:oleObj>
              </mc:Choice>
              <mc:Fallback>
                <p:oleObj name="Equation" r:id="rId3" imgW="70408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6021388"/>
                        <a:ext cx="6003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AE432D-E95F-4B08-8DCA-06081A13E883}" type="datetime3">
              <a:rPr lang="zh-CN" altLang="en-US" smtClean="0"/>
            </a:fld>
            <a:endParaRPr lang="en-US" altLang="zh-CN"/>
          </a:p>
        </p:txBody>
      </p:sp>
      <p:sp>
        <p:nvSpPr>
          <p:cNvPr id="2253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225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952554-9A11-4405-975D-8245F1EC14C2}" type="slidenum">
              <a:rPr lang="en-US" altLang="zh-CN"/>
            </a:fld>
            <a:endParaRPr lang="en-US" altLang="zh-CN"/>
          </a:p>
        </p:txBody>
      </p:sp>
      <p:graphicFrame>
        <p:nvGraphicFramePr>
          <p:cNvPr id="80898" name="Object 2"/>
          <p:cNvGraphicFramePr>
            <a:graphicFrameLocks noChangeAspect="1"/>
          </p:cNvGraphicFramePr>
          <p:nvPr/>
        </p:nvGraphicFramePr>
        <p:xfrm>
          <a:off x="320675" y="2439988"/>
          <a:ext cx="5765800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公式" r:id="rId1" imgW="2336800" imgH="1371600" progId="Equation.3">
                  <p:embed/>
                </p:oleObj>
              </mc:Choice>
              <mc:Fallback>
                <p:oleObj name="公式" r:id="rId1" imgW="2336800" imgH="137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2439988"/>
                        <a:ext cx="5765800" cy="338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395288" y="1158875"/>
            <a:ext cx="84248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ea typeface="楷体_GB2312" pitchFamily="49" charset="-122"/>
              </a:rPr>
              <a:t>    </a:t>
            </a:r>
            <a:r>
              <a:rPr lang="zh-CN" altLang="en-US" sz="2800" b="1">
                <a:ea typeface="楷体_GB2312" pitchFamily="49" charset="-122"/>
              </a:rPr>
              <a:t>设</a:t>
            </a:r>
            <a:r>
              <a:rPr lang="en-US" altLang="zh-CN" sz="2800" b="1">
                <a:ea typeface="楷体_GB2312" pitchFamily="49" charset="-122"/>
              </a:rPr>
              <a:t>A</a:t>
            </a:r>
            <a:r>
              <a:rPr lang="zh-CN" altLang="en-US" sz="2800" b="1">
                <a:ea typeface="楷体_GB2312" pitchFamily="49" charset="-122"/>
              </a:rPr>
              <a:t>的秩为</a:t>
            </a:r>
            <a:r>
              <a:rPr lang="en-US" altLang="zh-CN" sz="2800" b="1">
                <a:ea typeface="楷体_GB2312" pitchFamily="49" charset="-122"/>
              </a:rPr>
              <a:t>r(</a:t>
            </a:r>
            <a:r>
              <a:rPr lang="en-US" altLang="zh-CN" sz="2800" b="1">
                <a:solidFill>
                  <a:srgbClr val="0000FF"/>
                </a:solidFill>
                <a:ea typeface="楷体_GB2312" pitchFamily="49" charset="-122"/>
              </a:rPr>
              <a:t>r&lt;n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zh-CN" altLang="en-US" sz="2800" b="1">
                <a:ea typeface="楷体_GB2312" pitchFamily="49" charset="-122"/>
              </a:rPr>
              <a:t>，不妨设</a:t>
            </a:r>
            <a:r>
              <a:rPr lang="en-US" altLang="zh-CN" sz="2800" b="1">
                <a:ea typeface="楷体_GB2312" pitchFamily="49" charset="-122"/>
              </a:rPr>
              <a:t>A</a:t>
            </a:r>
            <a:r>
              <a:rPr lang="zh-CN" altLang="en-US" sz="2800" b="1">
                <a:ea typeface="楷体_GB2312" pitchFamily="49" charset="-122"/>
              </a:rPr>
              <a:t>的左上角的</a:t>
            </a:r>
            <a:r>
              <a:rPr lang="en-US" altLang="zh-CN" sz="2800" b="1">
                <a:ea typeface="楷体_GB2312" pitchFamily="49" charset="-122"/>
              </a:rPr>
              <a:t>D</a:t>
            </a:r>
            <a:r>
              <a:rPr lang="en-US" altLang="zh-CN" sz="2800" b="1" baseline="-25000">
                <a:ea typeface="楷体_GB2312" pitchFamily="49" charset="-122"/>
              </a:rPr>
              <a:t>r</a:t>
            </a:r>
            <a:r>
              <a:rPr lang="zh-CN" altLang="en-US" sz="2800" b="1">
                <a:ea typeface="楷体_GB2312" pitchFamily="49" charset="-122"/>
              </a:rPr>
              <a:t>不为</a:t>
            </a:r>
            <a:r>
              <a:rPr lang="en-US" altLang="zh-CN" sz="2800" b="1">
                <a:ea typeface="楷体_GB2312" pitchFamily="49" charset="-122"/>
              </a:rPr>
              <a:t>0</a:t>
            </a:r>
            <a:r>
              <a:rPr lang="zh-CN" altLang="en-US" sz="2800" b="1">
                <a:ea typeface="楷体_GB2312" pitchFamily="49" charset="-122"/>
              </a:rPr>
              <a:t>，则</a:t>
            </a:r>
            <a:r>
              <a:rPr lang="en-US" altLang="zh-CN" sz="2800" b="1">
                <a:ea typeface="楷体_GB2312" pitchFamily="49" charset="-122"/>
              </a:rPr>
              <a:t>A</a:t>
            </a:r>
            <a:r>
              <a:rPr lang="zh-CN" altLang="en-US" sz="2800" b="1">
                <a:ea typeface="楷体_GB2312" pitchFamily="49" charset="-122"/>
              </a:rPr>
              <a:t>用行变换可化为行最简形阶梯阵</a:t>
            </a:r>
            <a:r>
              <a:rPr lang="en-US" altLang="zh-CN" sz="2800" b="1">
                <a:ea typeface="楷体_GB2312" pitchFamily="49" charset="-122"/>
              </a:rPr>
              <a:t>B</a:t>
            </a:r>
            <a:r>
              <a:rPr lang="zh-CN" altLang="en-US" sz="2800" b="1">
                <a:ea typeface="楷体_GB2312" pitchFamily="49" charset="-122"/>
              </a:rPr>
              <a:t>。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323850" y="549275"/>
            <a:ext cx="7993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齐次线性方程组基础解系的求法：</a:t>
            </a:r>
            <a:endParaRPr lang="zh-CN" altLang="en-US" sz="2800" b="1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8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  <p:bldP spid="80899" grpId="0"/>
      <p:bldP spid="8090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9912C5-F9D0-4F7A-8B7A-15FC055B57FD}" type="datetime3">
              <a:rPr lang="zh-CN" altLang="en-US" smtClean="0"/>
            </a:fld>
            <a:endParaRPr lang="en-US" altLang="zh-CN"/>
          </a:p>
        </p:txBody>
      </p:sp>
      <p:sp>
        <p:nvSpPr>
          <p:cNvPr id="2355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2355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1FD646-7E75-4E75-B521-6AEB40377E81}" type="slidenum">
              <a:rPr lang="en-US" altLang="zh-CN"/>
            </a:fld>
            <a:endParaRPr lang="en-US" altLang="zh-CN"/>
          </a:p>
        </p:txBody>
      </p:sp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323850" y="404813"/>
            <a:ext cx="8353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由</a:t>
            </a:r>
            <a:r>
              <a:rPr lang="en-US" altLang="zh-CN" sz="2800" b="1">
                <a:ea typeface="楷体_GB2312" pitchFamily="49" charset="-122"/>
              </a:rPr>
              <a:t>B</a:t>
            </a:r>
            <a:r>
              <a:rPr lang="zh-CN" altLang="en-US" sz="2800" b="1">
                <a:ea typeface="楷体_GB2312" pitchFamily="49" charset="-122"/>
              </a:rPr>
              <a:t>得同解方程组：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1923" name="Object 3"/>
          <p:cNvGraphicFramePr>
            <a:graphicFrameLocks noGrp="1" noChangeAspect="1"/>
          </p:cNvGraphicFramePr>
          <p:nvPr>
            <p:ph/>
          </p:nvPr>
        </p:nvGraphicFramePr>
        <p:xfrm>
          <a:off x="1597025" y="792163"/>
          <a:ext cx="4475163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Equation" r:id="rId1" imgW="1701800" imgH="736600" progId="Equation.DSMT4">
                  <p:embed/>
                </p:oleObj>
              </mc:Choice>
              <mc:Fallback>
                <p:oleObj name="Equation" r:id="rId1" imgW="17018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792163"/>
                        <a:ext cx="4475163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323850" y="2708275"/>
            <a:ext cx="835342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ea typeface="楷体_GB2312" pitchFamily="49" charset="-122"/>
              </a:rPr>
              <a:t>在上述方程组中取自由未知量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r+1</a:t>
            </a:r>
            <a:r>
              <a:rPr lang="en-US" altLang="zh-CN" sz="2800" b="1">
                <a:ea typeface="楷体_GB2312" pitchFamily="49" charset="-122"/>
              </a:rPr>
              <a:t>, …,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n</a:t>
            </a:r>
            <a:r>
              <a:rPr lang="zh-CN" altLang="en-US" sz="2800" b="1">
                <a:ea typeface="楷体_GB2312" pitchFamily="49" charset="-122"/>
              </a:rPr>
              <a:t>为线性无关的单位向量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也可以不是单位向量</a:t>
            </a:r>
            <a:r>
              <a:rPr lang="en-US" altLang="zh-CN" sz="2800" b="1">
                <a:ea typeface="楷体_GB2312" pitchFamily="49" charset="-122"/>
              </a:rPr>
              <a:t>), </a:t>
            </a:r>
            <a:r>
              <a:rPr lang="zh-CN" altLang="en-US" sz="2800" b="1">
                <a:ea typeface="楷体_GB2312" pitchFamily="49" charset="-122"/>
              </a:rPr>
              <a:t>可得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r>
              <a:rPr lang="en-US" altLang="zh-CN" sz="2800" b="1">
                <a:ea typeface="楷体_GB2312" pitchFamily="49" charset="-122"/>
              </a:rPr>
              <a:t>,…,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r</a:t>
            </a:r>
            <a:r>
              <a:rPr lang="zh-CN" altLang="en-US" sz="2800" b="1">
                <a:ea typeface="楷体_GB2312" pitchFamily="49" charset="-122"/>
              </a:rPr>
              <a:t>值，从而得到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r>
              <a:rPr lang="en-US" altLang="zh-CN" sz="2800" b="1">
                <a:ea typeface="楷体_GB2312" pitchFamily="49" charset="-122"/>
              </a:rPr>
              <a:t>, …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r</a:t>
            </a:r>
            <a:r>
              <a:rPr lang="en-US" altLang="zh-CN" sz="2800" b="1">
                <a:ea typeface="楷体_GB2312" pitchFamily="49" charset="-122"/>
              </a:rPr>
              <a:t> …,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n</a:t>
            </a:r>
            <a:r>
              <a:rPr lang="zh-CN" altLang="en-US" sz="2800" b="1">
                <a:ea typeface="楷体_GB2312" pitchFamily="49" charset="-122"/>
              </a:rPr>
              <a:t>的线性无关的解向量。即：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1925" name="Object 5"/>
          <p:cNvGraphicFramePr>
            <a:graphicFrameLocks noChangeAspect="1"/>
          </p:cNvGraphicFramePr>
          <p:nvPr/>
        </p:nvGraphicFramePr>
        <p:xfrm>
          <a:off x="1447800" y="4244975"/>
          <a:ext cx="5284788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" name="Equation" r:id="rId3" imgW="1536700" imgH="939800" progId="Equation.DSMT4">
                  <p:embed/>
                </p:oleObj>
              </mc:Choice>
              <mc:Fallback>
                <p:oleObj name="Equation" r:id="rId3" imgW="1536700" imgH="93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244975"/>
                        <a:ext cx="5284788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19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/>
      <p:bldP spid="81923" grpId="0" build="p"/>
      <p:bldP spid="81924" grpId="0"/>
      <p:bldP spid="8192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6C0E91-0E3A-44F5-A233-80DA430B3D05}" type="datetime3">
              <a:rPr lang="zh-CN" altLang="en-US" smtClean="0"/>
            </a:fld>
            <a:endParaRPr lang="en-US" altLang="zh-CN"/>
          </a:p>
        </p:txBody>
      </p:sp>
      <p:sp>
        <p:nvSpPr>
          <p:cNvPr id="2458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2458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CE0D74-90B5-400F-AB5B-78E80C8F90C6}" type="slidenum">
              <a:rPr lang="en-US" altLang="zh-CN"/>
            </a:fld>
            <a:endParaRPr lang="en-US" altLang="zh-CN"/>
          </a:p>
        </p:txBody>
      </p:sp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323850" y="333375"/>
            <a:ext cx="806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得：</a:t>
            </a:r>
            <a:r>
              <a:rPr lang="en-US" altLang="zh-CN" sz="2800" b="1">
                <a:ea typeface="楷体_GB2312" pitchFamily="49" charset="-122"/>
              </a:rPr>
              <a:t>x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r>
              <a:rPr lang="en-US" altLang="zh-CN" sz="2800" b="1">
                <a:ea typeface="楷体_GB2312" pitchFamily="49" charset="-122"/>
              </a:rPr>
              <a:t>,x</a:t>
            </a:r>
            <a:r>
              <a:rPr lang="en-US" altLang="zh-CN" sz="2800" b="1" baseline="-25000">
                <a:ea typeface="楷体_GB2312" pitchFamily="49" charset="-122"/>
              </a:rPr>
              <a:t>2</a:t>
            </a:r>
            <a:r>
              <a:rPr lang="en-US" altLang="zh-CN" sz="2800" b="1">
                <a:ea typeface="楷体_GB2312" pitchFamily="49" charset="-122"/>
              </a:rPr>
              <a:t>,…,x</a:t>
            </a:r>
            <a:r>
              <a:rPr lang="en-US" altLang="zh-CN" sz="2800" b="1" baseline="-25000">
                <a:ea typeface="楷体_GB2312" pitchFamily="49" charset="-122"/>
              </a:rPr>
              <a:t>r</a:t>
            </a:r>
            <a:r>
              <a:rPr lang="zh-CN" altLang="en-US" sz="2800" b="1">
                <a:ea typeface="楷体_GB2312" pitchFamily="49" charset="-122"/>
              </a:rPr>
              <a:t>的值：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2947" name="Object 3"/>
          <p:cNvGraphicFramePr>
            <a:graphicFrameLocks noGrp="1" noChangeAspect="1"/>
          </p:cNvGraphicFramePr>
          <p:nvPr>
            <p:ph/>
          </p:nvPr>
        </p:nvGraphicFramePr>
        <p:xfrm>
          <a:off x="1743075" y="792163"/>
          <a:ext cx="5218113" cy="172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1" imgW="2159000" imgH="736600" progId="Equation.DSMT4">
                  <p:embed/>
                </p:oleObj>
              </mc:Choice>
              <mc:Fallback>
                <p:oleObj name="Equation" r:id="rId1" imgW="21590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792163"/>
                        <a:ext cx="5218113" cy="172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395288" y="2492375"/>
            <a:ext cx="806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从而得</a:t>
            </a:r>
            <a:r>
              <a:rPr lang="en-US" altLang="zh-CN" sz="2800" b="1">
                <a:ea typeface="楷体_GB2312" pitchFamily="49" charset="-122"/>
              </a:rPr>
              <a:t>Ax=0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en-US" altLang="zh-CN" sz="2800" b="1">
                <a:ea typeface="楷体_GB2312" pitchFamily="49" charset="-122"/>
              </a:rPr>
              <a:t>n-r</a:t>
            </a:r>
            <a:r>
              <a:rPr lang="zh-CN" altLang="en-US" sz="2800" b="1">
                <a:ea typeface="楷体_GB2312" pitchFamily="49" charset="-122"/>
              </a:rPr>
              <a:t>个解向量：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1181100" y="2944813"/>
          <a:ext cx="6708775" cy="346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tion" r:id="rId3" imgW="2730500" imgH="1600200" progId="Equation.DSMT4">
                  <p:embed/>
                </p:oleObj>
              </mc:Choice>
              <mc:Fallback>
                <p:oleObj name="Equation" r:id="rId3" imgW="2730500" imgH="160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2944813"/>
                        <a:ext cx="6708775" cy="346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9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7" grpId="0" build="p"/>
      <p:bldP spid="82948" grpId="0"/>
      <p:bldP spid="8294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D7F55A-E28D-42A2-B05E-E8498F16F3AF}" type="datetime3">
              <a:rPr lang="zh-CN" altLang="en-US" smtClean="0"/>
            </a:fld>
            <a:endParaRPr lang="en-US" altLang="zh-CN"/>
          </a:p>
        </p:txBody>
      </p:sp>
      <p:sp>
        <p:nvSpPr>
          <p:cNvPr id="2560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2560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A814F1-FF2E-4087-8C0F-D122588EB481}" type="slidenum">
              <a:rPr lang="en-US" altLang="zh-CN"/>
            </a:fld>
            <a:endParaRPr lang="en-US" altLang="zh-CN"/>
          </a:p>
        </p:txBody>
      </p:sp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322263" y="476250"/>
            <a:ext cx="2017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可以证明：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3971" name="Object 3"/>
          <p:cNvGraphicFramePr>
            <a:graphicFrameLocks noGrp="1" noChangeAspect="1"/>
          </p:cNvGraphicFramePr>
          <p:nvPr>
            <p:ph/>
          </p:nvPr>
        </p:nvGraphicFramePr>
        <p:xfrm>
          <a:off x="2608263" y="430213"/>
          <a:ext cx="20494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Equation" r:id="rId1" imgW="889000" imgH="228600" progId="Equation.DSMT4">
                  <p:embed/>
                </p:oleObj>
              </mc:Choice>
              <mc:Fallback>
                <p:oleObj name="Equation" r:id="rId1" imgW="8890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30213"/>
                        <a:ext cx="20494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5148263" y="476250"/>
            <a:ext cx="3455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线性无关，且</a:t>
            </a:r>
            <a:r>
              <a:rPr lang="en-US" altLang="zh-CN" sz="2800" b="1">
                <a:ea typeface="楷体_GB2312" pitchFamily="49" charset="-122"/>
              </a:rPr>
              <a:t>AX=0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323850" y="1125538"/>
            <a:ext cx="79930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的所有解都能由它们线性表示。因此，</a:t>
            </a:r>
            <a:r>
              <a:rPr lang="en-US" altLang="zh-CN" sz="2800" b="1">
                <a:ea typeface="楷体_GB2312" pitchFamily="49" charset="-122"/>
              </a:rPr>
              <a:t>AX=0</a:t>
            </a:r>
            <a:r>
              <a:rPr lang="zh-CN" altLang="en-US" sz="2800" b="1">
                <a:ea typeface="楷体_GB2312" pitchFamily="49" charset="-122"/>
              </a:rPr>
              <a:t>的通解为：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427038" y="2024063"/>
          <a:ext cx="67056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Equation" r:id="rId3" imgW="1854200" imgH="228600" progId="Equation.DSMT4">
                  <p:embed/>
                </p:oleObj>
              </mc:Choice>
              <mc:Fallback>
                <p:oleObj name="Equation" r:id="rId3" imgW="18542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2024063"/>
                        <a:ext cx="670560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323850" y="2852738"/>
            <a:ext cx="467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所以</a:t>
            </a:r>
            <a:r>
              <a:rPr lang="en-US" altLang="zh-CN" sz="2800" b="1">
                <a:ea typeface="楷体_GB2312" pitchFamily="49" charset="-122"/>
              </a:rPr>
              <a:t>,</a:t>
            </a:r>
            <a:r>
              <a:rPr lang="zh-CN" altLang="en-US" sz="2800" b="1">
                <a:ea typeface="楷体_GB2312" pitchFamily="49" charset="-122"/>
              </a:rPr>
              <a:t>称 </a:t>
            </a:r>
            <a:r>
              <a:rPr lang="en-US" altLang="zh-CN" sz="2800" b="1">
                <a:ea typeface="楷体_GB2312" pitchFamily="49" charset="-122"/>
              </a:rPr>
              <a:t>AX=0</a:t>
            </a:r>
            <a:r>
              <a:rPr lang="zh-CN" altLang="en-US" sz="2800" b="1">
                <a:ea typeface="楷体_GB2312" pitchFamily="49" charset="-122"/>
              </a:rPr>
              <a:t>的基础解系为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en-US" altLang="zh-CN" sz="2800" b="1">
              <a:ea typeface="楷体_GB2312" pitchFamily="49" charset="-122"/>
            </a:endParaRP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4986338" y="2822575"/>
          <a:ext cx="27749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5" imgW="889000" imgH="228600" progId="Equation.DSMT4">
                  <p:embed/>
                </p:oleObj>
              </mc:Choice>
              <mc:Fallback>
                <p:oleObj name="Equation" r:id="rId5" imgW="889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2822575"/>
                        <a:ext cx="27749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323850" y="3557588"/>
            <a:ext cx="8137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AX=0</a:t>
            </a:r>
            <a:r>
              <a:rPr lang="zh-CN" altLang="en-US" sz="2800" b="1">
                <a:ea typeface="楷体_GB2312" pitchFamily="49" charset="-122"/>
              </a:rPr>
              <a:t>的解空间的维数为：</a:t>
            </a:r>
            <a:r>
              <a:rPr lang="en-US" altLang="zh-CN" sz="2800" b="1">
                <a:ea typeface="楷体_GB2312" pitchFamily="49" charset="-122"/>
              </a:rPr>
              <a:t>n-r = </a:t>
            </a:r>
            <a:r>
              <a:rPr lang="zh-CN" altLang="en-US" sz="2800" b="1">
                <a:ea typeface="楷体_GB2312" pitchFamily="49" charset="-122"/>
              </a:rPr>
              <a:t>未知量个数</a:t>
            </a:r>
            <a:r>
              <a:rPr lang="en-US" altLang="zh-CN" sz="2800" b="1">
                <a:latin typeface="宋体" panose="02010600030101010101" pitchFamily="2" charset="-122"/>
              </a:rPr>
              <a:t>-</a:t>
            </a:r>
            <a:r>
              <a:rPr lang="en-US" altLang="zh-CN" sz="2800" b="1">
                <a:ea typeface="楷体_GB2312" pitchFamily="49" charset="-122"/>
              </a:rPr>
              <a:t>R(A)</a:t>
            </a:r>
            <a:endParaRPr lang="en-US" altLang="zh-CN" sz="2800" b="1"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39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39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397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/>
      <p:bldP spid="83972" grpId="0"/>
      <p:bldP spid="83973" grpId="0"/>
      <p:bldP spid="83974" grpId="0" build="p"/>
      <p:bldP spid="83975" grpId="0"/>
      <p:bldP spid="83976" grpId="0" build="p"/>
      <p:bldP spid="839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C70E2CB-C2F1-45F8-8022-F587357D91C4}" type="datetime3">
              <a:rPr lang="zh-CN" altLang="en-US" smtClean="0"/>
            </a:fld>
            <a:endParaRPr lang="en-US" altLang="zh-CN"/>
          </a:p>
        </p:txBody>
      </p:sp>
      <p:sp>
        <p:nvSpPr>
          <p:cNvPr id="2765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276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DA03DB-F4C3-4772-9EA5-F719D1585EAB}" type="slidenum">
              <a:rPr lang="en-US" altLang="zh-CN"/>
            </a:fld>
            <a:endParaRPr lang="en-US" altLang="zh-CN"/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11188" y="5732463"/>
          <a:ext cx="45370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1" imgW="1854200" imgH="228600" progId="Equation.DSMT4">
                  <p:embed/>
                </p:oleObj>
              </mc:Choice>
              <mc:Fallback>
                <p:oleObj name="Equation" r:id="rId1" imgW="18542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732463"/>
                        <a:ext cx="45370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5219700" y="5732463"/>
          <a:ext cx="35607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3" imgW="1524000" imgH="228600" progId="Equation.DSMT4">
                  <p:embed/>
                </p:oleObj>
              </mc:Choice>
              <mc:Fallback>
                <p:oleObj name="Equation" r:id="rId3" imgW="1524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732463"/>
                        <a:ext cx="356076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79388" y="476250"/>
            <a:ext cx="7164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用初等行变换将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化成行最简行矩阵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34" name="Text Box 14"/>
          <p:cNvSpPr txBox="1">
            <a:spLocks noChangeArrowheads="1"/>
          </p:cNvSpPr>
          <p:nvPr/>
        </p:nvSpPr>
        <p:spPr bwMode="auto">
          <a:xfrm>
            <a:off x="304800" y="44450"/>
            <a:ext cx="883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求解齐次线性方程组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(4.1.1)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通解的步骤（见教材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P113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79388" y="963613"/>
            <a:ext cx="82804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根据 矩阵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求出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的秩（设为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），这时可以知道齐次线性方程组（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4.1.1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）含有个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自由变量，不妨记这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个自由变量为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 x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r+1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,x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r+2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…,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07950" y="2276475"/>
            <a:ext cx="8280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根据同解方程组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BX=0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确定自由变量，若令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(x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r+1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,x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r+2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 …,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分别取如下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组值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(1,0, …,0), (0,1, …,0), …,(0,0, …,1)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则由方程组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BX=0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可以求出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个线性无关的解向量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,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… ,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n-r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这些解向量构成齐次线性方程组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(4.1.1)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的一个基础解系。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-36513" y="4868863"/>
            <a:ext cx="8280401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(4)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写出齐次线性方程组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(4.1.1)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的通解（即基础解系中向量的线性组合）。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3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89856" y="188640"/>
            <a:ext cx="8784976" cy="1454150"/>
            <a:chOff x="467544" y="159941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2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求齐次线性方程组                               的基础解系与通解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472827" y="159941"/>
            <a:ext cx="2593544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6" name="Equation" r:id="rId1" imgW="34747200" imgH="17068800" progId="Equation.DSMT4">
                    <p:embed/>
                  </p:oleObj>
                </mc:Choice>
                <mc:Fallback>
                  <p:oleObj name="Equation" r:id="rId1" imgW="34747200" imgH="170688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827" y="159941"/>
                          <a:ext cx="2593544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62990" y="184482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17" name="内容占位符 2"/>
          <p:cNvSpPr txBox="1"/>
          <p:nvPr/>
        </p:nvSpPr>
        <p:spPr>
          <a:xfrm>
            <a:off x="1093100" y="1870466"/>
            <a:ext cx="700729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对系数矩阵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作初等行变换，化为行最简矩阵：</a:t>
            </a:r>
            <a:endParaRPr lang="zh-CN" altLang="en-US" sz="2400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89856" y="2403122"/>
          <a:ext cx="8791576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3" imgW="103022400" imgH="34137600" progId="Equation.DSMT4">
                  <p:embed/>
                </p:oleObj>
              </mc:Choice>
              <mc:Fallback>
                <p:oleObj name="Equation" r:id="rId3" imgW="103022400" imgH="34137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56" y="2403122"/>
                        <a:ext cx="8791576" cy="290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2"/>
          <p:cNvSpPr txBox="1"/>
          <p:nvPr/>
        </p:nvSpPr>
        <p:spPr>
          <a:xfrm>
            <a:off x="395536" y="560526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得</a:t>
            </a:r>
            <a:endParaRPr lang="zh-CN" altLang="en-US" sz="2400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068903" y="5143500"/>
          <a:ext cx="1992312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name="Equation" r:id="rId5" imgW="24993600" imgH="20116800" progId="Equation.DSMT4">
                  <p:embed/>
                </p:oleObj>
              </mc:Choice>
              <mc:Fallback>
                <p:oleObj name="Equation" r:id="rId5" imgW="24993600" imgH="20116800" progId="Equation.DSMT4">
                  <p:embed/>
                  <p:pic>
                    <p:nvPicPr>
                      <p:cNvPr id="0" name="图片 47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903" y="5143500"/>
                        <a:ext cx="1992312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19872" y="5640759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令       分别取      和      </a:t>
            </a:r>
            <a:endParaRPr lang="zh-CN" altLang="en-US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51920" y="5377879"/>
          <a:ext cx="6318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7" imgW="7924800" imgH="11582400" progId="Equation.DSMT4">
                  <p:embed/>
                </p:oleObj>
              </mc:Choice>
              <mc:Fallback>
                <p:oleObj name="Equation" r:id="rId7" imgW="7924800" imgH="11582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5377879"/>
                        <a:ext cx="6318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580112" y="5403279"/>
          <a:ext cx="5095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9" imgW="6400800" imgH="10972800" progId="Equation.DSMT4">
                  <p:embed/>
                </p:oleObj>
              </mc:Choice>
              <mc:Fallback>
                <p:oleObj name="Equation" r:id="rId9" imgW="6400800" imgH="10972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403279"/>
                        <a:ext cx="5095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414686" y="5403279"/>
          <a:ext cx="5095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11" imgW="6400800" imgH="10972800" progId="Equation.DSMT4">
                  <p:embed/>
                </p:oleObj>
              </mc:Choice>
              <mc:Fallback>
                <p:oleObj name="Equation" r:id="rId11" imgW="6400800" imgH="10972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686" y="5403279"/>
                        <a:ext cx="5095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89856" y="188640"/>
            <a:ext cx="8784976" cy="1454150"/>
            <a:chOff x="467544" y="159941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2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求齐次线性方程组                               的基础解系与通解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472827" y="159941"/>
            <a:ext cx="2593544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8" name="Equation" r:id="rId1" imgW="34747200" imgH="17068800" progId="Equation.DSMT4">
                    <p:embed/>
                  </p:oleObj>
                </mc:Choice>
                <mc:Fallback>
                  <p:oleObj name="Equation" r:id="rId1" imgW="34747200" imgH="17068800" progId="Equation.DSMT4">
                    <p:embed/>
                    <p:pic>
                      <p:nvPicPr>
                        <p:cNvPr id="0" name="图片 197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827" y="159941"/>
                          <a:ext cx="2593544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323528" y="2179973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17" name="内容占位符 2"/>
          <p:cNvSpPr txBox="1"/>
          <p:nvPr/>
        </p:nvSpPr>
        <p:spPr>
          <a:xfrm>
            <a:off x="971600" y="2564904"/>
            <a:ext cx="788173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则对应有               及      ，即得基础解系：</a:t>
            </a:r>
            <a:endParaRPr lang="zh-CN" altLang="en-US" sz="2400" dirty="0"/>
          </a:p>
        </p:txBody>
      </p:sp>
      <p:sp>
        <p:nvSpPr>
          <p:cNvPr id="22" name="内容占位符 2"/>
          <p:cNvSpPr txBox="1"/>
          <p:nvPr/>
        </p:nvSpPr>
        <p:spPr>
          <a:xfrm>
            <a:off x="971600" y="5013176"/>
            <a:ext cx="144016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故得通解：</a:t>
            </a:r>
            <a:endParaRPr lang="zh-CN" altLang="en-US" sz="2400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555776" y="5013176"/>
          <a:ext cx="32797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3" imgW="41148000" imgH="5486400" progId="Equation.DSMT4">
                  <p:embed/>
                </p:oleObj>
              </mc:Choice>
              <mc:Fallback>
                <p:oleObj name="Equation" r:id="rId3" imgW="41148000" imgH="5486400" progId="Equation.DSMT4">
                  <p:embed/>
                  <p:pic>
                    <p:nvPicPr>
                      <p:cNvPr id="0" name="图片 19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013176"/>
                        <a:ext cx="32797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67744" y="1973982"/>
          <a:ext cx="16033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Equation" r:id="rId5" imgW="20116800" imgH="20116800" progId="Equation.DSMT4">
                  <p:embed/>
                </p:oleObj>
              </mc:Choice>
              <mc:Fallback>
                <p:oleObj name="Equation" r:id="rId5" imgW="20116800" imgH="2011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973982"/>
                        <a:ext cx="1603375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327550" y="2362919"/>
          <a:ext cx="5095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Equation" r:id="rId7" imgW="6400800" imgH="10972800" progId="Equation.DSMT4">
                  <p:embed/>
                </p:oleObj>
              </mc:Choice>
              <mc:Fallback>
                <p:oleObj name="Equation" r:id="rId7" imgW="6400800" imgH="10972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50" y="2362919"/>
                        <a:ext cx="5095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87624" y="3789040"/>
          <a:ext cx="4076701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Equation" r:id="rId9" imgW="51206400" imgH="9448800" progId="Equation.DSMT4">
                  <p:embed/>
                </p:oleObj>
              </mc:Choice>
              <mc:Fallback>
                <p:oleObj name="Equation" r:id="rId9" imgW="51206400" imgH="9448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789040"/>
                        <a:ext cx="4076701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直角三角形 1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直角三角形 1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7504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五、线性方程组的解空间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395536" y="514462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4.4.1   </a:t>
            </a:r>
            <a:r>
              <a:rPr lang="zh-CN" altLang="en-US" sz="2400" dirty="0"/>
              <a:t>解集合对于向量的加法和数乘运算封闭，满足构成线性空间的八条性质，此空间称为齐次线性方程组的</a:t>
            </a:r>
            <a:r>
              <a:rPr lang="zh-CN" altLang="en-US" sz="2400" b="1" dirty="0">
                <a:solidFill>
                  <a:srgbClr val="0000FF"/>
                </a:solidFill>
              </a:rPr>
              <a:t>解空间。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935580" y="908720"/>
          <a:ext cx="359410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1" imgW="42062400" imgH="22555200" progId="Equation.DSMT4">
                  <p:embed/>
                </p:oleObj>
              </mc:Choice>
              <mc:Fallback>
                <p:oleObj name="Equation" r:id="rId1" imgW="42062400" imgH="22555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580" y="908720"/>
                        <a:ext cx="3594100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0404" y="1592228"/>
            <a:ext cx="868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将方程组                                   写成矩阵方程：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51520" y="2832566"/>
            <a:ext cx="87129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称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为方程组的系数矩阵，</a:t>
            </a:r>
            <a:r>
              <a:rPr lang="zh-CN" altLang="zh-CN" sz="2400" dirty="0"/>
              <a:t>当系数矩阵的秩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</a:t>
            </a:r>
            <a:r>
              <a:rPr lang="en-US" altLang="zh-CN" sz="2400" dirty="0">
                <a:solidFill>
                  <a:prstClr val="black"/>
                </a:solidFill>
              </a:rPr>
              <a:t>&lt;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/>
              <a:t> </a:t>
            </a:r>
            <a:r>
              <a:rPr lang="zh-CN" altLang="zh-CN" sz="2400" dirty="0"/>
              <a:t>时，齐次线性方程组由无穷多解。齐次线性方程组的一个解称作一个解向量；齐次线性方程组的所有解向量构成的集合称作解集合，记作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/>
              <a:t>，</a:t>
            </a:r>
            <a:r>
              <a:rPr lang="zh-CN" altLang="zh-CN" sz="2400" dirty="0"/>
              <a:t>解集合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zh-CN" sz="2400" dirty="0"/>
              <a:t>对于向量的加法和数乘运算封闭。</a:t>
            </a:r>
            <a:endParaRPr lang="zh-CN" altLang="en-US" sz="2400" dirty="0"/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2332" y="188640"/>
            <a:ext cx="86409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4.4.2   </a:t>
            </a:r>
            <a:r>
              <a:rPr lang="zh-CN" altLang="en-US" sz="2400" dirty="0"/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/>
              <a:t>属于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/>
              <a:t>,</a:t>
            </a:r>
            <a:r>
              <a:rPr lang="zh-CN" altLang="zh-CN" sz="2400" dirty="0"/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 </a:t>
            </a:r>
            <a:r>
              <a:rPr lang="zh-CN" altLang="zh-CN" sz="2400" dirty="0"/>
              <a:t>的所有线性组合构成的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/>
              <a:t>的子空间称为由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 </a:t>
            </a:r>
            <a:r>
              <a:rPr lang="zh-CN" altLang="zh-CN" sz="2400" dirty="0"/>
              <a:t>张成的</a:t>
            </a:r>
            <a:r>
              <a:rPr lang="zh-CN" altLang="zh-CN" sz="2400" b="1" dirty="0">
                <a:solidFill>
                  <a:srgbClr val="0000FF"/>
                </a:solidFill>
              </a:rPr>
              <a:t>子空间</a:t>
            </a:r>
            <a:r>
              <a:rPr lang="zh-CN" altLang="zh-CN" sz="2400" dirty="0"/>
              <a:t>，记为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dirty="0"/>
              <a:t>。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49459" y="2420888"/>
            <a:ext cx="8229600" cy="2167216"/>
            <a:chOff x="467544" y="620688"/>
            <a:chExt cx="8229600" cy="2167216"/>
          </a:xfrm>
        </p:grpSpPr>
        <p:sp>
          <p:nvSpPr>
            <p:cNvPr id="9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3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求解下列齐次线性方程组，并说明其解空间的几何表示。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485829" y="1141201"/>
            <a:ext cx="3564336" cy="1646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0" name="Equation" r:id="rId1" imgW="53340000" imgH="24688800" progId="Equation.DSMT4">
                    <p:embed/>
                  </p:oleObj>
                </mc:Choice>
                <mc:Fallback>
                  <p:oleObj name="Equation" r:id="rId1" imgW="53340000" imgH="24688800" progId="Equation.DSMT4">
                    <p:embed/>
                    <p:pic>
                      <p:nvPicPr>
                        <p:cNvPr id="0" name="图片 226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5829" y="1141201"/>
                          <a:ext cx="3564336" cy="16467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内容占位符 2"/>
          <p:cNvSpPr txBox="1"/>
          <p:nvPr/>
        </p:nvSpPr>
        <p:spPr>
          <a:xfrm>
            <a:off x="395536" y="4653136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15616" y="4653136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200" dirty="0"/>
              <a:t>对系数矩阵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/>
              <a:t>作行初等变换，化成行阶梯矩阵：</a:t>
            </a:r>
            <a:endParaRPr lang="zh-CN" altLang="en-US" sz="22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59632" y="5195251"/>
          <a:ext cx="6048672" cy="202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Equation" r:id="rId3" imgW="93573600" imgH="31394400" progId="Equation.DSMT4">
                  <p:embed/>
                </p:oleObj>
              </mc:Choice>
              <mc:Fallback>
                <p:oleObj name="Equation" r:id="rId3" imgW="93573600" imgH="31394400" progId="Equation.DSMT4">
                  <p:embed/>
                  <p:pic>
                    <p:nvPicPr>
                      <p:cNvPr id="0" name="图片 226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5195251"/>
                        <a:ext cx="6048672" cy="2029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99592" y="476672"/>
          <a:ext cx="6552729" cy="164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8" name="Equation" r:id="rId1" imgW="98145600" imgH="24688800" progId="Equation.DSMT4">
                  <p:embed/>
                </p:oleObj>
              </mc:Choice>
              <mc:Fallback>
                <p:oleObj name="Equation" r:id="rId1" imgW="98145600" imgH="24688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76672"/>
                        <a:ext cx="6552729" cy="1648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5576" y="2420888"/>
            <a:ext cx="6147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得到原方程组的同解方程组：                  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16016" y="2132856"/>
          <a:ext cx="2058720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9" name="Equation" r:id="rId3" imgW="20726400" imgH="11582400" progId="Equation.DSMT4">
                  <p:embed/>
                </p:oleObj>
              </mc:Choice>
              <mc:Fallback>
                <p:oleObj name="Equation" r:id="rId3" imgW="20726400" imgH="11582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2132856"/>
                        <a:ext cx="2058720" cy="11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5576" y="3717032"/>
            <a:ext cx="6218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求解得到齐次线性方程组的通解：             </a:t>
            </a:r>
            <a:endParaRPr lang="zh-CN" altLang="en-US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92080" y="3717032"/>
          <a:ext cx="1944216" cy="46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0" name="Equation" r:id="rId5" imgW="33223200" imgH="7924800" progId="Equation.DSMT4">
                  <p:embed/>
                </p:oleObj>
              </mc:Choice>
              <mc:Fallback>
                <p:oleObj name="Equation" r:id="rId5" imgW="33223200" imgH="7924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717032"/>
                        <a:ext cx="1944216" cy="46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5576" y="4725144"/>
            <a:ext cx="77645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容易知道，</a:t>
            </a:r>
            <a:r>
              <a:rPr lang="zh-CN" altLang="zh-CN" sz="2400" dirty="0"/>
              <a:t>通解的图像是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400" dirty="0"/>
              <a:t>中过原点的直线簇，原方程组的解空间是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400" dirty="0"/>
              <a:t>的子空间，此空间的基础解系仅包含了一个向量</a:t>
            </a:r>
            <a:r>
              <a:rPr lang="zh-CN" altLang="en-US" sz="2400" dirty="0"/>
              <a:t>           </a:t>
            </a:r>
            <a:r>
              <a:rPr lang="en-US" altLang="zh-CN" sz="2400" dirty="0"/>
              <a:t> </a:t>
            </a:r>
            <a:r>
              <a:rPr lang="zh-CN" altLang="zh-CN" sz="2400" dirty="0"/>
              <a:t>。</a:t>
            </a:r>
            <a:endParaRPr lang="zh-CN" altLang="en-US" sz="2400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123728" y="5949280"/>
          <a:ext cx="1224136" cy="48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name="Equation" r:id="rId7" imgW="20116800" imgH="7924800" progId="Equation.DSMT4">
                  <p:embed/>
                </p:oleObj>
              </mc:Choice>
              <mc:Fallback>
                <p:oleObj name="Equation" r:id="rId7" imgW="20116800" imgH="7924800" progId="Equation.DSMT4">
                  <p:embed/>
                  <p:pic>
                    <p:nvPicPr>
                      <p:cNvPr id="0" name="图片 237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3728" y="5949280"/>
                        <a:ext cx="1224136" cy="482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9583" y="290022"/>
            <a:ext cx="8229600" cy="2180481"/>
            <a:chOff x="467544" y="390710"/>
            <a:chExt cx="8229600" cy="2180481"/>
          </a:xfrm>
        </p:grpSpPr>
        <p:sp>
          <p:nvSpPr>
            <p:cNvPr id="9" name="内容占位符 2"/>
            <p:cNvSpPr txBox="1"/>
            <p:nvPr/>
          </p:nvSpPr>
          <p:spPr>
            <a:xfrm>
              <a:off x="467544" y="390710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4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说明下列齐次线性方程组解空间的几何意义：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489721" y="923366"/>
            <a:ext cx="3544887" cy="164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2" name="Equation" r:id="rId1" imgW="53035200" imgH="24688800" progId="Equation.DSMT4">
                    <p:embed/>
                  </p:oleObj>
                </mc:Choice>
                <mc:Fallback>
                  <p:oleObj name="Equation" r:id="rId1" imgW="53035200" imgH="24688800" progId="Equation.DSMT4">
                    <p:embed/>
                    <p:pic>
                      <p:nvPicPr>
                        <p:cNvPr id="0" name="图片 247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9721" y="923366"/>
                          <a:ext cx="3544887" cy="164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内容占位符 2"/>
          <p:cNvSpPr txBox="1"/>
          <p:nvPr/>
        </p:nvSpPr>
        <p:spPr>
          <a:xfrm>
            <a:off x="511666" y="277076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202076" y="2770764"/>
            <a:ext cx="71833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求解可得该方程组的一个基础解系</a:t>
            </a:r>
            <a:r>
              <a:rPr lang="zh-CN" altLang="zh-CN" sz="2200" dirty="0"/>
              <a:t>：</a:t>
            </a:r>
            <a:r>
              <a:rPr lang="zh-CN" altLang="en-US" sz="2200" dirty="0"/>
              <a:t>                         </a:t>
            </a:r>
            <a:endParaRPr lang="zh-CN" altLang="en-US" sz="22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724128" y="2783124"/>
          <a:ext cx="25130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3" name="Equation" r:id="rId3" imgW="42976800" imgH="7924800" progId="Equation.DSMT4">
                  <p:embed/>
                </p:oleObj>
              </mc:Choice>
              <mc:Fallback>
                <p:oleObj name="Equation" r:id="rId3" imgW="42976800" imgH="7924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2783124"/>
                        <a:ext cx="25130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81296" y="3305958"/>
            <a:ext cx="842493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它的解空间是</a:t>
            </a:r>
            <a:r>
              <a:rPr lang="zh-CN" altLang="zh-CN" sz="2400" dirty="0"/>
              <a:t>过原点的平面：</a:t>
            </a:r>
            <a:r>
              <a:rPr lang="zh-CN" altLang="en-US" sz="2400" dirty="0"/>
              <a:t> </a:t>
            </a:r>
            <a:r>
              <a:rPr lang="en-US" altLang="zh-CN" sz="2400" dirty="0"/>
              <a:t> </a:t>
            </a:r>
            <a:r>
              <a:rPr lang="zh-CN" altLang="en-US" sz="2400" dirty="0"/>
              <a:t>             </a:t>
            </a:r>
            <a:r>
              <a:rPr lang="zh-CN" altLang="zh-CN" sz="2400" dirty="0"/>
              <a:t>，此解空间是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400" dirty="0"/>
              <a:t>的子空间，并由向量</a:t>
            </a:r>
            <a:r>
              <a:rPr lang="zh-CN" altLang="en-US" sz="2400" dirty="0"/>
              <a:t>                       </a:t>
            </a:r>
            <a:r>
              <a:rPr lang="en-US" altLang="zh-CN" sz="2400" dirty="0"/>
              <a:t> </a:t>
            </a:r>
            <a:r>
              <a:rPr lang="zh-CN" altLang="en-US" sz="2400" dirty="0"/>
              <a:t> </a:t>
            </a:r>
            <a:r>
              <a:rPr lang="zh-CN" altLang="zh-CN" sz="2400" dirty="0"/>
              <a:t>张成。</a:t>
            </a:r>
            <a:endParaRPr lang="zh-CN" altLang="zh-CN" sz="2400" dirty="0"/>
          </a:p>
          <a:p>
            <a:endParaRPr lang="zh-CN" altLang="en-US" sz="22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562538" y="3377966"/>
          <a:ext cx="1736803" cy="48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name="Equation" r:id="rId5" imgW="25298400" imgH="7010400" progId="Equation.DSMT4">
                  <p:embed/>
                </p:oleObj>
              </mc:Choice>
              <mc:Fallback>
                <p:oleObj name="Equation" r:id="rId5" imgW="25298400" imgH="7010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538" y="3377966"/>
                        <a:ext cx="1736803" cy="48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47876" y="4005064"/>
          <a:ext cx="251301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7" imgW="42976800" imgH="7924800" progId="Equation.DSMT4">
                  <p:embed/>
                </p:oleObj>
              </mc:Choice>
              <mc:Fallback>
                <p:oleObj name="Equation" r:id="rId7" imgW="42976800" imgH="7924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7876" y="4005064"/>
                        <a:ext cx="251301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8263" y="4526249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所</a:t>
            </a:r>
            <a:r>
              <a:rPr lang="zh-CN" altLang="en-US" sz="2400" dirty="0"/>
              <a:t>以</a:t>
            </a:r>
            <a:r>
              <a:rPr lang="zh-CN" altLang="zh-CN" sz="2400" dirty="0"/>
              <a:t>齐次线性方程组的解空间</a:t>
            </a:r>
            <a:r>
              <a:rPr lang="zh-CN" altLang="en-US" sz="2400" dirty="0"/>
              <a:t>，</a:t>
            </a:r>
            <a:r>
              <a:rPr lang="zh-CN" altLang="zh-CN" sz="2400" dirty="0"/>
              <a:t>又称为矩阵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的</a:t>
            </a:r>
            <a:r>
              <a:rPr lang="zh-CN" altLang="zh-CN" sz="2400" b="1" dirty="0"/>
              <a:t>零空间</a:t>
            </a:r>
            <a:r>
              <a:rPr lang="zh-CN" altLang="zh-CN" sz="2400" dirty="0"/>
              <a:t>，记为</a:t>
            </a:r>
            <a:r>
              <a:rPr lang="zh-CN" altLang="en-US" sz="2400" dirty="0"/>
              <a:t>年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/>
              <a:t>，零空间的维数记为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/>
              <a:t> </a:t>
            </a:r>
            <a:r>
              <a:rPr lang="zh-CN" altLang="zh-CN" sz="2400" dirty="0"/>
              <a:t>。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393337" y="5747156"/>
            <a:ext cx="8640960" cy="579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4.4.1 </a:t>
            </a:r>
            <a:r>
              <a:rPr lang="zh-CN" altLang="en-US" sz="2400" b="1" dirty="0"/>
              <a:t>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)+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400" i="1" dirty="0">
              <a:solidFill>
                <a:srgbClr val="0000FF"/>
              </a:solidFill>
            </a:endParaRPr>
          </a:p>
        </p:txBody>
      </p:sp>
      <p:sp>
        <p:nvSpPr>
          <p:cNvPr id="13" name="直角三角形 1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7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EF4C8B-73A1-405B-9876-4771146FA4CD}" type="datetime3">
              <a:rPr lang="zh-CN" altLang="en-US" smtClean="0"/>
            </a:fld>
            <a:endParaRPr lang="en-US" altLang="zh-CN"/>
          </a:p>
        </p:txBody>
      </p:sp>
      <p:sp>
        <p:nvSpPr>
          <p:cNvPr id="3278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327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DE6D98-D868-475F-B3AC-B813C53A144E}" type="slidenum">
              <a:rPr lang="en-US" altLang="zh-CN"/>
            </a:fld>
            <a:endParaRPr lang="en-US" altLang="zh-CN"/>
          </a:p>
        </p:txBody>
      </p:sp>
      <p:sp>
        <p:nvSpPr>
          <p:cNvPr id="32785" name="Rectangle 2"/>
          <p:cNvSpPr>
            <a:spLocks noChangeArrowheads="1"/>
          </p:cNvSpPr>
          <p:nvPr/>
        </p:nvSpPr>
        <p:spPr bwMode="auto">
          <a:xfrm>
            <a:off x="38862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539750" y="476250"/>
          <a:ext cx="3455988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2" name="Equation" r:id="rId1" imgW="2455545" imgH="979805" progId="Equation.DSMT4">
                  <p:embed/>
                </p:oleObj>
              </mc:Choice>
              <mc:Fallback>
                <p:oleObj name="Equation" r:id="rId1" imgW="2455545" imgH="97980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6250"/>
                        <a:ext cx="3455988" cy="1379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6" name="Rectangle 4"/>
          <p:cNvSpPr>
            <a:spLocks noChangeArrowheads="1"/>
          </p:cNvSpPr>
          <p:nvPr/>
        </p:nvSpPr>
        <p:spPr bwMode="auto">
          <a:xfrm>
            <a:off x="4405313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3995738" y="115888"/>
          <a:ext cx="612775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3" name="" r:id="rId3" imgW="457200" imgH="1606550" progId="Equation.DSMT4">
                  <p:embed/>
                </p:oleObj>
              </mc:Choice>
              <mc:Fallback>
                <p:oleObj name="" r:id="rId3" imgW="457200" imgH="16065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15888"/>
                        <a:ext cx="612775" cy="2160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7" name="Rectangle 6"/>
          <p:cNvSpPr>
            <a:spLocks noChangeArrowheads="1"/>
          </p:cNvSpPr>
          <p:nvPr/>
        </p:nvSpPr>
        <p:spPr bwMode="auto">
          <a:xfrm>
            <a:off x="43815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4643438" y="476250"/>
          <a:ext cx="766762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4" name="" r:id="rId5" imgW="522605" imgH="979805" progId="Equation.DSMT4">
                  <p:embed/>
                </p:oleObj>
              </mc:Choice>
              <mc:Fallback>
                <p:oleObj name="" r:id="rId5" imgW="522605" imgH="97980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76250"/>
                        <a:ext cx="766762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280988" y="22685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解</a:t>
            </a:r>
            <a:endParaRPr lang="zh-CN" altLang="en-US" sz="2800" b="1"/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1042988" y="2420938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对系数矩阵</a:t>
            </a:r>
            <a:r>
              <a:rPr lang="en-US" altLang="zh-CN" sz="2400"/>
              <a:t>A</a:t>
            </a:r>
            <a:r>
              <a:rPr lang="zh-CN" altLang="en-US" sz="2400"/>
              <a:t>作初等行变换，变为行最简形矩阵</a:t>
            </a:r>
            <a:endParaRPr lang="zh-CN" altLang="en-US" sz="2400"/>
          </a:p>
        </p:txBody>
      </p:sp>
      <p:sp>
        <p:nvSpPr>
          <p:cNvPr id="85002" name="Text Box 10"/>
          <p:cNvSpPr txBox="1">
            <a:spLocks noChangeArrowheads="1"/>
          </p:cNvSpPr>
          <p:nvPr/>
        </p:nvSpPr>
        <p:spPr bwMode="auto">
          <a:xfrm>
            <a:off x="128588" y="34877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</a:t>
            </a:r>
            <a:endParaRPr lang="en-US" altLang="zh-CN" sz="2400" b="1"/>
          </a:p>
        </p:txBody>
      </p:sp>
      <p:sp>
        <p:nvSpPr>
          <p:cNvPr id="85003" name="Line 11"/>
          <p:cNvSpPr>
            <a:spLocks noChangeShapeType="1"/>
          </p:cNvSpPr>
          <p:nvPr/>
        </p:nvSpPr>
        <p:spPr bwMode="auto">
          <a:xfrm>
            <a:off x="509588" y="3640138"/>
            <a:ext cx="114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792" name="Rectangle 12"/>
          <p:cNvSpPr>
            <a:spLocks noChangeArrowheads="1"/>
          </p:cNvSpPr>
          <p:nvPr/>
        </p:nvSpPr>
        <p:spPr bwMode="auto">
          <a:xfrm>
            <a:off x="38862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05" name="Object 13"/>
          <p:cNvGraphicFramePr>
            <a:graphicFrameLocks noChangeAspect="1"/>
          </p:cNvGraphicFramePr>
          <p:nvPr/>
        </p:nvGraphicFramePr>
        <p:xfrm>
          <a:off x="1728788" y="2954338"/>
          <a:ext cx="27432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5" name="" r:id="rId7" imgW="1371600" imgH="711200" progId="Equation.DSMT4">
                  <p:embed/>
                </p:oleObj>
              </mc:Choice>
              <mc:Fallback>
                <p:oleObj name="" r:id="rId7" imgW="1371600" imgH="71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2954338"/>
                        <a:ext cx="2743200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6" name="Line 14"/>
          <p:cNvSpPr>
            <a:spLocks noChangeShapeType="1"/>
          </p:cNvSpPr>
          <p:nvPr/>
        </p:nvSpPr>
        <p:spPr bwMode="auto">
          <a:xfrm>
            <a:off x="4471988" y="3640138"/>
            <a:ext cx="114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794" name="Rectangle 15"/>
          <p:cNvSpPr>
            <a:spLocks noChangeArrowheads="1"/>
          </p:cNvSpPr>
          <p:nvPr/>
        </p:nvSpPr>
        <p:spPr bwMode="auto">
          <a:xfrm>
            <a:off x="38862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08" name="Object 16"/>
          <p:cNvGraphicFramePr>
            <a:graphicFrameLocks noChangeAspect="1"/>
          </p:cNvGraphicFramePr>
          <p:nvPr/>
        </p:nvGraphicFramePr>
        <p:xfrm>
          <a:off x="5691188" y="2878138"/>
          <a:ext cx="2971800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6" name="" r:id="rId9" imgW="1371600" imgH="711200" progId="Equation.DSMT4">
                  <p:embed/>
                </p:oleObj>
              </mc:Choice>
              <mc:Fallback>
                <p:oleObj name="" r:id="rId9" imgW="1371600" imgH="71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2878138"/>
                        <a:ext cx="2971800" cy="154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0" name="Object 18"/>
          <p:cNvGraphicFramePr>
            <a:graphicFrameLocks noChangeAspect="1"/>
          </p:cNvGraphicFramePr>
          <p:nvPr/>
        </p:nvGraphicFramePr>
        <p:xfrm>
          <a:off x="1804988" y="4478338"/>
          <a:ext cx="2743200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7" name="" r:id="rId11" imgW="1218565" imgH="711200" progId="Equation.DSMT4">
                  <p:embed/>
                </p:oleObj>
              </mc:Choice>
              <mc:Fallback>
                <p:oleObj name="" r:id="rId11" imgW="1218565" imgH="711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4478338"/>
                        <a:ext cx="2743200" cy="160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1" name="Line 19"/>
          <p:cNvSpPr>
            <a:spLocks noChangeShapeType="1"/>
          </p:cNvSpPr>
          <p:nvPr/>
        </p:nvSpPr>
        <p:spPr bwMode="auto">
          <a:xfrm>
            <a:off x="433388" y="5316538"/>
            <a:ext cx="12192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796" name="Rectangle 20"/>
          <p:cNvSpPr>
            <a:spLocks noChangeArrowheads="1"/>
          </p:cNvSpPr>
          <p:nvPr/>
        </p:nvSpPr>
        <p:spPr bwMode="auto">
          <a:xfrm>
            <a:off x="4433888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13" name="Object 21"/>
          <p:cNvGraphicFramePr>
            <a:graphicFrameLocks noChangeAspect="1"/>
          </p:cNvGraphicFramePr>
          <p:nvPr/>
        </p:nvGraphicFramePr>
        <p:xfrm>
          <a:off x="4641850" y="5011738"/>
          <a:ext cx="7270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8" name="Equation" r:id="rId13" imgW="266065" imgH="165100" progId="Equation.DSMT4">
                  <p:embed/>
                </p:oleObj>
              </mc:Choice>
              <mc:Fallback>
                <p:oleObj name="Equation" r:id="rId13" imgW="266065" imgH="165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5011738"/>
                        <a:ext cx="727075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7" name="Rectangle 22"/>
          <p:cNvSpPr>
            <a:spLocks noChangeArrowheads="1"/>
          </p:cNvSpPr>
          <p:nvPr/>
        </p:nvSpPr>
        <p:spPr bwMode="auto">
          <a:xfrm>
            <a:off x="43481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15" name="Object 23"/>
          <p:cNvGraphicFramePr>
            <a:graphicFrameLocks noChangeAspect="1"/>
          </p:cNvGraphicFramePr>
          <p:nvPr/>
        </p:nvGraphicFramePr>
        <p:xfrm>
          <a:off x="509588" y="3182938"/>
          <a:ext cx="990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9" name="" r:id="rId15" imgW="444500" imgH="228600" progId="Equation.DSMT4">
                  <p:embed/>
                </p:oleObj>
              </mc:Choice>
              <mc:Fallback>
                <p:oleObj name="" r:id="rId15" imgW="4445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182938"/>
                        <a:ext cx="9906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8" name="Rectangle 24"/>
          <p:cNvSpPr>
            <a:spLocks noChangeArrowheads="1"/>
          </p:cNvSpPr>
          <p:nvPr/>
        </p:nvSpPr>
        <p:spPr bwMode="auto">
          <a:xfrm>
            <a:off x="43576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17" name="Object 25"/>
          <p:cNvGraphicFramePr>
            <a:graphicFrameLocks noChangeAspect="1"/>
          </p:cNvGraphicFramePr>
          <p:nvPr/>
        </p:nvGraphicFramePr>
        <p:xfrm>
          <a:off x="509588" y="3640138"/>
          <a:ext cx="914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0" name="" r:id="rId17" imgW="431800" imgH="228600" progId="Equation.DSMT4">
                  <p:embed/>
                </p:oleObj>
              </mc:Choice>
              <mc:Fallback>
                <p:oleObj name="" r:id="rId17" imgW="4318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640138"/>
                        <a:ext cx="9144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9" name="Rectangle 26"/>
          <p:cNvSpPr>
            <a:spLocks noChangeArrowheads="1"/>
          </p:cNvSpPr>
          <p:nvPr/>
        </p:nvSpPr>
        <p:spPr bwMode="auto">
          <a:xfrm>
            <a:off x="43434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19" name="Object 27"/>
          <p:cNvGraphicFramePr>
            <a:graphicFrameLocks noChangeAspect="1"/>
          </p:cNvGraphicFramePr>
          <p:nvPr/>
        </p:nvGraphicFramePr>
        <p:xfrm>
          <a:off x="4471988" y="3182938"/>
          <a:ext cx="91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" r:id="rId19" imgW="457200" imgH="228600" progId="Equation.DSMT4">
                  <p:embed/>
                </p:oleObj>
              </mc:Choice>
              <mc:Fallback>
                <p:oleObj name="" r:id="rId19" imgW="4572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182938"/>
                        <a:ext cx="914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0" name="Rectangle 28"/>
          <p:cNvSpPr>
            <a:spLocks noChangeArrowheads="1"/>
          </p:cNvSpPr>
          <p:nvPr/>
        </p:nvSpPr>
        <p:spPr bwMode="auto">
          <a:xfrm>
            <a:off x="43957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21" name="Object 29"/>
          <p:cNvGraphicFramePr>
            <a:graphicFrameLocks noChangeAspect="1"/>
          </p:cNvGraphicFramePr>
          <p:nvPr/>
        </p:nvGraphicFramePr>
        <p:xfrm>
          <a:off x="4471988" y="3640138"/>
          <a:ext cx="838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" r:id="rId21" imgW="355600" imgH="228600" progId="Equation.DSMT4">
                  <p:embed/>
                </p:oleObj>
              </mc:Choice>
              <mc:Fallback>
                <p:oleObj name="" r:id="rId21" imgW="355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640138"/>
                        <a:ext cx="8382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1" name="Rectangle 30"/>
          <p:cNvSpPr>
            <a:spLocks noChangeArrowheads="1"/>
          </p:cNvSpPr>
          <p:nvPr/>
        </p:nvSpPr>
        <p:spPr bwMode="auto">
          <a:xfrm>
            <a:off x="43576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23" name="Object 31"/>
          <p:cNvGraphicFramePr>
            <a:graphicFrameLocks noChangeAspect="1"/>
          </p:cNvGraphicFramePr>
          <p:nvPr/>
        </p:nvGraphicFramePr>
        <p:xfrm>
          <a:off x="509588" y="4859338"/>
          <a:ext cx="838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3" name="" r:id="rId23" imgW="431800" imgH="228600" progId="Equation.DSMT4">
                  <p:embed/>
                </p:oleObj>
              </mc:Choice>
              <mc:Fallback>
                <p:oleObj name="" r:id="rId23" imgW="43180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4859338"/>
                        <a:ext cx="8382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85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00" fill="hold"/>
                                        <p:tgtEl>
                                          <p:spTgt spid="85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5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5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5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5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5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5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5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5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5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0" grpId="0" autoUpdateAnimBg="0" build="p"/>
      <p:bldP spid="85001" grpId="0" autoUpdateAnimBg="0" build="p"/>
      <p:bldP spid="85002" grpId="0" autoUpdateAnimBg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1084D3-7D62-4FA9-82AA-7CB9839AF2BA}" type="datetime3">
              <a:rPr lang="zh-CN" altLang="en-US" smtClean="0"/>
            </a:fld>
            <a:endParaRPr lang="en-US" altLang="zh-CN"/>
          </a:p>
        </p:txBody>
      </p:sp>
      <p:sp>
        <p:nvSpPr>
          <p:cNvPr id="3380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338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C4BEC1-9E83-4D15-89B1-1F6B47154C48}" type="slidenum">
              <a:rPr lang="en-US" altLang="zh-CN"/>
            </a:fld>
            <a:endParaRPr lang="en-US" altLang="zh-CN"/>
          </a:p>
        </p:txBody>
      </p:sp>
      <p:sp>
        <p:nvSpPr>
          <p:cNvPr id="33807" name="Rectangle 2"/>
          <p:cNvSpPr>
            <a:spLocks noChangeArrowheads="1"/>
          </p:cNvSpPr>
          <p:nvPr/>
        </p:nvSpPr>
        <p:spPr bwMode="auto">
          <a:xfrm>
            <a:off x="3957638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3708400" y="260350"/>
          <a:ext cx="2951163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2" name="" r:id="rId1" imgW="1231265" imgH="482600" progId="Equation.DSMT4">
                  <p:embed/>
                </p:oleObj>
              </mc:Choice>
              <mc:Fallback>
                <p:oleObj name="" r:id="rId1" imgW="1231265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60350"/>
                        <a:ext cx="2951163" cy="1166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381000" y="2057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顺次取</a:t>
            </a:r>
            <a:endParaRPr lang="zh-CN" altLang="en-US" sz="2400"/>
          </a:p>
        </p:txBody>
      </p:sp>
      <p:sp>
        <p:nvSpPr>
          <p:cNvPr id="33809" name="Rectangle 5"/>
          <p:cNvSpPr>
            <a:spLocks noChangeArrowheads="1"/>
          </p:cNvSpPr>
          <p:nvPr/>
        </p:nvSpPr>
        <p:spPr bwMode="auto">
          <a:xfrm>
            <a:off x="4405313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2743200" y="1447800"/>
          <a:ext cx="6905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3" name="" r:id="rId3" imgW="330200" imgH="711200" progId="Equation.DSMT4">
                  <p:embed/>
                </p:oleObj>
              </mc:Choice>
              <mc:Fallback>
                <p:oleObj name="" r:id="rId3" imgW="3302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447800"/>
                        <a:ext cx="690563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Rectangle 7"/>
          <p:cNvSpPr>
            <a:spLocks noChangeArrowheads="1"/>
          </p:cNvSpPr>
          <p:nvPr/>
        </p:nvSpPr>
        <p:spPr bwMode="auto">
          <a:xfrm>
            <a:off x="39624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/>
        </p:nvGraphicFramePr>
        <p:xfrm>
          <a:off x="3563938" y="1484313"/>
          <a:ext cx="2570162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4" name="" r:id="rId5" imgW="1218565" imgH="711200" progId="Equation.DSMT4">
                  <p:embed/>
                </p:oleObj>
              </mc:Choice>
              <mc:Fallback>
                <p:oleObj name="" r:id="rId5" imgW="1218565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84313"/>
                        <a:ext cx="2570162" cy="150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1" name="Rectangle 9"/>
          <p:cNvSpPr>
            <a:spLocks noChangeArrowheads="1"/>
          </p:cNvSpPr>
          <p:nvPr/>
        </p:nvSpPr>
        <p:spPr bwMode="auto">
          <a:xfrm>
            <a:off x="446246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7092950" y="549275"/>
          <a:ext cx="5762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5" name="" r:id="rId7" imgW="300355" imgH="274320" progId="Equation.DSMT4">
                  <p:embed/>
                </p:oleObj>
              </mc:Choice>
              <mc:Fallback>
                <p:oleObj name="" r:id="rId7" imgW="300355" imgH="2743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49275"/>
                        <a:ext cx="576263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395288" y="328453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代入方程</a:t>
            </a:r>
            <a:endParaRPr lang="zh-CN" altLang="en-US" sz="2400"/>
          </a:p>
        </p:txBody>
      </p:sp>
      <p:sp>
        <p:nvSpPr>
          <p:cNvPr id="33813" name="Rectangle 12"/>
          <p:cNvSpPr>
            <a:spLocks noChangeArrowheads="1"/>
          </p:cNvSpPr>
          <p:nvPr/>
        </p:nvSpPr>
        <p:spPr bwMode="auto">
          <a:xfrm>
            <a:off x="446246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29" name="Object 13"/>
          <p:cNvGraphicFramePr>
            <a:graphicFrameLocks noChangeAspect="1"/>
          </p:cNvGraphicFramePr>
          <p:nvPr/>
        </p:nvGraphicFramePr>
        <p:xfrm>
          <a:off x="1690688" y="3284538"/>
          <a:ext cx="533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6" name="" r:id="rId9" imgW="300355" imgH="274320" progId="Equation.DSMT4">
                  <p:embed/>
                </p:oleObj>
              </mc:Choice>
              <mc:Fallback>
                <p:oleObj name="" r:id="rId9" imgW="300355" imgH="2743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284538"/>
                        <a:ext cx="5334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4" name="Rectangle 14"/>
          <p:cNvSpPr>
            <a:spLocks noChangeArrowheads="1"/>
          </p:cNvSpPr>
          <p:nvPr/>
        </p:nvSpPr>
        <p:spPr bwMode="auto">
          <a:xfrm>
            <a:off x="4405313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31" name="Object 15"/>
          <p:cNvGraphicFramePr>
            <a:graphicFrameLocks noChangeAspect="1"/>
          </p:cNvGraphicFramePr>
          <p:nvPr/>
        </p:nvGraphicFramePr>
        <p:xfrm>
          <a:off x="2555875" y="3068638"/>
          <a:ext cx="741363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7" name="" r:id="rId11" imgW="330200" imgH="482600" progId="Equation.DSMT4">
                  <p:embed/>
                </p:oleObj>
              </mc:Choice>
              <mc:Fallback>
                <p:oleObj name="" r:id="rId11" imgW="3302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741363" cy="108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Rectangle 16"/>
          <p:cNvSpPr>
            <a:spLocks noChangeArrowheads="1"/>
          </p:cNvSpPr>
          <p:nvPr/>
        </p:nvSpPr>
        <p:spPr bwMode="auto">
          <a:xfrm>
            <a:off x="38909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33" name="Object 17"/>
          <p:cNvGraphicFramePr>
            <a:graphicFrameLocks noChangeAspect="1"/>
          </p:cNvGraphicFramePr>
          <p:nvPr/>
        </p:nvGraphicFramePr>
        <p:xfrm>
          <a:off x="3348038" y="3141663"/>
          <a:ext cx="29527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8" name="" r:id="rId13" imgW="1358900" imgH="457200" progId="Equation.DSMT4">
                  <p:embed/>
                </p:oleObj>
              </mc:Choice>
              <mc:Fallback>
                <p:oleObj name="" r:id="rId13" imgW="13589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141663"/>
                        <a:ext cx="295275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6" name="Rectangle 18"/>
          <p:cNvSpPr>
            <a:spLocks noChangeArrowheads="1"/>
          </p:cNvSpPr>
          <p:nvPr/>
        </p:nvSpPr>
        <p:spPr bwMode="auto">
          <a:xfrm>
            <a:off x="3481388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35" name="Object 19"/>
          <p:cNvGraphicFramePr>
            <a:graphicFrameLocks noChangeAspect="1"/>
          </p:cNvGraphicFramePr>
          <p:nvPr/>
        </p:nvGraphicFramePr>
        <p:xfrm>
          <a:off x="323850" y="4221163"/>
          <a:ext cx="3744913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9" name="" r:id="rId15" imgW="2184400" imgH="1143000" progId="Equation.DSMT4">
                  <p:embed/>
                </p:oleObj>
              </mc:Choice>
              <mc:Fallback>
                <p:oleObj name="" r:id="rId15" imgW="2184400" imgH="1143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21163"/>
                        <a:ext cx="3744913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7" name="Rectangle 20"/>
          <p:cNvSpPr>
            <a:spLocks noChangeArrowheads="1"/>
          </p:cNvSpPr>
          <p:nvPr/>
        </p:nvSpPr>
        <p:spPr bwMode="auto">
          <a:xfrm>
            <a:off x="36385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37" name="Object 21"/>
          <p:cNvGraphicFramePr>
            <a:graphicFrameLocks noChangeAspect="1"/>
          </p:cNvGraphicFramePr>
          <p:nvPr/>
        </p:nvGraphicFramePr>
        <p:xfrm>
          <a:off x="4643438" y="4724400"/>
          <a:ext cx="27368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0" name="Equation" r:id="rId17" imgW="1320165" imgH="431800" progId="Equation.DSMT4">
                  <p:embed/>
                </p:oleObj>
              </mc:Choice>
              <mc:Fallback>
                <p:oleObj name="Equation" r:id="rId17" imgW="1320165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724400"/>
                        <a:ext cx="273685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8" name="Rectangle 22"/>
          <p:cNvSpPr>
            <a:spLocks noChangeArrowheads="1"/>
          </p:cNvSpPr>
          <p:nvPr/>
        </p:nvSpPr>
        <p:spPr bwMode="auto">
          <a:xfrm>
            <a:off x="394335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6040" name="Object 24"/>
          <p:cNvGraphicFramePr>
            <a:graphicFrameLocks noChangeAspect="1"/>
          </p:cNvGraphicFramePr>
          <p:nvPr/>
        </p:nvGraphicFramePr>
        <p:xfrm>
          <a:off x="250825" y="188913"/>
          <a:ext cx="2447925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1" name="" r:id="rId19" imgW="1218565" imgH="711200" progId="Equation.DSMT4">
                  <p:embed/>
                </p:oleObj>
              </mc:Choice>
              <mc:Fallback>
                <p:oleObj name="" r:id="rId19" imgW="1218565" imgH="711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8913"/>
                        <a:ext cx="2447925" cy="143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utoUpdateAnimBg="0" build="p"/>
      <p:bldP spid="8602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66CB76-A146-4100-A32E-AD932AF6E7A7}" type="datetime3">
              <a:rPr lang="zh-CN" altLang="en-US" smtClean="0"/>
            </a:fld>
            <a:endParaRPr lang="en-US" altLang="zh-CN"/>
          </a:p>
        </p:txBody>
      </p:sp>
      <p:sp>
        <p:nvSpPr>
          <p:cNvPr id="3482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3482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994015-7C3E-49B4-8310-13035DAA300F}" type="slidenum">
              <a:rPr lang="en-US" altLang="zh-CN"/>
            </a:fld>
            <a:endParaRPr lang="en-US" altLang="zh-CN"/>
          </a:p>
        </p:txBody>
      </p:sp>
      <p:sp>
        <p:nvSpPr>
          <p:cNvPr id="34824" name="Rectangle 2"/>
          <p:cNvSpPr>
            <a:spLocks noChangeArrowheads="1"/>
          </p:cNvSpPr>
          <p:nvPr/>
        </p:nvSpPr>
        <p:spPr bwMode="auto">
          <a:xfrm>
            <a:off x="3957638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5" name="Rectangle 5"/>
          <p:cNvSpPr>
            <a:spLocks noChangeArrowheads="1"/>
          </p:cNvSpPr>
          <p:nvPr/>
        </p:nvSpPr>
        <p:spPr bwMode="auto">
          <a:xfrm>
            <a:off x="4405313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6" name="Rectangle 7"/>
          <p:cNvSpPr>
            <a:spLocks noChangeArrowheads="1"/>
          </p:cNvSpPr>
          <p:nvPr/>
        </p:nvSpPr>
        <p:spPr bwMode="auto">
          <a:xfrm>
            <a:off x="39624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7" name="Rectangle 9"/>
          <p:cNvSpPr>
            <a:spLocks noChangeArrowheads="1"/>
          </p:cNvSpPr>
          <p:nvPr/>
        </p:nvSpPr>
        <p:spPr bwMode="auto">
          <a:xfrm>
            <a:off x="446246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446246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9" name="Rectangle 14"/>
          <p:cNvSpPr>
            <a:spLocks noChangeArrowheads="1"/>
          </p:cNvSpPr>
          <p:nvPr/>
        </p:nvSpPr>
        <p:spPr bwMode="auto">
          <a:xfrm>
            <a:off x="4405313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0" name="Rectangle 16"/>
          <p:cNvSpPr>
            <a:spLocks noChangeArrowheads="1"/>
          </p:cNvSpPr>
          <p:nvPr/>
        </p:nvSpPr>
        <p:spPr bwMode="auto">
          <a:xfrm>
            <a:off x="38909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1" name="Rectangle 18"/>
          <p:cNvSpPr>
            <a:spLocks noChangeArrowheads="1"/>
          </p:cNvSpPr>
          <p:nvPr/>
        </p:nvSpPr>
        <p:spPr bwMode="auto">
          <a:xfrm>
            <a:off x="3481388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07" name="Object 19"/>
          <p:cNvGraphicFramePr>
            <a:graphicFrameLocks noChangeAspect="1"/>
          </p:cNvGraphicFramePr>
          <p:nvPr/>
        </p:nvGraphicFramePr>
        <p:xfrm>
          <a:off x="468313" y="476250"/>
          <a:ext cx="3744912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Equation" r:id="rId1" imgW="2184400" imgH="1143000" progId="Equation.DSMT4">
                  <p:embed/>
                </p:oleObj>
              </mc:Choice>
              <mc:Fallback>
                <p:oleObj name="Equation" r:id="rId1" imgW="2184400" imgH="1143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6250"/>
                        <a:ext cx="3744912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2" name="Rectangle 20"/>
          <p:cNvSpPr>
            <a:spLocks noChangeArrowheads="1"/>
          </p:cNvSpPr>
          <p:nvPr/>
        </p:nvSpPr>
        <p:spPr bwMode="auto">
          <a:xfrm>
            <a:off x="36385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09" name="Object 21"/>
          <p:cNvGraphicFramePr>
            <a:graphicFrameLocks noChangeAspect="1"/>
          </p:cNvGraphicFramePr>
          <p:nvPr/>
        </p:nvGraphicFramePr>
        <p:xfrm>
          <a:off x="4787900" y="981075"/>
          <a:ext cx="27368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" name="Equation" r:id="rId3" imgW="1320165" imgH="431800" progId="Equation.DSMT4">
                  <p:embed/>
                </p:oleObj>
              </mc:Choice>
              <mc:Fallback>
                <p:oleObj name="Equation" r:id="rId3" imgW="1320165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981075"/>
                        <a:ext cx="273685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3" name="Rectangle 22"/>
          <p:cNvSpPr>
            <a:spLocks noChangeArrowheads="1"/>
          </p:cNvSpPr>
          <p:nvPr/>
        </p:nvSpPr>
        <p:spPr bwMode="auto">
          <a:xfrm>
            <a:off x="394335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11" name="Object 23"/>
          <p:cNvGraphicFramePr>
            <a:graphicFrameLocks noChangeAspect="1"/>
          </p:cNvGraphicFramePr>
          <p:nvPr/>
        </p:nvGraphicFramePr>
        <p:xfrm>
          <a:off x="539750" y="2781300"/>
          <a:ext cx="6638925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4" name="Equation" r:id="rId5" imgW="71323200" imgH="33528000" progId="Equation.DSMT4">
                  <p:embed/>
                </p:oleObj>
              </mc:Choice>
              <mc:Fallback>
                <p:oleObj name="Equation" r:id="rId5" imgW="71323200" imgH="33528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81300"/>
                        <a:ext cx="6638925" cy="310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258082-3AE2-4619-B516-EB09562639CD}" type="datetime3">
              <a:rPr lang="zh-CN" altLang="en-US" smtClean="0"/>
            </a:fld>
            <a:endParaRPr lang="en-US" altLang="zh-CN"/>
          </a:p>
        </p:txBody>
      </p:sp>
      <p:sp>
        <p:nvSpPr>
          <p:cNvPr id="3586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358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D1CAE1-5E12-482A-9C36-6F35CD43F229}" type="slidenum">
              <a:rPr lang="en-US" altLang="zh-CN"/>
            </a:fld>
            <a:endParaRPr lang="en-US" altLang="zh-CN"/>
          </a:p>
        </p:txBody>
      </p:sp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2051050" y="0"/>
          <a:ext cx="2665413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6" name="Equation" r:id="rId1" imgW="2299335" imgH="1293495" progId="Equation.DSMT4">
                  <p:embed/>
                </p:oleObj>
              </mc:Choice>
              <mc:Fallback>
                <p:oleObj name="Equation" r:id="rId1" imgW="2299335" imgH="129349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0"/>
                        <a:ext cx="2665413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646113" y="17732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</a:t>
            </a:r>
            <a:endParaRPr lang="zh-CN" altLang="en-US" sz="2400" b="1"/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1331913" y="1700213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对系数矩阵的行实施初等行变换</a:t>
            </a:r>
            <a:endParaRPr lang="zh-CN" altLang="en-US" sz="2400"/>
          </a:p>
        </p:txBody>
      </p:sp>
      <p:sp>
        <p:nvSpPr>
          <p:cNvPr id="35865" name="Rectangle 5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493713" y="2459038"/>
          <a:ext cx="5730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7" name="" r:id="rId3" imgW="152400" imgH="165100" progId="Equation.DSMT4">
                  <p:embed/>
                </p:oleObj>
              </mc:Choice>
              <mc:Fallback>
                <p:oleObj name="" r:id="rId3" imgW="152400" imgH="165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2459038"/>
                        <a:ext cx="573087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6" name="Rectangle 7"/>
          <p:cNvSpPr>
            <a:spLocks noChangeArrowheads="1"/>
          </p:cNvSpPr>
          <p:nvPr/>
        </p:nvSpPr>
        <p:spPr bwMode="auto">
          <a:xfrm>
            <a:off x="3948113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48" name="Object 8"/>
          <p:cNvGraphicFramePr>
            <a:graphicFrameLocks noChangeAspect="1"/>
          </p:cNvGraphicFramePr>
          <p:nvPr/>
        </p:nvGraphicFramePr>
        <p:xfrm>
          <a:off x="2093913" y="2195513"/>
          <a:ext cx="2046287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8" name="" r:id="rId5" imgW="1244600" imgH="711200" progId="Equation.DSMT4">
                  <p:embed/>
                </p:oleObj>
              </mc:Choice>
              <mc:Fallback>
                <p:oleObj name="" r:id="rId5" imgW="12446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2195513"/>
                        <a:ext cx="2046287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9" name="Line 9"/>
          <p:cNvSpPr>
            <a:spLocks noChangeShapeType="1"/>
          </p:cNvSpPr>
          <p:nvPr/>
        </p:nvSpPr>
        <p:spPr bwMode="auto">
          <a:xfrm>
            <a:off x="1103313" y="2840038"/>
            <a:ext cx="9144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68" name="Rectangle 10"/>
          <p:cNvSpPr>
            <a:spLocks noChangeArrowheads="1"/>
          </p:cNvSpPr>
          <p:nvPr/>
        </p:nvSpPr>
        <p:spPr bwMode="auto">
          <a:xfrm>
            <a:off x="40005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5403850" y="2154238"/>
          <a:ext cx="2065338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9" name="" r:id="rId7" imgW="1143000" imgH="711200" progId="Equation.DSMT4">
                  <p:embed/>
                </p:oleObj>
              </mc:Choice>
              <mc:Fallback>
                <p:oleObj name="" r:id="rId7" imgW="1143000" imgH="71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2154238"/>
                        <a:ext cx="2065338" cy="1290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4413250" y="2916238"/>
            <a:ext cx="9906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70" name="Rectangle 13"/>
          <p:cNvSpPr>
            <a:spLocks noChangeArrowheads="1"/>
          </p:cNvSpPr>
          <p:nvPr/>
        </p:nvSpPr>
        <p:spPr bwMode="auto">
          <a:xfrm>
            <a:off x="4433888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54" name="Object 14"/>
          <p:cNvGraphicFramePr>
            <a:graphicFrameLocks noChangeAspect="1"/>
          </p:cNvGraphicFramePr>
          <p:nvPr/>
        </p:nvGraphicFramePr>
        <p:xfrm>
          <a:off x="6011863" y="3789363"/>
          <a:ext cx="687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0" name="Equation" r:id="rId9" imgW="266065" imgH="165100" progId="Equation.DSMT4">
                  <p:embed/>
                </p:oleObj>
              </mc:Choice>
              <mc:Fallback>
                <p:oleObj name="Equation" r:id="rId9" imgW="266065" imgH="165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789363"/>
                        <a:ext cx="687387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1" name="Rectangle 15"/>
          <p:cNvSpPr>
            <a:spLocks noChangeArrowheads="1"/>
          </p:cNvSpPr>
          <p:nvPr/>
        </p:nvSpPr>
        <p:spPr bwMode="auto">
          <a:xfrm>
            <a:off x="43576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56" name="Object 16"/>
          <p:cNvGraphicFramePr>
            <a:graphicFrameLocks noChangeAspect="1"/>
          </p:cNvGraphicFramePr>
          <p:nvPr/>
        </p:nvGraphicFramePr>
        <p:xfrm>
          <a:off x="1103313" y="2306638"/>
          <a:ext cx="838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1" name="" r:id="rId11" imgW="431800" imgH="228600" progId="Equation.DSMT4">
                  <p:embed/>
                </p:oleObj>
              </mc:Choice>
              <mc:Fallback>
                <p:oleObj name="" r:id="rId11" imgW="4318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2306638"/>
                        <a:ext cx="8382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2" name="Rectangle 17"/>
          <p:cNvSpPr>
            <a:spLocks noChangeArrowheads="1"/>
          </p:cNvSpPr>
          <p:nvPr/>
        </p:nvSpPr>
        <p:spPr bwMode="auto">
          <a:xfrm>
            <a:off x="43481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58" name="Object 18"/>
          <p:cNvGraphicFramePr>
            <a:graphicFrameLocks noChangeAspect="1"/>
          </p:cNvGraphicFramePr>
          <p:nvPr/>
        </p:nvGraphicFramePr>
        <p:xfrm>
          <a:off x="1103313" y="2840038"/>
          <a:ext cx="838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2" name="" r:id="rId13" imgW="444500" imgH="228600" progId="Equation.DSMT4">
                  <p:embed/>
                </p:oleObj>
              </mc:Choice>
              <mc:Fallback>
                <p:oleObj name="" r:id="rId13" imgW="4445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2840038"/>
                        <a:ext cx="8382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3" name="Rectangle 19"/>
          <p:cNvSpPr>
            <a:spLocks noChangeArrowheads="1"/>
          </p:cNvSpPr>
          <p:nvPr/>
        </p:nvSpPr>
        <p:spPr bwMode="auto">
          <a:xfrm>
            <a:off x="43862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60" name="Object 20"/>
          <p:cNvGraphicFramePr>
            <a:graphicFrameLocks noChangeAspect="1"/>
          </p:cNvGraphicFramePr>
          <p:nvPr/>
        </p:nvGraphicFramePr>
        <p:xfrm>
          <a:off x="4565650" y="2459038"/>
          <a:ext cx="685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3" name="" r:id="rId15" imgW="368300" imgH="228600" progId="Equation.DSMT4">
                  <p:embed/>
                </p:oleObj>
              </mc:Choice>
              <mc:Fallback>
                <p:oleObj name="" r:id="rId15" imgW="3683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2459038"/>
                        <a:ext cx="6858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4" name="Rectangle 21"/>
          <p:cNvSpPr>
            <a:spLocks noChangeArrowheads="1"/>
          </p:cNvSpPr>
          <p:nvPr/>
        </p:nvSpPr>
        <p:spPr bwMode="auto">
          <a:xfrm>
            <a:off x="457200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62" name="Object 22"/>
          <p:cNvGraphicFramePr>
            <a:graphicFrameLocks noChangeAspect="1"/>
          </p:cNvGraphicFramePr>
          <p:nvPr/>
        </p:nvGraphicFramePr>
        <p:xfrm>
          <a:off x="4489450" y="2916238"/>
          <a:ext cx="838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4" name="" r:id="rId17" imgW="431800" imgH="228600" progId="Equation.DSMT4">
                  <p:embed/>
                </p:oleObj>
              </mc:Choice>
              <mc:Fallback>
                <p:oleObj name="" r:id="rId17" imgW="4318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2916238"/>
                        <a:ext cx="8382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4" name="Object 24"/>
          <p:cNvGraphicFramePr>
            <a:graphicFrameLocks noChangeAspect="1"/>
          </p:cNvGraphicFramePr>
          <p:nvPr/>
        </p:nvGraphicFramePr>
        <p:xfrm>
          <a:off x="179388" y="4538663"/>
          <a:ext cx="2151062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5" name="Equation" r:id="rId19" imgW="1028065" imgH="635000" progId="Equation.DSMT4">
                  <p:embed/>
                </p:oleObj>
              </mc:Choice>
              <mc:Fallback>
                <p:oleObj name="Equation" r:id="rId19" imgW="1028065" imgH="635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38663"/>
                        <a:ext cx="2151062" cy="1338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5" name="Object 25"/>
          <p:cNvGraphicFramePr>
            <a:graphicFrameLocks noChangeAspect="1"/>
          </p:cNvGraphicFramePr>
          <p:nvPr/>
        </p:nvGraphicFramePr>
        <p:xfrm>
          <a:off x="2627313" y="4646613"/>
          <a:ext cx="2087562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6" name="Equation" r:id="rId21" imgW="1002665" imgH="482600" progId="Equation.DSMT4">
                  <p:embed/>
                </p:oleObj>
              </mc:Choice>
              <mc:Fallback>
                <p:oleObj name="Equation" r:id="rId21" imgW="1002665" imgH="482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646613"/>
                        <a:ext cx="2087562" cy="101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6" name="Object 26"/>
          <p:cNvGraphicFramePr>
            <a:graphicFrameLocks noChangeAspect="1"/>
          </p:cNvGraphicFramePr>
          <p:nvPr/>
        </p:nvGraphicFramePr>
        <p:xfrm>
          <a:off x="5219700" y="4575175"/>
          <a:ext cx="2376488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7" name="Equation" r:id="rId23" imgW="1231265" imgH="635000" progId="Equation.DSMT4">
                  <p:embed/>
                </p:oleObj>
              </mc:Choice>
              <mc:Fallback>
                <p:oleObj name="Equation" r:id="rId23" imgW="1231265" imgH="6350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575175"/>
                        <a:ext cx="2376488" cy="1230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7" name="Object 27"/>
          <p:cNvGraphicFramePr>
            <a:graphicFrameLocks noChangeAspect="1"/>
          </p:cNvGraphicFramePr>
          <p:nvPr/>
        </p:nvGraphicFramePr>
        <p:xfrm>
          <a:off x="250508" y="5590858"/>
          <a:ext cx="4248785" cy="79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8" name="" r:id="rId25" imgW="2108200" imgH="393700" progId="Equation.DSMT4">
                  <p:embed/>
                </p:oleObj>
              </mc:Choice>
              <mc:Fallback>
                <p:oleObj name="" r:id="rId25" imgW="21082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8" y="5590858"/>
                        <a:ext cx="4248785" cy="7912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8" name="Object 28"/>
          <p:cNvGraphicFramePr>
            <a:graphicFrameLocks noChangeAspect="1"/>
          </p:cNvGraphicFramePr>
          <p:nvPr/>
        </p:nvGraphicFramePr>
        <p:xfrm>
          <a:off x="4714875" y="5805488"/>
          <a:ext cx="3744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9" name="" r:id="rId27" imgW="1689100" imgH="228600" progId="Equation.DSMT4">
                  <p:embed/>
                </p:oleObj>
              </mc:Choice>
              <mc:Fallback>
                <p:oleObj name="" r:id="rId27" imgW="168910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805488"/>
                        <a:ext cx="37449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70" name="WordArt 30"/>
          <p:cNvSpPr>
            <a:spLocks noChangeArrowheads="1" noChangeShapeType="1" noTextEdit="1"/>
          </p:cNvSpPr>
          <p:nvPr/>
        </p:nvSpPr>
        <p:spPr bwMode="auto">
          <a:xfrm>
            <a:off x="179388" y="260350"/>
            <a:ext cx="1371600" cy="10287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练一练</a:t>
            </a:r>
            <a:endParaRPr lang="zh-CN" altLang="en-US" sz="36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2" name="Line 12"/>
          <p:cNvSpPr>
            <a:spLocks noChangeShapeType="1"/>
          </p:cNvSpPr>
          <p:nvPr/>
        </p:nvSpPr>
        <p:spPr bwMode="auto">
          <a:xfrm>
            <a:off x="395288" y="3933825"/>
            <a:ext cx="9906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468313" y="3500438"/>
          <a:ext cx="8509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0" name="Equation" r:id="rId29" imgW="457200" imgH="228600" progId="Equation.DSMT4">
                  <p:embed/>
                </p:oleObj>
              </mc:Choice>
              <mc:Fallback>
                <p:oleObj name="Equation" r:id="rId29" imgW="4572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00438"/>
                        <a:ext cx="8509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3"/>
          <p:cNvGraphicFramePr>
            <a:graphicFrameLocks noChangeAspect="1"/>
          </p:cNvGraphicFramePr>
          <p:nvPr/>
        </p:nvGraphicFramePr>
        <p:xfrm>
          <a:off x="1403350" y="3357563"/>
          <a:ext cx="1971675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" name="Equation" r:id="rId31" imgW="1155700" imgH="711200" progId="Equation.DSMT4">
                  <p:embed/>
                </p:oleObj>
              </mc:Choice>
              <mc:Fallback>
                <p:oleObj name="Equation" r:id="rId31" imgW="1155700" imgH="711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57563"/>
                        <a:ext cx="1971675" cy="1217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12"/>
          <p:cNvSpPr>
            <a:spLocks noChangeShapeType="1"/>
          </p:cNvSpPr>
          <p:nvPr/>
        </p:nvSpPr>
        <p:spPr bwMode="auto">
          <a:xfrm>
            <a:off x="3340100" y="4076700"/>
            <a:ext cx="9906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Object 34"/>
          <p:cNvGraphicFramePr>
            <a:graphicFrameLocks noChangeAspect="1"/>
          </p:cNvGraphicFramePr>
          <p:nvPr/>
        </p:nvGraphicFramePr>
        <p:xfrm>
          <a:off x="3492500" y="34290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2" name="Equation" r:id="rId33" imgW="368300" imgH="393700" progId="Equation.DSMT4">
                  <p:embed/>
                </p:oleObj>
              </mc:Choice>
              <mc:Fallback>
                <p:oleObj name="Equation" r:id="rId33" imgW="3683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429000"/>
                        <a:ext cx="57467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5"/>
          <p:cNvGraphicFramePr>
            <a:graphicFrameLocks noChangeAspect="1"/>
          </p:cNvGraphicFramePr>
          <p:nvPr/>
        </p:nvGraphicFramePr>
        <p:xfrm>
          <a:off x="4356100" y="3354388"/>
          <a:ext cx="1657350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3" name="Equation" r:id="rId35" imgW="1079500" imgH="889000" progId="Equation.DSMT4">
                  <p:embed/>
                </p:oleObj>
              </mc:Choice>
              <mc:Fallback>
                <p:oleObj name="Equation" r:id="rId35" imgW="1079500" imgH="8890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354388"/>
                        <a:ext cx="1657350" cy="1370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7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7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7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7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9" dur="500"/>
                                        <p:tgtEl>
                                          <p:spTgt spid="8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4" dur="500"/>
                                        <p:tgtEl>
                                          <p:spTgt spid="8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9" dur="500"/>
                                        <p:tgtEl>
                                          <p:spTgt spid="8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 build="p"/>
      <p:bldP spid="87044" grpId="0" autoUpdateAnimBg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766FCF-555C-4398-B0B1-4A02C6F4EFB1}" type="datetime3">
              <a:rPr lang="zh-CN" altLang="en-US" smtClean="0"/>
            </a:fld>
            <a:endParaRPr lang="en-US" altLang="zh-CN"/>
          </a:p>
        </p:txBody>
      </p:sp>
      <p:sp>
        <p:nvSpPr>
          <p:cNvPr id="3687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Spring, 2010,18ppt</a:t>
            </a:r>
            <a:endParaRPr lang="en-US" altLang="zh-CN"/>
          </a:p>
        </p:txBody>
      </p:sp>
      <p:sp>
        <p:nvSpPr>
          <p:cNvPr id="368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BEC5E0-979D-4C7D-A7AD-B5488A153DF9}" type="slidenum">
              <a:rPr lang="en-US" altLang="zh-CN"/>
            </a:fld>
            <a:endParaRPr lang="en-US" altLang="zh-CN"/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2051050" y="0"/>
          <a:ext cx="2665413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2" name="Equation" r:id="rId1" imgW="2299335" imgH="1293495" progId="Equation.DSMT4">
                  <p:embed/>
                </p:oleObj>
              </mc:Choice>
              <mc:Fallback>
                <p:oleObj name="Equation" r:id="rId1" imgW="2299335" imgH="129349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0"/>
                        <a:ext cx="2665413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468313" y="16287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</a:t>
            </a:r>
            <a:endParaRPr lang="zh-CN" altLang="en-US" sz="2400" b="1"/>
          </a:p>
        </p:txBody>
      </p:sp>
      <p:sp>
        <p:nvSpPr>
          <p:cNvPr id="36874" name="Rectangle 5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5" name="Rectangle 7"/>
          <p:cNvSpPr>
            <a:spLocks noChangeArrowheads="1"/>
          </p:cNvSpPr>
          <p:nvPr/>
        </p:nvSpPr>
        <p:spPr bwMode="auto">
          <a:xfrm>
            <a:off x="3948113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6" name="Rectangle 10"/>
          <p:cNvSpPr>
            <a:spLocks noChangeArrowheads="1"/>
          </p:cNvSpPr>
          <p:nvPr/>
        </p:nvSpPr>
        <p:spPr bwMode="auto">
          <a:xfrm>
            <a:off x="40005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4433888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43576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9" name="Rectangle 17"/>
          <p:cNvSpPr>
            <a:spLocks noChangeArrowheads="1"/>
          </p:cNvSpPr>
          <p:nvPr/>
        </p:nvSpPr>
        <p:spPr bwMode="auto">
          <a:xfrm>
            <a:off x="43481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0" name="Rectangle 19"/>
          <p:cNvSpPr>
            <a:spLocks noChangeArrowheads="1"/>
          </p:cNvSpPr>
          <p:nvPr/>
        </p:nvSpPr>
        <p:spPr bwMode="auto">
          <a:xfrm>
            <a:off x="43862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1" name="Rectangle 21"/>
          <p:cNvSpPr>
            <a:spLocks noChangeArrowheads="1"/>
          </p:cNvSpPr>
          <p:nvPr/>
        </p:nvSpPr>
        <p:spPr bwMode="auto">
          <a:xfrm>
            <a:off x="457200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0138" name="Object 26"/>
          <p:cNvGraphicFramePr>
            <a:graphicFrameLocks noChangeAspect="1"/>
          </p:cNvGraphicFramePr>
          <p:nvPr/>
        </p:nvGraphicFramePr>
        <p:xfrm>
          <a:off x="323850" y="2133600"/>
          <a:ext cx="42481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3" name="" r:id="rId3" imgW="2108200" imgH="393700" progId="Equation.DSMT4">
                  <p:embed/>
                </p:oleObj>
              </mc:Choice>
              <mc:Fallback>
                <p:oleObj name="" r:id="rId3" imgW="2108200" imgH="393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133600"/>
                        <a:ext cx="424815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9" name="Object 27"/>
          <p:cNvGraphicFramePr>
            <a:graphicFrameLocks noChangeAspect="1"/>
          </p:cNvGraphicFramePr>
          <p:nvPr/>
        </p:nvGraphicFramePr>
        <p:xfrm>
          <a:off x="4859338" y="2344738"/>
          <a:ext cx="3744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4" name="" r:id="rId5" imgW="1689100" imgH="228600" progId="Equation.DSMT4">
                  <p:embed/>
                </p:oleObj>
              </mc:Choice>
              <mc:Fallback>
                <p:oleObj name="" r:id="rId5" imgW="16891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344738"/>
                        <a:ext cx="374491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40" name="Object 28"/>
          <p:cNvGraphicFramePr>
            <a:graphicFrameLocks noChangeAspect="1"/>
          </p:cNvGraphicFramePr>
          <p:nvPr/>
        </p:nvGraphicFramePr>
        <p:xfrm>
          <a:off x="684213" y="3141663"/>
          <a:ext cx="4751387" cy="279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5" name="Equation" r:id="rId7" imgW="2286000" imgH="1346200" progId="Equation.DSMT4">
                  <p:embed/>
                </p:oleObj>
              </mc:Choice>
              <mc:Fallback>
                <p:oleObj name="Equation" r:id="rId7" imgW="2286000" imgH="1346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141663"/>
                        <a:ext cx="4751387" cy="279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41" name="WordArt 29"/>
          <p:cNvSpPr>
            <a:spLocks noChangeArrowheads="1" noChangeShapeType="1" noTextEdit="1"/>
          </p:cNvSpPr>
          <p:nvPr/>
        </p:nvSpPr>
        <p:spPr bwMode="auto">
          <a:xfrm>
            <a:off x="179388" y="260350"/>
            <a:ext cx="1371600" cy="10287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练一练</a:t>
            </a:r>
            <a:endParaRPr lang="zh-CN" altLang="en-US" sz="36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utoUpdateAnimBg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6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6535F7-EEAD-410B-92F4-7585A270DCC5}" type="datetime3">
              <a:rPr lang="zh-CN" altLang="en-US" smtClean="0"/>
            </a:fld>
            <a:endParaRPr lang="en-US" altLang="zh-CN"/>
          </a:p>
        </p:txBody>
      </p:sp>
      <p:sp>
        <p:nvSpPr>
          <p:cNvPr id="37907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379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9F392B-E9CE-4209-9505-D81BB5914495}" type="slidenum">
              <a:rPr lang="en-US" altLang="zh-CN"/>
            </a:fld>
            <a:endParaRPr lang="en-US" altLang="zh-CN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900113" y="188913"/>
          <a:ext cx="15843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0" name="Equation" r:id="rId1" imgW="748665" imgH="241300" progId="Equation.DSMT4">
                  <p:embed/>
                </p:oleObj>
              </mc:Choice>
              <mc:Fallback>
                <p:oleObj name="Equation" r:id="rId1" imgW="748665" imgH="241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88913"/>
                        <a:ext cx="1584325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356100" y="188913"/>
          <a:ext cx="936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1" name="Equation" r:id="rId3" imgW="405765" imgH="203200" progId="Equation.DSMT4">
                  <p:embed/>
                </p:oleObj>
              </mc:Choice>
              <mc:Fallback>
                <p:oleObj name="Equation" r:id="rId3" imgW="405765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88913"/>
                        <a:ext cx="9366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6011863" y="260350"/>
          <a:ext cx="3381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2" name="Equation" r:id="rId5" imgW="152400" imgH="165100" progId="Equation.DSMT4">
                  <p:embed/>
                </p:oleObj>
              </mc:Choice>
              <mc:Fallback>
                <p:oleObj name="Equation" r:id="rId5" imgW="152400" imgH="165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60350"/>
                        <a:ext cx="338137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7740650" y="188913"/>
          <a:ext cx="4206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3" name="Equation" r:id="rId7" imgW="190500" imgH="228600" progId="Equation.DSMT4">
                  <p:embed/>
                </p:oleObj>
              </mc:Choice>
              <mc:Fallback>
                <p:oleObj name="Equation" r:id="rId7" imgW="1905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188913"/>
                        <a:ext cx="420688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2627313" y="836613"/>
          <a:ext cx="1081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4" name="Equation" r:id="rId9" imgW="495300" imgH="228600" progId="Equation.DSMT4">
                  <p:embed/>
                </p:oleObj>
              </mc:Choice>
              <mc:Fallback>
                <p:oleObj name="Equation" r:id="rId9" imgW="495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836613"/>
                        <a:ext cx="1081087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6443663" y="836613"/>
          <a:ext cx="12239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5" name="Equation" r:id="rId11" imgW="494665" imgH="177800" progId="Equation.DSMT4">
                  <p:embed/>
                </p:oleObj>
              </mc:Choice>
              <mc:Fallback>
                <p:oleObj name="Equation" r:id="rId11" imgW="494665" imgH="177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836613"/>
                        <a:ext cx="1223962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Rectangle 18"/>
          <p:cNvSpPr>
            <a:spLocks noChangeArrowheads="1"/>
          </p:cNvSpPr>
          <p:nvPr/>
        </p:nvSpPr>
        <p:spPr bwMode="auto">
          <a:xfrm>
            <a:off x="179388" y="188913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endParaRPr lang="zh-CN" altLang="en-US" sz="2400"/>
          </a:p>
        </p:txBody>
      </p:sp>
      <p:sp>
        <p:nvSpPr>
          <p:cNvPr id="37910" name="Rectangle 19"/>
          <p:cNvSpPr>
            <a:spLocks noChangeArrowheads="1"/>
          </p:cNvSpPr>
          <p:nvPr/>
        </p:nvSpPr>
        <p:spPr bwMode="auto">
          <a:xfrm>
            <a:off x="2484438" y="188913"/>
            <a:ext cx="191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的行列式</a:t>
            </a:r>
            <a:endParaRPr lang="zh-CN" altLang="en-US" sz="2400"/>
          </a:p>
        </p:txBody>
      </p:sp>
      <p:sp>
        <p:nvSpPr>
          <p:cNvPr id="37911" name="Rectangle 20"/>
          <p:cNvSpPr>
            <a:spLocks noChangeArrowheads="1"/>
          </p:cNvSpPr>
          <p:nvPr/>
        </p:nvSpPr>
        <p:spPr bwMode="auto">
          <a:xfrm>
            <a:off x="5435600" y="188913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endParaRPr lang="zh-CN" altLang="en-US" sz="2400"/>
          </a:p>
        </p:txBody>
      </p:sp>
      <p:sp>
        <p:nvSpPr>
          <p:cNvPr id="37912" name="Rectangle 21"/>
          <p:cNvSpPr>
            <a:spLocks noChangeArrowheads="1"/>
          </p:cNvSpPr>
          <p:nvPr/>
        </p:nvSpPr>
        <p:spPr bwMode="auto">
          <a:xfrm>
            <a:off x="6372225" y="1889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中某元素</a:t>
            </a:r>
            <a:endParaRPr lang="zh-CN" altLang="en-US" sz="2400"/>
          </a:p>
        </p:txBody>
      </p:sp>
      <p:sp>
        <p:nvSpPr>
          <p:cNvPr id="37913" name="Rectangle 22"/>
          <p:cNvSpPr>
            <a:spLocks noChangeArrowheads="1"/>
          </p:cNvSpPr>
          <p:nvPr/>
        </p:nvSpPr>
        <p:spPr bwMode="auto">
          <a:xfrm>
            <a:off x="611188" y="836613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的代数余子式 </a:t>
            </a:r>
            <a:endParaRPr lang="zh-CN" altLang="en-US" sz="2400"/>
          </a:p>
        </p:txBody>
      </p:sp>
      <p:sp>
        <p:nvSpPr>
          <p:cNvPr id="37914" name="Rectangle 23"/>
          <p:cNvSpPr>
            <a:spLocks noChangeArrowheads="1"/>
          </p:cNvSpPr>
          <p:nvPr/>
        </p:nvSpPr>
        <p:spPr bwMode="auto">
          <a:xfrm>
            <a:off x="3779838" y="836613"/>
            <a:ext cx="2660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则齐次线性方程组</a:t>
            </a:r>
            <a:endParaRPr lang="zh-CN" altLang="en-US" sz="2400"/>
          </a:p>
        </p:txBody>
      </p:sp>
      <p:sp>
        <p:nvSpPr>
          <p:cNvPr id="37915" name="Rectangle 24"/>
          <p:cNvSpPr>
            <a:spLocks noChangeArrowheads="1"/>
          </p:cNvSpPr>
          <p:nvPr/>
        </p:nvSpPr>
        <p:spPr bwMode="auto">
          <a:xfrm>
            <a:off x="395288" y="1412875"/>
            <a:ext cx="480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的基础解系中解向量个数是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en-US" altLang="zh-CN" sz="2400"/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827088" y="1916113"/>
          <a:ext cx="64087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6" name="Equation" r:id="rId13" imgW="3340100" imgH="254000" progId="Equation.DSMT4">
                  <p:embed/>
                </p:oleObj>
              </mc:Choice>
              <mc:Fallback>
                <p:oleObj name="Equation" r:id="rId13" imgW="33401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6408737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90" name="Rectangle 26"/>
          <p:cNvSpPr>
            <a:spLocks noChangeArrowheads="1"/>
          </p:cNvSpPr>
          <p:nvPr/>
        </p:nvSpPr>
        <p:spPr bwMode="auto">
          <a:xfrm>
            <a:off x="179388" y="2492375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答案（</a:t>
            </a:r>
            <a:r>
              <a:rPr lang="en-US" altLang="zh-CN" sz="2400"/>
              <a:t>A</a:t>
            </a:r>
            <a:r>
              <a:rPr lang="zh-CN" altLang="en-US" sz="2400"/>
              <a:t>）</a:t>
            </a:r>
            <a:endParaRPr lang="zh-CN" altLang="en-US" sz="2400"/>
          </a:p>
        </p:txBody>
      </p:sp>
      <p:sp>
        <p:nvSpPr>
          <p:cNvPr id="37917" name="Rectangle 42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40"/>
          <p:cNvGrpSpPr/>
          <p:nvPr/>
        </p:nvGrpSpPr>
        <p:grpSpPr bwMode="auto">
          <a:xfrm>
            <a:off x="395288" y="2997200"/>
            <a:ext cx="8424862" cy="1660525"/>
            <a:chOff x="395288" y="2997200"/>
            <a:chExt cx="8424862" cy="1660525"/>
          </a:xfrm>
        </p:grpSpPr>
        <p:graphicFrame>
          <p:nvGraphicFramePr>
            <p:cNvPr id="37899" name="Object 9"/>
            <p:cNvGraphicFramePr>
              <a:graphicFrameLocks noChangeAspect="1"/>
            </p:cNvGraphicFramePr>
            <p:nvPr/>
          </p:nvGraphicFramePr>
          <p:xfrm>
            <a:off x="1187450" y="3068638"/>
            <a:ext cx="338138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37" name="Equation" r:id="rId15" imgW="152400" imgH="165100" progId="Equation.DSMT4">
                    <p:embed/>
                  </p:oleObj>
                </mc:Choice>
                <mc:Fallback>
                  <p:oleObj name="Equation" r:id="rId15" imgW="152400" imgH="1651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3068638"/>
                          <a:ext cx="338138" cy="358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0" name="Object 10"/>
            <p:cNvGraphicFramePr>
              <a:graphicFrameLocks noChangeAspect="1"/>
            </p:cNvGraphicFramePr>
            <p:nvPr/>
          </p:nvGraphicFramePr>
          <p:xfrm>
            <a:off x="2843213" y="3068638"/>
            <a:ext cx="36036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38" name="Equation" r:id="rId16" imgW="190500" imgH="228600" progId="Equation.DSMT4">
                    <p:embed/>
                  </p:oleObj>
                </mc:Choice>
                <mc:Fallback>
                  <p:oleObj name="Equation" r:id="rId16" imgW="19050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213" y="3068638"/>
                          <a:ext cx="36036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11"/>
            <p:cNvGraphicFramePr>
              <a:graphicFrameLocks noChangeAspect="1"/>
            </p:cNvGraphicFramePr>
            <p:nvPr/>
          </p:nvGraphicFramePr>
          <p:xfrm>
            <a:off x="5219700" y="3068638"/>
            <a:ext cx="935038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39" name="Equation" r:id="rId17" imgW="495300" imgH="228600" progId="Equation.DSMT4">
                    <p:embed/>
                  </p:oleObj>
                </mc:Choice>
                <mc:Fallback>
                  <p:oleObj name="Equation" r:id="rId17" imgW="49530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700" y="3068638"/>
                          <a:ext cx="935038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12"/>
            <p:cNvGraphicFramePr>
              <a:graphicFrameLocks noChangeAspect="1"/>
            </p:cNvGraphicFramePr>
            <p:nvPr/>
          </p:nvGraphicFramePr>
          <p:xfrm>
            <a:off x="8027988" y="3141663"/>
            <a:ext cx="792162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0" name="Equation" r:id="rId18" imgW="405765" imgH="203200" progId="Equation.DSMT4">
                    <p:embed/>
                  </p:oleObj>
                </mc:Choice>
                <mc:Fallback>
                  <p:oleObj name="Equation" r:id="rId18" imgW="405765" imgH="203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7988" y="3141663"/>
                          <a:ext cx="792162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4" name="Rectangle 31"/>
            <p:cNvSpPr>
              <a:spLocks noChangeArrowheads="1"/>
            </p:cNvSpPr>
            <p:nvPr/>
          </p:nvSpPr>
          <p:spPr bwMode="auto">
            <a:xfrm>
              <a:off x="468313" y="29972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sz="2400"/>
            </a:p>
          </p:txBody>
        </p:sp>
        <p:sp>
          <p:nvSpPr>
            <p:cNvPr id="37925" name="Rectangle 32"/>
            <p:cNvSpPr>
              <a:spLocks noChangeArrowheads="1"/>
            </p:cNvSpPr>
            <p:nvPr/>
          </p:nvSpPr>
          <p:spPr bwMode="auto">
            <a:xfrm>
              <a:off x="1476375" y="3068638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中某元素</a:t>
              </a:r>
              <a:endParaRPr lang="zh-CN" altLang="en-US" sz="2400"/>
            </a:p>
          </p:txBody>
        </p:sp>
        <p:sp>
          <p:nvSpPr>
            <p:cNvPr id="37926" name="Rectangle 33"/>
            <p:cNvSpPr>
              <a:spLocks noChangeArrowheads="1"/>
            </p:cNvSpPr>
            <p:nvPr/>
          </p:nvSpPr>
          <p:spPr bwMode="auto">
            <a:xfrm>
              <a:off x="3276600" y="3068638"/>
              <a:ext cx="2089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的代数余子式 </a:t>
              </a:r>
              <a:endParaRPr lang="zh-CN" altLang="en-US" sz="2400"/>
            </a:p>
          </p:txBody>
        </p:sp>
        <p:sp>
          <p:nvSpPr>
            <p:cNvPr id="37927" name="Rectangle 34"/>
            <p:cNvSpPr>
              <a:spLocks noChangeArrowheads="1"/>
            </p:cNvSpPr>
            <p:nvPr/>
          </p:nvSpPr>
          <p:spPr bwMode="auto">
            <a:xfrm>
              <a:off x="6156325" y="3068638"/>
              <a:ext cx="191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的行列式</a:t>
              </a:r>
              <a:endParaRPr lang="zh-CN" altLang="en-US" sz="2400"/>
            </a:p>
          </p:txBody>
        </p:sp>
        <p:graphicFrame>
          <p:nvGraphicFramePr>
            <p:cNvPr id="37903" name="Object 13"/>
            <p:cNvGraphicFramePr>
              <a:graphicFrameLocks noChangeAspect="1"/>
            </p:cNvGraphicFramePr>
            <p:nvPr/>
          </p:nvGraphicFramePr>
          <p:xfrm>
            <a:off x="1403350" y="3573463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1" name="Equation" r:id="rId19" imgW="152400" imgH="165100" progId="Equation.DSMT4">
                    <p:embed/>
                  </p:oleObj>
                </mc:Choice>
                <mc:Fallback>
                  <p:oleObj name="Equation" r:id="rId19" imgW="152400" imgH="1651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350" y="3573463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4" name="Object 14"/>
            <p:cNvGraphicFramePr>
              <a:graphicFrameLocks noChangeAspect="1"/>
            </p:cNvGraphicFramePr>
            <p:nvPr/>
          </p:nvGraphicFramePr>
          <p:xfrm>
            <a:off x="5940425" y="3716338"/>
            <a:ext cx="936625" cy="481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2" name="Equation" r:id="rId20" imgW="354965" imgH="177800" progId="Equation.DSMT4">
                    <p:embed/>
                  </p:oleObj>
                </mc:Choice>
                <mc:Fallback>
                  <p:oleObj name="Equation" r:id="rId20" imgW="354965" imgH="177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425" y="3716338"/>
                          <a:ext cx="936625" cy="481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8" name="Rectangle 38"/>
            <p:cNvSpPr>
              <a:spLocks noChangeArrowheads="1"/>
            </p:cNvSpPr>
            <p:nvPr/>
          </p:nvSpPr>
          <p:spPr bwMode="auto">
            <a:xfrm>
              <a:off x="395288" y="3500438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所以，</a:t>
              </a:r>
              <a:endParaRPr lang="zh-CN" altLang="en-US" sz="2400"/>
            </a:p>
          </p:txBody>
        </p:sp>
        <p:sp>
          <p:nvSpPr>
            <p:cNvPr id="37929" name="Rectangle 39"/>
            <p:cNvSpPr>
              <a:spLocks noChangeArrowheads="1"/>
            </p:cNvSpPr>
            <p:nvPr/>
          </p:nvSpPr>
          <p:spPr bwMode="auto">
            <a:xfrm>
              <a:off x="1763713" y="3644900"/>
              <a:ext cx="414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中不为零的子式得最高阶数为</a:t>
              </a:r>
              <a:endParaRPr lang="zh-CN" altLang="en-US" sz="2400"/>
            </a:p>
          </p:txBody>
        </p:sp>
        <p:sp>
          <p:nvSpPr>
            <p:cNvPr id="37930" name="Rectangle 40"/>
            <p:cNvSpPr>
              <a:spLocks noChangeArrowheads="1"/>
            </p:cNvSpPr>
            <p:nvPr/>
          </p:nvSpPr>
          <p:spPr bwMode="auto">
            <a:xfrm>
              <a:off x="395288" y="4149725"/>
              <a:ext cx="2195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由定义</a:t>
              </a:r>
              <a:r>
                <a:rPr lang="en-US" altLang="zh-CN" sz="2400"/>
                <a:t>2.6</a:t>
              </a:r>
              <a:r>
                <a:rPr lang="zh-CN" altLang="en-US" sz="2400"/>
                <a:t>知，</a:t>
              </a:r>
              <a:r>
                <a:rPr lang="zh-CN" altLang="en-US"/>
                <a:t> </a:t>
              </a:r>
              <a:endParaRPr lang="zh-CN" altLang="en-US"/>
            </a:p>
          </p:txBody>
        </p:sp>
        <p:graphicFrame>
          <p:nvGraphicFramePr>
            <p:cNvPr id="37905" name="Object 15"/>
            <p:cNvGraphicFramePr>
              <a:graphicFrameLocks noChangeAspect="1"/>
            </p:cNvGraphicFramePr>
            <p:nvPr/>
          </p:nvGraphicFramePr>
          <p:xfrm>
            <a:off x="2339975" y="4149725"/>
            <a:ext cx="165735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3" name="Equation" r:id="rId22" imgW="837565" imgH="254000" progId="Equation.DSMT4">
                    <p:embed/>
                  </p:oleObj>
                </mc:Choice>
                <mc:Fallback>
                  <p:oleObj name="Equation" r:id="rId22" imgW="837565" imgH="2540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975" y="4149725"/>
                          <a:ext cx="1657350" cy="50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19" name="Rectangle 4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920" name="Rectangle 48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41"/>
          <p:cNvGrpSpPr/>
          <p:nvPr/>
        </p:nvGrpSpPr>
        <p:grpSpPr bwMode="auto">
          <a:xfrm>
            <a:off x="323850" y="4941888"/>
            <a:ext cx="7234238" cy="1154112"/>
            <a:chOff x="323850" y="4941888"/>
            <a:chExt cx="7234238" cy="1154112"/>
          </a:xfrm>
        </p:grpSpPr>
        <p:sp>
          <p:nvSpPr>
            <p:cNvPr id="37922" name="Rectangle 43"/>
            <p:cNvSpPr>
              <a:spLocks noChangeArrowheads="1"/>
            </p:cNvSpPr>
            <p:nvPr/>
          </p:nvSpPr>
          <p:spPr bwMode="auto">
            <a:xfrm>
              <a:off x="323850" y="4941888"/>
              <a:ext cx="5129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所以由定理</a:t>
              </a:r>
              <a:r>
                <a:rPr lang="en-US" altLang="zh-CN" sz="2400"/>
                <a:t>2.10</a:t>
              </a:r>
              <a:r>
                <a:rPr lang="zh-CN" altLang="en-US" sz="2400"/>
                <a:t>知，齐次线性方程组 </a:t>
              </a:r>
              <a:endParaRPr lang="zh-CN" altLang="en-US" sz="2400"/>
            </a:p>
          </p:txBody>
        </p:sp>
        <p:graphicFrame>
          <p:nvGraphicFramePr>
            <p:cNvPr id="37897" name="Object 16"/>
            <p:cNvGraphicFramePr>
              <a:graphicFrameLocks noChangeAspect="1"/>
            </p:cNvGraphicFramePr>
            <p:nvPr/>
          </p:nvGraphicFramePr>
          <p:xfrm>
            <a:off x="5364163" y="5013325"/>
            <a:ext cx="1079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4" name="Equation" r:id="rId24" imgW="494665" imgH="177800" progId="Equation.DSMT4">
                    <p:embed/>
                  </p:oleObj>
                </mc:Choice>
                <mc:Fallback>
                  <p:oleObj name="Equation" r:id="rId24" imgW="494665" imgH="1778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5013325"/>
                          <a:ext cx="10795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3" name="Rectangle 46"/>
            <p:cNvSpPr>
              <a:spLocks noChangeArrowheads="1"/>
            </p:cNvSpPr>
            <p:nvPr/>
          </p:nvSpPr>
          <p:spPr bwMode="auto">
            <a:xfrm>
              <a:off x="395288" y="5516563"/>
              <a:ext cx="3905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的基础解系中解向量个数是</a:t>
              </a:r>
              <a:r>
                <a:rPr lang="zh-CN" altLang="en-US"/>
                <a:t> </a:t>
              </a:r>
              <a:endParaRPr lang="zh-CN" altLang="en-US"/>
            </a:p>
          </p:txBody>
        </p:sp>
        <p:graphicFrame>
          <p:nvGraphicFramePr>
            <p:cNvPr id="37898" name="Object 17"/>
            <p:cNvGraphicFramePr>
              <a:graphicFrameLocks noChangeAspect="1"/>
            </p:cNvGraphicFramePr>
            <p:nvPr/>
          </p:nvGraphicFramePr>
          <p:xfrm>
            <a:off x="4427538" y="5589588"/>
            <a:ext cx="3130550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45" name="Equation" r:id="rId25" imgW="1586865" imgH="254000" progId="Equation.DSMT4">
                    <p:embed/>
                  </p:oleObj>
                </mc:Choice>
                <mc:Fallback>
                  <p:oleObj name="Equation" r:id="rId25" imgW="1586865" imgH="2540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538" y="5589588"/>
                          <a:ext cx="3130550" cy="506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9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3B1048-6B8E-4042-B44A-247DE414612B}" type="datetime3">
              <a:rPr lang="zh-CN" altLang="en-US" smtClean="0"/>
            </a:fld>
            <a:endParaRPr lang="en-US" altLang="zh-CN"/>
          </a:p>
        </p:txBody>
      </p:sp>
      <p:sp>
        <p:nvSpPr>
          <p:cNvPr id="3891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389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0BA3FA-E3C1-48C1-891A-E6DBAAC30D85}" type="slidenum">
              <a:rPr lang="en-US" altLang="zh-CN"/>
            </a:fld>
            <a:endParaRPr lang="en-US" altLang="zh-CN"/>
          </a:p>
        </p:txBody>
      </p:sp>
      <p:sp>
        <p:nvSpPr>
          <p:cNvPr id="38918" name="Rectangle 2"/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》2011-2012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  <a:endParaRPr lang="zh-CN" altLang="en-US" b="1"/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8920" name="Rectangle 4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1" name="Rectangle 5"/>
          <p:cNvSpPr>
            <a:spLocks noChangeArrowheads="1"/>
          </p:cNvSpPr>
          <p:nvPr/>
        </p:nvSpPr>
        <p:spPr bwMode="auto">
          <a:xfrm>
            <a:off x="323850" y="620713"/>
            <a:ext cx="1398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一、选择题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8922" name="Rectangle 22"/>
          <p:cNvSpPr>
            <a:spLocks noChangeArrowheads="1"/>
          </p:cNvSpPr>
          <p:nvPr/>
        </p:nvSpPr>
        <p:spPr bwMode="auto">
          <a:xfrm>
            <a:off x="395288" y="1120775"/>
            <a:ext cx="84629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09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．若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阶方阵，齐次线性方程组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的基础解系中解向量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的个数为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，则秩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)=(   )</a:t>
            </a:r>
            <a:endParaRPr lang="en-US" altLang="zh-CN" sz="2400"/>
          </a:p>
        </p:txBody>
      </p:sp>
      <p:graphicFrame>
        <p:nvGraphicFramePr>
          <p:cNvPr id="163881" name="Group 41"/>
          <p:cNvGraphicFramePr>
            <a:graphicFrameLocks noGrp="1"/>
          </p:cNvGraphicFramePr>
          <p:nvPr/>
        </p:nvGraphicFramePr>
        <p:xfrm>
          <a:off x="971550" y="2060575"/>
          <a:ext cx="4718050" cy="457200"/>
        </p:xfrm>
        <a:graphic>
          <a:graphicData uri="http://schemas.openxmlformats.org/drawingml/2006/table">
            <a:tbl>
              <a:tblPr/>
              <a:tblGrid>
                <a:gridCol w="1190625"/>
                <a:gridCol w="1168400"/>
                <a:gridCol w="1228725"/>
                <a:gridCol w="1130300"/>
              </a:tblGrid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(A) 2  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(B) 3 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(C) 4 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(D) 5 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28" name="Rectangle 42"/>
          <p:cNvSpPr>
            <a:spLocks noChangeArrowheads="1"/>
          </p:cNvSpPr>
          <p:nvPr/>
        </p:nvSpPr>
        <p:spPr bwMode="auto">
          <a:xfrm>
            <a:off x="395288" y="3213100"/>
            <a:ext cx="8201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i="1"/>
              <a:t>因为</a:t>
            </a:r>
            <a:r>
              <a:rPr lang="en-US" altLang="zh-CN" sz="2400" b="1" i="1"/>
              <a:t>A</a:t>
            </a:r>
            <a:r>
              <a:rPr lang="zh-CN" altLang="en-US" sz="2400"/>
              <a:t>为</a:t>
            </a:r>
            <a:r>
              <a:rPr lang="en-US" altLang="zh-CN" sz="2400"/>
              <a:t>6</a:t>
            </a:r>
            <a:r>
              <a:rPr lang="zh-CN" altLang="en-US" sz="2400"/>
              <a:t>阶方阵，所以齐次线性方程组</a:t>
            </a:r>
            <a:r>
              <a:rPr lang="en-US" altLang="zh-CN" sz="2400" b="1" i="1"/>
              <a:t>Ax</a:t>
            </a:r>
            <a:r>
              <a:rPr lang="en-US" altLang="zh-CN" sz="2400"/>
              <a:t>=</a:t>
            </a:r>
            <a:r>
              <a:rPr lang="en-US" altLang="zh-CN" sz="2400" b="1"/>
              <a:t>0</a:t>
            </a:r>
            <a:r>
              <a:rPr lang="zh-CN" altLang="en-US" sz="2400" b="1"/>
              <a:t>有</a:t>
            </a:r>
            <a:r>
              <a:rPr lang="en-US" altLang="zh-CN" sz="2400" b="1"/>
              <a:t>6</a:t>
            </a:r>
            <a:r>
              <a:rPr lang="zh-CN" altLang="en-US" sz="2400" b="1"/>
              <a:t>个未知数，</a:t>
            </a:r>
            <a:endParaRPr lang="zh-CN" altLang="en-US" sz="2400" b="1"/>
          </a:p>
        </p:txBody>
      </p:sp>
      <p:sp>
        <p:nvSpPr>
          <p:cNvPr id="38929" name="Rectangle 43"/>
          <p:cNvSpPr>
            <a:spLocks noChangeArrowheads="1"/>
          </p:cNvSpPr>
          <p:nvPr/>
        </p:nvSpPr>
        <p:spPr bwMode="auto">
          <a:xfrm>
            <a:off x="468313" y="3789363"/>
            <a:ext cx="568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又因为基础解系中解向量的个数为</a:t>
            </a:r>
            <a:r>
              <a:rPr lang="en-US" altLang="zh-CN" sz="2400"/>
              <a:t>2</a:t>
            </a:r>
            <a:r>
              <a:rPr lang="zh-CN" altLang="en-US" sz="2400"/>
              <a:t>，</a:t>
            </a:r>
            <a:endParaRPr lang="zh-CN" altLang="en-US" sz="2400"/>
          </a:p>
        </p:txBody>
      </p:sp>
      <p:sp>
        <p:nvSpPr>
          <p:cNvPr id="38930" name="Rectangle 44"/>
          <p:cNvSpPr>
            <a:spLocks noChangeArrowheads="1"/>
          </p:cNvSpPr>
          <p:nvPr/>
        </p:nvSpPr>
        <p:spPr bwMode="auto">
          <a:xfrm>
            <a:off x="539750" y="4437063"/>
            <a:ext cx="568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由教材</a:t>
            </a:r>
            <a:r>
              <a:rPr lang="en-US" altLang="zh-CN" sz="2400"/>
              <a:t>P61,</a:t>
            </a:r>
            <a:r>
              <a:rPr lang="zh-CN" altLang="en-US" sz="2400"/>
              <a:t>定理</a:t>
            </a:r>
            <a:r>
              <a:rPr lang="en-US" altLang="zh-CN" sz="2400"/>
              <a:t>2.10</a:t>
            </a:r>
            <a:r>
              <a:rPr lang="zh-CN" altLang="en-US" sz="2400"/>
              <a:t>，得</a:t>
            </a:r>
            <a:endParaRPr lang="zh-CN" altLang="en-US" sz="240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2411413" y="5013325"/>
          <a:ext cx="22685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4" name="Equation" r:id="rId1" imgW="1078865" imgH="254000" progId="Equation.DSMT4">
                  <p:embed/>
                </p:oleObj>
              </mc:Choice>
              <mc:Fallback>
                <p:oleObj name="Equation" r:id="rId1" imgW="1078865" imgH="254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13325"/>
                        <a:ext cx="2268537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50825" y="2708275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8" grpId="0"/>
      <p:bldP spid="38929" grpId="0"/>
      <p:bldP spid="38930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43A6D0-6895-4D5B-889E-587FE59C31ED}" type="datetime3">
              <a:rPr lang="zh-CN" altLang="en-US" smtClean="0"/>
            </a:fld>
            <a:endParaRPr lang="en-US" altLang="zh-CN"/>
          </a:p>
        </p:txBody>
      </p:sp>
      <p:sp>
        <p:nvSpPr>
          <p:cNvPr id="3994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3994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9ABFD8-0B18-436E-8E8B-9553B4F2B96F}" type="slidenum">
              <a:rPr lang="en-US" altLang="zh-CN"/>
            </a:fld>
            <a:endParaRPr lang="en-US" altLang="zh-CN"/>
          </a:p>
        </p:txBody>
      </p:sp>
      <p:sp>
        <p:nvSpPr>
          <p:cNvPr id="39942" name="Rectangle 2"/>
          <p:cNvSpPr>
            <a:spLocks noChangeArrowheads="1"/>
          </p:cNvSpPr>
          <p:nvPr/>
        </p:nvSpPr>
        <p:spPr bwMode="auto">
          <a:xfrm>
            <a:off x="323850" y="188913"/>
            <a:ext cx="4625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》2008-2009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  <a:endParaRPr lang="zh-CN" altLang="en-US" b="1"/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250825" y="593725"/>
            <a:ext cx="1230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一</a:t>
            </a:r>
            <a:r>
              <a:rPr lang="en-US" altLang="zh-CN"/>
              <a:t>. </a:t>
            </a:r>
            <a:r>
              <a:rPr lang="zh-CN" altLang="en-US" b="1"/>
              <a:t>选择题</a:t>
            </a:r>
            <a:endParaRPr lang="zh-CN" altLang="en-US" b="1"/>
          </a:p>
        </p:txBody>
      </p:sp>
      <p:sp>
        <p:nvSpPr>
          <p:cNvPr id="39944" name="Rectangle 23"/>
          <p:cNvSpPr>
            <a:spLocks noChangeArrowheads="1"/>
          </p:cNvSpPr>
          <p:nvPr/>
        </p:nvSpPr>
        <p:spPr bwMode="auto">
          <a:xfrm>
            <a:off x="179388" y="1052513"/>
            <a:ext cx="835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元齐次线性方程组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的系数矩阵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的秩为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非零解的充分必要条件是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       )</a:t>
            </a:r>
            <a:endParaRPr lang="en-US" altLang="zh-CN" sz="2400"/>
          </a:p>
        </p:txBody>
      </p:sp>
      <p:sp>
        <p:nvSpPr>
          <p:cNvPr id="39945" name="Rectangle 40"/>
          <p:cNvSpPr>
            <a:spLocks noChangeArrowheads="1"/>
          </p:cNvSpPr>
          <p:nvPr/>
        </p:nvSpPr>
        <p:spPr bwMode="auto">
          <a:xfrm>
            <a:off x="0" y="3794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9946" name="Rectangle 4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9938" name="Object 42"/>
          <p:cNvGraphicFramePr>
            <a:graphicFrameLocks noChangeAspect="1"/>
          </p:cNvGraphicFramePr>
          <p:nvPr/>
        </p:nvGraphicFramePr>
        <p:xfrm>
          <a:off x="323850" y="1916113"/>
          <a:ext cx="76327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1" imgW="4152900" imgH="254000" progId="Equation.DSMT4">
                  <p:embed/>
                </p:oleObj>
              </mc:Choice>
              <mc:Fallback>
                <p:oleObj name="Equation" r:id="rId1" imgW="4152900" imgH="254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916113"/>
                        <a:ext cx="763270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44"/>
          <p:cNvSpPr>
            <a:spLocks noChangeArrowheads="1"/>
          </p:cNvSpPr>
          <p:nvPr/>
        </p:nvSpPr>
        <p:spPr bwMode="auto">
          <a:xfrm>
            <a:off x="255791" y="2848402"/>
            <a:ext cx="27158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/>
              <a:t>答案（</a:t>
            </a:r>
            <a:r>
              <a:rPr lang="en-US" altLang="zh-CN" sz="2400" dirty="0"/>
              <a:t>B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algn="ctr" eaLnBrk="1" hangingPunct="1"/>
            <a:r>
              <a:rPr lang="zh-CN" altLang="en-US" sz="2400" dirty="0"/>
              <a:t>由定理</a:t>
            </a:r>
            <a:r>
              <a:rPr lang="en-US" altLang="zh-CN" sz="2400" dirty="0"/>
              <a:t>4.1.1</a:t>
            </a:r>
            <a:r>
              <a:rPr lang="zh-CN" altLang="en-US" sz="2400" dirty="0"/>
              <a:t>得到。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七、</a:t>
            </a:r>
            <a:r>
              <a:rPr lang="zh-CN" altLang="en-US" sz="3600" dirty="0"/>
              <a:t>作业</a:t>
            </a:r>
            <a:endParaRPr lang="zh-CN" altLang="en-US" sz="3600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81336" y="1600200"/>
            <a:ext cx="5122912" cy="3484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P95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4.1  3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P97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4.2  3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P100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4.3  2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P102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4.4  2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P104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4.5  1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预习</a:t>
            </a:r>
            <a:r>
              <a:rPr lang="en-US" altLang="zh-CN" sz="3600" dirty="0">
                <a:solidFill>
                  <a:srgbClr val="0000FF"/>
                </a:solidFill>
              </a:rPr>
              <a:t>4.6-4.9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观看视频</a:t>
            </a:r>
            <a:r>
              <a:rPr lang="en-US" altLang="zh-CN" sz="3600" dirty="0">
                <a:solidFill>
                  <a:srgbClr val="0000FF"/>
                </a:solidFill>
              </a:rPr>
              <a:t>4.6-4.9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5290</Words>
  <Application>WPS 演示</Application>
  <PresentationFormat>全屏显示(4:3)</PresentationFormat>
  <Paragraphs>514</Paragraphs>
  <Slides>41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140</vt:i4>
      </vt:variant>
      <vt:variant>
        <vt:lpstr>幻灯片标题</vt:lpstr>
      </vt:variant>
      <vt:variant>
        <vt:i4>41</vt:i4>
      </vt:variant>
    </vt:vector>
  </HeadingPairs>
  <TitlesOfParts>
    <vt:vector size="193" baseType="lpstr">
      <vt:lpstr>Arial</vt:lpstr>
      <vt:lpstr>宋体</vt:lpstr>
      <vt:lpstr>Wingdings</vt:lpstr>
      <vt:lpstr>Calibri</vt:lpstr>
      <vt:lpstr>Times New Roman</vt:lpstr>
      <vt:lpstr>楷体_GB2312</vt:lpstr>
      <vt:lpstr>新宋体</vt:lpstr>
      <vt:lpstr>微软雅黑</vt:lpstr>
      <vt:lpstr>Verdana</vt:lpstr>
      <vt:lpstr>Arial Unicode MS</vt:lpstr>
      <vt:lpstr>Symbol</vt:lpstr>
      <vt:lpstr>1_Office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线性方程组及其解空间</vt:lpstr>
      <vt:lpstr>一、齐次线性方程组的矩阵形式</vt:lpstr>
      <vt:lpstr>思考</vt:lpstr>
      <vt:lpstr>思考</vt:lpstr>
      <vt:lpstr>二、齐次线性方程组解的情形</vt:lpstr>
      <vt:lpstr>PowerPoint 演示文稿</vt:lpstr>
      <vt:lpstr>PowerPoint 演示文稿</vt:lpstr>
      <vt:lpstr>PowerPoint 演示文稿</vt:lpstr>
      <vt:lpstr>PowerPoint 演示文稿</vt:lpstr>
      <vt:lpstr> （2）当         时， r(A)=2&lt;n，方程组有无穷多解，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三、齐次线性方程组的基础解系</vt:lpstr>
      <vt:lpstr>PowerPoint 演示文稿</vt:lpstr>
      <vt:lpstr>PowerPoint 演示文稿</vt:lpstr>
      <vt:lpstr>四、齐次线性方程组的解法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五、线性方程组的解空间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七、作业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159</cp:revision>
  <dcterms:created xsi:type="dcterms:W3CDTF">2020-12-08T11:04:00Z</dcterms:created>
  <dcterms:modified xsi:type="dcterms:W3CDTF">2025-04-11T06:07:08Z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2BC658C3CFFF4B318F73D6E0AD8AE95A_12</vt:lpwstr>
  </property>
</Properties>
</file>