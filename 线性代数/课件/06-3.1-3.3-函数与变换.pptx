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24"/>
  </p:notesMasterIdLst>
  <p:sldIdLst>
    <p:sldId id="256" r:id="rId2"/>
    <p:sldId id="258" r:id="rId3"/>
    <p:sldId id="276" r:id="rId4"/>
    <p:sldId id="278" r:id="rId5"/>
    <p:sldId id="277" r:id="rId6"/>
    <p:sldId id="280" r:id="rId7"/>
    <p:sldId id="274" r:id="rId8"/>
    <p:sldId id="309" r:id="rId9"/>
    <p:sldId id="259" r:id="rId10"/>
    <p:sldId id="281" r:id="rId11"/>
    <p:sldId id="282" r:id="rId12"/>
    <p:sldId id="283" r:id="rId13"/>
    <p:sldId id="284" r:id="rId14"/>
    <p:sldId id="285" r:id="rId15"/>
    <p:sldId id="286" r:id="rId16"/>
    <p:sldId id="310" r:id="rId17"/>
    <p:sldId id="287" r:id="rId18"/>
    <p:sldId id="311" r:id="rId19"/>
    <p:sldId id="312" r:id="rId20"/>
    <p:sldId id="288" r:id="rId21"/>
    <p:sldId id="308" r:id="rId22"/>
    <p:sldId id="272" r:id="rId2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725" autoAdjust="0"/>
  </p:normalViewPr>
  <p:slideViewPr>
    <p:cSldViewPr>
      <p:cViewPr varScale="1">
        <p:scale>
          <a:sx n="87" d="100"/>
          <a:sy n="87" d="100"/>
        </p:scale>
        <p:origin x="230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208F89-9C62-40E6-A4B7-5241B108DCB9}" type="datetimeFigureOut">
              <a:rPr lang="zh-CN" altLang="en-US" smtClean="0"/>
              <a:t>2021/4/15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307C1D-A20E-4502-A38E-1928A7EE26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676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307C1D-A20E-4502-A38E-1928A7EE265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90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310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774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6142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727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984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864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81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151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147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963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2021/4/15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169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10.bin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8.wmf"/><Relationship Id="rId5" Type="http://schemas.openxmlformats.org/officeDocument/2006/relationships/image" Target="../media/image15.w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17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25.wmf"/><Relationship Id="rId18" Type="http://schemas.openxmlformats.org/officeDocument/2006/relationships/oleObject" Target="../embeddings/oleObject19.bin"/><Relationship Id="rId3" Type="http://schemas.openxmlformats.org/officeDocument/2006/relationships/image" Target="../media/image20.emf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16.bin"/><Relationship Id="rId17" Type="http://schemas.openxmlformats.org/officeDocument/2006/relationships/image" Target="../media/image27.wmf"/><Relationship Id="rId2" Type="http://schemas.openxmlformats.org/officeDocument/2006/relationships/oleObject" Target="../embeddings/oleObject11.bin"/><Relationship Id="rId16" Type="http://schemas.openxmlformats.org/officeDocument/2006/relationships/oleObject" Target="../embeddings/oleObject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24.wmf"/><Relationship Id="rId5" Type="http://schemas.openxmlformats.org/officeDocument/2006/relationships/image" Target="../media/image21.wmf"/><Relationship Id="rId15" Type="http://schemas.openxmlformats.org/officeDocument/2006/relationships/image" Target="../media/image26.wmf"/><Relationship Id="rId10" Type="http://schemas.openxmlformats.org/officeDocument/2006/relationships/oleObject" Target="../embeddings/oleObject15.bin"/><Relationship Id="rId19" Type="http://schemas.openxmlformats.org/officeDocument/2006/relationships/image" Target="../media/image28.w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17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1810" y="1340768"/>
            <a:ext cx="7772400" cy="147002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sz="4800" dirty="0"/>
              <a:t>第十二讲  函数与线性变换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41930" y="2708920"/>
            <a:ext cx="6400800" cy="2567136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3600" dirty="0">
                <a:solidFill>
                  <a:schemeClr val="tx1"/>
                </a:solidFill>
                <a:latin typeface="+mj-ea"/>
                <a:ea typeface="+mj-ea"/>
              </a:rPr>
              <a:t>3.1  </a:t>
            </a:r>
            <a:r>
              <a:rPr lang="zh-CN" altLang="en-US" sz="3600" dirty="0">
                <a:solidFill>
                  <a:schemeClr val="tx1"/>
                </a:solidFill>
                <a:latin typeface="+mj-ea"/>
                <a:ea typeface="+mj-ea"/>
              </a:rPr>
              <a:t>函数</a:t>
            </a:r>
            <a:endParaRPr lang="en-US" altLang="zh-CN" sz="36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defRPr/>
            </a:pPr>
            <a:r>
              <a:rPr lang="en-US" altLang="zh-CN" sz="3600" dirty="0">
                <a:solidFill>
                  <a:schemeClr val="tx1"/>
                </a:solidFill>
                <a:latin typeface="+mj-ea"/>
                <a:ea typeface="+mj-ea"/>
              </a:rPr>
              <a:t>3.2 </a:t>
            </a:r>
            <a:r>
              <a:rPr lang="zh-CN" altLang="en-US" sz="3600" dirty="0">
                <a:solidFill>
                  <a:schemeClr val="tx1"/>
                </a:solidFill>
                <a:latin typeface="+mj-ea"/>
                <a:ea typeface="+mj-ea"/>
              </a:rPr>
              <a:t>函数与变换</a:t>
            </a:r>
            <a:endParaRPr lang="en-US" altLang="zh-CN" sz="36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defRPr/>
            </a:pPr>
            <a:r>
              <a:rPr lang="en-US" altLang="zh-CN" sz="3600" dirty="0">
                <a:solidFill>
                  <a:schemeClr val="tx1"/>
                </a:solidFill>
                <a:latin typeface="+mj-ea"/>
                <a:ea typeface="+mj-ea"/>
              </a:rPr>
              <a:t>3.3 </a:t>
            </a:r>
            <a:r>
              <a:rPr lang="zh-CN" altLang="en-US" sz="3600" dirty="0">
                <a:solidFill>
                  <a:schemeClr val="tx1"/>
                </a:solidFill>
                <a:latin typeface="+mj-ea"/>
                <a:ea typeface="+mj-ea"/>
              </a:rPr>
              <a:t>线性变换</a:t>
            </a:r>
          </a:p>
        </p:txBody>
      </p:sp>
      <p:sp>
        <p:nvSpPr>
          <p:cNvPr id="4" name="直角三角形 3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直角三角形 4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Picture 2" descr="scau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131" y="67811"/>
            <a:ext cx="5472112" cy="117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dirty="0"/>
              <a:t>一、</a:t>
            </a:r>
            <a:r>
              <a:rPr lang="zh-CN" altLang="en-US" sz="3600" dirty="0">
                <a:sym typeface="+mn-ea"/>
              </a:rPr>
              <a:t>函数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700808"/>
            <a:ext cx="8229600" cy="165618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>
                <a:latin typeface="+mn-ea"/>
                <a:sym typeface="+mn-ea"/>
              </a:rPr>
              <a:t>定义</a:t>
            </a:r>
            <a:r>
              <a:rPr lang="en-US" altLang="zh-CN" sz="2400" b="1" dirty="0">
                <a:latin typeface="+mn-ea"/>
                <a:sym typeface="+mn-ea"/>
              </a:rPr>
              <a:t>3</a:t>
            </a:r>
            <a:r>
              <a:rPr lang="en-US" altLang="zh-CN" sz="2400" b="1" dirty="0">
                <a:latin typeface="+mn-ea"/>
              </a:rPr>
              <a:t>.</a:t>
            </a:r>
            <a:r>
              <a:rPr lang="en-US" altLang="zh-CN" sz="2400" b="1" dirty="0">
                <a:latin typeface="+mn-ea"/>
                <a:sym typeface="+mn-ea"/>
              </a:rPr>
              <a:t>1</a:t>
            </a:r>
            <a:r>
              <a:rPr lang="en-US" altLang="zh-CN" sz="2400" dirty="0">
                <a:latin typeface="+mn-ea"/>
                <a:sym typeface="+mn-ea"/>
              </a:rPr>
              <a:t> </a:t>
            </a:r>
            <a:r>
              <a:rPr lang="zh-CN" altLang="en-US" sz="2400" dirty="0">
                <a:latin typeface="+mn-ea"/>
                <a:sym typeface="+mn-ea"/>
              </a:rPr>
              <a:t>集合 </a:t>
            </a:r>
            <a:r>
              <a:rPr lang="zh-CN" altLang="en-US" sz="2400" dirty="0">
                <a:latin typeface="+mn-ea"/>
              </a:rPr>
              <a:t>将具有某些属性的对象放在一起就称为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</a:rPr>
              <a:t>集合</a:t>
            </a:r>
            <a:r>
              <a:rPr lang="zh-CN" altLang="en-US" sz="2400" dirty="0">
                <a:latin typeface="+mn-ea"/>
              </a:rPr>
              <a:t>，一般用大写的英文字母表示；集合中的对象称为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</a:rPr>
              <a:t>元素</a:t>
            </a:r>
            <a:r>
              <a:rPr lang="zh-CN" altLang="en-US" sz="2400" dirty="0">
                <a:latin typeface="+mn-ea"/>
              </a:rPr>
              <a:t>。元素有限的集合称为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</a:rPr>
              <a:t>有限集</a:t>
            </a:r>
            <a:r>
              <a:rPr lang="zh-CN" altLang="en-US" sz="2400" dirty="0">
                <a:latin typeface="+mn-ea"/>
              </a:rPr>
              <a:t>，否则称为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</a:rPr>
              <a:t>无限集</a:t>
            </a:r>
            <a:r>
              <a:rPr lang="zh-CN" altLang="en-US" sz="2400" dirty="0">
                <a:latin typeface="+mn-ea"/>
              </a:rPr>
              <a:t>。</a:t>
            </a:r>
          </a:p>
        </p:txBody>
      </p:sp>
      <p:sp>
        <p:nvSpPr>
          <p:cNvPr id="5" name="矩形 4"/>
          <p:cNvSpPr/>
          <p:nvPr/>
        </p:nvSpPr>
        <p:spPr>
          <a:xfrm>
            <a:off x="467544" y="3916732"/>
            <a:ext cx="55226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+mn-ea"/>
              </a:rPr>
              <a:t>问题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</a:rPr>
              <a:t>1</a:t>
            </a:r>
            <a:r>
              <a:rPr lang="zh-CN" altLang="en-US" sz="2400" b="1" dirty="0">
                <a:latin typeface="+mn-ea"/>
              </a:rPr>
              <a:t>  </a:t>
            </a:r>
            <a:r>
              <a:rPr lang="zh-CN" altLang="en-US" sz="2400" dirty="0">
                <a:latin typeface="+mn-ea"/>
              </a:rPr>
              <a:t>请举不同领域无限集合的例子</a:t>
            </a:r>
            <a:r>
              <a:rPr lang="zh-CN" altLang="en-US" sz="2400" dirty="0"/>
              <a:t>。</a:t>
            </a:r>
          </a:p>
        </p:txBody>
      </p:sp>
      <p:sp>
        <p:nvSpPr>
          <p:cNvPr id="6" name="直角三角形 5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直角三角形 6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dirty="0"/>
              <a:t>一、</a:t>
            </a:r>
            <a:r>
              <a:rPr lang="zh-CN" altLang="en-US" sz="3600" dirty="0">
                <a:sym typeface="+mn-ea"/>
              </a:rPr>
              <a:t>函数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1412777"/>
            <a:ext cx="8229600" cy="273630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600" b="1" dirty="0">
                <a:latin typeface="+mj-ea"/>
                <a:ea typeface="+mj-ea"/>
              </a:rPr>
              <a:t>定义</a:t>
            </a:r>
            <a:r>
              <a:rPr lang="en-US" altLang="zh-CN" sz="2600" b="1" dirty="0">
                <a:latin typeface="+mj-ea"/>
                <a:ea typeface="+mj-ea"/>
              </a:rPr>
              <a:t>3.2</a:t>
            </a:r>
            <a:r>
              <a:rPr lang="zh-CN" altLang="en-US" sz="2600" b="1" dirty="0">
                <a:latin typeface="+mj-ea"/>
                <a:ea typeface="+mj-ea"/>
              </a:rPr>
              <a:t>  </a:t>
            </a:r>
            <a:r>
              <a:rPr lang="zh-CN" altLang="en-US" sz="2400" dirty="0">
                <a:latin typeface="+mn-ea"/>
              </a:rPr>
              <a:t>函数  给定集合</a:t>
            </a:r>
            <a:r>
              <a:rPr lang="en-US" altLang="zh-CN" sz="2400" dirty="0">
                <a:latin typeface="+mn-ea"/>
              </a:rPr>
              <a:t>(</a:t>
            </a:r>
            <a:r>
              <a:rPr lang="zh-CN" altLang="en-US" sz="2400" dirty="0">
                <a:latin typeface="+mn-ea"/>
              </a:rPr>
              <a:t>定义域</a:t>
            </a:r>
            <a:r>
              <a:rPr lang="en-US" altLang="zh-CN" sz="2400" dirty="0">
                <a:latin typeface="+mn-ea"/>
              </a:rPr>
              <a:t>)</a:t>
            </a:r>
            <a:r>
              <a:rPr lang="zh-CN" altLang="en-US" sz="2400" dirty="0">
                <a:latin typeface="+mn-ea"/>
              </a:rPr>
              <a:t>和实数集合</a:t>
            </a:r>
            <a:r>
              <a:rPr lang="en-US" altLang="zh-CN" sz="2400" dirty="0">
                <a:latin typeface="+mn-ea"/>
              </a:rPr>
              <a:t>Y</a:t>
            </a:r>
            <a:r>
              <a:rPr lang="zh-CN" altLang="en-US" sz="2400" dirty="0">
                <a:latin typeface="+mn-ea"/>
              </a:rPr>
              <a:t>（值域），对于</a:t>
            </a:r>
            <a:r>
              <a:rPr lang="en-US" altLang="zh-CN" sz="2400" dirty="0">
                <a:latin typeface="+mn-ea"/>
              </a:rPr>
              <a:t>X</a:t>
            </a:r>
            <a:r>
              <a:rPr lang="zh-CN" altLang="en-US" sz="2400" dirty="0">
                <a:latin typeface="+mn-ea"/>
              </a:rPr>
              <a:t>任意一个元素</a:t>
            </a:r>
            <a:r>
              <a:rPr lang="en-US" altLang="zh-CN" sz="2400" dirty="0">
                <a:latin typeface="+mn-ea"/>
              </a:rPr>
              <a:t>x</a:t>
            </a:r>
            <a:r>
              <a:rPr lang="zh-CN" altLang="en-US" sz="2400" dirty="0">
                <a:latin typeface="+mn-ea"/>
              </a:rPr>
              <a:t>，按照某种对应法则</a:t>
            </a:r>
            <a:r>
              <a:rPr lang="en-US" altLang="zh-CN" sz="2400" dirty="0">
                <a:latin typeface="+mn-ea"/>
              </a:rPr>
              <a:t>f</a:t>
            </a:r>
            <a:r>
              <a:rPr lang="zh-CN" altLang="en-US" sz="2400" dirty="0">
                <a:latin typeface="+mn-ea"/>
              </a:rPr>
              <a:t>，在</a:t>
            </a:r>
            <a:r>
              <a:rPr lang="en-US" altLang="zh-CN" sz="2400" dirty="0">
                <a:latin typeface="+mn-ea"/>
              </a:rPr>
              <a:t>Y</a:t>
            </a:r>
            <a:r>
              <a:rPr lang="zh-CN" altLang="en-US" sz="2400" dirty="0">
                <a:latin typeface="+mn-ea"/>
              </a:rPr>
              <a:t>中都有确定的元素</a:t>
            </a:r>
            <a:r>
              <a:rPr lang="en-US" altLang="zh-CN" sz="2400" dirty="0">
                <a:latin typeface="+mn-ea"/>
              </a:rPr>
              <a:t>y</a:t>
            </a:r>
            <a:r>
              <a:rPr lang="zh-CN" altLang="en-US" sz="2400" dirty="0">
                <a:latin typeface="+mn-ea"/>
              </a:rPr>
              <a:t>与之对应，则</a:t>
            </a:r>
            <a:r>
              <a:rPr lang="en-US" altLang="zh-CN" sz="2400" dirty="0">
                <a:latin typeface="+mn-ea"/>
              </a:rPr>
              <a:t>f</a:t>
            </a:r>
            <a:r>
              <a:rPr lang="zh-CN" altLang="en-US" sz="2400" dirty="0">
                <a:latin typeface="+mn-ea"/>
              </a:rPr>
              <a:t>称为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</a:rPr>
              <a:t>函数关系</a:t>
            </a:r>
            <a:r>
              <a:rPr lang="zh-CN" altLang="en-US" sz="2400" dirty="0">
                <a:latin typeface="+mn-ea"/>
              </a:rPr>
              <a:t>，记为</a:t>
            </a:r>
            <a:r>
              <a:rPr lang="en-US" altLang="zh-CN" sz="2400" dirty="0">
                <a:latin typeface="+mn-ea"/>
              </a:rPr>
              <a:t>y=f(x).</a:t>
            </a:r>
            <a:r>
              <a:rPr lang="zh-CN" altLang="en-US" sz="2400" dirty="0">
                <a:latin typeface="+mn-ea"/>
              </a:rPr>
              <a:t>若一个</a:t>
            </a:r>
            <a:r>
              <a:rPr lang="en-US" altLang="zh-CN" sz="2400" dirty="0">
                <a:latin typeface="+mn-ea"/>
              </a:rPr>
              <a:t>x</a:t>
            </a:r>
            <a:r>
              <a:rPr lang="zh-CN" altLang="en-US" sz="2400" dirty="0">
                <a:latin typeface="+mn-ea"/>
              </a:rPr>
              <a:t>对应一个</a:t>
            </a:r>
            <a:r>
              <a:rPr lang="en-US" altLang="zh-CN" sz="2400" dirty="0">
                <a:latin typeface="+mn-ea"/>
              </a:rPr>
              <a:t>y</a:t>
            </a:r>
            <a:r>
              <a:rPr lang="zh-CN" altLang="en-US" sz="2400" dirty="0">
                <a:latin typeface="+mn-ea"/>
              </a:rPr>
              <a:t>，反之亦然，则称为</a:t>
            </a:r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1-1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对应关系</a:t>
            </a:r>
            <a:r>
              <a:rPr lang="zh-CN" altLang="en-US" sz="2600" dirty="0">
                <a:latin typeface="+mj-ea"/>
                <a:ea typeface="+mj-ea"/>
              </a:rPr>
              <a:t>。</a:t>
            </a:r>
          </a:p>
        </p:txBody>
      </p:sp>
      <p:sp>
        <p:nvSpPr>
          <p:cNvPr id="6" name="文本框 7"/>
          <p:cNvSpPr txBox="1"/>
          <p:nvPr/>
        </p:nvSpPr>
        <p:spPr>
          <a:xfrm>
            <a:off x="539551" y="4188331"/>
            <a:ext cx="7846695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2400" b="1" dirty="0" err="1">
                <a:latin typeface="+mn-ea"/>
              </a:rPr>
              <a:t>一元函数、二元函数、n元函数</a:t>
            </a:r>
            <a:r>
              <a:rPr sz="2400" b="1" dirty="0">
                <a:latin typeface="+mn-ea"/>
              </a:rPr>
              <a:t>；</a:t>
            </a:r>
            <a:endParaRPr lang="en-US" sz="24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sz="2400" b="1" dirty="0" err="1">
                <a:latin typeface="+mn-ea"/>
              </a:rPr>
              <a:t>线性函数与非线性函数</a:t>
            </a:r>
            <a:r>
              <a:rPr sz="2400" dirty="0">
                <a:latin typeface="+mn-ea"/>
              </a:rPr>
              <a:t>。</a:t>
            </a:r>
            <a:endParaRPr lang="zh-CN" altLang="zh-CN" sz="2400" dirty="0">
              <a:latin typeface="+mn-ea"/>
            </a:endParaRPr>
          </a:p>
        </p:txBody>
      </p:sp>
      <p:sp>
        <p:nvSpPr>
          <p:cNvPr id="5" name="直角三角形 4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直角三角形 6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8825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dirty="0"/>
              <a:t>一、</a:t>
            </a:r>
            <a:r>
              <a:rPr lang="zh-CN" altLang="en-US" sz="3600" dirty="0">
                <a:sym typeface="+mn-ea"/>
              </a:rPr>
              <a:t>函数</a:t>
            </a:r>
            <a:endParaRPr lang="zh-CN" altLang="en-US" sz="3600" dirty="0"/>
          </a:p>
        </p:txBody>
      </p:sp>
      <p:sp>
        <p:nvSpPr>
          <p:cNvPr id="5" name="矩形 4"/>
          <p:cNvSpPr/>
          <p:nvPr/>
        </p:nvSpPr>
        <p:spPr>
          <a:xfrm>
            <a:off x="569312" y="1484784"/>
            <a:ext cx="825116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b="1" dirty="0">
                <a:solidFill>
                  <a:srgbClr val="000000"/>
                </a:solidFill>
                <a:latin typeface="+mn-ea"/>
                <a:cs typeface="仿宋" panose="02010609060101010101" charset="-122"/>
              </a:rPr>
              <a:t>例3.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仿宋" panose="02010609060101010101" charset="-122"/>
              </a:rPr>
              <a:t>1 一个教学班有90人，教室有93个座位。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cs typeface="仿宋" panose="02010609060101010101" charset="-122"/>
              </a:rPr>
              <a:t>（1）	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cs typeface="仿宋" panose="02010609060101010101" charset="-122"/>
              </a:rPr>
              <a:t>如何知道有几个学生缺席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仿宋" panose="02010609060101010101" charset="-122"/>
              </a:rPr>
              <a:t>？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cs typeface="仿宋" panose="02010609060101010101" charset="-122"/>
              </a:rPr>
              <a:t>（2）	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cs typeface="仿宋" panose="02010609060101010101" charset="-122"/>
              </a:rPr>
              <a:t>用什么办法知道缺席的学生是谁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仿宋" panose="02010609060101010101" charset="-122"/>
              </a:rPr>
              <a:t>？</a:t>
            </a:r>
            <a:endParaRPr lang="zh-CN" altLang="en-US" sz="2400" dirty="0">
              <a:solidFill>
                <a:srgbClr val="000000"/>
              </a:solidFill>
              <a:latin typeface="+mn-ea"/>
              <a:cs typeface="仿宋" panose="02010609060101010101" charset="-122"/>
            </a:endParaRPr>
          </a:p>
        </p:txBody>
      </p:sp>
      <p:sp>
        <p:nvSpPr>
          <p:cNvPr id="4" name="文本框 1"/>
          <p:cNvSpPr txBox="1"/>
          <p:nvPr/>
        </p:nvSpPr>
        <p:spPr>
          <a:xfrm>
            <a:off x="569312" y="3501008"/>
            <a:ext cx="8075295" cy="16890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仿宋" panose="02010609060101010101" charset="-122"/>
                <a:sym typeface="+mn-ea"/>
              </a:rPr>
              <a:t>解 </a:t>
            </a:r>
            <a:r>
              <a:rPr lang="en-US" altLang="zh-CN" sz="2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仿宋" panose="02010609060101010101" charset="-122"/>
                <a:sym typeface="+mn-ea"/>
              </a:rPr>
              <a:t>（1）把学生和座位各看成一个集合，学生坐到座位上就建立了一个函数关系，只要看空座位数是否等于3。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仿宋" panose="02010609060101010101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仿宋" panose="02010609060101010101" charset="-122"/>
                <a:sym typeface="+mn-ea"/>
              </a:rPr>
              <a:t>   （2）学生按学号坐。 </a:t>
            </a:r>
            <a:endParaRPr lang="zh-CN" altLang="en-US" sz="2400" dirty="0">
              <a:latin typeface="+mn-ea"/>
              <a:cs typeface="仿宋" panose="02010609060101010101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69312" y="5449902"/>
            <a:ext cx="71287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rgbClr val="0000CC"/>
                </a:solidFill>
                <a:latin typeface="+mn-ea"/>
                <a:cs typeface="仿宋" panose="02010609060101010101" charset="-122"/>
              </a:rPr>
              <a:t>问题2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cs typeface="仿宋" panose="02010609060101010101" charset="-122"/>
              </a:rPr>
              <a:t>举例说明序结构在日常生活中的作用</a:t>
            </a:r>
            <a:endParaRPr lang="zh-CN" altLang="en-US" sz="2400" dirty="0">
              <a:latin typeface="+mn-ea"/>
            </a:endParaRPr>
          </a:p>
        </p:txBody>
      </p:sp>
      <p:sp>
        <p:nvSpPr>
          <p:cNvPr id="6" name="直角三角形 5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直角三角形 6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0594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dirty="0"/>
              <a:t>一、</a:t>
            </a:r>
            <a:r>
              <a:rPr lang="zh-CN" altLang="en-US" sz="3600" dirty="0">
                <a:sym typeface="+mn-ea"/>
              </a:rPr>
              <a:t>函数</a:t>
            </a:r>
            <a:endParaRPr lang="zh-CN" altLang="en-US" sz="3600" dirty="0"/>
          </a:p>
        </p:txBody>
      </p:sp>
      <p:sp>
        <p:nvSpPr>
          <p:cNvPr id="5" name="矩形 4"/>
          <p:cNvSpPr/>
          <p:nvPr/>
        </p:nvSpPr>
        <p:spPr>
          <a:xfrm>
            <a:off x="446420" y="2654529"/>
            <a:ext cx="8251160" cy="1133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zh-CN" sz="2400" b="1" dirty="0"/>
              <a:t>例</a:t>
            </a:r>
            <a:r>
              <a:rPr lang="en-US" altLang="zh-CN" sz="2400" b="1" dirty="0"/>
              <a:t>3.</a:t>
            </a:r>
            <a:r>
              <a:rPr lang="zh-CN" altLang="zh-CN" sz="2400" b="1" dirty="0"/>
              <a:t>2</a:t>
            </a:r>
            <a:r>
              <a:rPr lang="zh-CN" altLang="en-US" sz="2400" b="1" dirty="0"/>
              <a:t> </a:t>
            </a:r>
            <a:r>
              <a:rPr lang="zh-CN" altLang="en-US" sz="2400" dirty="0"/>
              <a:t>建立两种从区间[0，1]到区间[0，k]的1-1对应关系，其中一种是线性函数，另一种是非线性函数。</a:t>
            </a:r>
          </a:p>
        </p:txBody>
      </p:sp>
      <p:sp>
        <p:nvSpPr>
          <p:cNvPr id="6" name="文本框 1"/>
          <p:cNvSpPr txBox="1"/>
          <p:nvPr/>
        </p:nvSpPr>
        <p:spPr>
          <a:xfrm>
            <a:off x="899592" y="4221088"/>
            <a:ext cx="5989037" cy="17543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400" b="1" dirty="0">
                <a:latin typeface="+mn-ea"/>
                <a:cs typeface="仿宋" panose="02010609060101010101" charset="-122"/>
              </a:rPr>
              <a:t>解</a:t>
            </a:r>
            <a:r>
              <a:rPr lang="zh-CN" altLang="en-US" dirty="0">
                <a:latin typeface="+mn-ea"/>
              </a:rPr>
              <a:t> </a:t>
            </a:r>
            <a:r>
              <a:rPr lang="zh-CN" altLang="en-US" sz="2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仿宋" panose="02010609060101010101" charset="-122"/>
              </a:rPr>
              <a:t>（1）</a:t>
            </a:r>
            <a:endParaRPr lang="en-US" altLang="zh-CN" sz="24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仿宋" panose="0201060906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仿宋" panose="02010609060101010101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zh-CN" altLang="en-US" sz="24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仿宋" panose="02010609060101010101" charset="-122"/>
              </a:rPr>
              <a:t>      (2)  </a:t>
            </a:r>
          </a:p>
        </p:txBody>
      </p:sp>
      <p:pic>
        <p:nvPicPr>
          <p:cNvPr id="14338" name="对象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2779" y="4284215"/>
            <a:ext cx="1831182" cy="604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对象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5237463"/>
            <a:ext cx="2736304" cy="714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直角三角形 6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直角三角形 7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C13F9F5-D6CF-436C-97F1-3AC71FCF6B7C}"/>
              </a:ext>
            </a:extLst>
          </p:cNvPr>
          <p:cNvSpPr/>
          <p:nvPr/>
        </p:nvSpPr>
        <p:spPr>
          <a:xfrm>
            <a:off x="435640" y="1327173"/>
            <a:ext cx="8251160" cy="1133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/>
              <a:t>定义</a:t>
            </a:r>
            <a:r>
              <a:rPr lang="en-US" altLang="zh-CN" sz="2400" b="1" dirty="0"/>
              <a:t>3.1.4 </a:t>
            </a:r>
            <a:r>
              <a:rPr lang="zh-CN" altLang="en-US" sz="2400" b="1" dirty="0"/>
              <a:t>自变量的指数都是一次的函数称为线性函数，否则称为非线性函数。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05276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dirty="0"/>
              <a:t>一、</a:t>
            </a:r>
            <a:r>
              <a:rPr lang="zh-CN" altLang="en-US" sz="3600" dirty="0">
                <a:sym typeface="+mn-ea"/>
              </a:rPr>
              <a:t>函数</a:t>
            </a:r>
            <a:endParaRPr lang="zh-CN" altLang="en-US" sz="3600" dirty="0"/>
          </a:p>
        </p:txBody>
      </p:sp>
      <p:sp>
        <p:nvSpPr>
          <p:cNvPr id="7" name="文本框 9"/>
          <p:cNvSpPr txBox="1"/>
          <p:nvPr/>
        </p:nvSpPr>
        <p:spPr>
          <a:xfrm>
            <a:off x="670560" y="1639801"/>
            <a:ext cx="7795895" cy="23083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400" b="1" dirty="0">
                <a:latin typeface="+mn-ea"/>
                <a:cs typeface="仿宋" panose="02010609060101010101" charset="-122"/>
              </a:rPr>
              <a:t>例</a:t>
            </a:r>
            <a:r>
              <a:rPr lang="en-US" altLang="zh-CN" sz="2400" b="1" dirty="0">
                <a:latin typeface="+mn-ea"/>
                <a:cs typeface="仿宋" panose="02010609060101010101" charset="-122"/>
              </a:rPr>
              <a:t>3.</a:t>
            </a:r>
            <a:r>
              <a:rPr lang="zh-CN" sz="2400" b="1" dirty="0">
                <a:latin typeface="+mn-ea"/>
                <a:cs typeface="仿宋" panose="02010609060101010101" charset="-122"/>
              </a:rPr>
              <a:t>3</a:t>
            </a:r>
            <a:r>
              <a:rPr lang="zh-CN" sz="2400" b="1" dirty="0">
                <a:solidFill>
                  <a:srgbClr val="0000CC"/>
                </a:solidFill>
                <a:latin typeface="+mn-ea"/>
                <a:cs typeface="仿宋" panose="02010609060101010101" charset="-122"/>
              </a:rPr>
              <a:t> 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正整数集合与奇数集合哪个元素多？</a:t>
            </a:r>
            <a:endParaRPr lang="en-US" altLang="zh-CN" sz="2400" dirty="0">
              <a:latin typeface="+mn-ea"/>
              <a:cs typeface="仿宋" panose="02010609060101010101" charset="-122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+mn-ea"/>
              <a:cs typeface="仿宋" panose="02010609060101010101" charset="-122"/>
            </a:endParaRPr>
          </a:p>
          <a:p>
            <a:pPr>
              <a:lnSpc>
                <a:spcPct val="150000"/>
              </a:lnSpc>
            </a:pPr>
            <a:r>
              <a:rPr lang="zh-CN" sz="2400" b="1" dirty="0">
                <a:latin typeface="+mn-ea"/>
                <a:cs typeface="仿宋" panose="02010609060101010101" charset="-122"/>
              </a:rPr>
              <a:t>解</a:t>
            </a:r>
            <a:r>
              <a:rPr lang="zh-CN" altLang="en-US" sz="2400" b="1" dirty="0">
                <a:latin typeface="+mn-ea"/>
                <a:cs typeface="仿宋" panose="02010609060101010101" charset="-122"/>
              </a:rPr>
              <a:t> 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建立1-1对应关系: n       2n-1 </a:t>
            </a:r>
            <a:endParaRPr lang="en-US" altLang="zh-CN" sz="2400" dirty="0">
              <a:latin typeface="+mn-ea"/>
              <a:cs typeface="仿宋" panose="0201060906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  <a:cs typeface="仿宋" panose="02010609060101010101" charset="-122"/>
              </a:rPr>
              <a:t>说明两个集合中元素一样“多”。</a:t>
            </a:r>
          </a:p>
        </p:txBody>
      </p:sp>
      <p:pic>
        <p:nvPicPr>
          <p:cNvPr id="15362" name="对象 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413" y="2878787"/>
            <a:ext cx="1148635" cy="406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51057" y="4571968"/>
            <a:ext cx="6408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</a:rPr>
              <a:t>问题</a:t>
            </a:r>
            <a:r>
              <a:rPr lang="en-US" altLang="zh-CN" sz="2400" b="1" dirty="0">
                <a:solidFill>
                  <a:srgbClr val="0000FF"/>
                </a:solidFill>
              </a:rPr>
              <a:t>3</a:t>
            </a:r>
            <a:r>
              <a:rPr lang="zh-CN" altLang="en-US" sz="2400" dirty="0"/>
              <a:t>  你还可以得到类似结论吗？</a:t>
            </a:r>
          </a:p>
        </p:txBody>
      </p:sp>
      <p:sp>
        <p:nvSpPr>
          <p:cNvPr id="6" name="直角三角形 5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直角三角形 7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2891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algn="l"/>
            <a:r>
              <a:rPr lang="zh-CN" altLang="en-US" sz="3600" dirty="0"/>
              <a:t>二、</a:t>
            </a:r>
            <a:r>
              <a:rPr lang="zh-CN" altLang="en-US" sz="3600" dirty="0">
                <a:sym typeface="+mn-ea"/>
              </a:rPr>
              <a:t>函数与变换</a:t>
            </a:r>
            <a:br>
              <a:rPr lang="zh-CN" altLang="en-US" sz="3600" dirty="0">
                <a:sym typeface="+mn-ea"/>
              </a:rPr>
            </a:br>
            <a:endParaRPr lang="zh-CN" altLang="en-US" sz="3600" dirty="0"/>
          </a:p>
        </p:txBody>
      </p:sp>
      <p:sp>
        <p:nvSpPr>
          <p:cNvPr id="10" name="矩形 9"/>
          <p:cNvSpPr/>
          <p:nvPr/>
        </p:nvSpPr>
        <p:spPr>
          <a:xfrm>
            <a:off x="467544" y="1268760"/>
            <a:ext cx="7488832" cy="1135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 dirty="0">
                <a:solidFill>
                  <a:srgbClr val="0000CC"/>
                </a:solidFill>
                <a:latin typeface="+mn-ea"/>
                <a:cs typeface="仿宋" panose="02010609060101010101" charset="-122"/>
              </a:rPr>
              <a:t>问题</a:t>
            </a:r>
            <a:r>
              <a:rPr lang="en-US" altLang="zh-CN" sz="2400" b="1" dirty="0">
                <a:solidFill>
                  <a:srgbClr val="0000CC"/>
                </a:solidFill>
                <a:latin typeface="+mn-ea"/>
                <a:cs typeface="仿宋" panose="02010609060101010101" charset="-122"/>
              </a:rPr>
              <a:t>4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 把定义域中元素从实数推广到数组，能不能把值域也推广一下呢？</a:t>
            </a:r>
          </a:p>
        </p:txBody>
      </p:sp>
      <p:sp>
        <p:nvSpPr>
          <p:cNvPr id="13" name="文本框 8"/>
          <p:cNvSpPr txBox="1"/>
          <p:nvPr/>
        </p:nvSpPr>
        <p:spPr>
          <a:xfrm>
            <a:off x="503008" y="2535287"/>
            <a:ext cx="8420884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2400" b="1" dirty="0">
                <a:latin typeface="+mn-ea"/>
                <a:cs typeface="仿宋" panose="02010609060101010101" charset="-122"/>
              </a:rPr>
              <a:t>定义</a:t>
            </a:r>
            <a:r>
              <a:rPr lang="en-US" altLang="zh-CN" sz="2400" b="1" dirty="0">
                <a:latin typeface="+mn-ea"/>
                <a:cs typeface="仿宋" panose="02010609060101010101" charset="-122"/>
              </a:rPr>
              <a:t>3.2.1</a:t>
            </a:r>
            <a:r>
              <a:rPr lang="zh-CN" altLang="en-US" sz="2400" dirty="0">
                <a:latin typeface="+mn-ea"/>
              </a:rPr>
              <a:t> 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集合X中元素为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n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元数组的函数关系称为多元函数。特别地，集合中的元素为二（三）元数组的函数关系称为二（三）元函数。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1" name="直角三角形 10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8">
            <a:extLst>
              <a:ext uri="{FF2B5EF4-FFF2-40B4-BE49-F238E27FC236}">
                <a16:creationId xmlns:a16="http://schemas.microsoft.com/office/drawing/2014/main" id="{15D601C5-4032-40AB-A39A-86DC775F5F40}"/>
              </a:ext>
            </a:extLst>
          </p:cNvPr>
          <p:cNvSpPr txBox="1"/>
          <p:nvPr/>
        </p:nvSpPr>
        <p:spPr>
          <a:xfrm>
            <a:off x="517578" y="4056204"/>
            <a:ext cx="8420884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2400" b="1" dirty="0">
                <a:latin typeface="+mn-ea"/>
                <a:cs typeface="仿宋" panose="02010609060101010101" charset="-122"/>
              </a:rPr>
              <a:t>定义</a:t>
            </a:r>
            <a:r>
              <a:rPr lang="en-US" altLang="zh-CN" sz="2400" b="1" dirty="0">
                <a:latin typeface="+mn-ea"/>
                <a:cs typeface="仿宋" panose="02010609060101010101" charset="-122"/>
              </a:rPr>
              <a:t>3.2.2 </a:t>
            </a:r>
            <a:r>
              <a:rPr lang="zh-CN" altLang="en-US" sz="2400" b="1" dirty="0">
                <a:latin typeface="+mn-ea"/>
                <a:cs typeface="仿宋" panose="02010609060101010101" charset="-122"/>
              </a:rPr>
              <a:t>设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集合X和Y中的元素都为n元数组，从集合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X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到集合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Y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的对应关系称为变换。</a:t>
            </a:r>
            <a:endParaRPr lang="zh-CN" altLang="en-US" sz="2400" dirty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algn="l"/>
            <a:r>
              <a:rPr lang="zh-CN" altLang="en-US" sz="3600" dirty="0"/>
              <a:t>二、</a:t>
            </a:r>
            <a:r>
              <a:rPr lang="zh-CN" altLang="en-US" sz="3600" dirty="0">
                <a:sym typeface="+mn-ea"/>
              </a:rPr>
              <a:t>函数与变换</a:t>
            </a:r>
            <a:br>
              <a:rPr lang="zh-CN" altLang="en-US" sz="3600" dirty="0">
                <a:sym typeface="+mn-ea"/>
              </a:rPr>
            </a:br>
            <a:endParaRPr lang="zh-CN" altLang="en-US" sz="3600" dirty="0"/>
          </a:p>
        </p:txBody>
      </p:sp>
      <p:sp>
        <p:nvSpPr>
          <p:cNvPr id="13" name="文本框 8"/>
          <p:cNvSpPr txBox="1"/>
          <p:nvPr/>
        </p:nvSpPr>
        <p:spPr>
          <a:xfrm>
            <a:off x="470778" y="1875482"/>
            <a:ext cx="8420884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 dirty="0">
                <a:latin typeface="+mn-ea"/>
                <a:cs typeface="仿宋" panose="02010609060101010101" charset="-122"/>
              </a:rPr>
              <a:t>平面向量的旋转变换：平面上一个向量按逆时针方向旋转一个固定的角度</a:t>
            </a:r>
            <a:r>
              <a:rPr lang="zh-CN" altLang="en-US" sz="2400" b="1" dirty="0">
                <a:latin typeface="+mn-ea"/>
                <a:cs typeface="仿宋" panose="02010609060101010101" charset="-122"/>
                <a:sym typeface="Symbol" panose="05050102010706020507" pitchFamily="18" charset="2"/>
              </a:rPr>
              <a:t></a:t>
            </a:r>
            <a:r>
              <a:rPr lang="zh-CN" altLang="en-US" sz="2400" b="1" dirty="0">
                <a:latin typeface="+mn-ea"/>
                <a:cs typeface="仿宋" panose="02010609060101010101" charset="-122"/>
              </a:rPr>
              <a:t>。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39552" y="3256657"/>
            <a:ext cx="50869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2400" b="1" dirty="0">
                <a:latin typeface="+mn-ea"/>
                <a:cs typeface="仿宋" panose="02010609060101010101" charset="-122"/>
              </a:rPr>
              <a:t>例</a:t>
            </a:r>
            <a:r>
              <a:rPr lang="en-US" altLang="zh-CN" sz="2400" b="1" dirty="0">
                <a:latin typeface="+mn-ea"/>
                <a:cs typeface="仿宋" panose="02010609060101010101" charset="-122"/>
              </a:rPr>
              <a:t>3.</a:t>
            </a:r>
            <a:r>
              <a:rPr lang="zh-CN" sz="2400" b="1" dirty="0">
                <a:latin typeface="+mn-ea"/>
                <a:cs typeface="仿宋" panose="02010609060101010101" charset="-122"/>
              </a:rPr>
              <a:t>4</a:t>
            </a:r>
            <a:r>
              <a:rPr lang="en-US" altLang="zh-CN" sz="2400" dirty="0">
                <a:latin typeface="+mn-ea"/>
              </a:rPr>
              <a:t> 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平面向量的旋转变换</a:t>
            </a:r>
          </a:p>
        </p:txBody>
      </p:sp>
      <p:pic>
        <p:nvPicPr>
          <p:cNvPr id="13382" name="对象 1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711" y="3861048"/>
            <a:ext cx="4584665" cy="1170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文本框 16"/>
          <p:cNvSpPr txBox="1"/>
          <p:nvPr/>
        </p:nvSpPr>
        <p:spPr>
          <a:xfrm>
            <a:off x="5517905" y="4119562"/>
            <a:ext cx="33991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dirty="0">
                <a:latin typeface="+mn-ea"/>
                <a:cs typeface="仿宋" panose="02010609060101010101" charset="-122"/>
              </a:rPr>
              <a:t>-----</a:t>
            </a:r>
            <a:r>
              <a:rPr lang="zh-CN" altLang="en-US" sz="2400" b="1" dirty="0">
                <a:latin typeface="+mn-ea"/>
                <a:cs typeface="仿宋" panose="02010609060101010101" charset="-122"/>
              </a:rPr>
              <a:t>平面旋转公式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 </a:t>
            </a:r>
          </a:p>
        </p:txBody>
      </p:sp>
      <p:sp>
        <p:nvSpPr>
          <p:cNvPr id="17" name="文本框 17"/>
          <p:cNvSpPr txBox="1"/>
          <p:nvPr/>
        </p:nvSpPr>
        <p:spPr>
          <a:xfrm>
            <a:off x="294242" y="5197802"/>
            <a:ext cx="86296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400" b="1" dirty="0">
                <a:solidFill>
                  <a:srgbClr val="0000CC"/>
                </a:solidFill>
                <a:latin typeface="+mn-ea"/>
                <a:cs typeface="仿宋" panose="02010609060101010101" charset="-122"/>
              </a:rPr>
              <a:t>注意</a:t>
            </a:r>
            <a:r>
              <a:rPr lang="zh-CN" altLang="en-US" sz="2400" dirty="0">
                <a:latin typeface="+mn-ea"/>
              </a:rPr>
              <a:t>  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一个二阶矩阵乘以一个二维向量，变换成另一个二维向量</a:t>
            </a:r>
          </a:p>
        </p:txBody>
      </p:sp>
      <p:sp>
        <p:nvSpPr>
          <p:cNvPr id="18" name="文本框 18"/>
          <p:cNvSpPr txBox="1"/>
          <p:nvPr/>
        </p:nvSpPr>
        <p:spPr>
          <a:xfrm>
            <a:off x="681990" y="5671820"/>
            <a:ext cx="3999230" cy="1050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latin typeface="+mn-ea"/>
                <a:cs typeface="仿宋" panose="02010609060101010101" charset="-122"/>
              </a:rPr>
              <a:t>请看教材99页例3和例4，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latin typeface="+mn-ea"/>
                <a:cs typeface="仿宋" panose="02010609060101010101" charset="-122"/>
              </a:rPr>
              <a:t>体会矩阵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A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中</a:t>
            </a:r>
            <a:r>
              <a:rPr lang="en-US" altLang="zh-CN" sz="2400" dirty="0" err="1">
                <a:latin typeface="+mn-ea"/>
                <a:cs typeface="仿宋" panose="02010609060101010101" charset="-122"/>
              </a:rPr>
              <a:t>a,b</a:t>
            </a:r>
            <a:r>
              <a:rPr lang="zh-CN" altLang="zh-CN" sz="2400" dirty="0">
                <a:latin typeface="+mn-ea"/>
                <a:cs typeface="仿宋" panose="02010609060101010101" charset="-122"/>
              </a:rPr>
              <a:t>的作用。</a:t>
            </a:r>
          </a:p>
        </p:txBody>
      </p:sp>
      <p:pic>
        <p:nvPicPr>
          <p:cNvPr id="13383" name="对象 1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4" y="5686451"/>
            <a:ext cx="1885926" cy="1113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直角三角形 10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直角三角形 11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34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/>
      <p:bldP spid="1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l"/>
            <a:r>
              <a:rPr lang="zh-CN" altLang="en-US" sz="3200" dirty="0"/>
              <a:t>二、</a:t>
            </a:r>
            <a:r>
              <a:rPr lang="zh-CN" altLang="en-US" sz="3200" dirty="0">
                <a:sym typeface="+mn-ea"/>
              </a:rPr>
              <a:t>函数与变换</a:t>
            </a:r>
            <a:endParaRPr lang="zh-CN" altLang="en-US" sz="3200" dirty="0"/>
          </a:p>
        </p:txBody>
      </p:sp>
      <p:sp>
        <p:nvSpPr>
          <p:cNvPr id="2" name="矩形 1"/>
          <p:cNvSpPr/>
          <p:nvPr/>
        </p:nvSpPr>
        <p:spPr>
          <a:xfrm>
            <a:off x="683568" y="1556792"/>
            <a:ext cx="77768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 dirty="0">
                <a:latin typeface="+mn-ea"/>
                <a:cs typeface="仿宋" panose="02010609060101010101" charset="-122"/>
              </a:rPr>
              <a:t>例</a:t>
            </a:r>
            <a:r>
              <a:rPr lang="en-US" altLang="zh-CN" sz="2400" b="1" dirty="0">
                <a:latin typeface="+mn-ea"/>
                <a:cs typeface="仿宋" panose="02010609060101010101" charset="-122"/>
              </a:rPr>
              <a:t>3.</a:t>
            </a:r>
            <a:r>
              <a:rPr lang="zh-CN" altLang="zh-CN" sz="2400" b="1" dirty="0">
                <a:latin typeface="+mn-ea"/>
                <a:cs typeface="仿宋" panose="02010609060101010101" charset="-122"/>
              </a:rPr>
              <a:t>5</a:t>
            </a:r>
            <a:r>
              <a:rPr lang="zh-CN" altLang="en-US" sz="2400" dirty="0">
                <a:latin typeface="+mn-ea"/>
              </a:rPr>
              <a:t>  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哪个二阶对角矩阵把向量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(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1，2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)</a:t>
            </a:r>
            <a:r>
              <a:rPr lang="zh-CN" altLang="en-US" sz="2400" baseline="30000" dirty="0">
                <a:latin typeface="+mn-ea"/>
                <a:cs typeface="仿宋" panose="02010609060101010101" charset="-122"/>
              </a:rPr>
              <a:t>T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变到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(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2，1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)</a:t>
            </a:r>
            <a:r>
              <a:rPr lang="zh-CN" altLang="en-US" sz="2400" baseline="30000" dirty="0">
                <a:latin typeface="+mn-ea"/>
                <a:cs typeface="仿宋" panose="02010609060101010101" charset="-122"/>
              </a:rPr>
              <a:t>T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？</a:t>
            </a:r>
          </a:p>
        </p:txBody>
      </p:sp>
      <p:sp>
        <p:nvSpPr>
          <p:cNvPr id="3" name="矩形 2"/>
          <p:cNvSpPr/>
          <p:nvPr/>
        </p:nvSpPr>
        <p:spPr>
          <a:xfrm>
            <a:off x="827584" y="2480336"/>
            <a:ext cx="7200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+mn-ea"/>
                <a:cs typeface="仿宋" panose="02010609060101010101" charset="-122"/>
              </a:rPr>
              <a:t>解</a:t>
            </a:r>
          </a:p>
        </p:txBody>
      </p:sp>
      <p:pic>
        <p:nvPicPr>
          <p:cNvPr id="3159" name="对象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064423"/>
            <a:ext cx="5045945" cy="1065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60" name="对象 1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541" y="2982838"/>
            <a:ext cx="1511300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827584" y="4510920"/>
            <a:ext cx="4958409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zh-CN" sz="2400" b="1" dirty="0">
                <a:solidFill>
                  <a:srgbClr val="0000CC"/>
                </a:solidFill>
                <a:latin typeface="+mn-ea"/>
                <a:cs typeface="仿宋" panose="02010609060101010101" charset="-122"/>
              </a:rPr>
              <a:t>注意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 仔细体会矩阵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A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中</a:t>
            </a:r>
            <a:r>
              <a:rPr lang="en-US" altLang="zh-CN" sz="2400" dirty="0" err="1">
                <a:latin typeface="+mn-ea"/>
                <a:cs typeface="仿宋" panose="02010609060101010101" charset="-122"/>
              </a:rPr>
              <a:t>a,b</a:t>
            </a:r>
            <a:r>
              <a:rPr lang="zh-CN" altLang="zh-CN" sz="2400" dirty="0">
                <a:latin typeface="+mn-ea"/>
                <a:cs typeface="仿宋" panose="02010609060101010101" charset="-122"/>
              </a:rPr>
              <a:t>的作用。</a:t>
            </a:r>
          </a:p>
        </p:txBody>
      </p:sp>
      <p:sp>
        <p:nvSpPr>
          <p:cNvPr id="6" name="矩形 5"/>
          <p:cNvSpPr/>
          <p:nvPr/>
        </p:nvSpPr>
        <p:spPr>
          <a:xfrm>
            <a:off x="827584" y="5445224"/>
            <a:ext cx="2882520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latin typeface="+mn-ea"/>
                <a:cs typeface="仿宋" panose="02010609060101010101" charset="-122"/>
                <a:sym typeface="+mn-ea"/>
              </a:rPr>
              <a:t>请看教材99页例4。</a:t>
            </a:r>
            <a:endParaRPr lang="zh-CN" altLang="en-US" sz="2400" dirty="0">
              <a:latin typeface="+mn-ea"/>
              <a:cs typeface="仿宋" panose="02010609060101010101" charset="-122"/>
            </a:endParaRPr>
          </a:p>
        </p:txBody>
      </p:sp>
      <p:sp>
        <p:nvSpPr>
          <p:cNvPr id="9" name="直角三角形 8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直角三角形 10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/>
              <a:t>三、</a:t>
            </a:r>
            <a:r>
              <a:rPr lang="zh-CN" altLang="en-US" sz="3200" dirty="0">
                <a:sym typeface="+mn-ea"/>
              </a:rPr>
              <a:t>线性变换</a:t>
            </a:r>
            <a:endParaRPr lang="zh-CN" altLang="en-US" sz="3200" dirty="0"/>
          </a:p>
        </p:txBody>
      </p:sp>
      <p:sp>
        <p:nvSpPr>
          <p:cNvPr id="5" name="矩形 4"/>
          <p:cNvSpPr/>
          <p:nvPr/>
        </p:nvSpPr>
        <p:spPr>
          <a:xfrm>
            <a:off x="611560" y="1412776"/>
            <a:ext cx="74888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 dirty="0">
                <a:latin typeface="+mn-ea"/>
                <a:cs typeface="仿宋" panose="02010609060101010101" charset="-122"/>
              </a:rPr>
              <a:t>定义</a:t>
            </a:r>
            <a:r>
              <a:rPr lang="en-US" altLang="zh-CN" sz="2400" b="1" dirty="0">
                <a:latin typeface="+mn-ea"/>
                <a:cs typeface="仿宋" panose="02010609060101010101" charset="-122"/>
              </a:rPr>
              <a:t>3.</a:t>
            </a:r>
            <a:r>
              <a:rPr lang="zh-CN" altLang="zh-CN" sz="2400" b="1" dirty="0">
                <a:latin typeface="+mn-ea"/>
                <a:cs typeface="仿宋" panose="02010609060101010101" charset="-122"/>
              </a:rPr>
              <a:t>4 </a:t>
            </a:r>
            <a:r>
              <a:rPr lang="zh-CN" altLang="en-US" sz="2400" dirty="0">
                <a:latin typeface="+mn-ea"/>
              </a:rPr>
              <a:t> 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线性空间V上的一个变换A称为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cs typeface="仿宋" panose="02010609060101010101" charset="-122"/>
              </a:rPr>
              <a:t>线性变换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，如果对于V中任意的元素X，Y和数域P中任意数k，都有</a:t>
            </a:r>
          </a:p>
        </p:txBody>
      </p:sp>
      <p:sp>
        <p:nvSpPr>
          <p:cNvPr id="7" name="矩形 6"/>
          <p:cNvSpPr/>
          <p:nvPr/>
        </p:nvSpPr>
        <p:spPr>
          <a:xfrm>
            <a:off x="755576" y="2492896"/>
            <a:ext cx="6319359" cy="572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latin typeface="+mn-ea"/>
                <a:cs typeface="仿宋" panose="02010609060101010101" charset="-122"/>
              </a:rPr>
              <a:t>A（X+Y）=A（X）+A（Y）；A(kX)=kA(X).</a:t>
            </a:r>
          </a:p>
        </p:txBody>
      </p:sp>
      <p:sp>
        <p:nvSpPr>
          <p:cNvPr id="8" name="矩形 7"/>
          <p:cNvSpPr/>
          <p:nvPr/>
        </p:nvSpPr>
        <p:spPr>
          <a:xfrm>
            <a:off x="755576" y="3125439"/>
            <a:ext cx="58143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  <a:cs typeface="仿宋" panose="02010609060101010101" charset="-122"/>
                <a:sym typeface="+mn-ea"/>
              </a:rPr>
              <a:t>上述两个式子分别称为可加性与齐次性。</a:t>
            </a:r>
            <a:endParaRPr lang="zh-CN" altLang="en-US" sz="2400" dirty="0">
              <a:latin typeface="+mn-ea"/>
              <a:cs typeface="仿宋" panose="0201060906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  <a:cs typeface="仿宋" panose="02010609060101010101" charset="-122"/>
                <a:sym typeface="+mn-ea"/>
              </a:rPr>
              <a:t>线性变换保持元素的加法运算与数乘运算。</a:t>
            </a:r>
            <a:endParaRPr lang="zh-CN" altLang="en-US" sz="2400" dirty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55576" y="4581128"/>
            <a:ext cx="72728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 dirty="0">
                <a:latin typeface="+mn-ea"/>
                <a:cs typeface="仿宋" panose="02010609060101010101" charset="-122"/>
                <a:sym typeface="+mn-ea"/>
              </a:rPr>
              <a:t>定义</a:t>
            </a:r>
            <a:r>
              <a:rPr lang="en-US" altLang="zh-CN" sz="2400" b="1" dirty="0">
                <a:latin typeface="+mn-ea"/>
                <a:cs typeface="仿宋" panose="02010609060101010101" charset="-122"/>
                <a:sym typeface="+mn-ea"/>
              </a:rPr>
              <a:t>3.</a:t>
            </a:r>
            <a:r>
              <a:rPr lang="zh-CN" altLang="zh-CN" sz="2400" b="1" dirty="0">
                <a:latin typeface="+mn-ea"/>
                <a:cs typeface="仿宋" panose="02010609060101010101" charset="-122"/>
                <a:sym typeface="+mn-ea"/>
              </a:rPr>
              <a:t>5</a:t>
            </a:r>
            <a:r>
              <a:rPr lang="zh-CN" altLang="en-US" sz="2400" b="1" dirty="0">
                <a:latin typeface="+mn-ea"/>
                <a:cs typeface="仿宋" panose="02010609060101010101" charset="-122"/>
                <a:sym typeface="+mn-ea"/>
              </a:rPr>
              <a:t> </a:t>
            </a:r>
            <a:r>
              <a:rPr lang="zh-CN" altLang="en-US" sz="2400" dirty="0">
                <a:latin typeface="+mn-ea"/>
                <a:cs typeface="仿宋" panose="02010609060101010101" charset="-122"/>
                <a:sym typeface="+mn-ea"/>
              </a:rPr>
              <a:t>设A是线性变换，若对于线性空间中任意元素X，有 X=AX,则线性变换A称为</a:t>
            </a:r>
            <a:r>
              <a:rPr lang="zh-CN" altLang="en-US" sz="2400" b="1" dirty="0">
                <a:latin typeface="+mn-ea"/>
                <a:cs typeface="仿宋" panose="02010609060101010101" charset="-122"/>
                <a:sym typeface="+mn-ea"/>
              </a:rPr>
              <a:t>恒等变换</a:t>
            </a:r>
            <a:r>
              <a:rPr lang="zh-CN" altLang="en-US" sz="2400" dirty="0">
                <a:latin typeface="+mn-ea"/>
                <a:cs typeface="仿宋" panose="02010609060101010101" charset="-122"/>
                <a:sym typeface="+mn-ea"/>
              </a:rPr>
              <a:t>，记为I。</a:t>
            </a:r>
            <a:endParaRPr lang="zh-CN" altLang="en-US" sz="2400" dirty="0">
              <a:latin typeface="+mn-ea"/>
              <a:cs typeface="仿宋" panose="02010609060101010101" charset="-122"/>
            </a:endParaRPr>
          </a:p>
        </p:txBody>
      </p:sp>
      <p:sp>
        <p:nvSpPr>
          <p:cNvPr id="11" name="直角三角形 10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直角三角形 11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4055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/>
              <a:t>三、</a:t>
            </a:r>
            <a:r>
              <a:rPr lang="zh-CN" altLang="en-US" sz="3200" dirty="0">
                <a:sym typeface="+mn-ea"/>
              </a:rPr>
              <a:t>线性变换</a:t>
            </a:r>
            <a:endParaRPr lang="zh-CN" altLang="en-US" sz="3200" dirty="0"/>
          </a:p>
        </p:txBody>
      </p:sp>
      <p:sp>
        <p:nvSpPr>
          <p:cNvPr id="11" name="文本框 6"/>
          <p:cNvSpPr txBox="1"/>
          <p:nvPr/>
        </p:nvSpPr>
        <p:spPr>
          <a:xfrm>
            <a:off x="462280" y="1279525"/>
            <a:ext cx="8349615" cy="17543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 </a:t>
            </a:r>
            <a:r>
              <a:rPr lang="zh-CN" sz="2400" b="1" dirty="0">
                <a:latin typeface="+mn-ea"/>
                <a:cs typeface="仿宋" panose="02010609060101010101" charset="-122"/>
              </a:rPr>
              <a:t>定义</a:t>
            </a:r>
            <a:r>
              <a:rPr lang="en-US" altLang="zh-CN" sz="2400" b="1" dirty="0">
                <a:latin typeface="+mn-ea"/>
                <a:cs typeface="仿宋" panose="02010609060101010101" charset="-122"/>
              </a:rPr>
              <a:t>3.6</a:t>
            </a:r>
            <a:r>
              <a:rPr lang="zh-CN" sz="2400" b="1" dirty="0">
                <a:latin typeface="+mn-ea"/>
                <a:cs typeface="仿宋" panose="02010609060101010101" charset="-122"/>
              </a:rPr>
              <a:t> 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设A是线性变换，若存在线性变换B，对于线性空间中任意元素X，有X=B(AX),   则线性变换B称为A的逆变换，记为A</a:t>
            </a:r>
            <a:r>
              <a:rPr lang="zh-CN" altLang="en-US" sz="2400" baseline="30000" dirty="0">
                <a:latin typeface="+mn-ea"/>
                <a:cs typeface="仿宋" panose="02010609060101010101" charset="-122"/>
              </a:rPr>
              <a:t>-1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。</a:t>
            </a:r>
          </a:p>
        </p:txBody>
      </p:sp>
      <p:sp>
        <p:nvSpPr>
          <p:cNvPr id="12" name="文本框 1"/>
          <p:cNvSpPr txBox="1"/>
          <p:nvPr/>
        </p:nvSpPr>
        <p:spPr>
          <a:xfrm>
            <a:off x="431135" y="3190734"/>
            <a:ext cx="6301105" cy="11350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400" b="1" dirty="0">
                <a:solidFill>
                  <a:srgbClr val="0000FF"/>
                </a:solidFill>
                <a:latin typeface="+mn-ea"/>
                <a:cs typeface="仿宋" panose="02010609060101010101" charset="-122"/>
                <a:sym typeface="+mn-ea"/>
              </a:rPr>
              <a:t>问题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  <a:cs typeface="仿宋" panose="02010609060101010101" charset="-122"/>
                <a:sym typeface="+mn-ea"/>
              </a:rPr>
              <a:t>4</a:t>
            </a:r>
            <a:r>
              <a:rPr lang="zh-CN" altLang="en-US" sz="2400" b="1" dirty="0">
                <a:solidFill>
                  <a:srgbClr val="0000FF"/>
                </a:solidFill>
                <a:latin typeface="+mn-ea"/>
                <a:cs typeface="仿宋" panose="02010609060101010101" charset="-122"/>
                <a:sym typeface="+mn-ea"/>
              </a:rPr>
              <a:t> </a:t>
            </a:r>
            <a:r>
              <a:rPr lang="zh-CN" altLang="en-US" sz="2400" dirty="0">
                <a:latin typeface="+mn-ea"/>
                <a:cs typeface="仿宋" panose="02010609060101010101" charset="-122"/>
                <a:sym typeface="+mn-ea"/>
              </a:rPr>
              <a:t>函数中有没有类似概念？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  <a:cs typeface="仿宋" panose="02010609060101010101" charset="-122"/>
                <a:sym typeface="+mn-ea"/>
              </a:rPr>
              <a:t>对应复合函数，能否定义“复合变换”？</a:t>
            </a:r>
            <a:endParaRPr lang="zh-CN" altLang="en-US" sz="2400" dirty="0">
              <a:latin typeface="+mn-ea"/>
              <a:cs typeface="仿宋" panose="02010609060101010101" charset="-122"/>
            </a:endParaRPr>
          </a:p>
        </p:txBody>
      </p:sp>
      <p:sp>
        <p:nvSpPr>
          <p:cNvPr id="13" name="文本框 2"/>
          <p:cNvSpPr txBox="1"/>
          <p:nvPr/>
        </p:nvSpPr>
        <p:spPr>
          <a:xfrm>
            <a:off x="467544" y="4547072"/>
            <a:ext cx="8108950" cy="11350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400" b="1" dirty="0">
                <a:solidFill>
                  <a:srgbClr val="0000FF"/>
                </a:solidFill>
                <a:latin typeface="+mn-ea"/>
                <a:cs typeface="仿宋" panose="02010609060101010101" charset="-122"/>
              </a:rPr>
              <a:t>问题5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  <a:cs typeface="仿宋" panose="02010609060101010101" charset="-122"/>
              </a:rPr>
              <a:t> 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能否把抽象的线性变换与具体的熟悉的东西建立1-1对应关系，用具体东西研究抽象的线性变换呢？ </a:t>
            </a:r>
          </a:p>
        </p:txBody>
      </p:sp>
      <p:sp>
        <p:nvSpPr>
          <p:cNvPr id="6" name="直角三角形 5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直角三角形 6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9708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/>
              <a:t>三、</a:t>
            </a:r>
            <a:r>
              <a:rPr lang="zh-CN" altLang="en-US" sz="3200" dirty="0">
                <a:sym typeface="+mn-ea"/>
              </a:rPr>
              <a:t>线性变换</a:t>
            </a:r>
            <a:endParaRPr lang="zh-CN" altLang="en-US" sz="3200" dirty="0"/>
          </a:p>
        </p:txBody>
      </p:sp>
      <p:sp>
        <p:nvSpPr>
          <p:cNvPr id="6" name="文本框 3"/>
          <p:cNvSpPr txBox="1"/>
          <p:nvPr/>
        </p:nvSpPr>
        <p:spPr>
          <a:xfrm>
            <a:off x="256601" y="1391920"/>
            <a:ext cx="7771784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400" b="1" dirty="0">
                <a:latin typeface="+mn-ea"/>
                <a:cs typeface="仿宋" panose="02010609060101010101" charset="-122"/>
              </a:rPr>
              <a:t>定理</a:t>
            </a:r>
            <a:r>
              <a:rPr lang="en-US" altLang="zh-CN" sz="2400" b="1" dirty="0">
                <a:latin typeface="+mn-ea"/>
                <a:cs typeface="仿宋" panose="02010609060101010101" charset="-122"/>
              </a:rPr>
              <a:t>3.</a:t>
            </a:r>
            <a:r>
              <a:rPr lang="zh-CN" sz="2400" b="1" dirty="0">
                <a:latin typeface="+mn-ea"/>
                <a:cs typeface="仿宋" panose="02010609060101010101" charset="-122"/>
              </a:rPr>
              <a:t>1</a:t>
            </a:r>
            <a:r>
              <a:rPr lang="zh-CN" altLang="en-US" sz="2400" b="1" dirty="0">
                <a:latin typeface="+mn-ea"/>
              </a:rPr>
              <a:t>  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在线性空间的基确定的条件下，</a:t>
            </a:r>
            <a:endParaRPr lang="en-US" altLang="zh-CN" sz="2400" dirty="0">
              <a:latin typeface="+mn-ea"/>
              <a:cs typeface="仿宋" panose="0201060906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ea"/>
                <a:cs typeface="仿宋" panose="02010609060101010101" charset="-122"/>
              </a:rPr>
              <a:t>              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线性变换与矩 阵1-1对应。</a:t>
            </a:r>
          </a:p>
        </p:txBody>
      </p:sp>
      <p:sp>
        <p:nvSpPr>
          <p:cNvPr id="7" name="文本框 4"/>
          <p:cNvSpPr txBox="1"/>
          <p:nvPr/>
        </p:nvSpPr>
        <p:spPr>
          <a:xfrm>
            <a:off x="323275" y="2780928"/>
            <a:ext cx="81127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2400" b="1" dirty="0">
                <a:latin typeface="+mn-ea"/>
                <a:cs typeface="仿宋" panose="02010609060101010101" charset="-122"/>
                <a:sym typeface="+mn-ea"/>
              </a:rPr>
              <a:t>定理</a:t>
            </a:r>
            <a:r>
              <a:rPr lang="en-US" altLang="zh-CN" sz="2400" b="1" dirty="0">
                <a:latin typeface="+mn-ea"/>
                <a:cs typeface="仿宋" panose="02010609060101010101" charset="-122"/>
                <a:sym typeface="+mn-ea"/>
              </a:rPr>
              <a:t>3.</a:t>
            </a:r>
            <a:r>
              <a:rPr lang="zh-CN" sz="2400" b="1" dirty="0">
                <a:latin typeface="+mn-ea"/>
                <a:cs typeface="仿宋" panose="02010609060101010101" charset="-122"/>
                <a:sym typeface="+mn-ea"/>
              </a:rPr>
              <a:t>2</a:t>
            </a:r>
            <a:r>
              <a:rPr lang="zh-CN" altLang="en-US" sz="2400" dirty="0">
                <a:latin typeface="+mn-ea"/>
                <a:cs typeface="仿宋" panose="02010609060101010101" charset="-122"/>
                <a:sym typeface="+mn-ea"/>
              </a:rPr>
              <a:t> 线性变换A在不同基下对应的矩阵相似。</a:t>
            </a:r>
            <a:endParaRPr lang="zh-CN" altLang="en-US" sz="2400" dirty="0">
              <a:latin typeface="+mn-ea"/>
              <a:cs typeface="仿宋" panose="02010609060101010101" charset="-122"/>
            </a:endParaRPr>
          </a:p>
        </p:txBody>
      </p:sp>
      <p:sp>
        <p:nvSpPr>
          <p:cNvPr id="8" name="文本框 5"/>
          <p:cNvSpPr txBox="1"/>
          <p:nvPr/>
        </p:nvSpPr>
        <p:spPr>
          <a:xfrm>
            <a:off x="323275" y="3717032"/>
            <a:ext cx="8422005" cy="11350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  <a:cs typeface="仿宋" panose="02010609060101010101" charset="-122"/>
                <a:sym typeface="+mn-ea"/>
              </a:rPr>
              <a:t>可以用矩阵表示或“代替”线性变换，既在一些场合可以用矩阵代替线性变换。</a:t>
            </a:r>
            <a:endParaRPr lang="zh-CN" altLang="en-US" sz="2400" dirty="0">
              <a:latin typeface="+mn-ea"/>
              <a:cs typeface="仿宋" panose="02010609060101010101" charset="-122"/>
            </a:endParaRPr>
          </a:p>
        </p:txBody>
      </p:sp>
      <p:sp>
        <p:nvSpPr>
          <p:cNvPr id="9" name="直角三角形 8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直角三角形 10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8655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/>
              <a:t>三、</a:t>
            </a:r>
            <a:r>
              <a:rPr lang="zh-CN" altLang="en-US" sz="3200" dirty="0">
                <a:sym typeface="+mn-ea"/>
              </a:rPr>
              <a:t>线性变换</a:t>
            </a:r>
            <a:endParaRPr lang="zh-CN" altLang="en-US" sz="3200" dirty="0"/>
          </a:p>
        </p:txBody>
      </p:sp>
      <p:sp>
        <p:nvSpPr>
          <p:cNvPr id="9" name="文本框 1"/>
          <p:cNvSpPr txBox="1"/>
          <p:nvPr/>
        </p:nvSpPr>
        <p:spPr>
          <a:xfrm>
            <a:off x="657860" y="1812290"/>
            <a:ext cx="796607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  <a:cs typeface="仿宋" panose="02010609060101010101" charset="-122"/>
              </a:rPr>
              <a:t>1 线性变换可以表示n个n元线性函数 </a:t>
            </a:r>
          </a:p>
        </p:txBody>
      </p:sp>
      <p:sp>
        <p:nvSpPr>
          <p:cNvPr id="11" name="文本框 2"/>
          <p:cNvSpPr txBox="1"/>
          <p:nvPr/>
        </p:nvSpPr>
        <p:spPr>
          <a:xfrm>
            <a:off x="683568" y="1311151"/>
            <a:ext cx="3735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线性变换的作用</a:t>
            </a:r>
          </a:p>
        </p:txBody>
      </p:sp>
      <p:sp>
        <p:nvSpPr>
          <p:cNvPr id="12" name="文本框 6"/>
          <p:cNvSpPr txBox="1"/>
          <p:nvPr/>
        </p:nvSpPr>
        <p:spPr>
          <a:xfrm>
            <a:off x="776976" y="2636912"/>
            <a:ext cx="7891145" cy="19389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>
                <a:latin typeface="+mn-ea"/>
                <a:cs typeface="仿宋" panose="02010609060101010101" charset="-122"/>
                <a:sym typeface="+mn-ea"/>
              </a:rPr>
              <a:t>设n个n元线性函数 </a:t>
            </a:r>
            <a:endParaRPr lang="zh-CN" altLang="en-US" sz="2400" dirty="0">
              <a:latin typeface="+mn-ea"/>
              <a:cs typeface="仿宋" panose="02010609060101010101" charset="-122"/>
            </a:endParaRPr>
          </a:p>
          <a:p>
            <a:r>
              <a:rPr lang="zh-CN" altLang="en-US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r>
              <a:rPr lang="zh-CN" altLang="en-US" sz="24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 </a:t>
            </a:r>
            <a:endParaRPr lang="en-US" altLang="zh-CN" sz="2400" dirty="0">
              <a:latin typeface="仿宋" panose="02010609060101010101" charset="-122"/>
              <a:ea typeface="仿宋" panose="02010609060101010101" charset="-122"/>
              <a:cs typeface="仿宋" panose="02010609060101010101" charset="-122"/>
              <a:sym typeface="+mn-ea"/>
            </a:endParaRPr>
          </a:p>
          <a:p>
            <a:r>
              <a:rPr lang="zh-CN" altLang="en-US" sz="2400" dirty="0">
                <a:latin typeface="+mn-ea"/>
                <a:cs typeface="仿宋" panose="02010609060101010101" charset="-122"/>
                <a:sym typeface="+mn-ea"/>
              </a:rPr>
              <a:t>Y</a:t>
            </a:r>
            <a:r>
              <a:rPr lang="zh-CN" altLang="en-US" sz="2400" baseline="-25000" dirty="0">
                <a:latin typeface="+mn-ea"/>
                <a:cs typeface="仿宋" panose="02010609060101010101" charset="-122"/>
                <a:sym typeface="+mn-ea"/>
              </a:rPr>
              <a:t>i</a:t>
            </a:r>
            <a:r>
              <a:rPr lang="zh-CN" altLang="en-US" sz="2400" dirty="0">
                <a:latin typeface="+mn-ea"/>
                <a:cs typeface="仿宋" panose="02010609060101010101" charset="-122"/>
                <a:sym typeface="+mn-ea"/>
              </a:rPr>
              <a:t>=a</a:t>
            </a:r>
            <a:r>
              <a:rPr lang="zh-CN" altLang="en-US" sz="2400" baseline="-25000" dirty="0">
                <a:latin typeface="+mn-ea"/>
                <a:cs typeface="仿宋" panose="02010609060101010101" charset="-122"/>
                <a:sym typeface="+mn-ea"/>
              </a:rPr>
              <a:t>i1</a:t>
            </a:r>
            <a:r>
              <a:rPr lang="zh-CN" altLang="en-US" sz="2400" dirty="0">
                <a:latin typeface="+mn-ea"/>
                <a:cs typeface="仿宋" panose="02010609060101010101" charset="-122"/>
                <a:sym typeface="+mn-ea"/>
              </a:rPr>
              <a:t>x</a:t>
            </a:r>
            <a:r>
              <a:rPr lang="zh-CN" altLang="en-US" sz="2400" baseline="-25000" dirty="0">
                <a:latin typeface="+mn-ea"/>
                <a:cs typeface="仿宋" panose="02010609060101010101" charset="-122"/>
                <a:sym typeface="+mn-ea"/>
              </a:rPr>
              <a:t>1</a:t>
            </a:r>
            <a:r>
              <a:rPr lang="zh-CN" altLang="en-US" sz="2400" dirty="0">
                <a:latin typeface="+mn-ea"/>
                <a:cs typeface="仿宋" panose="02010609060101010101" charset="-122"/>
                <a:sym typeface="+mn-ea"/>
              </a:rPr>
              <a:t>+a</a:t>
            </a:r>
            <a:r>
              <a:rPr lang="zh-CN" altLang="en-US" sz="2400" baseline="-25000" dirty="0">
                <a:latin typeface="+mn-ea"/>
                <a:cs typeface="仿宋" panose="02010609060101010101" charset="-122"/>
                <a:sym typeface="+mn-ea"/>
              </a:rPr>
              <a:t>i2</a:t>
            </a:r>
            <a:r>
              <a:rPr lang="zh-CN" altLang="en-US" sz="2400" dirty="0">
                <a:latin typeface="+mn-ea"/>
                <a:cs typeface="仿宋" panose="02010609060101010101" charset="-122"/>
                <a:sym typeface="+mn-ea"/>
              </a:rPr>
              <a:t>x</a:t>
            </a:r>
            <a:r>
              <a:rPr lang="zh-CN" altLang="en-US" sz="2400" baseline="-25000" dirty="0">
                <a:latin typeface="+mn-ea"/>
                <a:cs typeface="仿宋" panose="02010609060101010101" charset="-122"/>
                <a:sym typeface="+mn-ea"/>
              </a:rPr>
              <a:t>2</a:t>
            </a:r>
            <a:r>
              <a:rPr lang="zh-CN" altLang="en-US" sz="2400" dirty="0">
                <a:latin typeface="+mn-ea"/>
                <a:cs typeface="仿宋" panose="02010609060101010101" charset="-122"/>
                <a:sym typeface="+mn-ea"/>
              </a:rPr>
              <a:t>+…+a</a:t>
            </a:r>
            <a:r>
              <a:rPr lang="zh-CN" altLang="en-US" sz="2400" baseline="-25000" dirty="0">
                <a:latin typeface="+mn-ea"/>
                <a:cs typeface="仿宋" panose="02010609060101010101" charset="-122"/>
                <a:sym typeface="+mn-ea"/>
              </a:rPr>
              <a:t>in</a:t>
            </a:r>
            <a:r>
              <a:rPr lang="zh-CN" altLang="en-US" sz="2400" dirty="0">
                <a:latin typeface="+mn-ea"/>
                <a:cs typeface="仿宋" panose="02010609060101010101" charset="-122"/>
                <a:sym typeface="+mn-ea"/>
              </a:rPr>
              <a:t>x</a:t>
            </a:r>
            <a:r>
              <a:rPr lang="zh-CN" altLang="en-US" sz="2400" baseline="-25000" dirty="0">
                <a:latin typeface="+mn-ea"/>
                <a:cs typeface="仿宋" panose="02010609060101010101" charset="-122"/>
                <a:sym typeface="+mn-ea"/>
              </a:rPr>
              <a:t>n</a:t>
            </a:r>
            <a:r>
              <a:rPr lang="zh-CN" altLang="en-US" sz="2400" dirty="0">
                <a:latin typeface="+mn-ea"/>
                <a:cs typeface="仿宋" panose="02010609060101010101" charset="-122"/>
                <a:sym typeface="+mn-ea"/>
              </a:rPr>
              <a:t>,(i=1,2,…,n),</a:t>
            </a:r>
            <a:endParaRPr lang="zh-CN" altLang="en-US" sz="2400" dirty="0">
              <a:latin typeface="+mn-ea"/>
              <a:cs typeface="仿宋" panose="02010609060101010101" charset="-122"/>
            </a:endParaRPr>
          </a:p>
          <a:p>
            <a:endParaRPr lang="en-US" altLang="zh-CN" sz="2400" dirty="0">
              <a:latin typeface="+mn-ea"/>
              <a:cs typeface="仿宋" panose="02010609060101010101" charset="-122"/>
              <a:sym typeface="+mn-ea"/>
            </a:endParaRPr>
          </a:p>
          <a:p>
            <a:r>
              <a:rPr lang="zh-CN" altLang="en-US" sz="2400" dirty="0">
                <a:latin typeface="+mn-ea"/>
                <a:cs typeface="仿宋" panose="02010609060101010101" charset="-122"/>
                <a:sym typeface="+mn-ea"/>
              </a:rPr>
              <a:t>可以表示为：Y=AX</a:t>
            </a:r>
            <a:endParaRPr lang="zh-CN" altLang="en-US" sz="2400" dirty="0">
              <a:latin typeface="+mn-ea"/>
              <a:cs typeface="仿宋" panose="02010609060101010101" charset="-122"/>
            </a:endParaRPr>
          </a:p>
        </p:txBody>
      </p:sp>
      <p:sp>
        <p:nvSpPr>
          <p:cNvPr id="6" name="直角三角形 5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直角三角形 6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0359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/>
              <a:t>三、</a:t>
            </a:r>
            <a:r>
              <a:rPr lang="zh-CN" altLang="en-US" sz="3200" dirty="0">
                <a:sym typeface="+mn-ea"/>
              </a:rPr>
              <a:t>线性变换</a:t>
            </a:r>
            <a:endParaRPr lang="zh-CN" altLang="en-US" sz="3200" dirty="0"/>
          </a:p>
        </p:txBody>
      </p:sp>
      <p:sp>
        <p:nvSpPr>
          <p:cNvPr id="6" name="文本框 3"/>
          <p:cNvSpPr txBox="1"/>
          <p:nvPr/>
        </p:nvSpPr>
        <p:spPr>
          <a:xfrm>
            <a:off x="593884" y="1459230"/>
            <a:ext cx="51435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>
                <a:latin typeface="+mn-ea"/>
                <a:cs typeface="仿宋" panose="02010609060101010101" charset="-122"/>
              </a:rPr>
              <a:t>2 按矩阵分类的线性变换</a:t>
            </a:r>
          </a:p>
        </p:txBody>
      </p:sp>
      <p:sp>
        <p:nvSpPr>
          <p:cNvPr id="7" name="文本框 4"/>
          <p:cNvSpPr txBox="1"/>
          <p:nvPr/>
        </p:nvSpPr>
        <p:spPr>
          <a:xfrm>
            <a:off x="797763" y="1988840"/>
            <a:ext cx="7446645" cy="1124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  <a:cs typeface="仿宋" panose="02010609060101010101" charset="-122"/>
              </a:rPr>
              <a:t>n阶矩阵A通过线性变换把n维向量X变换为n维向量Y：Y=AX。按A不同进行分类。</a:t>
            </a:r>
            <a:endParaRPr lang="zh-CN" altLang="en-US" dirty="0">
              <a:latin typeface="+mn-ea"/>
            </a:endParaRPr>
          </a:p>
        </p:txBody>
      </p:sp>
      <p:sp>
        <p:nvSpPr>
          <p:cNvPr id="8" name="文本框 5"/>
          <p:cNvSpPr txBox="1"/>
          <p:nvPr/>
        </p:nvSpPr>
        <p:spPr>
          <a:xfrm>
            <a:off x="593249" y="3375660"/>
            <a:ext cx="844042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  <a:cs typeface="仿宋" panose="02010609060101010101" charset="-122"/>
              </a:rPr>
              <a:t>（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1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）设A为可逆矩阵，线性变换Y=AX称为可逆线性变换。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+mn-ea"/>
                <a:cs typeface="仿宋" panose="02010609060101010101" charset="-122"/>
              </a:rPr>
              <a:t>问题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  <a:cs typeface="仿宋" panose="02010609060101010101" charset="-122"/>
              </a:rPr>
              <a:t>6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  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可逆线性变换的逆变换对应的矩阵是A</a:t>
            </a:r>
            <a:r>
              <a:rPr lang="zh-CN" altLang="en-US" sz="2400" baseline="30000" dirty="0">
                <a:latin typeface="+mn-ea"/>
                <a:cs typeface="仿宋" panose="02010609060101010101" charset="-122"/>
              </a:rPr>
              <a:t>-1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吗？ 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  <a:cs typeface="仿宋" panose="02010609060101010101" charset="-122"/>
              </a:rPr>
              <a:t>（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2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）若n阶矩阵A满足 AA</a:t>
            </a:r>
            <a:r>
              <a:rPr lang="zh-CN" altLang="en-US" sz="2000" dirty="0">
                <a:latin typeface="+mn-ea"/>
                <a:cs typeface="仿宋" panose="02010609060101010101" charset="-122"/>
              </a:rPr>
              <a:t>T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=I，则A称为正交矩阵。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  <a:cs typeface="仿宋" panose="02010609060101010101" charset="-122"/>
              </a:rPr>
              <a:t>（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3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）线性变换Y=AX称为正交变换，其中A是正交矩阵。</a:t>
            </a:r>
          </a:p>
        </p:txBody>
      </p:sp>
      <p:sp>
        <p:nvSpPr>
          <p:cNvPr id="9" name="直角三角形 8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直角三角形 10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2033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524439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dirty="0"/>
              <a:t>三、</a:t>
            </a:r>
            <a:r>
              <a:rPr lang="zh-CN" altLang="en-US" sz="3200" dirty="0">
                <a:sym typeface="+mn-ea"/>
              </a:rPr>
              <a:t>线性变换</a:t>
            </a:r>
            <a:endParaRPr lang="zh-CN" altLang="en-US" sz="3200" dirty="0"/>
          </a:p>
        </p:txBody>
      </p:sp>
      <p:sp>
        <p:nvSpPr>
          <p:cNvPr id="9" name="文本框 3"/>
          <p:cNvSpPr txBox="1"/>
          <p:nvPr/>
        </p:nvSpPr>
        <p:spPr>
          <a:xfrm>
            <a:off x="612140" y="1116965"/>
            <a:ext cx="8279765" cy="23083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400" b="1" dirty="0">
                <a:latin typeface="+mn-ea"/>
                <a:cs typeface="仿宋" panose="02010609060101010101" charset="-122"/>
              </a:rPr>
              <a:t>定理</a:t>
            </a:r>
            <a:r>
              <a:rPr lang="en-US" altLang="zh-CN" sz="2400" b="1" dirty="0">
                <a:latin typeface="+mn-ea"/>
                <a:cs typeface="仿宋" panose="02010609060101010101" charset="-122"/>
              </a:rPr>
              <a:t>3.</a:t>
            </a:r>
            <a:r>
              <a:rPr lang="zh-CN" sz="2400" b="1" dirty="0">
                <a:latin typeface="+mn-ea"/>
                <a:cs typeface="仿宋" panose="02010609060101010101" charset="-122"/>
              </a:rPr>
              <a:t>3</a:t>
            </a:r>
            <a:r>
              <a:rPr lang="zh-CN" altLang="en-US" sz="2400" b="1" dirty="0">
                <a:latin typeface="+mn-ea"/>
                <a:cs typeface="仿宋" panose="02010609060101010101" charset="-122"/>
              </a:rPr>
              <a:t> 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设A为正交变换，则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  <a:cs typeface="仿宋" panose="02010609060101010101" charset="-122"/>
              </a:rPr>
              <a:t>	正交变换保持向量的长度；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  <a:cs typeface="仿宋" panose="02010609060101010101" charset="-122"/>
              </a:rPr>
              <a:t>	正交变换保持两个向量的夹角；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  <a:cs typeface="仿宋" panose="02010609060101010101" charset="-122"/>
              </a:rPr>
              <a:t>	正交变换保持两个向量的内积。      </a:t>
            </a:r>
            <a:r>
              <a:rPr lang="zh-CN" altLang="en-US" sz="2400" dirty="0">
                <a:latin typeface="+mn-ea"/>
              </a:rPr>
              <a:t> </a:t>
            </a:r>
          </a:p>
        </p:txBody>
      </p:sp>
      <p:sp>
        <p:nvSpPr>
          <p:cNvPr id="11" name="文本框 4"/>
          <p:cNvSpPr txBox="1"/>
          <p:nvPr/>
        </p:nvSpPr>
        <p:spPr>
          <a:xfrm>
            <a:off x="557551" y="3490924"/>
            <a:ext cx="8340090" cy="23083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400" b="1" dirty="0">
                <a:latin typeface="+mn-ea"/>
                <a:cs typeface="仿宋" panose="02010609060101010101" charset="-122"/>
                <a:sym typeface="+mn-ea"/>
              </a:rPr>
              <a:t>证明</a:t>
            </a:r>
            <a:r>
              <a:rPr lang="zh-CN" altLang="en-US" sz="2400" dirty="0">
                <a:latin typeface="+mn-ea"/>
                <a:cs typeface="仿宋" panose="02010609060101010101" charset="-122"/>
                <a:sym typeface="+mn-ea"/>
              </a:rPr>
              <a:t> （1）设Y=AX，其中A为正交变换，</a:t>
            </a:r>
            <a:endParaRPr lang="zh-CN" altLang="en-US" sz="2400" dirty="0">
              <a:latin typeface="+mn-ea"/>
              <a:cs typeface="仿宋" panose="0201060906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  <a:cs typeface="仿宋" panose="02010609060101010101" charset="-122"/>
                <a:sym typeface="+mn-ea"/>
              </a:rPr>
              <a:t>|Y|</a:t>
            </a:r>
            <a:r>
              <a:rPr lang="zh-CN" altLang="en-US" sz="2400" baseline="30000" dirty="0">
                <a:latin typeface="+mn-ea"/>
                <a:cs typeface="仿宋" panose="02010609060101010101" charset="-122"/>
                <a:sym typeface="+mn-ea"/>
              </a:rPr>
              <a:t>2</a:t>
            </a:r>
            <a:r>
              <a:rPr lang="zh-CN" altLang="en-US" sz="2400" dirty="0">
                <a:latin typeface="+mn-ea"/>
                <a:cs typeface="仿宋" panose="02010609060101010101" charset="-122"/>
                <a:sym typeface="+mn-ea"/>
              </a:rPr>
              <a:t>=(Y,Y)=(AX,AX)=XA</a:t>
            </a:r>
            <a:r>
              <a:rPr lang="zh-CN" altLang="en-US" sz="2400" baseline="30000" dirty="0">
                <a:latin typeface="+mn-ea"/>
                <a:cs typeface="仿宋" panose="02010609060101010101" charset="-122"/>
                <a:sym typeface="+mn-ea"/>
              </a:rPr>
              <a:t>T</a:t>
            </a:r>
            <a:r>
              <a:rPr lang="zh-CN" altLang="en-US" sz="2400" dirty="0">
                <a:latin typeface="+mn-ea"/>
                <a:cs typeface="仿宋" panose="02010609060101010101" charset="-122"/>
                <a:sym typeface="+mn-ea"/>
              </a:rPr>
              <a:t> AX=X</a:t>
            </a:r>
            <a:r>
              <a:rPr lang="zh-CN" altLang="en-US" sz="2400" baseline="30000" dirty="0">
                <a:latin typeface="+mn-ea"/>
                <a:cs typeface="仿宋" panose="02010609060101010101" charset="-122"/>
                <a:sym typeface="+mn-ea"/>
              </a:rPr>
              <a:t>T</a:t>
            </a:r>
            <a:r>
              <a:rPr lang="zh-CN" altLang="en-US" sz="2400" dirty="0">
                <a:latin typeface="+mn-ea"/>
                <a:cs typeface="仿宋" panose="02010609060101010101" charset="-122"/>
                <a:sym typeface="+mn-ea"/>
              </a:rPr>
              <a:t>X=(X,X)=|X|</a:t>
            </a:r>
            <a:r>
              <a:rPr lang="zh-CN" altLang="en-US" sz="2400" baseline="30000" dirty="0">
                <a:latin typeface="+mn-ea"/>
                <a:cs typeface="仿宋" panose="02010609060101010101" charset="-122"/>
                <a:sym typeface="+mn-ea"/>
              </a:rPr>
              <a:t>2</a:t>
            </a:r>
            <a:endParaRPr lang="zh-CN" altLang="en-US" sz="2400" dirty="0">
              <a:latin typeface="+mn-ea"/>
              <a:cs typeface="仿宋" panose="0201060906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  <a:cs typeface="仿宋" panose="02010609060101010101" charset="-122"/>
                <a:sym typeface="+mn-ea"/>
              </a:rPr>
              <a:t> 所以 |Y|=|X|。</a:t>
            </a:r>
            <a:endParaRPr lang="zh-CN" altLang="en-US" sz="2400" dirty="0">
              <a:latin typeface="+mn-ea"/>
              <a:cs typeface="仿宋" panose="0201060906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  <a:cs typeface="仿宋" panose="02010609060101010101" charset="-122"/>
                <a:sym typeface="+mn-ea"/>
              </a:rPr>
              <a:t>（2）和（</a:t>
            </a:r>
            <a:r>
              <a:rPr lang="en-US" altLang="zh-CN" sz="2400" dirty="0">
                <a:latin typeface="+mn-ea"/>
                <a:cs typeface="仿宋" panose="02010609060101010101" charset="-122"/>
                <a:sym typeface="+mn-ea"/>
              </a:rPr>
              <a:t>3</a:t>
            </a:r>
            <a:r>
              <a:rPr lang="zh-CN" altLang="en-US" sz="2400" dirty="0">
                <a:latin typeface="+mn-ea"/>
                <a:cs typeface="仿宋" panose="02010609060101010101" charset="-122"/>
                <a:sym typeface="+mn-ea"/>
              </a:rPr>
              <a:t>）自己证明。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580156" y="5657671"/>
            <a:ext cx="7597775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400" b="1" dirty="0">
                <a:solidFill>
                  <a:srgbClr val="0000CC"/>
                </a:solidFill>
                <a:latin typeface="+mn-ea"/>
                <a:cs typeface="仿宋" panose="02010609060101010101" charset="-122"/>
                <a:sym typeface="+mn-ea"/>
              </a:rPr>
              <a:t>问题</a:t>
            </a:r>
            <a:r>
              <a:rPr lang="en-US" altLang="zh-CN" sz="2400" b="1" dirty="0">
                <a:solidFill>
                  <a:srgbClr val="0000CC"/>
                </a:solidFill>
                <a:latin typeface="+mn-ea"/>
                <a:cs typeface="仿宋" panose="02010609060101010101" charset="-122"/>
                <a:sym typeface="+mn-ea"/>
              </a:rPr>
              <a:t>7</a:t>
            </a:r>
            <a:r>
              <a:rPr lang="zh-CN" altLang="en-US" sz="2400" dirty="0">
                <a:latin typeface="+mn-ea"/>
                <a:cs typeface="仿宋" panose="02010609060101010101" charset="-122"/>
                <a:sym typeface="+mn-ea"/>
              </a:rPr>
              <a:t> 一个二维或三维图形，经过正交变换后的图形的形状变不变？ </a:t>
            </a:r>
            <a:endParaRPr lang="zh-CN" altLang="en-US" dirty="0">
              <a:latin typeface="+mn-ea"/>
            </a:endParaRPr>
          </a:p>
        </p:txBody>
      </p:sp>
      <p:sp>
        <p:nvSpPr>
          <p:cNvPr id="6" name="直角三角形 5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直角三角形 6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3086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524439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dirty="0"/>
              <a:t>三、</a:t>
            </a:r>
            <a:r>
              <a:rPr lang="zh-CN" altLang="en-US" sz="3200" dirty="0">
                <a:sym typeface="+mn-ea"/>
              </a:rPr>
              <a:t>线性变换</a:t>
            </a:r>
            <a:endParaRPr lang="zh-CN" altLang="en-US" sz="3200" dirty="0"/>
          </a:p>
        </p:txBody>
      </p:sp>
      <p:sp>
        <p:nvSpPr>
          <p:cNvPr id="9" name="文本框 3"/>
          <p:cNvSpPr txBox="1"/>
          <p:nvPr/>
        </p:nvSpPr>
        <p:spPr>
          <a:xfrm>
            <a:off x="612140" y="1116965"/>
            <a:ext cx="8279765" cy="11350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  <a:cs typeface="仿宋" panose="02010609060101010101" charset="-122"/>
              </a:rPr>
              <a:t>定义</a:t>
            </a:r>
            <a:r>
              <a:rPr lang="en-US" altLang="zh-CN" sz="2400" b="1" dirty="0">
                <a:latin typeface="+mn-ea"/>
                <a:cs typeface="仿宋" panose="02010609060101010101" charset="-122"/>
              </a:rPr>
              <a:t>3.3.7 </a:t>
            </a:r>
            <a:r>
              <a:rPr lang="zh-CN" altLang="en-US" sz="2400" b="1" dirty="0">
                <a:latin typeface="+mn-ea"/>
                <a:cs typeface="仿宋" panose="02010609060101010101" charset="-122"/>
              </a:rPr>
              <a:t>函数                                （其中</a:t>
            </a:r>
            <a:r>
              <a:rPr lang="en-US" altLang="zh-CN" sz="2400" b="1" dirty="0" err="1">
                <a:latin typeface="+mn-ea"/>
                <a:cs typeface="仿宋" panose="02010609060101010101" charset="-122"/>
              </a:rPr>
              <a:t>a,b,c</a:t>
            </a:r>
            <a:r>
              <a:rPr lang="zh-CN" altLang="en-US" sz="2400" b="1" dirty="0">
                <a:latin typeface="+mn-ea"/>
                <a:cs typeface="仿宋" panose="02010609060101010101" charset="-122"/>
              </a:rPr>
              <a:t>为不全为零的常数）称为二元二次齐次函数。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2" name="文本框 7"/>
          <p:cNvSpPr txBox="1"/>
          <p:nvPr/>
        </p:nvSpPr>
        <p:spPr>
          <a:xfrm>
            <a:off x="580155" y="2372621"/>
            <a:ext cx="7597775" cy="5810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CC"/>
                </a:solidFill>
                <a:latin typeface="+mn-ea"/>
                <a:cs typeface="仿宋" panose="02010609060101010101" charset="-122"/>
                <a:sym typeface="+mn-ea"/>
              </a:rPr>
              <a:t>二次齐次函数可以表示为</a:t>
            </a:r>
            <a:endParaRPr lang="zh-CN" altLang="en-US" dirty="0">
              <a:latin typeface="+mn-ea"/>
            </a:endParaRPr>
          </a:p>
        </p:txBody>
      </p:sp>
      <p:sp>
        <p:nvSpPr>
          <p:cNvPr id="6" name="直角三角形 5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直角三角形 6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1">
            <a:extLst>
              <a:ext uri="{FF2B5EF4-FFF2-40B4-BE49-F238E27FC236}">
                <a16:creationId xmlns:a16="http://schemas.microsoft.com/office/drawing/2014/main" id="{797F430A-24B6-4773-8EC8-4005F37CF8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8646672"/>
              </p:ext>
            </p:extLst>
          </p:nvPr>
        </p:nvGraphicFramePr>
        <p:xfrm>
          <a:off x="2971724" y="1178278"/>
          <a:ext cx="2814638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600" imgH="228600" progId="Equation.DSMT4">
                  <p:embed/>
                </p:oleObj>
              </mc:Choice>
              <mc:Fallback>
                <p:oleObj name="Equation" r:id="rId2" imgW="1155600" imgH="228600" progId="Equation.DSMT4">
                  <p:embed/>
                  <p:pic>
                    <p:nvPicPr>
                      <p:cNvPr id="3075" name="对象 1">
                        <a:extLst>
                          <a:ext uri="{FF2B5EF4-FFF2-40B4-BE49-F238E27FC236}">
                            <a16:creationId xmlns:a16="http://schemas.microsoft.com/office/drawing/2014/main" id="{94CD9CAE-ABA2-45C4-83BF-5616E20213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724" y="1178278"/>
                        <a:ext cx="2814638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">
            <a:extLst>
              <a:ext uri="{FF2B5EF4-FFF2-40B4-BE49-F238E27FC236}">
                <a16:creationId xmlns:a16="http://schemas.microsoft.com/office/drawing/2014/main" id="{1529BD88-CB11-4279-A374-E6B048FE9C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3853490"/>
              </p:ext>
            </p:extLst>
          </p:nvPr>
        </p:nvGraphicFramePr>
        <p:xfrm>
          <a:off x="1187624" y="3272470"/>
          <a:ext cx="5599113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98600" imgH="457200" progId="Equation.DSMT4">
                  <p:embed/>
                </p:oleObj>
              </mc:Choice>
              <mc:Fallback>
                <p:oleObj name="Equation" r:id="rId4" imgW="2298600" imgH="457200" progId="Equation.DSMT4">
                  <p:embed/>
                  <p:pic>
                    <p:nvPicPr>
                      <p:cNvPr id="8" name="对象 1">
                        <a:extLst>
                          <a:ext uri="{FF2B5EF4-FFF2-40B4-BE49-F238E27FC236}">
                            <a16:creationId xmlns:a16="http://schemas.microsoft.com/office/drawing/2014/main" id="{797F430A-24B6-4773-8EC8-4005F37CF8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3272470"/>
                        <a:ext cx="5599113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7">
            <a:extLst>
              <a:ext uri="{FF2B5EF4-FFF2-40B4-BE49-F238E27FC236}">
                <a16:creationId xmlns:a16="http://schemas.microsoft.com/office/drawing/2014/main" id="{991DA425-08BA-4D2B-A47E-92D61EAA96FF}"/>
              </a:ext>
            </a:extLst>
          </p:cNvPr>
          <p:cNvSpPr txBox="1"/>
          <p:nvPr/>
        </p:nvSpPr>
        <p:spPr>
          <a:xfrm>
            <a:off x="395537" y="4616576"/>
            <a:ext cx="4176464" cy="5810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CC"/>
                </a:solidFill>
                <a:latin typeface="+mn-ea"/>
                <a:cs typeface="仿宋" panose="02010609060101010101" charset="-122"/>
                <a:sym typeface="+mn-ea"/>
              </a:rPr>
              <a:t>其中</a:t>
            </a:r>
            <a:endParaRPr lang="zh-CN" altLang="en-US" dirty="0">
              <a:latin typeface="+mn-ea"/>
            </a:endParaRPr>
          </a:p>
        </p:txBody>
      </p:sp>
      <p:graphicFrame>
        <p:nvGraphicFramePr>
          <p:cNvPr id="15" name="对象 1">
            <a:extLst>
              <a:ext uri="{FF2B5EF4-FFF2-40B4-BE49-F238E27FC236}">
                <a16:creationId xmlns:a16="http://schemas.microsoft.com/office/drawing/2014/main" id="{D0E0A89E-07B6-4F70-BD65-E4CECC94B2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4189551"/>
              </p:ext>
            </p:extLst>
          </p:nvPr>
        </p:nvGraphicFramePr>
        <p:xfrm>
          <a:off x="1763688" y="4907104"/>
          <a:ext cx="3897313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00200" imgH="457200" progId="Equation.DSMT4">
                  <p:embed/>
                </p:oleObj>
              </mc:Choice>
              <mc:Fallback>
                <p:oleObj name="Equation" r:id="rId6" imgW="1600200" imgH="457200" progId="Equation.DSMT4">
                  <p:embed/>
                  <p:pic>
                    <p:nvPicPr>
                      <p:cNvPr id="13" name="对象 1">
                        <a:extLst>
                          <a:ext uri="{FF2B5EF4-FFF2-40B4-BE49-F238E27FC236}">
                            <a16:creationId xmlns:a16="http://schemas.microsoft.com/office/drawing/2014/main" id="{1529BD88-CB11-4279-A374-E6B048FE9C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4907104"/>
                        <a:ext cx="3897313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38395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461391" y="22904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dirty="0"/>
              <a:t>三、</a:t>
            </a:r>
            <a:r>
              <a:rPr lang="zh-CN" altLang="en-US" sz="3200" dirty="0">
                <a:sym typeface="+mn-ea"/>
              </a:rPr>
              <a:t>线性变换</a:t>
            </a:r>
            <a:endParaRPr lang="zh-CN" altLang="en-US" sz="3200" dirty="0"/>
          </a:p>
        </p:txBody>
      </p:sp>
      <p:sp>
        <p:nvSpPr>
          <p:cNvPr id="9" name="文本框 1"/>
          <p:cNvSpPr txBox="1"/>
          <p:nvPr/>
        </p:nvSpPr>
        <p:spPr>
          <a:xfrm>
            <a:off x="406400" y="981329"/>
            <a:ext cx="68789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>
                <a:latin typeface="+mn-ea"/>
                <a:cs typeface="仿宋" panose="02010609060101010101" charset="-122"/>
              </a:rPr>
              <a:t>辩证唯物主义方法论——</a:t>
            </a:r>
            <a:r>
              <a:rPr lang="zh-CN" altLang="en-US" sz="2400" b="1" dirty="0">
                <a:latin typeface="+mn-ea"/>
                <a:cs typeface="仿宋" panose="02010609060101010101" charset="-122"/>
              </a:rPr>
              <a:t>延拓与类比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419000" y="1528465"/>
            <a:ext cx="71882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>
                <a:latin typeface="+mn-ea"/>
                <a:cs typeface="仿宋" panose="02010609060101010101" charset="-122"/>
              </a:rPr>
              <a:t>（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1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）函数：把定义域集合中的元素逐步延拓</a:t>
            </a:r>
          </a:p>
        </p:txBody>
      </p:sp>
      <p:sp>
        <p:nvSpPr>
          <p:cNvPr id="13" name="文本框 8"/>
          <p:cNvSpPr txBox="1"/>
          <p:nvPr/>
        </p:nvSpPr>
        <p:spPr>
          <a:xfrm>
            <a:off x="461391" y="2351401"/>
            <a:ext cx="7776864" cy="26776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>
                <a:latin typeface="+mn-ea"/>
                <a:cs typeface="仿宋" panose="02010609060101010101" charset="-122"/>
              </a:rPr>
              <a:t>（</a:t>
            </a:r>
            <a:r>
              <a:rPr lang="en-US" altLang="zh-CN" sz="2400" dirty="0" err="1">
                <a:latin typeface="+mn-ea"/>
                <a:cs typeface="仿宋" panose="02010609060101010101" charset="-122"/>
              </a:rPr>
              <a:t>i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）当元素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x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为数时，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y=f(x),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其中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f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称为一元函数。</a:t>
            </a:r>
            <a:endParaRPr lang="en-US" altLang="zh-CN" sz="2400" dirty="0">
              <a:latin typeface="+mn-ea"/>
              <a:cs typeface="仿宋" panose="02010609060101010101" charset="-122"/>
            </a:endParaRPr>
          </a:p>
          <a:p>
            <a:r>
              <a:rPr lang="en-US" altLang="zh-CN" sz="2400" dirty="0">
                <a:latin typeface="+mn-ea"/>
                <a:cs typeface="仿宋" panose="02010609060101010101" charset="-122"/>
              </a:rPr>
              <a:t>(ii) 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当元素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X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为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n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维向量时，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y=f(X),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其中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f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称为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n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元函数。</a:t>
            </a:r>
            <a:endParaRPr lang="en-US" altLang="zh-CN" sz="2400" dirty="0">
              <a:latin typeface="+mn-ea"/>
              <a:cs typeface="仿宋" panose="02010609060101010101" charset="-122"/>
            </a:endParaRPr>
          </a:p>
          <a:p>
            <a:r>
              <a:rPr lang="en-US" altLang="zh-CN" sz="2400" dirty="0">
                <a:latin typeface="+mn-ea"/>
                <a:cs typeface="仿宋" panose="02010609060101010101" charset="-122"/>
              </a:rPr>
              <a:t>(iii) 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当元素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A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为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n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阶矩阵时，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y=f(A),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其中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f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将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n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阶矩阵对应到实数集合。</a:t>
            </a:r>
            <a:endParaRPr lang="en-US" altLang="zh-CN" sz="2400" dirty="0">
              <a:latin typeface="+mn-ea"/>
              <a:cs typeface="仿宋" panose="02010609060101010101" charset="-122"/>
            </a:endParaRPr>
          </a:p>
          <a:p>
            <a:r>
              <a:rPr lang="zh-CN" altLang="en-US" sz="2400" dirty="0">
                <a:latin typeface="+mn-ea"/>
                <a:cs typeface="仿宋" panose="02010609060101010101" charset="-122"/>
              </a:rPr>
              <a:t>例如，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f(A)=|A|.</a:t>
            </a:r>
          </a:p>
          <a:p>
            <a:endParaRPr lang="en-US" altLang="zh-CN" sz="2400" dirty="0">
              <a:latin typeface="+mn-ea"/>
              <a:cs typeface="仿宋" panose="02010609060101010101" charset="-122"/>
            </a:endParaRPr>
          </a:p>
          <a:p>
            <a:endParaRPr lang="zh-CN" altLang="en-US" sz="2400" dirty="0">
              <a:latin typeface="+mn-ea"/>
              <a:cs typeface="仿宋" panose="02010609060101010101" charset="-122"/>
            </a:endParaRPr>
          </a:p>
        </p:txBody>
      </p:sp>
      <p:sp>
        <p:nvSpPr>
          <p:cNvPr id="7" name="直角三角形 6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直角三角形 7"/>
          <p:cNvSpPr/>
          <p:nvPr/>
        </p:nvSpPr>
        <p:spPr>
          <a:xfrm rot="16200000">
            <a:off x="8130760" y="583208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0794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461391" y="22904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dirty="0"/>
              <a:t>三、</a:t>
            </a:r>
            <a:r>
              <a:rPr lang="zh-CN" altLang="en-US" sz="3200" dirty="0">
                <a:sym typeface="+mn-ea"/>
              </a:rPr>
              <a:t>线性变换</a:t>
            </a:r>
            <a:endParaRPr lang="zh-CN" altLang="en-US" sz="32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583" y="1913358"/>
            <a:ext cx="4715857" cy="4035922"/>
          </a:xfrm>
          <a:prstGeom prst="rect">
            <a:avLst/>
          </a:prstGeom>
        </p:spPr>
      </p:pic>
      <p:sp>
        <p:nvSpPr>
          <p:cNvPr id="13" name="文本框 8"/>
          <p:cNvSpPr txBox="1"/>
          <p:nvPr/>
        </p:nvSpPr>
        <p:spPr>
          <a:xfrm>
            <a:off x="461391" y="1412776"/>
            <a:ext cx="7776864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>
                <a:latin typeface="+mn-ea"/>
                <a:cs typeface="仿宋" panose="02010609060101010101" charset="-122"/>
              </a:rPr>
              <a:t>（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2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）变换：值域中元素类比定义域中元素的方法延拓</a:t>
            </a:r>
          </a:p>
        </p:txBody>
      </p:sp>
      <p:sp>
        <p:nvSpPr>
          <p:cNvPr id="7" name="直角三角形 6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直角三角形 7"/>
          <p:cNvSpPr/>
          <p:nvPr/>
        </p:nvSpPr>
        <p:spPr>
          <a:xfrm rot="16200000">
            <a:off x="8196615" y="511200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1851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461391" y="22904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dirty="0"/>
              <a:t>三、</a:t>
            </a:r>
            <a:r>
              <a:rPr lang="zh-CN" altLang="en-US" sz="3200" dirty="0">
                <a:sym typeface="+mn-ea"/>
              </a:rPr>
              <a:t>线性变换</a:t>
            </a:r>
            <a:endParaRPr lang="zh-CN" altLang="en-US" sz="3200" dirty="0"/>
          </a:p>
        </p:txBody>
      </p:sp>
      <p:sp>
        <p:nvSpPr>
          <p:cNvPr id="13" name="文本框 8"/>
          <p:cNvSpPr txBox="1"/>
          <p:nvPr/>
        </p:nvSpPr>
        <p:spPr>
          <a:xfrm>
            <a:off x="431721" y="935071"/>
            <a:ext cx="7776864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>
                <a:latin typeface="+mn-ea"/>
                <a:cs typeface="仿宋" panose="02010609060101010101" charset="-122"/>
              </a:rPr>
              <a:t>（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2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）变换：值域中元素类比定义域中元素的方法延拓</a:t>
            </a:r>
          </a:p>
        </p:txBody>
      </p:sp>
      <p:sp>
        <p:nvSpPr>
          <p:cNvPr id="7" name="直角三角形 6"/>
          <p:cNvSpPr/>
          <p:nvPr/>
        </p:nvSpPr>
        <p:spPr>
          <a:xfrm>
            <a:off x="0" y="5873377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直角三角形 7"/>
          <p:cNvSpPr/>
          <p:nvPr/>
        </p:nvSpPr>
        <p:spPr>
          <a:xfrm rot="16200000">
            <a:off x="8196615" y="5112004"/>
            <a:ext cx="1025211" cy="1001270"/>
          </a:xfrm>
          <a:prstGeom prst="rtTriangle">
            <a:avLst/>
          </a:prstGeom>
          <a:gradFill>
            <a:gsLst>
              <a:gs pos="0">
                <a:srgbClr val="326698"/>
              </a:gs>
              <a:gs pos="100000">
                <a:srgbClr val="66CDCC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AF5A9EC-CC65-4324-A22A-D0CDA886ECF4}"/>
              </a:ext>
            </a:extLst>
          </p:cNvPr>
          <p:cNvSpPr txBox="1"/>
          <p:nvPr/>
        </p:nvSpPr>
        <p:spPr>
          <a:xfrm>
            <a:off x="323528" y="1527134"/>
            <a:ext cx="7776864" cy="15696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>
                <a:latin typeface="+mn-ea"/>
                <a:cs typeface="仿宋" panose="02010609060101010101" charset="-122"/>
              </a:rPr>
              <a:t>（</a:t>
            </a:r>
            <a:r>
              <a:rPr lang="en-US" altLang="zh-CN" sz="2400" dirty="0" err="1">
                <a:latin typeface="+mn-ea"/>
                <a:cs typeface="仿宋" panose="02010609060101010101" charset="-122"/>
              </a:rPr>
              <a:t>i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）当元素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X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为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n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维向量时，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Y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也是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n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维向量：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Y=f(X).</a:t>
            </a:r>
          </a:p>
          <a:p>
            <a:r>
              <a:rPr lang="zh-CN" altLang="en-US" sz="2400" dirty="0">
                <a:latin typeface="+mn-ea"/>
                <a:cs typeface="仿宋" panose="02010609060101010101" charset="-122"/>
              </a:rPr>
              <a:t>例如，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Y=AX;</a:t>
            </a:r>
            <a:r>
              <a:rPr lang="en-US" altLang="zh-CN" sz="2400" dirty="0">
                <a:latin typeface="+mn-ea"/>
                <a:cs typeface="仿宋" panose="02010609060101010101" charset="-122"/>
                <a:sym typeface="Symbol" panose="05050102010706020507" pitchFamily="18" charset="2"/>
              </a:rPr>
              <a:t>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X=AX, 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其中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A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为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n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阶矩阵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.</a:t>
            </a:r>
          </a:p>
          <a:p>
            <a:r>
              <a:rPr lang="en-US" altLang="zh-CN" sz="2400" dirty="0">
                <a:latin typeface="+mn-ea"/>
                <a:cs typeface="仿宋" panose="02010609060101010101" charset="-122"/>
              </a:rPr>
              <a:t>(ii) 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当元素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X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为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n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阶矩阵时，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Y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是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n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维向量，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Y=f(X).</a:t>
            </a:r>
          </a:p>
          <a:p>
            <a:r>
              <a:rPr lang="zh-CN" altLang="en-US" sz="2400" dirty="0">
                <a:latin typeface="+mn-ea"/>
                <a:cs typeface="仿宋" panose="02010609060101010101" charset="-122"/>
              </a:rPr>
              <a:t>例如，</a:t>
            </a:r>
          </a:p>
        </p:txBody>
      </p:sp>
      <p:graphicFrame>
        <p:nvGraphicFramePr>
          <p:cNvPr id="12" name="对象 1">
            <a:extLst>
              <a:ext uri="{FF2B5EF4-FFF2-40B4-BE49-F238E27FC236}">
                <a16:creationId xmlns:a16="http://schemas.microsoft.com/office/drawing/2014/main" id="{31B13EEB-615D-4249-9CF5-BA5D8648DA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7930188"/>
              </p:ext>
            </p:extLst>
          </p:nvPr>
        </p:nvGraphicFramePr>
        <p:xfrm>
          <a:off x="1547664" y="2708920"/>
          <a:ext cx="2195512" cy="229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01440" imgH="939600" progId="Equation.DSMT4">
                  <p:embed/>
                </p:oleObj>
              </mc:Choice>
              <mc:Fallback>
                <p:oleObj name="Equation" r:id="rId2" imgW="901440" imgH="939600" progId="Equation.DSMT4">
                  <p:embed/>
                  <p:pic>
                    <p:nvPicPr>
                      <p:cNvPr id="15" name="对象 1">
                        <a:extLst>
                          <a:ext uri="{FF2B5EF4-FFF2-40B4-BE49-F238E27FC236}">
                            <a16:creationId xmlns:a16="http://schemas.microsoft.com/office/drawing/2014/main" id="{D0E0A89E-07B6-4F70-BD65-E4CECC94B2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2708920"/>
                        <a:ext cx="2195512" cy="2290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2AFAD9B5-1977-4DF1-B47F-9DEE54753B81}"/>
              </a:ext>
            </a:extLst>
          </p:cNvPr>
          <p:cNvSpPr txBox="1"/>
          <p:nvPr/>
        </p:nvSpPr>
        <p:spPr>
          <a:xfrm>
            <a:off x="411143" y="4999683"/>
            <a:ext cx="7776864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dirty="0">
                <a:latin typeface="+mn-ea"/>
                <a:cs typeface="仿宋" panose="02010609060101010101" charset="-122"/>
              </a:rPr>
              <a:t>(iii) 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当元素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X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为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n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阶矩阵，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Y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也是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n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阶矩阵时，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B=f(A).</a:t>
            </a:r>
          </a:p>
          <a:p>
            <a:r>
              <a:rPr lang="zh-CN" altLang="en-US" sz="2400" dirty="0">
                <a:latin typeface="+mn-ea"/>
                <a:cs typeface="仿宋" panose="02010609060101010101" charset="-122"/>
              </a:rPr>
              <a:t>例如，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B=RA, 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其中</a:t>
            </a:r>
            <a:r>
              <a:rPr lang="en-US" altLang="zh-CN" sz="2400" dirty="0">
                <a:latin typeface="+mn-ea"/>
                <a:cs typeface="仿宋" panose="02010609060101010101" charset="-122"/>
              </a:rPr>
              <a:t>R</a:t>
            </a:r>
            <a:r>
              <a:rPr lang="zh-CN" altLang="en-US" sz="2400" dirty="0">
                <a:latin typeface="+mn-ea"/>
                <a:cs typeface="仿宋" panose="02010609060101010101" charset="-122"/>
              </a:rPr>
              <a:t>是初等矩阵。</a:t>
            </a:r>
          </a:p>
        </p:txBody>
      </p:sp>
    </p:spTree>
    <p:extLst>
      <p:ext uri="{BB962C8B-B14F-4D97-AF65-F5344CB8AC3E}">
        <p14:creationId xmlns:p14="http://schemas.microsoft.com/office/powerpoint/2010/main" val="3846515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9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00" name="日期占位符 1">
            <a:extLst>
              <a:ext uri="{FF2B5EF4-FFF2-40B4-BE49-F238E27FC236}">
                <a16:creationId xmlns:a16="http://schemas.microsoft.com/office/drawing/2014/main" id="{6A801C7C-3F56-4053-91BD-5440B142E04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B61472B-CC43-4B31-A44E-FBF469008081}" type="datetime3">
              <a:rPr lang="zh-CN" altLang="en-US" smtClean="0"/>
              <a:pPr eaLnBrk="1" hangingPunct="1"/>
              <a:t>2021年4月15日星期四</a:t>
            </a:fld>
            <a:endParaRPr lang="en-US" altLang="zh-CN"/>
          </a:p>
        </p:txBody>
      </p:sp>
      <p:sp>
        <p:nvSpPr>
          <p:cNvPr id="33801" name="页脚占位符 2">
            <a:extLst>
              <a:ext uri="{FF2B5EF4-FFF2-40B4-BE49-F238E27FC236}">
                <a16:creationId xmlns:a16="http://schemas.microsoft.com/office/drawing/2014/main" id="{FB285B5A-4CF5-4D71-AE63-C16089E6E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33802" name="灯片编号占位符 3">
            <a:extLst>
              <a:ext uri="{FF2B5EF4-FFF2-40B4-BE49-F238E27FC236}">
                <a16:creationId xmlns:a16="http://schemas.microsoft.com/office/drawing/2014/main" id="{14DDE4F1-D3CB-414D-962A-64F2489D7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63A4B3F-5D92-4671-AE67-83DE7930C721}" type="slidenum">
              <a:rPr lang="en-US" altLang="zh-CN"/>
              <a:pPr eaLnBrk="1" hangingPunct="1"/>
              <a:t>20</a:t>
            </a:fld>
            <a:endParaRPr lang="en-US" altLang="zh-CN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3CA05B22-1F43-409A-9C85-6A37193DC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81000"/>
            <a:ext cx="91440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76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400" b="1">
                <a:latin typeface="宋体" panose="02010600030101010101" pitchFamily="2" charset="-122"/>
              </a:rPr>
              <a:t>例</a:t>
            </a:r>
            <a:r>
              <a:rPr lang="en-US" altLang="zh-CN" sz="2400" b="1">
                <a:latin typeface="宋体" panose="02010600030101010101" pitchFamily="2" charset="-122"/>
              </a:rPr>
              <a:t>4.11</a:t>
            </a:r>
            <a:r>
              <a:rPr lang="en-US" altLang="zh-CN" sz="2400">
                <a:latin typeface="宋体" panose="02010600030101010101" pitchFamily="2" charset="-122"/>
              </a:rPr>
              <a:t>  </a:t>
            </a:r>
            <a:r>
              <a:rPr lang="zh-CN" altLang="en-US" sz="2400" b="1">
                <a:latin typeface="宋体" panose="02010600030101010101" pitchFamily="2" charset="-122"/>
              </a:rPr>
              <a:t>验证平面旋转变换</a:t>
            </a:r>
          </a:p>
          <a:p>
            <a:pPr algn="just"/>
            <a:r>
              <a:rPr lang="zh-CN" altLang="en-US" sz="2400" b="1">
                <a:latin typeface="宋体" panose="02010600030101010101" pitchFamily="2" charset="-122"/>
              </a:rPr>
              <a:t>        </a:t>
            </a:r>
          </a:p>
          <a:p>
            <a:pPr algn="just"/>
            <a:endParaRPr lang="zh-CN" altLang="en-US" sz="2400" b="1">
              <a:latin typeface="宋体" panose="02010600030101010101" pitchFamily="2" charset="-122"/>
            </a:endParaRPr>
          </a:p>
          <a:p>
            <a:pPr algn="just"/>
            <a:r>
              <a:rPr lang="zh-CN" altLang="en-US" sz="2400" b="1">
                <a:latin typeface="宋体" panose="02010600030101010101" pitchFamily="2" charset="-122"/>
              </a:rPr>
              <a:t>是正交变换。</a:t>
            </a:r>
          </a:p>
          <a:p>
            <a:endParaRPr lang="en-US" altLang="zh-CN" sz="2400" b="1">
              <a:latin typeface="宋体" panose="02010600030101010101" pitchFamily="2" charset="-122"/>
            </a:endParaRPr>
          </a:p>
        </p:txBody>
      </p:sp>
      <p:sp>
        <p:nvSpPr>
          <p:cNvPr id="37891" name="AutoShape 3">
            <a:extLst>
              <a:ext uri="{FF2B5EF4-FFF2-40B4-BE49-F238E27FC236}">
                <a16:creationId xmlns:a16="http://schemas.microsoft.com/office/drawing/2014/main" id="{D5C1ED57-37EC-482D-B93D-95F601A3733D}"/>
              </a:ext>
            </a:extLst>
          </p:cNvPr>
          <p:cNvSpPr>
            <a:spLocks/>
          </p:cNvSpPr>
          <p:nvPr/>
        </p:nvSpPr>
        <p:spPr bwMode="auto">
          <a:xfrm>
            <a:off x="4419600" y="457200"/>
            <a:ext cx="76200" cy="609600"/>
          </a:xfrm>
          <a:prstGeom prst="leftBrace">
            <a:avLst>
              <a:gd name="adj1" fmla="val 66667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805" name="Rectangle 4">
            <a:extLst>
              <a:ext uri="{FF2B5EF4-FFF2-40B4-BE49-F238E27FC236}">
                <a16:creationId xmlns:a16="http://schemas.microsoft.com/office/drawing/2014/main" id="{04AAECEC-B8B8-4359-B049-E49D2C0EF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11538"/>
            <a:ext cx="9144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endParaRPr lang="en-US" altLang="zh-CN"/>
          </a:p>
        </p:txBody>
      </p:sp>
      <p:graphicFrame>
        <p:nvGraphicFramePr>
          <p:cNvPr id="37893" name="Object 5">
            <a:extLst>
              <a:ext uri="{FF2B5EF4-FFF2-40B4-BE49-F238E27FC236}">
                <a16:creationId xmlns:a16="http://schemas.microsoft.com/office/drawing/2014/main" id="{FCB20B64-2F91-492F-B3CB-0351A5183A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333375"/>
          <a:ext cx="2895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07532" imgH="203112" progId="Equation.3">
                  <p:embed/>
                </p:oleObj>
              </mc:Choice>
              <mc:Fallback>
                <p:oleObj r:id="rId2" imgW="1307532" imgH="203112" progId="Equation.3">
                  <p:embed/>
                  <p:pic>
                    <p:nvPicPr>
                      <p:cNvPr id="37893" name="Object 5">
                        <a:extLst>
                          <a:ext uri="{FF2B5EF4-FFF2-40B4-BE49-F238E27FC236}">
                            <a16:creationId xmlns:a16="http://schemas.microsoft.com/office/drawing/2014/main" id="{FCB20B64-2F91-492F-B3CB-0351A5183A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33375"/>
                        <a:ext cx="28956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Object 6">
            <a:extLst>
              <a:ext uri="{FF2B5EF4-FFF2-40B4-BE49-F238E27FC236}">
                <a16:creationId xmlns:a16="http://schemas.microsoft.com/office/drawing/2014/main" id="{08615232-AACF-47E8-B49B-C608405F42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765175"/>
          <a:ext cx="297180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20227" imgH="203112" progId="Equation.3">
                  <p:embed/>
                </p:oleObj>
              </mc:Choice>
              <mc:Fallback>
                <p:oleObj r:id="rId4" imgW="1320227" imgH="203112" progId="Equation.3">
                  <p:embed/>
                  <p:pic>
                    <p:nvPicPr>
                      <p:cNvPr id="37894" name="Object 6">
                        <a:extLst>
                          <a:ext uri="{FF2B5EF4-FFF2-40B4-BE49-F238E27FC236}">
                            <a16:creationId xmlns:a16="http://schemas.microsoft.com/office/drawing/2014/main" id="{08615232-AACF-47E8-B49B-C608405F42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765175"/>
                        <a:ext cx="2971800" cy="449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5" name="Rectangle 7">
            <a:extLst>
              <a:ext uri="{FF2B5EF4-FFF2-40B4-BE49-F238E27FC236}">
                <a16:creationId xmlns:a16="http://schemas.microsoft.com/office/drawing/2014/main" id="{988C2ADA-128D-411A-8172-CF172E521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286000"/>
            <a:ext cx="91440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76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400" b="1">
                <a:solidFill>
                  <a:srgbClr val="0000FF"/>
                </a:solidFill>
                <a:latin typeface="宋体" panose="02010600030101010101" pitchFamily="2" charset="-122"/>
              </a:rPr>
              <a:t>解</a:t>
            </a:r>
            <a:r>
              <a:rPr lang="zh-CN" altLang="en-US" sz="2400">
                <a:latin typeface="宋体" panose="02010600030101010101" pitchFamily="2" charset="-122"/>
              </a:rPr>
              <a:t>  </a:t>
            </a:r>
            <a:r>
              <a:rPr lang="zh-CN" altLang="en-US" sz="2400" b="1">
                <a:latin typeface="宋体" panose="02010600030101010101" pitchFamily="2" charset="-122"/>
              </a:rPr>
              <a:t>其系数矩阵为</a:t>
            </a:r>
          </a:p>
          <a:p>
            <a:pPr algn="just" eaLnBrk="1" hangingPunct="1"/>
            <a:endParaRPr lang="zh-CN" altLang="en-US" sz="2400" b="1">
              <a:latin typeface="宋体" panose="02010600030101010101" pitchFamily="2" charset="-122"/>
            </a:endParaRPr>
          </a:p>
          <a:p>
            <a:pPr algn="just"/>
            <a:r>
              <a:rPr lang="zh-CN" altLang="en-US" sz="2400">
                <a:latin typeface="宋体" panose="02010600030101010101" pitchFamily="2" charset="-122"/>
              </a:rPr>
              <a:t>   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>
                <a:latin typeface="Times New Roman" panose="02020603050405020304" pitchFamily="18" charset="0"/>
              </a:rPr>
              <a:t>=</a:t>
            </a:r>
          </a:p>
          <a:p>
            <a:endParaRPr lang="en-US" altLang="zh-CN" sz="2400">
              <a:latin typeface="Times New Roman" panose="02020603050405020304" pitchFamily="18" charset="0"/>
            </a:endParaRPr>
          </a:p>
        </p:txBody>
      </p:sp>
      <p:graphicFrame>
        <p:nvGraphicFramePr>
          <p:cNvPr id="37896" name="Object 8">
            <a:extLst>
              <a:ext uri="{FF2B5EF4-FFF2-40B4-BE49-F238E27FC236}">
                <a16:creationId xmlns:a16="http://schemas.microsoft.com/office/drawing/2014/main" id="{8DF49E93-EF88-4916-9361-4EA7D8FC2F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1625" y="2674938"/>
          <a:ext cx="2667000" cy="1185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公式 3.0" r:id="rId6" imgW="1028700" imgH="457200" progId="Equation.3">
                  <p:embed/>
                </p:oleObj>
              </mc:Choice>
              <mc:Fallback>
                <p:oleObj name="Microsoft 公式 3.0" r:id="rId6" imgW="1028700" imgH="457200" progId="Equation.3">
                  <p:embed/>
                  <p:pic>
                    <p:nvPicPr>
                      <p:cNvPr id="37896" name="Object 8">
                        <a:extLst>
                          <a:ext uri="{FF2B5EF4-FFF2-40B4-BE49-F238E27FC236}">
                            <a16:creationId xmlns:a16="http://schemas.microsoft.com/office/drawing/2014/main" id="{8DF49E93-EF88-4916-9361-4EA7D8FC2F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1625" y="2674938"/>
                        <a:ext cx="2667000" cy="1185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7" name="Rectangle 9">
            <a:extLst>
              <a:ext uri="{FF2B5EF4-FFF2-40B4-BE49-F238E27FC236}">
                <a16:creationId xmlns:a16="http://schemas.microsoft.com/office/drawing/2014/main" id="{0F6CD055-76B8-42F0-808B-9331DF838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8" y="3962400"/>
            <a:ext cx="91440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endParaRPr lang="en-US" altLang="zh-CN" sz="2400">
              <a:latin typeface="宋体" panose="02010600030101010101" pitchFamily="2" charset="-122"/>
            </a:endParaRPr>
          </a:p>
          <a:p>
            <a:pPr algn="just" eaLnBrk="1" hangingPunct="1"/>
            <a:r>
              <a:rPr lang="zh-CN" altLang="en-US" sz="2400" b="1">
                <a:latin typeface="Times New Roman" panose="02020603050405020304" pitchFamily="18" charset="0"/>
              </a:rPr>
              <a:t>由于   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30000">
                <a:latin typeface="Times New Roman" panose="02020603050405020304" pitchFamily="18" charset="0"/>
              </a:rPr>
              <a:t>T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=</a:t>
            </a:r>
          </a:p>
          <a:p>
            <a:endParaRPr lang="en-US" altLang="zh-CN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37898" name="Object 10">
            <a:extLst>
              <a:ext uri="{FF2B5EF4-FFF2-40B4-BE49-F238E27FC236}">
                <a16:creationId xmlns:a16="http://schemas.microsoft.com/office/drawing/2014/main" id="{595BA320-ECCF-43A5-A45C-13212B484B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46338" y="4267200"/>
          <a:ext cx="1905000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028700" imgH="457200" progId="Equation.3">
                  <p:embed/>
                </p:oleObj>
              </mc:Choice>
              <mc:Fallback>
                <p:oleObj r:id="rId8" imgW="1028700" imgH="457200" progId="Equation.3">
                  <p:embed/>
                  <p:pic>
                    <p:nvPicPr>
                      <p:cNvPr id="37898" name="Object 10">
                        <a:extLst>
                          <a:ext uri="{FF2B5EF4-FFF2-40B4-BE49-F238E27FC236}">
                            <a16:creationId xmlns:a16="http://schemas.microsoft.com/office/drawing/2014/main" id="{595BA320-ECCF-43A5-A45C-13212B484B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338" y="4267200"/>
                        <a:ext cx="1905000" cy="846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9" name="Object 11">
            <a:extLst>
              <a:ext uri="{FF2B5EF4-FFF2-40B4-BE49-F238E27FC236}">
                <a16:creationId xmlns:a16="http://schemas.microsoft.com/office/drawing/2014/main" id="{7CFCB6AC-F9BA-4D8F-9102-6A66922703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21175" y="4221163"/>
          <a:ext cx="2209800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028700" imgH="457200" progId="Equation.3">
                  <p:embed/>
                </p:oleObj>
              </mc:Choice>
              <mc:Fallback>
                <p:oleObj r:id="rId10" imgW="1028700" imgH="457200" progId="Equation.3">
                  <p:embed/>
                  <p:pic>
                    <p:nvPicPr>
                      <p:cNvPr id="37899" name="Object 11">
                        <a:extLst>
                          <a:ext uri="{FF2B5EF4-FFF2-40B4-BE49-F238E27FC236}">
                            <a16:creationId xmlns:a16="http://schemas.microsoft.com/office/drawing/2014/main" id="{7CFCB6AC-F9BA-4D8F-9102-6A66922703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1175" y="4221163"/>
                        <a:ext cx="2209800" cy="982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0" name="Object 12">
            <a:extLst>
              <a:ext uri="{FF2B5EF4-FFF2-40B4-BE49-F238E27FC236}">
                <a16:creationId xmlns:a16="http://schemas.microsoft.com/office/drawing/2014/main" id="{03C95163-3472-444C-8C93-2784832B2B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8125" y="4265613"/>
          <a:ext cx="1223963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83920" imgH="457200" progId="Equation.3">
                  <p:embed/>
                </p:oleObj>
              </mc:Choice>
              <mc:Fallback>
                <p:oleObj name="公式" r:id="rId12" imgW="583920" imgH="457200" progId="Equation.3">
                  <p:embed/>
                  <p:pic>
                    <p:nvPicPr>
                      <p:cNvPr id="37900" name="Object 12">
                        <a:extLst>
                          <a:ext uri="{FF2B5EF4-FFF2-40B4-BE49-F238E27FC236}">
                            <a16:creationId xmlns:a16="http://schemas.microsoft.com/office/drawing/2014/main" id="{03C95163-3472-444C-8C93-2784832B2B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4265613"/>
                        <a:ext cx="1223963" cy="963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1" name="Rectangle 13">
            <a:extLst>
              <a:ext uri="{FF2B5EF4-FFF2-40B4-BE49-F238E27FC236}">
                <a16:creationId xmlns:a16="http://schemas.microsoft.com/office/drawing/2014/main" id="{FAEB8D77-F4BE-4CE3-90AF-4C6B99776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4343400"/>
            <a:ext cx="457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37902" name="Rectangle 14">
            <a:extLst>
              <a:ext uri="{FF2B5EF4-FFF2-40B4-BE49-F238E27FC236}">
                <a16:creationId xmlns:a16="http://schemas.microsoft.com/office/drawing/2014/main" id="{F03FCD07-10F6-4D58-9C46-9945CB5ED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516563"/>
            <a:ext cx="7885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</a:rPr>
              <a:t>所以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</a:rPr>
              <a:t>为正交矩阵，即平面旋转变换为正交变换。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78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78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8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78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78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78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7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79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79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7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79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37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37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animBg="1"/>
      <p:bldP spid="37897" grpId="0"/>
      <p:bldP spid="37901" grpId="0"/>
      <p:bldP spid="3790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7" name="日期占位符 1">
            <a:extLst>
              <a:ext uri="{FF2B5EF4-FFF2-40B4-BE49-F238E27FC236}">
                <a16:creationId xmlns:a16="http://schemas.microsoft.com/office/drawing/2014/main" id="{E9DC7607-44E6-4D2D-A7E0-D4A059D5847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23E0545-CCEB-471F-AC7A-11CFFD4E63AC}" type="datetime3">
              <a:rPr lang="zh-CN" altLang="en-US" smtClean="0"/>
              <a:pPr eaLnBrk="1" hangingPunct="1"/>
              <a:t>2021年4月15日星期四</a:t>
            </a:fld>
            <a:endParaRPr lang="en-US" altLang="zh-CN"/>
          </a:p>
        </p:txBody>
      </p:sp>
      <p:sp>
        <p:nvSpPr>
          <p:cNvPr id="34828" name="页脚占位符 2">
            <a:extLst>
              <a:ext uri="{FF2B5EF4-FFF2-40B4-BE49-F238E27FC236}">
                <a16:creationId xmlns:a16="http://schemas.microsoft.com/office/drawing/2014/main" id="{9F50E98A-14D5-41D7-B003-090CC8490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(Spring 2010, 24ppt)</a:t>
            </a:r>
          </a:p>
        </p:txBody>
      </p:sp>
      <p:sp>
        <p:nvSpPr>
          <p:cNvPr id="34829" name="灯片编号占位符 3">
            <a:extLst>
              <a:ext uri="{FF2B5EF4-FFF2-40B4-BE49-F238E27FC236}">
                <a16:creationId xmlns:a16="http://schemas.microsoft.com/office/drawing/2014/main" id="{25A41282-D92E-4B06-931D-1F170F6B2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0DC8BE0-2557-4264-947B-99D2DA77390E}" type="slidenum">
              <a:rPr lang="en-US" altLang="zh-CN"/>
              <a:pPr eaLnBrk="1" hangingPunct="1"/>
              <a:t>21</a:t>
            </a:fld>
            <a:endParaRPr lang="en-US" altLang="zh-CN"/>
          </a:p>
        </p:txBody>
      </p:sp>
      <p:sp>
        <p:nvSpPr>
          <p:cNvPr id="62466" name="Text Box 2">
            <a:extLst>
              <a:ext uri="{FF2B5EF4-FFF2-40B4-BE49-F238E27FC236}">
                <a16:creationId xmlns:a16="http://schemas.microsoft.com/office/drawing/2014/main" id="{CECB13F7-8780-406B-BD9F-C2DA9BFF7D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33400"/>
            <a:ext cx="1066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zh-CN" altLang="en-US" sz="2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例</a:t>
            </a:r>
          </a:p>
        </p:txBody>
      </p:sp>
      <p:graphicFrame>
        <p:nvGraphicFramePr>
          <p:cNvPr id="62467" name="Object 3">
            <a:extLst>
              <a:ext uri="{FF2B5EF4-FFF2-40B4-BE49-F238E27FC236}">
                <a16:creationId xmlns:a16="http://schemas.microsoft.com/office/drawing/2014/main" id="{B9DC9A19-4A94-44C6-AA43-961376887A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549275"/>
          <a:ext cx="6840537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44720" imgH="228600" progId="Equation.DSMT4">
                  <p:embed/>
                </p:oleObj>
              </mc:Choice>
              <mc:Fallback>
                <p:oleObj name="Equation" r:id="rId2" imgW="2844720" imgH="228600" progId="Equation.DSMT4">
                  <p:embed/>
                  <p:pic>
                    <p:nvPicPr>
                      <p:cNvPr id="62467" name="Object 3">
                        <a:extLst>
                          <a:ext uri="{FF2B5EF4-FFF2-40B4-BE49-F238E27FC236}">
                            <a16:creationId xmlns:a16="http://schemas.microsoft.com/office/drawing/2014/main" id="{B9DC9A19-4A94-44C6-AA43-961376887A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49275"/>
                        <a:ext cx="6840537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8" name="Text Box 4">
            <a:extLst>
              <a:ext uri="{FF2B5EF4-FFF2-40B4-BE49-F238E27FC236}">
                <a16:creationId xmlns:a16="http://schemas.microsoft.com/office/drawing/2014/main" id="{44B571E7-A784-4C7A-A08B-B4C5B7AB5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1268413"/>
            <a:ext cx="5040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0000FF"/>
                </a:solidFill>
              </a:rPr>
              <a:t>求证： </a:t>
            </a:r>
            <a:r>
              <a:rPr lang="en-US" altLang="zh-CN" sz="2400">
                <a:solidFill>
                  <a:srgbClr val="0000FF"/>
                </a:solidFill>
              </a:rPr>
              <a:t>H</a:t>
            </a:r>
            <a:r>
              <a:rPr lang="zh-CN" altLang="en-US" sz="2400">
                <a:solidFill>
                  <a:srgbClr val="0000FF"/>
                </a:solidFill>
              </a:rPr>
              <a:t>是对称的正交矩阵。</a:t>
            </a:r>
          </a:p>
        </p:txBody>
      </p:sp>
      <p:sp>
        <p:nvSpPr>
          <p:cNvPr id="62469" name="Text Box 5">
            <a:extLst>
              <a:ext uri="{FF2B5EF4-FFF2-40B4-BE49-F238E27FC236}">
                <a16:creationId xmlns:a16="http://schemas.microsoft.com/office/drawing/2014/main" id="{2D1B188E-14BB-44FC-8163-06E8CD0FE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916113"/>
            <a:ext cx="1081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/>
              <a:t>证明</a:t>
            </a:r>
          </a:p>
        </p:txBody>
      </p:sp>
      <p:graphicFrame>
        <p:nvGraphicFramePr>
          <p:cNvPr id="62470" name="Object 6">
            <a:extLst>
              <a:ext uri="{FF2B5EF4-FFF2-40B4-BE49-F238E27FC236}">
                <a16:creationId xmlns:a16="http://schemas.microsoft.com/office/drawing/2014/main" id="{4A6AE83A-6AE6-4503-B3CE-188952C2D2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2133600"/>
          <a:ext cx="246538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17440" imgH="228600" progId="Equation.DSMT4">
                  <p:embed/>
                </p:oleObj>
              </mc:Choice>
              <mc:Fallback>
                <p:oleObj name="Equation" r:id="rId4" imgW="1117440" imgH="228600" progId="Equation.DSMT4">
                  <p:embed/>
                  <p:pic>
                    <p:nvPicPr>
                      <p:cNvPr id="62470" name="Object 6">
                        <a:extLst>
                          <a:ext uri="{FF2B5EF4-FFF2-40B4-BE49-F238E27FC236}">
                            <a16:creationId xmlns:a16="http://schemas.microsoft.com/office/drawing/2014/main" id="{4A6AE83A-6AE6-4503-B3CE-188952C2D2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133600"/>
                        <a:ext cx="2465388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1" name="Object 7">
            <a:extLst>
              <a:ext uri="{FF2B5EF4-FFF2-40B4-BE49-F238E27FC236}">
                <a16:creationId xmlns:a16="http://schemas.microsoft.com/office/drawing/2014/main" id="{8689D78F-08C7-405D-9F52-87D9599778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3213100"/>
          <a:ext cx="413861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28800" imgH="228600" progId="Equation.DSMT4">
                  <p:embed/>
                </p:oleObj>
              </mc:Choice>
              <mc:Fallback>
                <p:oleObj name="Equation" r:id="rId6" imgW="1828800" imgH="228600" progId="Equation.DSMT4">
                  <p:embed/>
                  <p:pic>
                    <p:nvPicPr>
                      <p:cNvPr id="62471" name="Object 7">
                        <a:extLst>
                          <a:ext uri="{FF2B5EF4-FFF2-40B4-BE49-F238E27FC236}">
                            <a16:creationId xmlns:a16="http://schemas.microsoft.com/office/drawing/2014/main" id="{8689D78F-08C7-405D-9F52-87D9599778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213100"/>
                        <a:ext cx="4138612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1" name="Object 8">
            <a:extLst>
              <a:ext uri="{FF2B5EF4-FFF2-40B4-BE49-F238E27FC236}">
                <a16:creationId xmlns:a16="http://schemas.microsoft.com/office/drawing/2014/main" id="{23FDE629-9C17-4378-9229-DC81896B28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0050" y="9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4120" imgH="177480" progId="Equation.DSMT4">
                  <p:embed/>
                </p:oleObj>
              </mc:Choice>
              <mc:Fallback>
                <p:oleObj name="Equation" r:id="rId8" imgW="114120" imgH="177480" progId="Equation.DSMT4">
                  <p:embed/>
                  <p:pic>
                    <p:nvPicPr>
                      <p:cNvPr id="34821" name="Object 8">
                        <a:extLst>
                          <a:ext uri="{FF2B5EF4-FFF2-40B4-BE49-F238E27FC236}">
                            <a16:creationId xmlns:a16="http://schemas.microsoft.com/office/drawing/2014/main" id="{23FDE629-9C17-4378-9229-DC81896B28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" y="9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3" name="Object 9">
            <a:extLst>
              <a:ext uri="{FF2B5EF4-FFF2-40B4-BE49-F238E27FC236}">
                <a16:creationId xmlns:a16="http://schemas.microsoft.com/office/drawing/2014/main" id="{AD823738-1137-472F-B676-C45F1BD76E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3789363"/>
          <a:ext cx="32400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96800" imgH="203040" progId="Equation.DSMT4">
                  <p:embed/>
                </p:oleObj>
              </mc:Choice>
              <mc:Fallback>
                <p:oleObj name="Equation" r:id="rId10" imgW="1396800" imgH="203040" progId="Equation.DSMT4">
                  <p:embed/>
                  <p:pic>
                    <p:nvPicPr>
                      <p:cNvPr id="62473" name="Object 9">
                        <a:extLst>
                          <a:ext uri="{FF2B5EF4-FFF2-40B4-BE49-F238E27FC236}">
                            <a16:creationId xmlns:a16="http://schemas.microsoft.com/office/drawing/2014/main" id="{AD823738-1137-472F-B676-C45F1BD76E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3789363"/>
                        <a:ext cx="324008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4" name="Text Box 10">
            <a:extLst>
              <a:ext uri="{FF2B5EF4-FFF2-40B4-BE49-F238E27FC236}">
                <a16:creationId xmlns:a16="http://schemas.microsoft.com/office/drawing/2014/main" id="{1506DF8E-1222-4934-B75D-D47082CFB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437063"/>
            <a:ext cx="4608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/>
              <a:t>所以</a:t>
            </a:r>
            <a:r>
              <a:rPr lang="en-US" altLang="zh-CN" sz="2400"/>
              <a:t>H</a:t>
            </a:r>
            <a:r>
              <a:rPr lang="zh-CN" altLang="en-US" sz="2400"/>
              <a:t>是对称的正交矩阵。</a:t>
            </a:r>
          </a:p>
        </p:txBody>
      </p:sp>
      <p:graphicFrame>
        <p:nvGraphicFramePr>
          <p:cNvPr id="62475" name="Object 11">
            <a:extLst>
              <a:ext uri="{FF2B5EF4-FFF2-40B4-BE49-F238E27FC236}">
                <a16:creationId xmlns:a16="http://schemas.microsoft.com/office/drawing/2014/main" id="{B34FBD9F-4F6D-42FD-94B1-B687F0F9AA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1638" y="2133600"/>
          <a:ext cx="230505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52200" imgH="228600" progId="Equation.DSMT4">
                  <p:embed/>
                </p:oleObj>
              </mc:Choice>
              <mc:Fallback>
                <p:oleObj name="Equation" r:id="rId12" imgW="952200" imgH="228600" progId="Equation.DSMT4">
                  <p:embed/>
                  <p:pic>
                    <p:nvPicPr>
                      <p:cNvPr id="62475" name="Object 11">
                        <a:extLst>
                          <a:ext uri="{FF2B5EF4-FFF2-40B4-BE49-F238E27FC236}">
                            <a16:creationId xmlns:a16="http://schemas.microsoft.com/office/drawing/2014/main" id="{B34FBD9F-4F6D-42FD-94B1-B687F0F9AA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2133600"/>
                        <a:ext cx="230505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6" name="Object 12">
            <a:extLst>
              <a:ext uri="{FF2B5EF4-FFF2-40B4-BE49-F238E27FC236}">
                <a16:creationId xmlns:a16="http://schemas.microsoft.com/office/drawing/2014/main" id="{4E80D606-F3D6-4314-8AEF-5CD6B5AC0D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3663" y="2133600"/>
          <a:ext cx="2449512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65160" imgH="228600" progId="Equation.DSMT4">
                  <p:embed/>
                </p:oleObj>
              </mc:Choice>
              <mc:Fallback>
                <p:oleObj name="Equation" r:id="rId14" imgW="965160" imgH="228600" progId="Equation.DSMT4">
                  <p:embed/>
                  <p:pic>
                    <p:nvPicPr>
                      <p:cNvPr id="62476" name="Object 12">
                        <a:extLst>
                          <a:ext uri="{FF2B5EF4-FFF2-40B4-BE49-F238E27FC236}">
                            <a16:creationId xmlns:a16="http://schemas.microsoft.com/office/drawing/2014/main" id="{4E80D606-F3D6-4314-8AEF-5CD6B5AC0D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2133600"/>
                        <a:ext cx="2449512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7" name="Object 13">
            <a:extLst>
              <a:ext uri="{FF2B5EF4-FFF2-40B4-BE49-F238E27FC236}">
                <a16:creationId xmlns:a16="http://schemas.microsoft.com/office/drawing/2014/main" id="{A9564976-19A5-4027-A4BB-5E329B0FFC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2636838"/>
          <a:ext cx="2449512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90360" imgH="203040" progId="Equation.DSMT4">
                  <p:embed/>
                </p:oleObj>
              </mc:Choice>
              <mc:Fallback>
                <p:oleObj name="Equation" r:id="rId16" imgW="990360" imgH="203040" progId="Equation.DSMT4">
                  <p:embed/>
                  <p:pic>
                    <p:nvPicPr>
                      <p:cNvPr id="62477" name="Object 13">
                        <a:extLst>
                          <a:ext uri="{FF2B5EF4-FFF2-40B4-BE49-F238E27FC236}">
                            <a16:creationId xmlns:a16="http://schemas.microsoft.com/office/drawing/2014/main" id="{A9564976-19A5-4027-A4BB-5E329B0FFC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636838"/>
                        <a:ext cx="2449512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8" name="Object 14">
            <a:extLst>
              <a:ext uri="{FF2B5EF4-FFF2-40B4-BE49-F238E27FC236}">
                <a16:creationId xmlns:a16="http://schemas.microsoft.com/office/drawing/2014/main" id="{0E3AAB99-7257-4436-879D-88BE3F653A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5600" y="3213100"/>
          <a:ext cx="345598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473120" imgH="228600" progId="Equation.DSMT4">
                  <p:embed/>
                </p:oleObj>
              </mc:Choice>
              <mc:Fallback>
                <p:oleObj name="Equation" r:id="rId18" imgW="1473120" imgH="228600" progId="Equation.DSMT4">
                  <p:embed/>
                  <p:pic>
                    <p:nvPicPr>
                      <p:cNvPr id="62478" name="Object 14">
                        <a:extLst>
                          <a:ext uri="{FF2B5EF4-FFF2-40B4-BE49-F238E27FC236}">
                            <a16:creationId xmlns:a16="http://schemas.microsoft.com/office/drawing/2014/main" id="{0E3AAB99-7257-4436-879D-88BE3F653A7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3213100"/>
                        <a:ext cx="3455988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2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2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2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2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2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2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2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2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2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2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62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6" grpId="0" autoUpdateAnimBg="0"/>
      <p:bldP spid="62468" grpId="0"/>
      <p:bldP spid="62469" grpId="0"/>
      <p:bldP spid="6247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/>
          </p:nvPr>
        </p:nvSpPr>
        <p:spPr>
          <a:xfrm>
            <a:off x="914401" y="614499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/>
              <a:t>六、作业</a:t>
            </a:r>
          </a:p>
        </p:txBody>
      </p:sp>
      <p:sp>
        <p:nvSpPr>
          <p:cNvPr id="2" name="矩形 1"/>
          <p:cNvSpPr/>
          <p:nvPr/>
        </p:nvSpPr>
        <p:spPr>
          <a:xfrm>
            <a:off x="1115616" y="1739712"/>
            <a:ext cx="3374642" cy="37856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dirty="0">
                <a:solidFill>
                  <a:srgbClr val="0000FF"/>
                </a:solidFill>
                <a:latin typeface="+mn-ea"/>
              </a:rPr>
              <a:t>P98  3</a:t>
            </a:r>
            <a:r>
              <a:rPr lang="zh-CN" altLang="en-US" sz="3200" b="1" dirty="0">
                <a:solidFill>
                  <a:srgbClr val="0000FF"/>
                </a:solidFill>
                <a:latin typeface="+mn-ea"/>
              </a:rPr>
              <a:t>；</a:t>
            </a:r>
            <a:endParaRPr lang="en-US" altLang="zh-CN" sz="3200" b="1" dirty="0">
              <a:solidFill>
                <a:srgbClr val="0000FF"/>
              </a:solidFill>
              <a:latin typeface="+mn-ea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dirty="0">
                <a:solidFill>
                  <a:srgbClr val="0000FF"/>
                </a:solidFill>
                <a:latin typeface="+mn-ea"/>
              </a:rPr>
              <a:t>P100  3</a:t>
            </a:r>
            <a:r>
              <a:rPr lang="zh-CN" altLang="en-US" sz="3200" b="1" dirty="0">
                <a:solidFill>
                  <a:srgbClr val="0000FF"/>
                </a:solidFill>
                <a:latin typeface="+mn-ea"/>
              </a:rPr>
              <a:t>；</a:t>
            </a:r>
            <a:endParaRPr lang="en-US" altLang="zh-CN" sz="3200" b="1" dirty="0">
              <a:solidFill>
                <a:srgbClr val="0000FF"/>
              </a:solidFill>
              <a:latin typeface="+mn-ea"/>
            </a:endParaRP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200" b="1" dirty="0">
                <a:solidFill>
                  <a:srgbClr val="0000FF"/>
                </a:solidFill>
                <a:latin typeface="+mn-ea"/>
              </a:rPr>
              <a:t>P103 </a:t>
            </a:r>
            <a:r>
              <a:rPr lang="zh-CN" altLang="en-US" sz="3200" b="1" dirty="0">
                <a:solidFill>
                  <a:srgbClr val="0000FF"/>
                </a:solidFill>
                <a:latin typeface="+mn-ea"/>
              </a:rPr>
              <a:t>练习三</a:t>
            </a:r>
            <a:r>
              <a:rPr lang="en-US" altLang="zh-CN" sz="3200" b="1" dirty="0">
                <a:solidFill>
                  <a:srgbClr val="0000FF"/>
                </a:solidFill>
                <a:latin typeface="+mn-ea"/>
              </a:rPr>
              <a:t>.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+mn-ea"/>
              </a:rPr>
              <a:t>预习 </a:t>
            </a:r>
            <a:r>
              <a:rPr lang="en-US" altLang="zh-CN" sz="3200" b="1" dirty="0">
                <a:solidFill>
                  <a:srgbClr val="0000FF"/>
                </a:solidFill>
                <a:latin typeface="+mn-ea"/>
              </a:rPr>
              <a:t>4.1-4.5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+mn-ea"/>
              </a:rPr>
              <a:t>观看视频 </a:t>
            </a:r>
            <a:r>
              <a:rPr lang="en-US" altLang="zh-CN" sz="3200" b="1" dirty="0">
                <a:solidFill>
                  <a:srgbClr val="0000FF"/>
                </a:solidFill>
                <a:latin typeface="+mn-ea"/>
              </a:rPr>
              <a:t>4.1-4.5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76851" y="2556694"/>
            <a:ext cx="3204430" cy="4278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</TotalTime>
  <Words>1440</Words>
  <Application>Microsoft Office PowerPoint</Application>
  <PresentationFormat>全屏显示(4:3)</PresentationFormat>
  <Paragraphs>137</Paragraphs>
  <Slides>22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22</vt:i4>
      </vt:variant>
    </vt:vector>
  </HeadingPairs>
  <TitlesOfParts>
    <vt:vector size="35" baseType="lpstr">
      <vt:lpstr>仿宋</vt:lpstr>
      <vt:lpstr>宋体</vt:lpstr>
      <vt:lpstr>微软雅黑</vt:lpstr>
      <vt:lpstr>Arial</vt:lpstr>
      <vt:lpstr>Calibri</vt:lpstr>
      <vt:lpstr>Times New Roman</vt:lpstr>
      <vt:lpstr>Verdana</vt:lpstr>
      <vt:lpstr>1_Office 主题</vt:lpstr>
      <vt:lpstr>Equation.3</vt:lpstr>
      <vt:lpstr>Microsoft 公式 3.0</vt:lpstr>
      <vt:lpstr>公式</vt:lpstr>
      <vt:lpstr>Equation</vt:lpstr>
      <vt:lpstr>MathType 5.0 Equation</vt:lpstr>
      <vt:lpstr>第十二讲  函数与线性变换</vt:lpstr>
      <vt:lpstr>一、函数</vt:lpstr>
      <vt:lpstr>一、函数</vt:lpstr>
      <vt:lpstr>一、函数</vt:lpstr>
      <vt:lpstr>一、函数</vt:lpstr>
      <vt:lpstr>一、函数</vt:lpstr>
      <vt:lpstr>二、函数与变换 </vt:lpstr>
      <vt:lpstr>二、函数与变换 </vt:lpstr>
      <vt:lpstr>二、函数与变换</vt:lpstr>
      <vt:lpstr>三、线性变换</vt:lpstr>
      <vt:lpstr>三、线性变换</vt:lpstr>
      <vt:lpstr>三、线性变换</vt:lpstr>
      <vt:lpstr>三、线性变换</vt:lpstr>
      <vt:lpstr>三、线性变换</vt:lpstr>
      <vt:lpstr>三、线性变换</vt:lpstr>
      <vt:lpstr>三、线性变换</vt:lpstr>
      <vt:lpstr>三、线性变换</vt:lpstr>
      <vt:lpstr>三、线性变换</vt:lpstr>
      <vt:lpstr>三、线性变换</vt:lpstr>
      <vt:lpstr>PowerPoint 演示文稿</vt:lpstr>
      <vt:lpstr>PowerPoint 演示文稿</vt:lpstr>
      <vt:lpstr>六、作业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特征值与特征向量</dc:title>
  <dc:creator>Administrator</dc:creator>
  <cp:lastModifiedBy>彭</cp:lastModifiedBy>
  <cp:revision>96</cp:revision>
  <dcterms:created xsi:type="dcterms:W3CDTF">2020-12-08T11:04:00Z</dcterms:created>
  <dcterms:modified xsi:type="dcterms:W3CDTF">2021-04-15T07:16:43Z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2052-11.1.0.10132</vt:lpwstr>
  </property>
</Properties>
</file>